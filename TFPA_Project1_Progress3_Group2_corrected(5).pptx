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08" y="3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0656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A0656"/>
                </a:solidFill>
                <a:latin typeface="Aptos"/>
              </a:rPr>
              <a:t>ค่ารักษา 1 บาทในปี 2569 กลายเป็นกี่บาท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เอกชน g 10.8% → 4.2030 เท่า</c:v>
                </c:pt>
              </c:strCache>
            </c:strRef>
          </c:tx>
          <c:spPr>
            <a:ln w="25400" cap="flat">
              <a:solidFill>
                <a:srgbClr val="3D4FC4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3D4FC4"/>
              </a:solidFill>
              <a:ln w="9525" cap="flat">
                <a:solidFill>
                  <a:srgbClr val="3D4FC4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2569</c:v>
                </c:pt>
                <c:pt idx="1">
                  <c:v>2570</c:v>
                </c:pt>
                <c:pt idx="2">
                  <c:v>2571</c:v>
                </c:pt>
                <c:pt idx="3">
                  <c:v>2572</c:v>
                </c:pt>
                <c:pt idx="4">
                  <c:v>2573</c:v>
                </c:pt>
                <c:pt idx="5">
                  <c:v>2574</c:v>
                </c:pt>
                <c:pt idx="6">
                  <c:v>2575</c:v>
                </c:pt>
                <c:pt idx="7">
                  <c:v>2576</c:v>
                </c:pt>
                <c:pt idx="8">
                  <c:v>2577</c:v>
                </c:pt>
                <c:pt idx="9">
                  <c:v>2578</c:v>
                </c:pt>
                <c:pt idx="10">
                  <c:v>2579</c:v>
                </c:pt>
                <c:pt idx="11">
                  <c:v>2580</c:v>
                </c:pt>
                <c:pt idx="12">
                  <c:v>2581</c:v>
                </c:pt>
                <c:pt idx="13">
                  <c:v>2582</c:v>
                </c:pt>
                <c:pt idx="14">
                  <c:v>2583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</c:v>
                </c:pt>
                <c:pt idx="1">
                  <c:v>1.1080000000000001</c:v>
                </c:pt>
                <c:pt idx="2">
                  <c:v>1.2277</c:v>
                </c:pt>
                <c:pt idx="3">
                  <c:v>1.3603000000000001</c:v>
                </c:pt>
                <c:pt idx="4">
                  <c:v>1.5072000000000001</c:v>
                </c:pt>
                <c:pt idx="5">
                  <c:v>1.6698999999999999</c:v>
                </c:pt>
                <c:pt idx="6">
                  <c:v>1.8503000000000001</c:v>
                </c:pt>
                <c:pt idx="7">
                  <c:v>2.0501</c:v>
                </c:pt>
                <c:pt idx="8">
                  <c:v>2.2715000000000001</c:v>
                </c:pt>
                <c:pt idx="9">
                  <c:v>2.5169000000000001</c:v>
                </c:pt>
                <c:pt idx="10">
                  <c:v>2.7887</c:v>
                </c:pt>
                <c:pt idx="11">
                  <c:v>3.0897999999999999</c:v>
                </c:pt>
                <c:pt idx="12">
                  <c:v>3.4236</c:v>
                </c:pt>
                <c:pt idx="13">
                  <c:v>3.7932999999999999</c:v>
                </c:pt>
                <c:pt idx="14">
                  <c:v>4.2030000000000003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0F-47B0-B674-CA92B0E577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รัฐ g 2.032% → 1.3253 เท่า</c:v>
                </c:pt>
              </c:strCache>
            </c:strRef>
          </c:tx>
          <c:spPr>
            <a:ln w="25400" cap="flat">
              <a:solidFill>
                <a:srgbClr val="C77C02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C77C02"/>
              </a:solidFill>
              <a:ln w="9525" cap="flat">
                <a:solidFill>
                  <a:srgbClr val="C77C02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2569</c:v>
                </c:pt>
                <c:pt idx="1">
                  <c:v>2570</c:v>
                </c:pt>
                <c:pt idx="2">
                  <c:v>2571</c:v>
                </c:pt>
                <c:pt idx="3">
                  <c:v>2572</c:v>
                </c:pt>
                <c:pt idx="4">
                  <c:v>2573</c:v>
                </c:pt>
                <c:pt idx="5">
                  <c:v>2574</c:v>
                </c:pt>
                <c:pt idx="6">
                  <c:v>2575</c:v>
                </c:pt>
                <c:pt idx="7">
                  <c:v>2576</c:v>
                </c:pt>
                <c:pt idx="8">
                  <c:v>2577</c:v>
                </c:pt>
                <c:pt idx="9">
                  <c:v>2578</c:v>
                </c:pt>
                <c:pt idx="10">
                  <c:v>2579</c:v>
                </c:pt>
                <c:pt idx="11">
                  <c:v>2580</c:v>
                </c:pt>
                <c:pt idx="12">
                  <c:v>2581</c:v>
                </c:pt>
                <c:pt idx="13">
                  <c:v>2582</c:v>
                </c:pt>
                <c:pt idx="14">
                  <c:v>2583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</c:v>
                </c:pt>
                <c:pt idx="1">
                  <c:v>1.0203</c:v>
                </c:pt>
                <c:pt idx="2">
                  <c:v>1.0410999999999999</c:v>
                </c:pt>
                <c:pt idx="3">
                  <c:v>1.0622</c:v>
                </c:pt>
                <c:pt idx="4">
                  <c:v>1.0838000000000001</c:v>
                </c:pt>
                <c:pt idx="5">
                  <c:v>1.1057999999999999</c:v>
                </c:pt>
                <c:pt idx="6">
                  <c:v>1.1283000000000001</c:v>
                </c:pt>
                <c:pt idx="7">
                  <c:v>1.1512</c:v>
                </c:pt>
                <c:pt idx="8">
                  <c:v>1.1746000000000001</c:v>
                </c:pt>
                <c:pt idx="9">
                  <c:v>1.1984999999999999</c:v>
                </c:pt>
                <c:pt idx="10">
                  <c:v>1.2228000000000001</c:v>
                </c:pt>
                <c:pt idx="11">
                  <c:v>1.2477</c:v>
                </c:pt>
                <c:pt idx="12">
                  <c:v>1.2729999999999999</c:v>
                </c:pt>
                <c:pt idx="13">
                  <c:v>1.2988999999999999</c:v>
                </c:pt>
                <c:pt idx="14">
                  <c:v>1.3252999999999999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0F-47B0-B674-CA92B0E57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A4A6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2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D9DB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3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1F1F3A"/>
              </a:solidFill>
              <a:latin typeface="Aptos"/>
              <a:cs typeface="Apto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36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2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.png"/><Relationship Id="rId9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2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Insurance Core Model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11460175" cy="365760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สูตรคำนวณทุนประกันสุขภาพ (IPD Focus)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365760" y="1783080"/>
            <a:ext cx="11460175" cy="868680"/>
          </a:xfrm>
          <a:prstGeom prst="rect">
            <a:avLst/>
          </a:prstGeom>
          <a:solidFill>
            <a:srgbClr val="F7F8FB"/>
          </a:solidFill>
          <a:ln w="9525">
            <a:solidFill>
              <a:srgbClr val="C3C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LaTeX: S^{\ast}=x_{\varepsilon}\cdot k\cdot (1+g)^{T}-C-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025396"/>
            <a:ext cx="3535680" cy="374904"/>
          </a:xfrm>
          <a:prstGeom prst="rect">
            <a:avLst/>
          </a:prstGeom>
        </p:spPr>
      </p:pic>
      <p:pic>
        <p:nvPicPr>
          <p:cNvPr id="11" name="Image 3" descr="LaTeX: L=x_{\varepsilon}\cdot k\cdot (1+g)^{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025396"/>
            <a:ext cx="2325624" cy="374904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65760" y="2788920"/>
            <a:ext cx="11460175" cy="32918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365760" y="27889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1737360" y="2788920"/>
            <a:ext cx="100885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365760" y="3118104"/>
            <a:ext cx="11460175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1737360" y="3118104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4" descr="LaTeX: \varepsil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36" y="3162300"/>
            <a:ext cx="155448" cy="2682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874520" y="3118104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ระดับความเสี่ยงที่ลูกค้ารับได้ = โอกาสต่อปีที่บิลจะเกินทุน (ยิ่ง ε สูง ทุนยิ่งต่ำ) · คุณกรรณ์ 1% = 1 ใน 100 ปี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365760" y="3474720"/>
            <a:ext cx="11460175" cy="356616"/>
          </a:xfrm>
          <a:prstGeom prst="rect">
            <a:avLst/>
          </a:prstGeom>
          <a:solidFill>
            <a:srgbClr val="F7F3F2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1737360" y="3474720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5" descr="LaTeX: x_{\varepsilon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496" y="3518916"/>
            <a:ext cx="262128" cy="26822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74520" y="3474720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บิลค่ารักษาทั้งปีที่มีโอกาสเกินเท่ากับ ε ตามอายุ เพศ โรคประจำตัวของลูกค้า (ราคา สปสช. ปี 2562)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365760" y="3831336"/>
            <a:ext cx="11460175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1737360" y="3831336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6" descr="LaTeX: 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740" y="3875532"/>
            <a:ext cx="167640" cy="26822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874520" y="3831336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ตัวคูณแปลงยอดที่ สปสช. (บัตรทอง) จ่าย เป็นราคาโรงพยาบาลเอกชนที่ลูกค้าเลือก (รัฐ k = 1)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365760" y="4187952"/>
            <a:ext cx="11460175" cy="356616"/>
          </a:xfrm>
          <a:prstGeom prst="rect">
            <a:avLst/>
          </a:prstGeom>
          <a:solidFill>
            <a:srgbClr val="F7F3F2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9"/>
          <p:cNvSpPr/>
          <p:nvPr/>
        </p:nvSpPr>
        <p:spPr>
          <a:xfrm>
            <a:off x="1737360" y="4187952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7" descr="LaTeX: 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312" y="4232148"/>
            <a:ext cx="158496" cy="268224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1874520" y="4187952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อัตราเงินเฟ้อค่ารักษาต่อปี แบ่งเป็น 1. โรงพยาบาลรัฐ 2.032% · 2. โรงพยาบาลเอกชน 10.8%</a:t>
            </a:r>
            <a:endParaRPr lang="en-US" sz="1200" dirty="0"/>
          </a:p>
        </p:txBody>
      </p:sp>
      <p:sp>
        <p:nvSpPr>
          <p:cNvPr id="31" name="Shape 21"/>
          <p:cNvSpPr/>
          <p:nvPr/>
        </p:nvSpPr>
        <p:spPr>
          <a:xfrm>
            <a:off x="365760" y="4544568"/>
            <a:ext cx="11460175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2"/>
          <p:cNvSpPr/>
          <p:nvPr/>
        </p:nvSpPr>
        <p:spPr>
          <a:xfrm>
            <a:off x="1737360" y="4544568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8" descr="LaTeX: 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4588764"/>
            <a:ext cx="182880" cy="268224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1874520" y="4544568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จำนวนปีที่ต้องคุ้มครอง — ถึงเกษียณ: 60 − 46 = 14 ปี (2569 → 2583)</a:t>
            </a:r>
            <a:endParaRPr lang="en-US" sz="1200" dirty="0"/>
          </a:p>
        </p:txBody>
      </p:sp>
      <p:sp>
        <p:nvSpPr>
          <p:cNvPr id="35" name="Shape 24"/>
          <p:cNvSpPr/>
          <p:nvPr/>
        </p:nvSpPr>
        <p:spPr>
          <a:xfrm>
            <a:off x="365760" y="4901184"/>
            <a:ext cx="11460175" cy="356616"/>
          </a:xfrm>
          <a:prstGeom prst="rect">
            <a:avLst/>
          </a:prstGeom>
          <a:solidFill>
            <a:srgbClr val="F7F3F2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5"/>
          <p:cNvSpPr/>
          <p:nvPr/>
        </p:nvSpPr>
        <p:spPr>
          <a:xfrm>
            <a:off x="1737360" y="4901184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9" descr="LaTeX: C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6404" y="4945380"/>
            <a:ext cx="210312" cy="268224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1874520" y="4901184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สวัสดิการค่ารักษาที่ลูกค้ามีอยู่ (สิทธิข้าราชการ: รพ.รัฐเบิกได้ · รพ.เอกชนเบิกไม่ได้)</a:t>
            </a:r>
            <a:endParaRPr lang="en-US" sz="1200" dirty="0"/>
          </a:p>
        </p:txBody>
      </p:sp>
      <p:sp>
        <p:nvSpPr>
          <p:cNvPr id="39" name="Shape 27"/>
          <p:cNvSpPr/>
          <p:nvPr/>
        </p:nvSpPr>
        <p:spPr>
          <a:xfrm>
            <a:off x="365760" y="5257800"/>
            <a:ext cx="11460175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28"/>
          <p:cNvSpPr/>
          <p:nvPr/>
        </p:nvSpPr>
        <p:spPr>
          <a:xfrm>
            <a:off x="1737360" y="5257800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10" descr="LaTeX: 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832" y="5301996"/>
            <a:ext cx="219456" cy="268224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874520" y="5257800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จำนวนเงินที่ครอบครัวจ่ายเองไหว (ไม่ต้องโอนให้บริษัทประกัน)</a:t>
            </a:r>
            <a:endParaRPr lang="en-US" sz="1200" dirty="0"/>
          </a:p>
        </p:txBody>
      </p:sp>
      <p:sp>
        <p:nvSpPr>
          <p:cNvPr id="43" name="Shape 30"/>
          <p:cNvSpPr/>
          <p:nvPr/>
        </p:nvSpPr>
        <p:spPr>
          <a:xfrm>
            <a:off x="365760" y="5614416"/>
            <a:ext cx="11460175" cy="356616"/>
          </a:xfrm>
          <a:prstGeom prst="rect">
            <a:avLst/>
          </a:prstGeom>
          <a:solidFill>
            <a:srgbClr val="F7F3F2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1"/>
          <p:cNvSpPr/>
          <p:nvPr/>
        </p:nvSpPr>
        <p:spPr>
          <a:xfrm>
            <a:off x="1737360" y="5614416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11" descr="LaTeX: L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9452" y="5658612"/>
            <a:ext cx="204216" cy="268224"/>
          </a:xfrm>
          <a:prstGeom prst="rect">
            <a:avLst/>
          </a:prstGeom>
        </p:spPr>
      </p:pic>
      <p:sp>
        <p:nvSpPr>
          <p:cNvPr id="46" name="Text 32"/>
          <p:cNvSpPr txBox="1"/>
          <p:nvPr/>
        </p:nvSpPr>
        <p:spPr>
          <a:xfrm>
            <a:off x="1874520" y="5614416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บิลออกแบบ ณ ราคาโรงพยาบาลจริงในปีสุดท้าย = ทุนก่อนหัก C และ R (Gross)</a:t>
            </a:r>
            <a:endParaRPr lang="en-US" sz="1200" dirty="0"/>
          </a:p>
        </p:txBody>
      </p:sp>
      <p:sp>
        <p:nvSpPr>
          <p:cNvPr id="47" name="Shape 33"/>
          <p:cNvSpPr/>
          <p:nvPr/>
        </p:nvSpPr>
        <p:spPr>
          <a:xfrm>
            <a:off x="365760" y="5971032"/>
            <a:ext cx="11460175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4"/>
          <p:cNvSpPr/>
          <p:nvPr/>
        </p:nvSpPr>
        <p:spPr>
          <a:xfrm>
            <a:off x="1737360" y="5971032"/>
            <a:ext cx="0" cy="356616"/>
          </a:xfrm>
          <a:prstGeom prst="line">
            <a:avLst/>
          </a:prstGeom>
          <a:noFill/>
          <a:ln w="6350">
            <a:solidFill>
              <a:srgbClr val="E2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2" descr="LaTeX: S^{\ast}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4588" y="6015228"/>
            <a:ext cx="313944" cy="268224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1874520" y="5971032"/>
            <a:ext cx="985997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ทุนประกันสุขภาพที่ควรมี (วงเงินต่อปี)</a:t>
            </a:r>
            <a:endParaRPr lang="en-US" sz="1200" dirty="0"/>
          </a:p>
        </p:txBody>
      </p:sp>
      <p:sp>
        <p:nvSpPr>
          <p:cNvPr id="51" name="Text 36"/>
          <p:cNvSpPr txBox="1"/>
          <p:nvPr/>
        </p:nvSpPr>
        <p:spPr>
          <a:xfrm>
            <a:off x="365760" y="6537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1554480" y="6537960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MODEL-v13 (SIM-13); Arrow (1963) Prop. 1; Karunayawong et al. (2024); The Nation Thailand (2026) อ้าง Bnomics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Insurance Core Model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11460175" cy="365760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11460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365760" y="1801368"/>
            <a:ext cx="5559552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365760" y="1801368"/>
            <a:ext cx="5559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 User ต้องกรอกเอง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108192" y="1801368"/>
            <a:ext cx="5715000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6108192" y="1801368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ที่มีมาให้จากระบบ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2221992"/>
            <a:ext cx="5559552" cy="422452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108192" y="2221992"/>
            <a:ext cx="5715000" cy="422452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2313432"/>
          <a:ext cx="5340096" cy="914400"/>
        </p:xfrm>
        <a:graphic>
          <a:graphicData uri="http://schemas.openxmlformats.org/drawingml/2006/table">
            <a:tbl>
              <a:tblPr/>
              <a:tblGrid>
                <a:gridCol w="356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1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9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ข้อมูลที่ต้องกรอก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สัญลักษณ์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กรณีคุณกรรณ์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อายุ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 ปี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2·3.2·5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เพศ (หญิง = 1)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ชาย ⇒ F = 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 · 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คะแนนโรคร่วม Charlson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รายได้ครัวเรือนต่อปี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1,958,483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รายจ่ายรวมต่อปี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1,619,850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รายจ่ายยังชีพ (ค่าอาหาร)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food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150,000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เงินสด + ออมทรัพย์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525,000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รายได้ &lt; 2 เท่าเส้นความยากจน?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τ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ไม่ใช่ ⇒ τ = 10%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สวัสดิการค่ารักษาฝั่งผู้ป่วยใน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CSMBS ข้าราชการ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โรงพยาบาลที่ตั้งใจใช้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 → k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, 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พระรามเก้า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อายุเกษียณ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 ⇒ T = 14 ปี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ระดับความเสี่ยงที่ยอมรับ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 (1 ใน 100 ปี)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ประกันชีวิตเดิมอยู่บริษัทไหน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อินชัวร์ฯ (InsureX → FWD)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เบี้ยที่ขอลด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1,500 บาท/ปี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Scen.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13432"/>
          <a:ext cx="5495544" cy="914400"/>
        </p:xfrm>
        <a:graphic>
          <a:graphicData uri="http://schemas.openxmlformats.org/drawingml/2006/table">
            <a:tbl>
              <a:tblPr/>
              <a:tblGrid>
                <a:gridCol w="15954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4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97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1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ค่าที่ระบบเตรียมไว้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ค่า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แหล่งที่มา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เกณฑ์ความเดือดร้อน τ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 ของรายได้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Schoen et al. (2005)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เพดาน capacity-to-pay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 ของ CTP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Xu et al. (2003)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ตัวคูณราคา k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(9 รพ.)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พระรามเก้า 9.27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DRG 6.3.3 + Cooper et al. (2019)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เงินเฟ้อค่ารักษา 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เอกชน 10.8% · รัฐ 2.032%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Nation (2026) · Karunayawong (2024)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โอกาสนอนโรงพยาบาล 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6.8456%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Karunayawong et al. (2024)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RRR อายุ · F · Ch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1.029/1.038 · 0.802/0.590 · 1.710/2.653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Karunayawong (2024) Table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อายุกลาง · ค่าคงที่ α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, α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37.073 · 1.010954 · 0.129410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Karunayawong T1 · King &amp; Zeng (2001)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เส้นแบ่งกลุ่มบิล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5,550 / 63,632 บาท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Karunayawong (2024) Table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8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พารามิเตอร์ lognormal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μ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2.3783 σ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3.1860 · μ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10.8257 σ</a:t>
                      </a:r>
                      <a:r>
                        <a:rPr lang="en-US" sz="105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</a:t>
                      </a: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0.8006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fit จาก Table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ตารางเบี้ย IPD (ตัวเลขจริง)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รวม 26 · สุขภาพล้วน 6 แผน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deteam · ตัวแทน AIA/เมืองไทยฯ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365760" y="6537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</a:t>
            </a:r>
            <a:endParaRPr lang="en-US" sz="100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6537960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TFPM 102 (คุณกรรณ์); Schoen et al. (2005); Xu et al. (2003); Karunayawong et al. (2024); King &amp; Zeng (2001); Cooper et al. (2019); The Nation (2026)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Calculation Step (5 Steps)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566928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1005840" y="1344168"/>
            <a:ext cx="2697480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1005840" y="134416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776472" y="1344168"/>
            <a:ext cx="5120640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3776472" y="1344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970264" y="1344168"/>
            <a:ext cx="2852928" cy="347472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8970264" y="1344168"/>
            <a:ext cx="2852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5760" y="1764792"/>
            <a:ext cx="566928" cy="85039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365760" y="1764792"/>
            <a:ext cx="566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05840" y="1764792"/>
            <a:ext cx="269748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76472" y="1764792"/>
            <a:ext cx="512064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970264" y="1764792"/>
            <a:ext cx="2852928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1115568" y="1764792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ลูกค้า: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Y, E, E</a:t>
            </a:r>
            <a:r>
              <a:rPr lang="en-US" sz="1150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W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ระบบ: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τ = 10%, เพดาน 40%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3886200" y="18288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R — เงินที่ครอบครัวจ่ายเองไหว</a:t>
            </a:r>
            <a:endParaRPr lang="en-US" sz="1200" dirty="0"/>
          </a:p>
        </p:txBody>
      </p:sp>
      <p:pic>
        <p:nvPicPr>
          <p:cNvPr id="22" name="Image 2" descr="LaTeX: R=\min\left(\tau Y,\ 0.40\,CTP,\ W\righ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2211324"/>
            <a:ext cx="2176272" cy="23164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079992" y="1764792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195,848.30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4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365760" y="2688336"/>
            <a:ext cx="566928" cy="85039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 txBox="1"/>
          <p:nvPr/>
        </p:nvSpPr>
        <p:spPr>
          <a:xfrm>
            <a:off x="365760" y="2688336"/>
            <a:ext cx="566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1005840" y="2688336"/>
            <a:ext cx="269748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3776472" y="2688336"/>
            <a:ext cx="512064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970264" y="2688336"/>
            <a:ext cx="2852928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1115568" y="2688336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ลูกค้า: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โรงพยาบาล i, age, อายุเกษียณ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ระบบ: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ราคาแพ็กเกจ, AdjRW, g</a:t>
            </a:r>
            <a:endParaRPr lang="en-US" sz="1150" dirty="0"/>
          </a:p>
        </p:txBody>
      </p:sp>
      <p:sp>
        <p:nvSpPr>
          <p:cNvPr id="30" name="Text 25"/>
          <p:cNvSpPr txBox="1"/>
          <p:nvPr/>
        </p:nvSpPr>
        <p:spPr>
          <a:xfrm>
            <a:off x="3886200" y="275234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k และ g — ตัวคูณราคาโรงพยาบาล + เงินเฟ้อ</a:t>
            </a:r>
            <a:endParaRPr lang="en-US" sz="1200" dirty="0"/>
          </a:p>
        </p:txBody>
      </p:sp>
      <p:pic>
        <p:nvPicPr>
          <p:cNvPr id="31" name="Image 3" descr="LaTeX: k_i=\exp\left(a_i+\sum_c w_c\,b_c\right),\quad (1+g)^{T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3668" y="3052572"/>
            <a:ext cx="2746248" cy="39624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079992" y="2688336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9.27 · (1+g)</a:t>
            </a:r>
            <a:r>
              <a:rPr lang="en-US" sz="1200" b="1" baseline="3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4.2030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4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365760" y="3611880"/>
            <a:ext cx="566928" cy="85039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 txBox="1"/>
          <p:nvPr/>
        </p:nvSpPr>
        <p:spPr>
          <a:xfrm>
            <a:off x="365760" y="3611880"/>
            <a:ext cx="566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Shape 29"/>
          <p:cNvSpPr/>
          <p:nvPr/>
        </p:nvSpPr>
        <p:spPr>
          <a:xfrm>
            <a:off x="1005840" y="3611880"/>
            <a:ext cx="269748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776472" y="3611880"/>
            <a:ext cx="512064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970264" y="3611880"/>
            <a:ext cx="2852928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 txBox="1"/>
          <p:nvPr/>
        </p:nvSpPr>
        <p:spPr>
          <a:xfrm>
            <a:off x="1115568" y="3611880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ลูกค้า: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age, F, Ch, ε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ระบบ: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p, RRR, lognormal</a:t>
            </a:r>
            <a:endParaRPr lang="en-US" sz="1150" dirty="0"/>
          </a:p>
        </p:txBody>
      </p:sp>
      <p:sp>
        <p:nvSpPr>
          <p:cNvPr id="39" name="Text 33"/>
          <p:cNvSpPr txBox="1"/>
          <p:nvPr/>
        </p:nvSpPr>
        <p:spPr>
          <a:xfrm>
            <a:off x="3886200" y="36758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x</a:t>
            </a:r>
            <a:r>
              <a:rPr lang="en-US" sz="12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</a:t>
            </a: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บิลจุดวิกฤต (3.1 p · 3.2 h · 3.3 x</a:t>
            </a:r>
            <a:r>
              <a:rPr lang="en-US" sz="12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</a:t>
            </a: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200" dirty="0"/>
          </a:p>
        </p:txBody>
      </p:sp>
      <p:pic>
        <p:nvPicPr>
          <p:cNvPr id="40" name="Image 4" descr="LaTeX: p\ \rightarrow\ h=\dfrac{r_H}{1+r_A+r_H}\ \rightarrow\ P(X&gt;x_{\varepsilon})=\varepsil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1832" y="3970020"/>
            <a:ext cx="3169920" cy="40843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079992" y="3611880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200" b="1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30,747 บาท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4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65760" y="4535424"/>
            <a:ext cx="566928" cy="85039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 txBox="1"/>
          <p:nvPr/>
        </p:nvSpPr>
        <p:spPr>
          <a:xfrm>
            <a:off x="365760" y="4535424"/>
            <a:ext cx="566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44" name="Shape 37"/>
          <p:cNvSpPr/>
          <p:nvPr/>
        </p:nvSpPr>
        <p:spPr>
          <a:xfrm>
            <a:off x="1005840" y="4535424"/>
            <a:ext cx="269748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3776472" y="4535424"/>
            <a:ext cx="512064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8970264" y="4535424"/>
            <a:ext cx="2852928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 txBox="1"/>
          <p:nvPr/>
        </p:nvSpPr>
        <p:spPr>
          <a:xfrm>
            <a:off x="1115568" y="4535424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ลูกค้า: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สวัสดิการ C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จาก Step 1–3: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R, k, g, T, x</a:t>
            </a:r>
            <a:r>
              <a:rPr lang="en-US" sz="1150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</a:t>
            </a:r>
            <a:endParaRPr lang="en-US" sz="1150" dirty="0"/>
          </a:p>
        </p:txBody>
      </p:sp>
      <p:sp>
        <p:nvSpPr>
          <p:cNvPr id="48" name="Text 41"/>
          <p:cNvSpPr txBox="1"/>
          <p:nvPr/>
        </p:nvSpPr>
        <p:spPr>
          <a:xfrm>
            <a:off x="3886200" y="45994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S* — ทุนประกันสุขภาพที่ควรมี</a:t>
            </a:r>
            <a:endParaRPr lang="en-US" sz="1200" dirty="0"/>
          </a:p>
        </p:txBody>
      </p:sp>
      <p:pic>
        <p:nvPicPr>
          <p:cNvPr id="49" name="Image 5" descr="LaTeX: S^{\ast}=\max\left(0,\ x_{\varepsilon}\,k\,(1+g)^{T}-C-R\right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7948" y="4968240"/>
            <a:ext cx="2837688" cy="259080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9079992" y="4535424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= 1,001,452 บาท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5</a:t>
            </a:r>
            <a:endParaRPr lang="en-US" sz="1200" dirty="0"/>
          </a:p>
        </p:txBody>
      </p:sp>
      <p:sp>
        <p:nvSpPr>
          <p:cNvPr id="51" name="Shape 43"/>
          <p:cNvSpPr/>
          <p:nvPr/>
        </p:nvSpPr>
        <p:spPr>
          <a:xfrm>
            <a:off x="365760" y="5458968"/>
            <a:ext cx="566928" cy="850392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 txBox="1"/>
          <p:nvPr/>
        </p:nvSpPr>
        <p:spPr>
          <a:xfrm>
            <a:off x="365760" y="5458968"/>
            <a:ext cx="5669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53" name="Shape 45"/>
          <p:cNvSpPr/>
          <p:nvPr/>
        </p:nvSpPr>
        <p:spPr>
          <a:xfrm>
            <a:off x="1005840" y="5458968"/>
            <a:ext cx="269748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3776472" y="5458968"/>
            <a:ext cx="5120640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8970264" y="5458968"/>
            <a:ext cx="2852928" cy="850392"/>
          </a:xfrm>
          <a:prstGeom prst="rect">
            <a:avLst/>
          </a:prstGeom>
          <a:solidFill>
            <a:srgbClr val="F1F1F1"/>
          </a:solidFill>
          <a:ln w="12700">
            <a:solidFill>
              <a:srgbClr val="F1F1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8"/>
          <p:cNvSpPr txBox="1"/>
          <p:nvPr/>
        </p:nvSpPr>
        <p:spPr>
          <a:xfrm>
            <a:off x="1115568" y="5458968"/>
            <a:ext cx="2514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ลูกค้า: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ประกันชีวิตเดิม, ΔP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ระบบ: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ตารางเบี้ย (ตัวเลขจริง)</a:t>
            </a:r>
            <a:endParaRPr lang="en-US" sz="1150" dirty="0"/>
          </a:p>
        </p:txBody>
      </p:sp>
      <p:sp>
        <p:nvSpPr>
          <p:cNvPr id="57" name="Text 49"/>
          <p:cNvSpPr txBox="1"/>
          <p:nvPr/>
        </p:nvSpPr>
        <p:spPr>
          <a:xfrm>
            <a:off x="3886200" y="55229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เบี้ย จากตาราง → Scenario ลดเบี้ย 1,500 (Case A–D)</a:t>
            </a:r>
            <a:endParaRPr lang="en-US" sz="1200" dirty="0"/>
          </a:p>
        </p:txBody>
      </p:sp>
      <p:pic>
        <p:nvPicPr>
          <p:cNvPr id="58" name="Image 6" descr="LaTeX: \min_j\ P_j\quad \mathrm{s.t.}\quad SI_j\geq S^{\as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61432" y="5855208"/>
            <a:ext cx="1950720" cy="332232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9079992" y="5458968"/>
            <a:ext cx="2651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 24,493 บาท/ปี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ลดเบี้ย 1,500: Case A 22,723</a:t>
            </a:r>
            <a:endParaRPr lang="en-US" sz="1200" dirty="0"/>
          </a:p>
        </p:txBody>
      </p:sp>
      <p:sp>
        <p:nvSpPr>
          <p:cNvPr id="60" name="Text 51"/>
          <p:cNvSpPr txBox="1"/>
          <p:nvPr/>
        </p:nvSpPr>
        <p:spPr>
          <a:xfrm>
            <a:off x="365760" y="6537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3</a:t>
            </a:r>
            <a:endParaRPr lang="en-US" sz="1000" dirty="0"/>
          </a:p>
        </p:txBody>
      </p:sp>
      <p:sp>
        <p:nvSpPr>
          <p:cNvPr id="61" name="Text 52"/>
          <p:cNvSpPr txBox="1"/>
          <p:nvPr/>
        </p:nvSpPr>
        <p:spPr>
          <a:xfrm>
            <a:off x="1554480" y="6537960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KARN-CALCULATION-STEPBYSTEP (SIM-13 v13.4); Arrow (1963); Schoen et al. (2005); Karunayawong et al. (2024); Cooper et al. (2019)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1: Find R (จำนวนเงินที่ครอบครัวจ่ายเองไหว)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293293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รายได้ครัวเรือน Y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1,958,483 บาท/ปี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" y="26060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2064" y="26060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รายจ่ายรวม E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1,619,850 บาท/ปี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" y="30632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12064" y="30632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รายจ่ายยังชีพ E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food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150,000 บาท/ปี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5488" y="35204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35204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เงินสด + ออมทรัพย์ W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55,000 + 470,000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" y="3977640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12064" y="3977640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รายได้ &lt; 2 เท่าเส้นความยากจน?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ไม่ใช่ ⇒ τ = 10%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65760" y="4807458"/>
            <a:ext cx="2057400" cy="1364742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365760" y="488061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75488" y="5191506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512064" y="5191506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เกณฑ์ความเดือดร้อน τ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ของรายได้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475488" y="5648706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 txBox="1"/>
          <p:nvPr/>
        </p:nvSpPr>
        <p:spPr>
          <a:xfrm>
            <a:off x="512064" y="5648706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เพดาน capacity-to-pay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40% ของ CTP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 txBox="1"/>
          <p:nvPr/>
        </p:nvSpPr>
        <p:spPr>
          <a:xfrm>
            <a:off x="2724912" y="1892808"/>
            <a:ext cx="6574536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คือบิลก้อนใหญ่ที่สุดที่ครอบครัวจ่ายเองได้โดยไม่เดือดร้อน ⇒ ส่วนนี้</a:t>
            </a: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ไม่ต้องโอนให้บริษัทประกัน</a:t>
            </a: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(ซื้อความคุ้มครองเฉพาะส่วนที่เกิน R)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2724912" y="238109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สูตร — เลือกค่าที่น้อยที่สุดจาก 3 เงื่อนไข</a:t>
            </a:r>
            <a:endParaRPr lang="en-US" sz="1300" dirty="0"/>
          </a:p>
        </p:txBody>
      </p:sp>
      <p:pic>
        <p:nvPicPr>
          <p:cNvPr id="34" name="Image 2" descr="LaTeX: R=\min\left(\tau Y,\ 0.40\times CTP,\ W\righ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655418"/>
            <a:ext cx="2520696" cy="243840"/>
          </a:xfrm>
          <a:prstGeom prst="rect">
            <a:avLst/>
          </a:prstGeom>
        </p:spPr>
      </p:pic>
      <p:pic>
        <p:nvPicPr>
          <p:cNvPr id="35" name="Image 3" descr="LaTeX: CTP=E-E_{\mathrm{food}}=1{,}619{,}850-150{,}000=1{,}469{,}8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990698"/>
            <a:ext cx="4255008" cy="24384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2724912" y="3380842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แทนค่ากรณีคุณกรรณ์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2724912" y="3655162"/>
            <a:ext cx="6574536" cy="329184"/>
          </a:xfrm>
          <a:prstGeom prst="rect">
            <a:avLst/>
          </a:prstGeom>
          <a:solidFill>
            <a:srgbClr val="E3F1E5"/>
          </a:solidFill>
          <a:ln w="952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4" descr="LaTeX: \tau Y=0.10\times 1{,}958{,}483=195{,}848.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4640" y="3697834"/>
            <a:ext cx="2901696" cy="24384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6611112" y="365516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Schoen (2005) — น้อยที่สุด ✓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724912" y="4039210"/>
            <a:ext cx="65745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3C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LaTeX: 0.40\times CTP=0.40\times 1{,}469{,}850=587{,}940.0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4640" y="4081882"/>
            <a:ext cx="3639312" cy="24384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611112" y="403921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 (2003)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2724912" y="4423258"/>
            <a:ext cx="6574536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C3C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4" name="Image 6" descr="LaTeX: W=55{,}000+470{,}000=525{,}000.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640" y="4465930"/>
            <a:ext cx="2929128" cy="24384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611112" y="442325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สภาพคล่อง (ไม่รวมฝากประจำ)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2724912" y="4898746"/>
            <a:ext cx="5178552" cy="39014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7" descr="LaTeX: R=\min\left(195{,}848.30,\ 587{,}940.00,\ 525{,}000.00\right)=195{,}848.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4971898"/>
            <a:ext cx="4904232" cy="243840"/>
          </a:xfrm>
          <a:prstGeom prst="rect">
            <a:avLst/>
          </a:prstGeom>
        </p:spPr>
      </p:pic>
      <p:sp>
        <p:nvSpPr>
          <p:cNvPr id="48" name="Shape 38"/>
          <p:cNvSpPr/>
          <p:nvPr/>
        </p:nvSpPr>
        <p:spPr>
          <a:xfrm>
            <a:off x="9601200" y="1764792"/>
            <a:ext cx="2221992" cy="162121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50" name="Shape 40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(ส่วนที่จ่ายเองไหว)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195,848.30 บาท</a:t>
            </a:r>
            <a:endParaRPr lang="en-US" sz="1050" dirty="0"/>
          </a:p>
        </p:txBody>
      </p:sp>
      <p:sp>
        <p:nvSpPr>
          <p:cNvPr id="52" name="Text 42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4: หักออกจากบิลออกแบบ L เพื่อหา S*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9601200" y="3495730"/>
            <a:ext cx="2221992" cy="267647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4"/>
          <p:cNvSpPr txBox="1"/>
          <p:nvPr/>
        </p:nvSpPr>
        <p:spPr>
          <a:xfrm>
            <a:off x="9601200" y="356888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9710928" y="3879778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46"/>
          <p:cNvSpPr txBox="1"/>
          <p:nvPr/>
        </p:nvSpPr>
        <p:spPr>
          <a:xfrm>
            <a:off x="9747504" y="3879778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เงื่อนไขที่ผูกมัด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Schoen: τY</a:t>
            </a:r>
            <a:endParaRPr lang="en-US" sz="1050" dirty="0"/>
          </a:p>
        </p:txBody>
      </p:sp>
      <p:sp>
        <p:nvSpPr>
          <p:cNvPr id="57" name="Text 47"/>
          <p:cNvSpPr txBox="1"/>
          <p:nvPr/>
        </p:nvSpPr>
        <p:spPr>
          <a:xfrm>
            <a:off x="9710928" y="4314118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ใช้ตรวจว่าการนับหุ้นเข้า W ไม่เปลี่ยนคำตอบเคสนี้</a:t>
            </a:r>
            <a:endParaRPr lang="en-US" sz="1000" dirty="0"/>
          </a:p>
        </p:txBody>
      </p:sp>
      <p:sp>
        <p:nvSpPr>
          <p:cNvPr id="58" name="Shape 48"/>
          <p:cNvSpPr/>
          <p:nvPr/>
        </p:nvSpPr>
        <p:spPr>
          <a:xfrm>
            <a:off x="9710928" y="4684450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49"/>
          <p:cNvSpPr txBox="1"/>
          <p:nvPr/>
        </p:nvSpPr>
        <p:spPr>
          <a:xfrm>
            <a:off x="9747504" y="468445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ใช้ซ้ำ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195,848</a:t>
            </a:r>
            <a:endParaRPr lang="en-US" sz="1050" dirty="0"/>
          </a:p>
        </p:txBody>
      </p:sp>
      <p:sp>
        <p:nvSpPr>
          <p:cNvPr id="60" name="Text 50"/>
          <p:cNvSpPr txBox="1"/>
          <p:nvPr/>
        </p:nvSpPr>
        <p:spPr>
          <a:xfrm>
            <a:off x="9710928" y="511879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A–B: ย้อนหา ε และ k สูงสุดจากทุนของแผน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4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Schoen et al. (2005); Xu et al. (2003); Arrow (1963); แบบสำรวจ TFPM 102 (คุณกรรณ์)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4"/>
          <p:cNvSpPr/>
          <p:nvPr/>
        </p:nvSpPr>
        <p:spPr>
          <a:xfrm>
            <a:off x="20116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5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67" name="Text 57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8" name="Text 58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9" name="Text 59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2: Find k (โรงพยาบาลเอกชนแพงกว่า สปสช. กี่เท่า)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096459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โรงพยาบาลที่ตั้งใจใช้ (i)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พระรามเก้า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970979"/>
            <a:ext cx="2057400" cy="3201221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365760" y="3044131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" y="3355027"/>
            <a:ext cx="1837944" cy="74066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12064" y="3355027"/>
            <a:ext cx="17647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ราคาแพ็กเกจที่ประกาศ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i,c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หัตถการ (praram9.com)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5488" y="4145983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4145983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น้ำหนักสัมพัทธ์ AdjRW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Thai DRG 6.3.3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" y="4603183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12064" y="4603183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อัตราจ่าย สปสช.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8,350 บาท/AdjRW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" y="5060383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2064" y="5060383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น้ำหนักโรคจริง w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เคลม สปสช. ปีงบ 2567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724912" y="1901952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72491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108960" y="1892808"/>
            <a:ext cx="4142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เก็บราคาที่โรงพยาบาลประกาศ (P)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108960" y="212140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พระรามเก้าประกาศราคาแพ็กเกจ 11 หัตถการ เช่น ผ่าตัดนิ่วในถุงน้ำดีผ่านกล้อง 215,000 บาท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2724912" y="2587752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2724912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3108960" y="2578608"/>
            <a:ext cx="4142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หาว่า สปสช. จ่ายเท่าไหร่ให้หัตถการเดียวกัน</a:t>
            </a:r>
            <a:endParaRPr lang="en-US" sz="1250" dirty="0"/>
          </a:p>
        </p:txBody>
      </p:sp>
      <p:pic>
        <p:nvPicPr>
          <p:cNvPr id="35" name="Image 2" descr="LaTeX: Pay_c=AdjRW_c\times 8{,}350=2.5151\times 8{,}350=21{,}001.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807208"/>
            <a:ext cx="3858768" cy="219456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724912" y="3127248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2724912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3108960" y="3118104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เอาราคาเอกชน ÷ ราคา สปสช. = แพงกว่ากี่เท่า (relative price)</a:t>
            </a:r>
            <a:endParaRPr lang="en-US" sz="1250" dirty="0"/>
          </a:p>
        </p:txBody>
      </p:sp>
      <p:pic>
        <p:nvPicPr>
          <p:cNvPr id="39" name="Image 3" descr="LaTeX: k_{i,c}=\dfrac{P_{i,c}}{Pay_c}=\dfrac{215{,}000}{21{,}001.08}=10.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557016"/>
            <a:ext cx="2298192" cy="441960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724912" y="4099560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5"/>
          <p:cNvSpPr txBox="1"/>
          <p:nvPr/>
        </p:nvSpPr>
        <p:spPr>
          <a:xfrm>
            <a:off x="2724912" y="4099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3108960" y="4090416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แยก effect “ความแพงของโรงพยาบาล” ออกจาก “ความแพงของโรค”</a:t>
            </a:r>
            <a:endParaRPr lang="en-US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3108960" y="452932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บางโรค สปสช. จ่ายต่ำมาก (คลอดปกติ 3,655 บาท) ทำให้หารแล้วดูแพงเกินจริง ⇒ เทียบกับ 9 โรงพยาบาลพร้อมกัน</a:t>
            </a:r>
            <a:endParaRPr lang="en-US" sz="1100" dirty="0"/>
          </a:p>
        </p:txBody>
      </p:sp>
      <p:pic>
        <p:nvPicPr>
          <p:cNvPr id="44" name="Image 4" descr="LaTeX: \ln k_{i,c}=a_i+b_c\ \Rightarrow\ a_i=\dfrac{1}{11}\sum_c\left(\ln k_{i,c}-b_c\right)=\dfrac{2.0261}{11}=+0.18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4913376"/>
            <a:ext cx="4142232" cy="389560"/>
          </a:xfrm>
          <a:prstGeom prst="rect">
            <a:avLst/>
          </a:prstGeom>
        </p:spPr>
      </p:pic>
      <p:sp>
        <p:nvSpPr>
          <p:cNvPr id="45" name="Shape 38"/>
          <p:cNvSpPr/>
          <p:nvPr/>
        </p:nvSpPr>
        <p:spPr>
          <a:xfrm>
            <a:off x="2724912" y="5403520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2724912" y="5403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0"/>
          <p:cNvSpPr txBox="1"/>
          <p:nvPr/>
        </p:nvSpPr>
        <p:spPr>
          <a:xfrm>
            <a:off x="3108960" y="5394376"/>
            <a:ext cx="4142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ถ่วง effect ของโรคด้วยสัดส่วนโรคที่เกิดขึ้นจริง → k ของโรงพยาบาล</a:t>
            </a:r>
            <a:endParaRPr lang="en-US" sz="1250" dirty="0"/>
          </a:p>
        </p:txBody>
      </p:sp>
      <p:pic>
        <p:nvPicPr>
          <p:cNvPr id="48" name="Image 5" descr="LaTeX: k_i=\exp\left(a_i+\sum_c w_c\,b_c\right)=\exp\left(0.1842+2.0421\right)=9.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5833288"/>
            <a:ext cx="3913632" cy="3718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7434072" y="1892808"/>
            <a:ext cx="18653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ทำซ้ำทุกโรงพยาบาล แล้วสร้างเป็นตาราง k</a:t>
            </a:r>
            <a:endParaRPr lang="en-US" sz="12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34072" y="2304288"/>
          <a:ext cx="1865376" cy="914400"/>
        </p:xfrm>
        <a:graphic>
          <a:graphicData uri="http://schemas.openxmlformats.org/drawingml/2006/table">
            <a:tbl>
              <a:tblPr/>
              <a:tblGrid>
                <a:gridCol w="1344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โรงพยาบาล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เกษมราษฎร์ บางแค ⚠️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เกษมราษฎร์ ประชาชื่น ⚠️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วิภาวดี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นนทเวช ⚠️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ศิครินทร์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พระรามเก้า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พญาไท นวมินทร์ ⚠️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กรุงเทพ สำนักงานใหญ่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สมิติเวช สุขุมวิท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1" name="Text 42"/>
          <p:cNvSpPr txBox="1"/>
          <p:nvPr/>
        </p:nvSpPr>
        <p:spPr>
          <a:xfrm>
            <a:off x="7434072" y="4910328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⚠️ = ราคาไม่ถึง 3 หัตถการ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9601200" y="1764792"/>
            <a:ext cx="2221992" cy="1787991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54" name="Shape 45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6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พระรามเก้า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9.27 เท่า</a:t>
            </a:r>
            <a:endParaRPr lang="en-US" sz="1050" dirty="0"/>
          </a:p>
        </p:txBody>
      </p:sp>
      <p:sp>
        <p:nvSpPr>
          <p:cNvPr id="56" name="Text 47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นอน รพ. 1 ครั้งแพงกว่ายอดที่ สปสช. จ่าย 9.27 เท่า → Step 4</a:t>
            </a:r>
            <a:endParaRPr lang="en-US" sz="1000" dirty="0"/>
          </a:p>
        </p:txBody>
      </p:sp>
      <p:sp>
        <p:nvSpPr>
          <p:cNvPr id="57" name="Shape 48"/>
          <p:cNvSpPr/>
          <p:nvPr/>
        </p:nvSpPr>
        <p:spPr>
          <a:xfrm>
            <a:off x="9601200" y="3662511"/>
            <a:ext cx="2221992" cy="2509689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9"/>
          <p:cNvSpPr txBox="1"/>
          <p:nvPr/>
        </p:nvSpPr>
        <p:spPr>
          <a:xfrm>
            <a:off x="9601200" y="3735663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9" name="Shape 50"/>
          <p:cNvSpPr/>
          <p:nvPr/>
        </p:nvSpPr>
        <p:spPr>
          <a:xfrm>
            <a:off x="9710928" y="4046559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1"/>
          <p:cNvSpPr txBox="1"/>
          <p:nvPr/>
        </p:nvSpPr>
        <p:spPr>
          <a:xfrm>
            <a:off x="9747504" y="4046559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ตาราง k ทั้ง 9 แห่ง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5.34 – 12.07</a:t>
            </a:r>
            <a:endParaRPr lang="en-US" sz="1050" dirty="0"/>
          </a:p>
        </p:txBody>
      </p:sp>
      <p:sp>
        <p:nvSpPr>
          <p:cNvPr id="61" name="Text 52"/>
          <p:cNvSpPr txBox="1"/>
          <p:nvPr/>
        </p:nvSpPr>
        <p:spPr>
          <a:xfrm>
            <a:off x="9710928" y="4480899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B: ย้าย รพ.เอกชน</a:t>
            </a:r>
            <a:endParaRPr lang="en-US" sz="1000" dirty="0"/>
          </a:p>
        </p:txBody>
      </p:sp>
      <p:sp>
        <p:nvSpPr>
          <p:cNvPr id="62" name="Shape 53"/>
          <p:cNvSpPr/>
          <p:nvPr/>
        </p:nvSpPr>
        <p:spPr>
          <a:xfrm>
            <a:off x="9710928" y="4695783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54"/>
          <p:cNvSpPr txBox="1"/>
          <p:nvPr/>
        </p:nvSpPr>
        <p:spPr>
          <a:xfrm>
            <a:off x="9747504" y="4695783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 CI ของ k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7.81 – 10.99</a:t>
            </a:r>
            <a:endParaRPr lang="en-US" sz="1050" dirty="0"/>
          </a:p>
        </p:txBody>
      </p:sp>
      <p:sp>
        <p:nvSpPr>
          <p:cNvPr id="64" name="Text 55"/>
          <p:cNvSpPr txBox="1"/>
          <p:nvPr/>
        </p:nvSpPr>
        <p:spPr>
          <a:xfrm>
            <a:off x="9710928" y="5130123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ช่วงของ S* (Step 4)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5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ราคาแพ็กเกจ praram9.com; สรท./สวรส. (2563) Thai DRG 6.3.3; Whaley et al. (RAND); Cooper et al. (2019); ILO/IMF CPI Manual (2020)</a:t>
            </a:r>
            <a:endParaRPr lang="en-US" sz="900" dirty="0"/>
          </a:p>
        </p:txBody>
      </p:sp>
      <p:sp>
        <p:nvSpPr>
          <p:cNvPr id="67" name="Shape 58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59"/>
          <p:cNvSpPr/>
          <p:nvPr/>
        </p:nvSpPr>
        <p:spPr>
          <a:xfrm>
            <a:off x="253288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0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70" name="Text 61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71" name="Text 62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72" name="Text 63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73" name="Text 64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 (ต่อ): Find g และ T (ค่ารักษาจะแพงขึ้นแค่ไหนจนถึงปีเกษียณ)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2245884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อายุปัจจุบัน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ปี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" y="26060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2064" y="26060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อายุเกษียณ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ปี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" y="30632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12064" y="30632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ประเภทโรงพยาบาล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เอกชน (พระรามเก้า)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65760" y="4120404"/>
            <a:ext cx="2057400" cy="2051796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365760" y="41935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75488" y="4504452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12064" y="4504452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เอกชน (Bnomics, ธ.กรุงเทพ)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10.8% ต่อปี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" y="5117100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2064" y="5117100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บิล HCU สปสช. ปี 2559 / 2562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117,737 / 125,061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2724912" y="1901952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72491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3108960" y="1892808"/>
            <a:ext cx="3227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คุ้มครองถึงเกษียณ → จำนวนปี T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3108960" y="2121408"/>
            <a:ext cx="32278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ปี 2569 → 2583</a:t>
            </a:r>
            <a:endParaRPr lang="en-US" sz="1100" dirty="0"/>
          </a:p>
        </p:txBody>
      </p:sp>
      <p:pic>
        <p:nvPicPr>
          <p:cNvPr id="32" name="Image 2" descr="LaTeX: T=60-46=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2331720"/>
            <a:ext cx="1319784" cy="231648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2724912" y="2663952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2724912" y="2663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0"/>
          <p:cNvSpPr txBox="1"/>
          <p:nvPr/>
        </p:nvSpPr>
        <p:spPr>
          <a:xfrm>
            <a:off x="3108960" y="265480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= ค่ารักษาแพงขึ้นปีละกี่ % — ขึ้นกับประเภทโรงพยาบาล</a:t>
            </a:r>
            <a:endParaRPr lang="en-US" sz="1250" dirty="0"/>
          </a:p>
        </p:txBody>
      </p:sp>
      <p:sp>
        <p:nvSpPr>
          <p:cNvPr id="36" name="Text 31"/>
          <p:cNvSpPr txBox="1"/>
          <p:nvPr/>
        </p:nvSpPr>
        <p:spPr>
          <a:xfrm>
            <a:off x="3108960" y="3093720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เอกชน: 10.8% ต่อปี (ใช้ค่านี้เสมอ) · รัฐ: คำนวณจากบิลกลุ่มแพง (HCU) ของ สปสช.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2724912" y="3560064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2724912" y="3560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4"/>
          <p:cNvSpPr txBox="1"/>
          <p:nvPr/>
        </p:nvSpPr>
        <p:spPr>
          <a:xfrm>
            <a:off x="3108960" y="355092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รัฐ = อัตราโตเฉลี่ยต่อปีของบิล HCU (3 ปี)</a:t>
            </a:r>
            <a:endParaRPr lang="en-US" sz="1250" dirty="0"/>
          </a:p>
        </p:txBody>
      </p:sp>
      <p:pic>
        <p:nvPicPr>
          <p:cNvPr id="40" name="Image 3" descr="LaTeX: g_{\mathrm{pub}}=\left(\dfrac{125{,}061}{117{,}737}\right)^{1/3}-1=2.032\%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989832"/>
            <a:ext cx="2679192" cy="499872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2724912" y="4590288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2724912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3" name="Text 37"/>
          <p:cNvSpPr txBox="1"/>
          <p:nvPr/>
        </p:nvSpPr>
        <p:spPr>
          <a:xfrm>
            <a:off x="3108960" y="4581144"/>
            <a:ext cx="3227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ทบต้นถึงปีเกษียณ → ตัวคูณเงินเฟ้อ</a:t>
            </a:r>
            <a:endParaRPr lang="en-US" sz="1250" dirty="0"/>
          </a:p>
        </p:txBody>
      </p:sp>
      <p:pic>
        <p:nvPicPr>
          <p:cNvPr id="44" name="Image 4" descr="LaTeX: (1+g_{\mathrm{priv}})^{T}=1.108^{14}=4.20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8960" y="4809744"/>
            <a:ext cx="2353056" cy="265176"/>
          </a:xfrm>
          <a:prstGeom prst="rect">
            <a:avLst/>
          </a:prstGeom>
        </p:spPr>
      </p:pic>
      <p:pic>
        <p:nvPicPr>
          <p:cNvPr id="45" name="Image 5" descr="LaTeX: (1+g_{\mathrm{pub}})^{T}=1.020320^{14}=1.325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8960" y="5093208"/>
            <a:ext cx="2609088" cy="265176"/>
          </a:xfrm>
          <a:prstGeom prst="rect">
            <a:avLst/>
          </a:prstGeom>
        </p:spPr>
      </p:pic>
      <p:graphicFrame>
        <p:nvGraphicFramePr>
          <p:cNvPr id="46" name="Chart 0"/>
          <p:cNvGraphicFramePr/>
          <p:nvPr/>
        </p:nvGraphicFramePr>
        <p:xfrm>
          <a:off x="6473952" y="1892808"/>
          <a:ext cx="2825496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47" name="Text 38"/>
          <p:cNvSpPr txBox="1"/>
          <p:nvPr/>
        </p:nvSpPr>
        <p:spPr>
          <a:xfrm>
            <a:off x="6473952" y="4910328"/>
            <a:ext cx="2825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บิล 100 บาทวันนี้ ⇒ ปี 2583 = </a:t>
            </a:r>
            <a:r>
              <a:rPr lang="en-US" sz="11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420 บาท</a:t>
            </a: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ที่เอกชน · </a:t>
            </a:r>
            <a:r>
              <a:rPr lang="en-US" sz="11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133 บาท</a:t>
            </a: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ที่ รพ.รัฐ</a:t>
            </a:r>
            <a:endParaRPr lang="en-US" sz="1100" dirty="0"/>
          </a:p>
        </p:txBody>
      </p:sp>
      <p:sp>
        <p:nvSpPr>
          <p:cNvPr id="48" name="Shape 39"/>
          <p:cNvSpPr/>
          <p:nvPr/>
        </p:nvSpPr>
        <p:spPr>
          <a:xfrm>
            <a:off x="9601200" y="1764792"/>
            <a:ext cx="2221992" cy="2136125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0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ปี</a:t>
            </a:r>
            <a:endParaRPr lang="en-US" sz="1050" dirty="0"/>
          </a:p>
        </p:txBody>
      </p:sp>
      <p:sp>
        <p:nvSpPr>
          <p:cNvPr id="52" name="Text 43"/>
          <p:cNvSpPr txBox="1"/>
          <p:nvPr/>
        </p:nvSpPr>
        <p:spPr>
          <a:xfrm>
            <a:off x="9710928" y="2583180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4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9710928" y="2798064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5"/>
          <p:cNvSpPr txBox="1"/>
          <p:nvPr/>
        </p:nvSpPr>
        <p:spPr>
          <a:xfrm>
            <a:off x="9747504" y="2798064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(1+g)</a:t>
            </a:r>
            <a:r>
              <a:rPr lang="en-US" sz="1050" baseline="3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เอกชน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4.2030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9710928" y="323240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ค่ารักษาเอกชนโต 4.2 เท่าใน 14 ปี → Step 4</a:t>
            </a:r>
            <a:endParaRPr lang="en-US" sz="1000" dirty="0"/>
          </a:p>
        </p:txBody>
      </p:sp>
      <p:sp>
        <p:nvSpPr>
          <p:cNvPr id="56" name="Shape 47"/>
          <p:cNvSpPr/>
          <p:nvPr/>
        </p:nvSpPr>
        <p:spPr>
          <a:xfrm>
            <a:off x="9601200" y="4010645"/>
            <a:ext cx="2221992" cy="2161555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 txBox="1"/>
          <p:nvPr/>
        </p:nvSpPr>
        <p:spPr>
          <a:xfrm>
            <a:off x="9601200" y="4083797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8" name="Shape 49"/>
          <p:cNvSpPr/>
          <p:nvPr/>
        </p:nvSpPr>
        <p:spPr>
          <a:xfrm>
            <a:off x="9710928" y="4394693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9747504" y="4394693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(1+g)</a:t>
            </a:r>
            <a:r>
              <a:rPr lang="en-US" sz="1050" baseline="3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รัฐ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1.3253</a:t>
            </a:r>
            <a:endParaRPr lang="en-US" sz="1050" dirty="0"/>
          </a:p>
        </p:txBody>
      </p:sp>
      <p:sp>
        <p:nvSpPr>
          <p:cNvPr id="60" name="Text 51"/>
          <p:cNvSpPr txBox="1"/>
          <p:nvPr/>
        </p:nvSpPr>
        <p:spPr>
          <a:xfrm>
            <a:off x="9710928" y="4829033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กรณีเทียบ รพ.รัฐ (Step 4)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9710928" y="5043917"/>
            <a:ext cx="2002536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3"/>
          <p:cNvSpPr txBox="1"/>
          <p:nvPr/>
        </p:nvSpPr>
        <p:spPr>
          <a:xfrm>
            <a:off x="9747504" y="5043917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 เอกชน 10.8% ทุกแห่ง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เปลี่ยน รพ.เอกชน g ไม่เปลี่ยน</a:t>
            </a:r>
            <a:endParaRPr lang="en-US" sz="1050" dirty="0"/>
          </a:p>
        </p:txBody>
      </p:sp>
      <p:sp>
        <p:nvSpPr>
          <p:cNvPr id="63" name="Text 54"/>
          <p:cNvSpPr txBox="1"/>
          <p:nvPr/>
        </p:nvSpPr>
        <p:spPr>
          <a:xfrm>
            <a:off x="9710928" y="5656565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B: ย้าย รพ.เอกชน</a:t>
            </a:r>
            <a:endParaRPr lang="en-US" sz="1000" dirty="0"/>
          </a:p>
        </p:txBody>
      </p:sp>
      <p:sp>
        <p:nvSpPr>
          <p:cNvPr id="64" name="Text 55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6</a:t>
            </a:r>
            <a:endParaRPr lang="en-US" sz="1000" dirty="0"/>
          </a:p>
        </p:txBody>
      </p:sp>
      <p:sp>
        <p:nvSpPr>
          <p:cNvPr id="65" name="Text 56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The Nation Thailand (11 พ.ค. 2026) อ้าง Bnomics; Karunayawong et al. (2024) Table 1; แบบสำรวจ TFPM 102 (อายุเกษียณ 60)</a:t>
            </a:r>
            <a:endParaRPr lang="en-US" sz="900" dirty="0"/>
          </a:p>
        </p:txBody>
      </p:sp>
      <p:sp>
        <p:nvSpPr>
          <p:cNvPr id="66" name="Shape 57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8"/>
          <p:cNvSpPr/>
          <p:nvPr/>
        </p:nvSpPr>
        <p:spPr>
          <a:xfrm>
            <a:off x="253288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59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69" name="Text 60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70" name="Text 61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71" name="Text 62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72" name="Text 63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3.1: Find p (โอกาสได้นอนโรงพยาบาลใน 1 ปี)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2058889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ไม่ต้องกรอก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เป็นค่าของประชากร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ทุกคนใช้ค่าเดียวกัน · อายุ เพศ โรคประจำตัวของลูกค้าเข้ามาใน Step 3.2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933409"/>
            <a:ext cx="2057400" cy="2238791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4006561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4317457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4317457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ผู้ป่วยในบัตรทอง ปี 2562 (N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IPD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3,559,710 คน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930105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930105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ผู้มีสิทธิบัตรทอง (N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52,000,000 คน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2724912" y="1901952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2724912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3108960" y="1892808"/>
            <a:ext cx="6190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ข้อมูลที่มี — ใช้ 2 ตัวเลข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2157984"/>
          <a:ext cx="6190488" cy="914400"/>
        </p:xfrm>
        <a:graphic>
          <a:graphicData uri="http://schemas.openxmlformats.org/drawingml/2006/table">
            <a:tbl>
              <a:tblPr/>
              <a:tblGrid>
                <a:gridCol w="728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5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34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สัญลักษณ์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ข้อมูล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ค่า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แหล่งที่มา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r>
                        <a:rPr lang="en-US" sz="100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IPD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จำนวน “คน” ที่ได้นอนโรงพยาบาลในระบบบัตรทอง ปี 2562 (นับคน ไม่ได้นับครั้ง)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3,559,710 คน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Karunayawong et al. (2024) Table 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r>
                        <a:rPr lang="en-US" sz="100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UCS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จำนวนคนที่มีสิทธิบัตรทอง (≈ 80% ของประชากรไทย)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52,000,000 คน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ช่วง 47–52 ล้านคน · ใช้ค่าบน (ค่าตั้งต้น SIM-13)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9" name="Image 2" descr="LaTeX: N_{\mathrm{IPD}}=1{,}779{,}855+1{,}601{,}871+177{,}984=3{,}559{,}7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0" y="3255264"/>
            <a:ext cx="4297680" cy="2438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498080" y="3255264"/>
            <a:ext cx="1801368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← บิลถูก + กลาง + แพง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724912" y="3599688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2724912" y="3599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3108960" y="3590544"/>
            <a:ext cx="6190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สูตร — โอกาส = จำนวนคนที่ได้นอนโรงพยาบาล ÷ จำนวนคนทั้งหมดที่มีสิทธิ</a:t>
            </a:r>
            <a:endParaRPr lang="en-US" sz="1250" dirty="0"/>
          </a:p>
        </p:txBody>
      </p:sp>
      <p:pic>
        <p:nvPicPr>
          <p:cNvPr id="34" name="Image 3" descr="LaTeX: p=\dfrac{N_{\mathrm{IPD}}}{N_{\mathrm{UCS}}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819144"/>
            <a:ext cx="835152" cy="478536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2724912" y="4379976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2724912" y="4379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3108960" y="4370832"/>
            <a:ext cx="6190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แทนเลข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3108960" y="4617720"/>
            <a:ext cx="3398520" cy="62788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4" descr="LaTeX: p=\dfrac{3{,}559{,}710}{52{,}000{,}000}=0.068456=6.8456\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4690872"/>
            <a:ext cx="3124200" cy="481584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2724912" y="5327904"/>
            <a:ext cx="274320" cy="274320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 txBox="1"/>
          <p:nvPr/>
        </p:nvSpPr>
        <p:spPr>
          <a:xfrm>
            <a:off x="2724912" y="5327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Text 34"/>
          <p:cNvSpPr txBox="1"/>
          <p:nvPr/>
        </p:nvSpPr>
        <p:spPr>
          <a:xfrm>
            <a:off x="3108960" y="5318760"/>
            <a:ext cx="6190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แปลความ — 1 ÷ p ≈ 14.6 ⇒ ประมาณ 1 ใน 14.6 คน ได้นอนโรงพยาบาลในแต่ละปี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315010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6"/>
          <p:cNvSpPr/>
          <p:nvPr/>
        </p:nvSpPr>
        <p:spPr>
          <a:xfrm>
            <a:off x="312267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7"/>
          <p:cNvSpPr/>
          <p:nvPr/>
        </p:nvSpPr>
        <p:spPr>
          <a:xfrm>
            <a:off x="342442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8"/>
          <p:cNvSpPr/>
          <p:nvPr/>
        </p:nvSpPr>
        <p:spPr>
          <a:xfrm>
            <a:off x="339699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369874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0"/>
          <p:cNvSpPr/>
          <p:nvPr/>
        </p:nvSpPr>
        <p:spPr>
          <a:xfrm>
            <a:off x="367131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397306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394563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3"/>
          <p:cNvSpPr/>
          <p:nvPr/>
        </p:nvSpPr>
        <p:spPr>
          <a:xfrm>
            <a:off x="424738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4"/>
          <p:cNvSpPr/>
          <p:nvPr/>
        </p:nvSpPr>
        <p:spPr>
          <a:xfrm>
            <a:off x="421995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5"/>
          <p:cNvSpPr/>
          <p:nvPr/>
        </p:nvSpPr>
        <p:spPr>
          <a:xfrm>
            <a:off x="452170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6"/>
          <p:cNvSpPr/>
          <p:nvPr/>
        </p:nvSpPr>
        <p:spPr>
          <a:xfrm>
            <a:off x="449427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7"/>
          <p:cNvSpPr/>
          <p:nvPr/>
        </p:nvSpPr>
        <p:spPr>
          <a:xfrm>
            <a:off x="479602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8"/>
          <p:cNvSpPr/>
          <p:nvPr/>
        </p:nvSpPr>
        <p:spPr>
          <a:xfrm>
            <a:off x="476859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9"/>
          <p:cNvSpPr/>
          <p:nvPr/>
        </p:nvSpPr>
        <p:spPr>
          <a:xfrm>
            <a:off x="507034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0"/>
          <p:cNvSpPr/>
          <p:nvPr/>
        </p:nvSpPr>
        <p:spPr>
          <a:xfrm>
            <a:off x="504291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1"/>
          <p:cNvSpPr/>
          <p:nvPr/>
        </p:nvSpPr>
        <p:spPr>
          <a:xfrm>
            <a:off x="534466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2"/>
          <p:cNvSpPr/>
          <p:nvPr/>
        </p:nvSpPr>
        <p:spPr>
          <a:xfrm>
            <a:off x="531723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3"/>
          <p:cNvSpPr/>
          <p:nvPr/>
        </p:nvSpPr>
        <p:spPr>
          <a:xfrm>
            <a:off x="561898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4"/>
          <p:cNvSpPr/>
          <p:nvPr/>
        </p:nvSpPr>
        <p:spPr>
          <a:xfrm>
            <a:off x="559155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5"/>
          <p:cNvSpPr/>
          <p:nvPr/>
        </p:nvSpPr>
        <p:spPr>
          <a:xfrm>
            <a:off x="589330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6"/>
          <p:cNvSpPr/>
          <p:nvPr/>
        </p:nvSpPr>
        <p:spPr>
          <a:xfrm>
            <a:off x="586587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57"/>
          <p:cNvSpPr/>
          <p:nvPr/>
        </p:nvSpPr>
        <p:spPr>
          <a:xfrm>
            <a:off x="616762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58"/>
          <p:cNvSpPr/>
          <p:nvPr/>
        </p:nvSpPr>
        <p:spPr>
          <a:xfrm>
            <a:off x="614019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59"/>
          <p:cNvSpPr/>
          <p:nvPr/>
        </p:nvSpPr>
        <p:spPr>
          <a:xfrm>
            <a:off x="644194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0"/>
          <p:cNvSpPr/>
          <p:nvPr/>
        </p:nvSpPr>
        <p:spPr>
          <a:xfrm>
            <a:off x="641451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1"/>
          <p:cNvSpPr/>
          <p:nvPr/>
        </p:nvSpPr>
        <p:spPr>
          <a:xfrm>
            <a:off x="6716268" y="5775960"/>
            <a:ext cx="100584" cy="100584"/>
          </a:xfrm>
          <a:prstGeom prst="ellipse">
            <a:avLst/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2"/>
          <p:cNvSpPr/>
          <p:nvPr/>
        </p:nvSpPr>
        <p:spPr>
          <a:xfrm>
            <a:off x="668883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8E93A8"/>
          </a:solidFill>
          <a:ln w="12700">
            <a:solidFill>
              <a:srgbClr val="8E93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3"/>
          <p:cNvSpPr/>
          <p:nvPr/>
        </p:nvSpPr>
        <p:spPr>
          <a:xfrm>
            <a:off x="6990588" y="5775960"/>
            <a:ext cx="100584" cy="100584"/>
          </a:xfrm>
          <a:prstGeom prst="ellipse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64"/>
          <p:cNvSpPr/>
          <p:nvPr/>
        </p:nvSpPr>
        <p:spPr>
          <a:xfrm>
            <a:off x="6963156" y="5890260"/>
            <a:ext cx="155448" cy="182880"/>
          </a:xfrm>
          <a:prstGeom prst="roundRect">
            <a:avLst>
              <a:gd name="adj" fmla="val 29412"/>
            </a:avLst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5"/>
          <p:cNvSpPr txBox="1"/>
          <p:nvPr/>
        </p:nvSpPr>
        <p:spPr>
          <a:xfrm>
            <a:off x="7360920" y="5775960"/>
            <a:ext cx="1938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ยังไม่บอกว่าบิลแพงแค่ไหน → Step 3.2</a:t>
            </a:r>
            <a:endParaRPr lang="en-US" sz="1050" dirty="0"/>
          </a:p>
        </p:txBody>
      </p:sp>
      <p:sp>
        <p:nvSpPr>
          <p:cNvPr id="74" name="Shape 66"/>
          <p:cNvSpPr/>
          <p:nvPr/>
        </p:nvSpPr>
        <p:spPr>
          <a:xfrm>
            <a:off x="9601200" y="1764792"/>
            <a:ext cx="2221992" cy="1700521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7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76" name="Shape 68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69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6.8456%</a:t>
            </a:r>
            <a:endParaRPr lang="en-US" sz="1050" dirty="0"/>
          </a:p>
        </p:txBody>
      </p:sp>
      <p:sp>
        <p:nvSpPr>
          <p:cNvPr id="78" name="Text 70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3.3: ตั้งเพดานโอกาสของแต่ละกลุ่มบิล (p·h, p·(h+a))</a:t>
            </a:r>
            <a:endParaRPr lang="en-US" sz="1000" dirty="0"/>
          </a:p>
        </p:txBody>
      </p:sp>
      <p:sp>
        <p:nvSpPr>
          <p:cNvPr id="79" name="Shape 71"/>
          <p:cNvSpPr/>
          <p:nvPr/>
        </p:nvSpPr>
        <p:spPr>
          <a:xfrm>
            <a:off x="9601200" y="3575041"/>
            <a:ext cx="2221992" cy="2597159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2"/>
          <p:cNvSpPr txBox="1"/>
          <p:nvPr/>
        </p:nvSpPr>
        <p:spPr>
          <a:xfrm>
            <a:off x="9601200" y="3648193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81" name="Shape 73"/>
          <p:cNvSpPr/>
          <p:nvPr/>
        </p:nvSpPr>
        <p:spPr>
          <a:xfrm>
            <a:off x="9710928" y="3959089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4"/>
          <p:cNvSpPr txBox="1"/>
          <p:nvPr/>
        </p:nvSpPr>
        <p:spPr>
          <a:xfrm>
            <a:off x="9747504" y="3959089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ถ้าใช้ผู้มีสิทธิ 47 ล้านคน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7.5739%</a:t>
            </a:r>
            <a:endParaRPr lang="en-US" sz="1050" dirty="0"/>
          </a:p>
        </p:txBody>
      </p:sp>
      <p:sp>
        <p:nvSpPr>
          <p:cNvPr id="83" name="Text 75"/>
          <p:cNvSpPr txBox="1"/>
          <p:nvPr/>
        </p:nvSpPr>
        <p:spPr>
          <a:xfrm>
            <a:off x="9710928" y="4393429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ขอบบนของ p — ใช้ทดสอบความไว</a:t>
            </a:r>
            <a:endParaRPr lang="en-US" sz="1000" dirty="0"/>
          </a:p>
        </p:txBody>
      </p:sp>
      <p:sp>
        <p:nvSpPr>
          <p:cNvPr id="84" name="Shape 76"/>
          <p:cNvSpPr/>
          <p:nvPr/>
        </p:nvSpPr>
        <p:spPr>
          <a:xfrm>
            <a:off x="9710928" y="4608313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77"/>
          <p:cNvSpPr txBox="1"/>
          <p:nvPr/>
        </p:nvSpPr>
        <p:spPr>
          <a:xfrm>
            <a:off x="9747504" y="4608313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ใช้ซ้ำ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0.068456</a:t>
            </a:r>
            <a:endParaRPr lang="en-US" sz="1050" dirty="0"/>
          </a:p>
        </p:txBody>
      </p:sp>
      <p:sp>
        <p:nvSpPr>
          <p:cNvPr id="86" name="Text 78"/>
          <p:cNvSpPr txBox="1"/>
          <p:nvPr/>
        </p:nvSpPr>
        <p:spPr>
          <a:xfrm>
            <a:off x="9710928" y="5042653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A: ย้อนหา ε จากทุนของแผน</a:t>
            </a:r>
            <a:endParaRPr lang="en-US" sz="1000" dirty="0"/>
          </a:p>
        </p:txBody>
      </p:sp>
      <p:sp>
        <p:nvSpPr>
          <p:cNvPr id="87" name="Text 79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7</a:t>
            </a:r>
            <a:endParaRPr lang="en-US" sz="1000" dirty="0"/>
          </a:p>
        </p:txBody>
      </p:sp>
      <p:sp>
        <p:nvSpPr>
          <p:cNvPr id="88" name="Text 80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Karunayawong et al. (2024) Table 1 และหน้า 2 (บัตรทองครอบคลุม ≈ 80% ของประชากร); จำนวนผู้มีสิทธิบัตรทอง 47–52 ล้านคน</a:t>
            </a:r>
            <a:endParaRPr lang="en-US" sz="900" dirty="0"/>
          </a:p>
        </p:txBody>
      </p:sp>
      <p:sp>
        <p:nvSpPr>
          <p:cNvPr id="89" name="Shape 81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82"/>
          <p:cNvSpPr/>
          <p:nvPr/>
        </p:nvSpPr>
        <p:spPr>
          <a:xfrm>
            <a:off x="486460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3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92" name="Text 84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93" name="Text 85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94" name="Text 86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95" name="Text 87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3.2: Find h (สัดส่วนบิลแพง) จาก r</a:t>
            </a:r>
            <a:r>
              <a:rPr lang="en-US" sz="2200" b="1" baseline="-4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2200" b="1" baseline="-4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490472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อายุปัจจุบัน (age)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ปี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" y="2606040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2064" y="2606040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เพศ · Charlson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ชาย (F = 0)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Charlson Ch = 0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364992"/>
            <a:ext cx="2057400" cy="28072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365760" y="34381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5488" y="3749040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3749040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RRR ACU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1.029 · F 0.802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 1.710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" y="4384548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12064" y="4384548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RRR HCU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 1.038 · F 0.590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 2.653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" y="5020056"/>
            <a:ext cx="1837944" cy="1074420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2064" y="5020056"/>
            <a:ext cx="1764792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อายุกลาง (age centering) · intercept ของ r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37.073 ปี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</a:t>
            </a:r>
            <a:r>
              <a:rPr lang="en-US" sz="115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1.010954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α</a:t>
            </a:r>
            <a:r>
              <a:rPr lang="en-US" sz="115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0.129410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ใช้ Multinomial logit หาค่า r</a:t>
            </a:r>
            <a:r>
              <a:rPr lang="en-US" sz="13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13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(เทียบกลุ่มบิลถูก LCU = 1)</a:t>
            </a:r>
            <a:endParaRPr lang="en-US" sz="1300" dirty="0"/>
          </a:p>
        </p:txBody>
      </p:sp>
      <p:pic>
        <p:nvPicPr>
          <p:cNvPr id="29" name="Image 2" descr="LaTeX: r_j=\alpha_j\times \mathrm{RRR}_{j,\mathrm{age}}^{\,\Delta\mathrm{age}}\times \mathrm{RRR}_{j,F}^{\,F}\times \mathrm{RRR}_{j,Ch}^{\,Ch},\quad j\in\{A,H\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167128"/>
            <a:ext cx="4605528" cy="344424"/>
          </a:xfrm>
          <a:prstGeom prst="rect">
            <a:avLst/>
          </a:prstGeom>
        </p:spPr>
      </p:pic>
      <p:pic>
        <p:nvPicPr>
          <p:cNvPr id="30" name="Image 3" descr="LaTeX: \Delta\mathrm{age}=\mathrm{age}-37.073=46-37.073=8.9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602992"/>
            <a:ext cx="3569208" cy="243840"/>
          </a:xfrm>
          <a:prstGeom prst="rect">
            <a:avLst/>
          </a:prstGeom>
        </p:spPr>
      </p:pic>
      <p:pic>
        <p:nvPicPr>
          <p:cNvPr id="31" name="Image 4" descr="LaTeX: r_A=1.010954\times 1.029^{8.927}\times 0.802^{0}\times 1.710^{0}=1.30485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072" y="2938272"/>
            <a:ext cx="4605528" cy="271272"/>
          </a:xfrm>
          <a:prstGeom prst="rect">
            <a:avLst/>
          </a:prstGeom>
        </p:spPr>
      </p:pic>
      <p:pic>
        <p:nvPicPr>
          <p:cNvPr id="32" name="Image 5" descr="LaTeX: r_H=0.129410\times 1.038^{8.927}\times 0.590^{0}\times 2.653^{0}=0.1805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3300984"/>
            <a:ext cx="4617720" cy="27127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724912" y="3700272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แปลงค่า r</a:t>
            </a:r>
            <a:r>
              <a:rPr lang="en-US" sz="13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r</a:t>
            </a:r>
            <a:r>
              <a:rPr lang="en-US" sz="130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เป็นสัดส่วนของบิล (ถ้าได้นอน รพ.) — h = high cost · a = average cost · ℓ = low cost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2724912" y="4194048"/>
            <a:ext cx="3517392" cy="61874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6" descr="LaTeX: h=\dfrac{r_H}{1+r_A+r_H}=\dfrac{0.180535}{2.485394}=7.2639\%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4267200"/>
            <a:ext cx="3243072" cy="472440"/>
          </a:xfrm>
          <a:prstGeom prst="rect">
            <a:avLst/>
          </a:prstGeom>
        </p:spPr>
      </p:pic>
      <p:pic>
        <p:nvPicPr>
          <p:cNvPr id="36" name="Image 7" descr="LaTeX: a=\dfrac{r_A}{1+r_A+r_H}=52.5011\%,\qquad \ell=\dfrac{1}{1+r_A+r_H}=40.2351\%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4922520"/>
            <a:ext cx="5114544" cy="472440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2862072" y="5504688"/>
            <a:ext cx="2534892" cy="365760"/>
          </a:xfrm>
          <a:prstGeom prst="rect">
            <a:avLst/>
          </a:prstGeom>
          <a:solidFill>
            <a:srgbClr val="C9CCD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8"/>
          <p:cNvSpPr txBox="1"/>
          <p:nvPr/>
        </p:nvSpPr>
        <p:spPr>
          <a:xfrm>
            <a:off x="2862072" y="5504688"/>
            <a:ext cx="2534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ℓ  LCU &lt; 5,550  40.2351%</a:t>
            </a:r>
            <a:endParaRPr lang="en-US" sz="1100" dirty="0"/>
          </a:p>
        </p:txBody>
      </p:sp>
      <p:sp>
        <p:nvSpPr>
          <p:cNvPr id="39" name="Shape 29"/>
          <p:cNvSpPr/>
          <p:nvPr/>
        </p:nvSpPr>
        <p:spPr>
          <a:xfrm>
            <a:off x="5396964" y="5504688"/>
            <a:ext cx="3307676" cy="365760"/>
          </a:xfrm>
          <a:prstGeom prst="rect">
            <a:avLst/>
          </a:prstGeom>
          <a:solidFill>
            <a:srgbClr val="7F89C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0"/>
          <p:cNvSpPr txBox="1"/>
          <p:nvPr/>
        </p:nvSpPr>
        <p:spPr>
          <a:xfrm>
            <a:off x="5396964" y="5504688"/>
            <a:ext cx="33076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ACU 5,550–63,632  52.5011%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8704640" y="5504688"/>
            <a:ext cx="457648" cy="365760"/>
          </a:xfrm>
          <a:prstGeom prst="rect">
            <a:avLst/>
          </a:prstGeom>
          <a:solidFill>
            <a:srgbClr val="2A3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8704640" y="5504688"/>
            <a:ext cx="457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6922008" y="58978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= 7.2639% (HCU ≥ 63,632)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9601200" y="1764792"/>
            <a:ext cx="2221992" cy="1974886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5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6" name="Shape 36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 (บิลแพง HCU)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7.2639%</a:t>
            </a:r>
            <a:endParaRPr lang="en-US" sz="1050" dirty="0"/>
          </a:p>
        </p:txBody>
      </p:sp>
      <p:sp>
        <p:nvSpPr>
          <p:cNvPr id="48" name="Text 38"/>
          <p:cNvSpPr txBox="1"/>
          <p:nvPr/>
        </p:nvSpPr>
        <p:spPr>
          <a:xfrm>
            <a:off x="9710928" y="2583180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3.3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9710928" y="2798064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0"/>
          <p:cNvSpPr txBox="1"/>
          <p:nvPr/>
        </p:nvSpPr>
        <p:spPr>
          <a:xfrm>
            <a:off x="9747504" y="2798064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(บิลกลาง ACU)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52.5011%</a:t>
            </a:r>
            <a:endParaRPr lang="en-US" sz="1050" dirty="0"/>
          </a:p>
        </p:txBody>
      </p:sp>
      <p:sp>
        <p:nvSpPr>
          <p:cNvPr id="51" name="Text 41"/>
          <p:cNvSpPr txBox="1"/>
          <p:nvPr/>
        </p:nvSpPr>
        <p:spPr>
          <a:xfrm>
            <a:off x="9710928" y="3232404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Step 3.3</a:t>
            </a:r>
            <a:endParaRPr lang="en-US" sz="1000" dirty="0"/>
          </a:p>
        </p:txBody>
      </p:sp>
      <p:sp>
        <p:nvSpPr>
          <p:cNvPr id="52" name="Shape 42"/>
          <p:cNvSpPr/>
          <p:nvPr/>
        </p:nvSpPr>
        <p:spPr>
          <a:xfrm>
            <a:off x="9601200" y="3849406"/>
            <a:ext cx="2221992" cy="2322794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3"/>
          <p:cNvSpPr txBox="1"/>
          <p:nvPr/>
        </p:nvSpPr>
        <p:spPr>
          <a:xfrm>
            <a:off x="9601200" y="392255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4" name="Shape 44"/>
          <p:cNvSpPr/>
          <p:nvPr/>
        </p:nvSpPr>
        <p:spPr>
          <a:xfrm>
            <a:off x="9710928" y="4233454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5"/>
          <p:cNvSpPr txBox="1"/>
          <p:nvPr/>
        </p:nvSpPr>
        <p:spPr>
          <a:xfrm>
            <a:off x="9747504" y="4233454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ℓ (บิลถูก LCU)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40.2351%</a:t>
            </a:r>
            <a:endParaRPr lang="en-US" sz="1050" dirty="0"/>
          </a:p>
        </p:txBody>
      </p:sp>
      <p:sp>
        <p:nvSpPr>
          <p:cNvPr id="56" name="Text 46"/>
          <p:cNvSpPr txBox="1"/>
          <p:nvPr/>
        </p:nvSpPr>
        <p:spPr>
          <a:xfrm>
            <a:off x="9710928" y="4667794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ใช้เมื่อ ε สูง เช่น 5% (กลุ่ม LCU เป็นคนตอบ)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9710928" y="5038126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 txBox="1"/>
          <p:nvPr/>
        </p:nvSpPr>
        <p:spPr>
          <a:xfrm>
            <a:off x="9747504" y="5038126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p·a  ·  p·h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3.5940% · 0.4973%</a:t>
            </a:r>
            <a:endParaRPr lang="en-US" sz="1050" dirty="0"/>
          </a:p>
        </p:txBody>
      </p:sp>
      <p:sp>
        <p:nvSpPr>
          <p:cNvPr id="59" name="Text 49"/>
          <p:cNvSpPr txBox="1"/>
          <p:nvPr/>
        </p:nvSpPr>
        <p:spPr>
          <a:xfrm>
            <a:off x="9710928" y="547246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A, C: คิด ε ย้อนกลับรายแผน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8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Karunayawong et al. (2024) Table 2 คอลัมน์ 2019; King &amp; Zeng (2001) prior correction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3"/>
          <p:cNvSpPr/>
          <p:nvPr/>
        </p:nvSpPr>
        <p:spPr>
          <a:xfrm>
            <a:off x="486460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65" name="Text 55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7" name="Text 57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8" name="Text 58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3.3: Find x</a:t>
            </a:r>
            <a:r>
              <a:rPr lang="en-US" sz="2200" b="1" baseline="-40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</a:t>
            </a: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(บิลจุดวิกฤต ระดับ 1 ใน 100 ปี)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38068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ระดับความเสี่ยงที่ยอมรับ ε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 (1 ใน 100 ปี)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ค่าเริ่มต้นที่เสนอมาจาก Farley (1985) / OTA (1988)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255200"/>
            <a:ext cx="2057400" cy="291700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33283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3639248"/>
            <a:ext cx="1837944" cy="74066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3639248"/>
            <a:ext cx="17647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จาก Step 3.1–3.2: p · h · a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6.8456%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7.2639% · 52.5011%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430204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430204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เส้นแบ่งกลุ่มบิล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5,550 / 63,632 บาท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" y="4887404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512064" y="4887404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lognormal ACU μ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σ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2.3783 · 3.1860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75488" y="5344604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12064" y="5344604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lognormal HCU μ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σ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10.8257 · 0.8006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ตรวจว่าบิลระดับ ε ตกกลุ่มไหน (High · Average · Low cost)</a:t>
            </a:r>
            <a:endParaRPr lang="en-US" sz="1300" dirty="0"/>
          </a:p>
        </p:txBody>
      </p:sp>
      <p:pic>
        <p:nvPicPr>
          <p:cNvPr id="30" name="Image 2" descr="LaTeX: p\,h=0.4973\%\ &lt;\ \varepsilon=1\%\ \leq\ p\,(h+a)=4.0913\%\ \ \Longrightarrow\ \ \mathrm{ACU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167128"/>
            <a:ext cx="5151120" cy="246888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2724912" y="2523744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ตกกลุ่ม Average cost (ACU) → ในกลุ่มนี้ต้องมีบิลเกิน x (ยังไม่รู้ค่า) อยู่กี่ %</a:t>
            </a:r>
            <a:endParaRPr lang="en-US" sz="1300" dirty="0"/>
          </a:p>
        </p:txBody>
      </p:sp>
      <p:pic>
        <p:nvPicPr>
          <p:cNvPr id="32" name="Image 3" descr="LaTeX: S_A=\dfrac{\varepsilon-p\,h}{p\,a}=\dfrac{0.01-0.004973}{0.068456\times 0.525011}=0.1398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798064"/>
            <a:ext cx="3938016" cy="4846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2724912" y="3392424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บิล ACU อยู่ในช่วง [5,550, 63,632) บาท → หา “จุด x” ในช่วงนี้ที่มีบิล ACU 13.99% อยู่สูงกว่า</a:t>
            </a:r>
            <a:endParaRPr lang="en-US" sz="1300" dirty="0"/>
          </a:p>
        </p:txBody>
      </p:sp>
      <p:pic>
        <p:nvPicPr>
          <p:cNvPr id="34" name="Image 4" descr="LaTeX: z_{lo}=\dfrac{\ln 5{,}550-2.3783}{3.1860}=1.959578,\qquad z_{hi}=\dfrac{\ln 63{,}632-2.3783}{3.1860}=2.7252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072" y="3886200"/>
            <a:ext cx="6187440" cy="454152"/>
          </a:xfrm>
          <a:prstGeom prst="rect">
            <a:avLst/>
          </a:prstGeom>
        </p:spPr>
      </p:pic>
      <p:pic>
        <p:nvPicPr>
          <p:cNvPr id="35" name="Image 5" descr="LaTeX: \Phi(z_x)=\Phi(z_{hi})-S_A\left[\Phi(z_{hi})-\Phi(z_{lo})\right]=0.996787-0.139884\times 0.021810=0.9937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4431792"/>
            <a:ext cx="6437376" cy="23361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2724912" y="4775134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กลับสูตรหาบิลจุดวิกฤต</a:t>
            </a:r>
            <a:endParaRPr lang="en-US" sz="1300" dirty="0"/>
          </a:p>
        </p:txBody>
      </p:sp>
      <p:pic>
        <p:nvPicPr>
          <p:cNvPr id="37" name="Image 6" descr="LaTeX: z_x=\Phi^{-1}(0.993736)=2.4969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5049454"/>
            <a:ext cx="2593848" cy="271272"/>
          </a:xfrm>
          <a:prstGeom prst="rect">
            <a:avLst/>
          </a:prstGeom>
        </p:spPr>
      </p:pic>
      <p:sp>
        <p:nvSpPr>
          <p:cNvPr id="38" name="Shape 29"/>
          <p:cNvSpPr/>
          <p:nvPr/>
        </p:nvSpPr>
        <p:spPr>
          <a:xfrm>
            <a:off x="2724912" y="5412166"/>
            <a:ext cx="5742432" cy="393192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7" descr="LaTeX: x_{1\%}=\exp\left(2.3783+3.1860\times 2.496920\right)=\exp(10.333541)=30{,}74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5485318"/>
            <a:ext cx="5468112" cy="24688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9601200" y="1764792"/>
            <a:ext cx="2221992" cy="1455495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1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2" name="Shape 32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3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บิลจุดวิกฤต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30,747 บาท</a:t>
            </a:r>
            <a:endParaRPr lang="en-US" sz="1050" dirty="0"/>
          </a:p>
        </p:txBody>
      </p:sp>
      <p:sp>
        <p:nvSpPr>
          <p:cNvPr id="44" name="Text 34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บิลทั้งปีระดับ 1 ใน 100 ปี ณ ราคา สปสช. ปี 2562 → Step 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9601200" y="3330015"/>
            <a:ext cx="2221992" cy="2842185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6"/>
          <p:cNvSpPr txBox="1"/>
          <p:nvPr/>
        </p:nvSpPr>
        <p:spPr>
          <a:xfrm>
            <a:off x="9601200" y="3403167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47" name="Shape 37"/>
          <p:cNvSpPr/>
          <p:nvPr/>
        </p:nvSpPr>
        <p:spPr>
          <a:xfrm>
            <a:off x="9710928" y="3714063"/>
            <a:ext cx="2002536" cy="76352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8"/>
          <p:cNvSpPr txBox="1"/>
          <p:nvPr/>
        </p:nvSpPr>
        <p:spPr>
          <a:xfrm>
            <a:off x="9747504" y="3714063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ที่เกณฑ์อื่น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5%: 3,472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0.5%: 63,287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0.1%: 157,187</a:t>
            </a:r>
            <a:endParaRPr lang="en-US" sz="1050" dirty="0"/>
          </a:p>
        </p:txBody>
      </p:sp>
      <p:sp>
        <p:nvSpPr>
          <p:cNvPr id="49" name="Text 39"/>
          <p:cNvSpPr txBox="1"/>
          <p:nvPr/>
        </p:nvSpPr>
        <p:spPr>
          <a:xfrm>
            <a:off x="9710928" y="4505019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ใช้เมื่อลูกค้าเปลี่ยน ε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9710928" y="4719903"/>
            <a:ext cx="2002536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 txBox="1"/>
          <p:nvPr/>
        </p:nvSpPr>
        <p:spPr>
          <a:xfrm>
            <a:off x="9747504" y="4719903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ค่าคงที่ของ ACU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Φ(z</a:t>
            </a:r>
            <a:r>
              <a:rPr lang="en-US" sz="115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) = 0.996787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มวล = 0.021810</a:t>
            </a:r>
            <a:endParaRPr lang="en-US" sz="1050" dirty="0"/>
          </a:p>
        </p:txBody>
      </p:sp>
      <p:sp>
        <p:nvSpPr>
          <p:cNvPr id="52" name="Text 42"/>
          <p:cNvSpPr txBox="1"/>
          <p:nvPr/>
        </p:nvSpPr>
        <p:spPr>
          <a:xfrm>
            <a:off x="9710928" y="5332551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A, C: ε ย้อนกลับรายแผน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9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Farley (1985); OTA (1988); Feldstein (1973); Karunayawong et al. (2024) Table 1</a:t>
            </a:r>
            <a:endParaRPr lang="en-US" sz="900" dirty="0"/>
          </a:p>
        </p:txBody>
      </p:sp>
      <p:sp>
        <p:nvSpPr>
          <p:cNvPr id="55" name="Shape 45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6"/>
          <p:cNvSpPr/>
          <p:nvPr/>
        </p:nvSpPr>
        <p:spPr>
          <a:xfrm>
            <a:off x="486460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7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58" name="Text 48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59" name="Text 49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0" name="Text 50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1" name="Text 51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4: Find S* (ทุนประกันสุขภาพที่ควรมี)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64375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สวัสดิการค่ารักษาฝั่งผู้ป่วยใน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CSMBS ข้าราชการ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รพ.รัฐ: ไม่จำกัดวงเงิน · รพ.เอกชน: เบิกไม่ได้ ⇒ C = 0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518278"/>
            <a:ext cx="2057400" cy="2653922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359143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3902326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3902326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(Step 3.3)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30,746.78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359526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359526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· (1+g)</a:t>
            </a:r>
            <a:r>
              <a:rPr lang="en-US" sz="1050" baseline="3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(Step 2)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9.2650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4.202973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" y="4995034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512064" y="4995034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(Step 1)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195,848.30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2724912" y="1892808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ถ้าคุณกรรณ์นอนโรงพยาบาลเอกชน พระรามเก้า (k = 9.2650, g = 10.8%) — บิล ณ ปี 2583</a:t>
            </a:r>
            <a:endParaRPr lang="en-US" sz="1300" dirty="0"/>
          </a:p>
        </p:txBody>
      </p:sp>
      <p:pic>
        <p:nvPicPr>
          <p:cNvPr id="28" name="Image 2" descr="LaTeX: L=x_{\varepsilon}\times k\times (1+g)^{T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386584"/>
            <a:ext cx="1795272" cy="274320"/>
          </a:xfrm>
          <a:prstGeom prst="rect">
            <a:avLst/>
          </a:prstGeom>
        </p:spPr>
      </p:pic>
      <p:pic>
        <p:nvPicPr>
          <p:cNvPr id="29" name="Image 3" descr="LaTeX: L_{\mathrm{PR9}}=30{,}746.78\times 9.2650\times 4.202973=1{,}197{,}3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752344"/>
            <a:ext cx="4142232" cy="24384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2724912" y="3124200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หักสวัสดิการเดิม C และส่วนที่จ่ายเองไหว R (Arrow 1963)</a:t>
            </a:r>
            <a:endParaRPr lang="en-US" sz="1300" dirty="0"/>
          </a:p>
        </p:txBody>
      </p:sp>
      <p:pic>
        <p:nvPicPr>
          <p:cNvPr id="31" name="Image 4" descr="LaTeX: S^{\ast}=\max\left(0,\ L-C-R\right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072" y="3398520"/>
            <a:ext cx="2133600" cy="24384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2724912" y="3733800"/>
            <a:ext cx="6574536" cy="676656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LaTeX: S^{\ast}_{\mathrm{PR9}}=\max\left(0,\ 1{,}197{,}300-0-195{,}848\right)=1{,}001{,}4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3941064"/>
            <a:ext cx="4364736" cy="26212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363968" y="3733800"/>
            <a:ext cx="1798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ช่วงจาก CI ของ k: 813,905 – 1,223,833 ⇒ ทั้งช่วง &gt; 0 ⇒ </a:t>
            </a:r>
            <a:r>
              <a:rPr lang="en-US" sz="11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ต้องซื้อ</a:t>
            </a:r>
            <a:endParaRPr lang="en-US" sz="1100" dirty="0"/>
          </a:p>
        </p:txBody>
      </p:sp>
      <p:sp>
        <p:nvSpPr>
          <p:cNvPr id="35" name="Text 27"/>
          <p:cNvSpPr txBox="1"/>
          <p:nvPr/>
        </p:nvSpPr>
        <p:spPr>
          <a:xfrm>
            <a:off x="2724912" y="4520184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ถ้าคุณกรรณ์นอนโรงพยาบาลรัฐ (k = 1, g = 2.032%)</a:t>
            </a:r>
            <a:endParaRPr lang="en-US" sz="1300" dirty="0"/>
          </a:p>
        </p:txBody>
      </p:sp>
      <p:pic>
        <p:nvPicPr>
          <p:cNvPr id="36" name="Image 6" descr="LaTeX: L_{\mathrm{pub}}=30{,}746.78\times 1\times 1.325282=40{,}748\ \Rightarrow\ S^{\ast}_{\mathrm{pub}}=\max\left(0,\ 40{,}748-C-195{,}848\right)=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62072" y="4794504"/>
            <a:ext cx="6437376" cy="25532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724912" y="5141266"/>
            <a:ext cx="6574536" cy="231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ใหญ่กว่า L อยู่ 155,100 บาท ⇒ </a:t>
            </a: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ไม่ต้องซื้อประกันสุขภาพ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(ต่อให้ไม่นับ CSMBS เลย)</a:t>
            </a:r>
            <a:endParaRPr lang="en-US" sz="1150" dirty="0"/>
          </a:p>
        </p:txBody>
      </p:sp>
      <p:sp>
        <p:nvSpPr>
          <p:cNvPr id="38" name="Text 29"/>
          <p:cNvSpPr txBox="1"/>
          <p:nvPr/>
        </p:nvSpPr>
        <p:spPr>
          <a:xfrm>
            <a:off x="2724912" y="5418101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เคสคุณกรรณ์: ถ้าตัวคูณโรงพยาบาล k มากกว่า 1.52 ต้องซื้อประกันสุขภาพ</a:t>
            </a:r>
            <a:endParaRPr lang="en-US" sz="1300" dirty="0"/>
          </a:p>
        </p:txBody>
      </p:sp>
      <p:pic>
        <p:nvPicPr>
          <p:cNvPr id="39" name="Image 7" descr="LaTeX: k^{\ast}=\dfrac{R}{x_{1\%}\times 4.202973}=1.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62072" y="5692421"/>
            <a:ext cx="2316480" cy="4876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5468112" y="5692421"/>
            <a:ext cx="383133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ทุกโรงพยาบาลเอกชนที่วัดได้ (k 5.34–12.07) อยู่เหนือเส้นนี้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9601200" y="1764792"/>
            <a:ext cx="2221992" cy="154896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2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3" name="Shape 33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4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พระรามเก้า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1,001,452 บาท</a:t>
            </a:r>
            <a:endParaRPr lang="en-US" sz="1050" dirty="0"/>
          </a:p>
        </p:txBody>
      </p:sp>
      <p:sp>
        <p:nvSpPr>
          <p:cNvPr id="45" name="Text 35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 (วงเงินต่อปี) ขั้นต่ำที่ต้องซื้อ → Step 5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9601200" y="3423487"/>
            <a:ext cx="2221992" cy="274871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37"/>
          <p:cNvSpPr txBox="1"/>
          <p:nvPr/>
        </p:nvSpPr>
        <p:spPr>
          <a:xfrm>
            <a:off x="9601200" y="3496639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9710928" y="3807535"/>
            <a:ext cx="2002536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9"/>
          <p:cNvSpPr txBox="1"/>
          <p:nvPr/>
        </p:nvSpPr>
        <p:spPr>
          <a:xfrm>
            <a:off x="9747504" y="3807535"/>
            <a:ext cx="19293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ทุนถ้าเข้าพระรามเก้า (L)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1,197,300 บาท</a:t>
            </a:r>
            <a:endParaRPr lang="en-US" sz="1050" dirty="0"/>
          </a:p>
        </p:txBody>
      </p:sp>
      <p:sp>
        <p:nvSpPr>
          <p:cNvPr id="50" name="Text 40"/>
          <p:cNvSpPr txBox="1"/>
          <p:nvPr/>
        </p:nvSpPr>
        <p:spPr>
          <a:xfrm>
            <a:off x="9710928" y="4397323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A: เงินที่ต้องควักเองถ้าลดทุน</a:t>
            </a:r>
            <a:endParaRPr lang="en-US" sz="1000" dirty="0"/>
          </a:p>
        </p:txBody>
      </p:sp>
      <p:sp>
        <p:nvSpPr>
          <p:cNvPr id="51" name="Shape 41"/>
          <p:cNvSpPr/>
          <p:nvPr/>
        </p:nvSpPr>
        <p:spPr>
          <a:xfrm>
            <a:off x="9710928" y="4767655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2"/>
          <p:cNvSpPr txBox="1"/>
          <p:nvPr/>
        </p:nvSpPr>
        <p:spPr>
          <a:xfrm>
            <a:off x="9747504" y="4767655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รพ.รัฐ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บาท</a:t>
            </a:r>
            <a:endParaRPr lang="en-US" sz="1050" dirty="0"/>
          </a:p>
        </p:txBody>
      </p:sp>
      <p:sp>
        <p:nvSpPr>
          <p:cNvPr id="53" name="Text 43"/>
          <p:cNvSpPr txBox="1"/>
          <p:nvPr/>
        </p:nvSpPr>
        <p:spPr>
          <a:xfrm>
            <a:off x="9710928" y="5201995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D: ย้ายไป รพ.รัฐ ไม่ต้องซื้อ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10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Arrow (1963) Prop. 1; The Nation Thailand (2026) อ้าง Bnomics; Karunayawong et al. (2024); สิทธิสวัสดิการรักษาพยาบาลข้าราชการ (CSMBS)</a:t>
            </a:r>
            <a:endParaRPr lang="en-US" sz="900" dirty="0"/>
          </a:p>
        </p:txBody>
      </p:sp>
      <p:sp>
        <p:nvSpPr>
          <p:cNvPr id="56" name="Shape 46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47"/>
          <p:cNvSpPr/>
          <p:nvPr/>
        </p:nvSpPr>
        <p:spPr>
          <a:xfrm>
            <a:off x="719632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48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59" name="Text 49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60" name="Text 50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1" name="Text 51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5: Find เบี้ย จากตารางเบี้ย (ตัวเลขที่บริษัทประกาศจริงเท่านั้น)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208066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อายุปัจจุบัน · เพศ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· ชาย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" y="26060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2064" y="26060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ประกันชีวิตเดิม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อินชัวร์ประกันชีวิต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475488" y="3040380"/>
            <a:ext cx="1837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= InsureX นายหน้า (เดิม SCB Protect) · ผู้รับประกันคือ FWD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365760" y="3955183"/>
            <a:ext cx="2057400" cy="221701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365760" y="402833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75488" y="4339231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339231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(Step 4)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1,001,452 บาท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" y="4796431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512064" y="4796431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เบี้ยรวมที่พิมพ์จริง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จาก 29 แผน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75488" y="5253631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12064" y="5253631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ตรวจกับเว็บจริง 7 ต.ค. 2569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ต่าง 0 เซลล์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ต้องเลือกแผนที่จ่ายเบี้ยถูกที่สุด โดยที่ทุนไม่น้อยกว่าที่ระบบคำนวณมาให้ (S*)</a:t>
            </a:r>
            <a:endParaRPr lang="en-US" sz="1300" dirty="0"/>
          </a:p>
        </p:txBody>
      </p:sp>
      <p:pic>
        <p:nvPicPr>
          <p:cNvPr id="30" name="Image 2" descr="LaTeX: \mathrm{plan}^{\ast}=\arg\min_j\ P_j\quad \mathrm{s.t.}\quad SI_j\geq S^{\ast}=1{,}001{,}4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167128"/>
            <a:ext cx="4047744" cy="3505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2724912" y="2572512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อ่านเบี้ยรวม (สัญญาหลัก + สุขภาพ) ยกเว้นบริษัทที่มีประกันชีวิตอยู่แล้วและพิมพ์เบี้ยสุขภาพล้วนจริง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2724912" y="3066288"/>
            <a:ext cx="6574536" cy="3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อินชัวร์ฯ = InsureX นายหน้าที่ขายแบบของ FWD ⇒ คุณกรรณ์ถือกรมธรรม์ FWD · FWD ไม่พิมพ์เบี้ยสุขภาพล้วนที่อายุ 46 ⇒ อ่านเบี้ยรวมทุกแผน</a:t>
            </a:r>
            <a:endParaRPr lang="en-US" sz="10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3503828"/>
          <a:ext cx="6574536" cy="2223820"/>
        </p:xfrm>
        <a:graphic>
          <a:graphicData uri="http://schemas.openxmlformats.org/drawingml/2006/table">
            <a:tbl>
              <a:tblPr/>
              <a:tblGrid>
                <a:gridCol w="26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87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9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17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#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บริษัท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แผน (เรียงตามเบี้ยรวมจริง)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ฐาน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ทุน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เบี้ยรวม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S*?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·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· 5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24,493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Health Happy ·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24,922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FWD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Precious Care ·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26,373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Krungthai-AXA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iHealthy Ultra · สมาร์ท 3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27,130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· 15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29,253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Health Happy · 5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Krungthai-AXA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iHealthy Ultra · บรอนซ์ 10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ต่อปี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30,930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Shape 28"/>
          <p:cNvSpPr/>
          <p:nvPr/>
        </p:nvSpPr>
        <p:spPr>
          <a:xfrm>
            <a:off x="2724912" y="5672785"/>
            <a:ext cx="6574536" cy="530352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29"/>
          <p:cNvSpPr txBox="1"/>
          <p:nvPr/>
        </p:nvSpPr>
        <p:spPr>
          <a:xfrm>
            <a:off x="2834640" y="5672785"/>
            <a:ext cx="6355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เลือกแผนเบี้ยถูกที่สุดที่ทุนมากกว่าหรือเท่ากับ 1,001,452 บาท ได้ออกมาเป็น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ไทยประกันชีวิต Health Fit DD 5 ล้าน · 24,493 บาท/ปี</a:t>
            </a:r>
            <a:r>
              <a:rPr lang="en-US" sz="12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(ε จริง 0.1442%)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9601200" y="1764792"/>
            <a:ext cx="2221992" cy="153888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1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เบี้ยตั้งต้น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(เบี้ยรวม)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24,493 บาท/ปี</a:t>
            </a:r>
            <a:endParaRPr lang="en-US" sz="1050" dirty="0"/>
          </a:p>
        </p:txBody>
      </p:sp>
      <p:sp>
        <p:nvSpPr>
          <p:cNvPr id="40" name="Text 34"/>
          <p:cNvSpPr txBox="1"/>
          <p:nvPr/>
        </p:nvSpPr>
        <p:spPr>
          <a:xfrm>
            <a:off x="9710928" y="2583180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Thai Life Health Fit DD 5 ล้าน → Scenario ลดเบี้ย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601200" y="3413403"/>
            <a:ext cx="2221992" cy="275879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 txBox="1"/>
          <p:nvPr/>
        </p:nvSpPr>
        <p:spPr>
          <a:xfrm>
            <a:off x="9601200" y="3486555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9710928" y="3797451"/>
            <a:ext cx="2002536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9747504" y="3797451"/>
            <a:ext cx="19293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ตารางเบี้ยจริง + ε, k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รายแผน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แผน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9710928" y="4387239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หาแผนในงบใหม่ (Case A–B)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9710928" y="4602123"/>
            <a:ext cx="2002536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 txBox="1"/>
          <p:nvPr/>
        </p:nvSpPr>
        <p:spPr>
          <a:xfrm>
            <a:off x="9747504" y="4602123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เบี้ยสุขภาพล้วนที่พิมพ์จริง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แผน (AIA 3 · เมืองไทยฯ 3)</a:t>
            </a:r>
            <a:endParaRPr lang="en-US" sz="1050" dirty="0"/>
          </a:p>
        </p:txBody>
      </p:sp>
      <p:sp>
        <p:nvSpPr>
          <p:cNvPr id="48" name="Text 42"/>
          <p:cNvSpPr txBox="1"/>
          <p:nvPr/>
        </p:nvSpPr>
        <p:spPr>
          <a:xfrm>
            <a:off x="9710928" y="5214771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Case C (มีประกันชีวิตกับบริษัทนั้น)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11</a:t>
            </a:r>
            <a:endParaRPr lang="en-US" sz="1000" dirty="0"/>
          </a:p>
        </p:txBody>
      </p:sp>
      <p:sp>
        <p:nvSpPr>
          <p:cNvPr id="50" name="Text 44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ตารางเบี้ย IPD 8 บริษัท (deteam / หน้าตัวแทนเมืองไทยฯ ส.ค. 2569 · ตรวจกับเว็บจริง 7 ต.ค. 2569); insurex.co.th (ผู้รับประกัน FWD); โบรชัวร์ FWD พรีเชียส แคร์</a:t>
            </a:r>
            <a:endParaRPr lang="en-US" sz="900" dirty="0"/>
          </a:p>
        </p:txBody>
      </p:sp>
      <p:sp>
        <p:nvSpPr>
          <p:cNvPr id="51" name="Shape 45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6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7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55" name="Text 49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56" name="Text 50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57" name="Text 51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1,500: ลูกค้าขอลดเบี้ย 1,500 บาท/ปี — งบใหม่และทางเลือก Case A–D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738032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เบี้ยที่ขอลด ΔP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1,500 บาท/ปี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“จ่ายเบี้ย 24,493 ไม่ไหว ขอลดลง”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612552"/>
            <a:ext cx="2057400" cy="255964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368570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399660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399660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เบี้ยตั้งต้น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(Step 5)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24,493 บาท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45380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45380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ตารางเบี้ยจริง (Step 5)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แผน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" y="491100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512064" y="491100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พระรามเก้า (Step 4)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1,001,452 บาท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① งบใหม่ที่ลูกค้าจ่ายไหว</a:t>
            </a:r>
            <a:endParaRPr lang="en-US" sz="1300" dirty="0"/>
          </a:p>
        </p:txBody>
      </p:sp>
      <p:pic>
        <p:nvPicPr>
          <p:cNvPr id="28" name="Image 2" descr="LaTeX: P_1=P_0-\Delta P=24{,}493-1{,}500=22{,}99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2167128"/>
            <a:ext cx="3349752" cy="24384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2724912" y="2502408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② วิธีหาทางเลือก (ใช้กับทุก Case): เริ่มจากงบ → หาแผน → ได้ทุน → แก้สมการย้อนกลับ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2724912" y="2996184"/>
            <a:ext cx="149275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2779776" y="2996184"/>
            <a:ext cx="13830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งบใหม่ P</a:t>
            </a:r>
            <a:r>
              <a:rPr lang="en-US" sz="1050" b="1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</a:t>
            </a:r>
            <a:r>
              <a:rPr lang="en-US" sz="1050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− ΔP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245102" y="3224784"/>
            <a:ext cx="146304" cy="146304"/>
          </a:xfrm>
          <a:prstGeom prst="rightArrow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418838" y="2996184"/>
            <a:ext cx="149275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4473702" y="2996184"/>
            <a:ext cx="13830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เปิดตาราง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เบี้ยจริง ≤ P</a:t>
            </a:r>
            <a:r>
              <a:rPr lang="en-US" sz="1050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เลือกทุนสูงสุด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5939028" y="3224784"/>
            <a:ext cx="146304" cy="146304"/>
          </a:xfrm>
          <a:prstGeom prst="rightArrow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6112764" y="2996184"/>
            <a:ext cx="149275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6167628" y="2996184"/>
            <a:ext cx="13830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ทุนใหม่ 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(ทุนของแผนนั้น)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7632954" y="3224784"/>
            <a:ext cx="146304" cy="146304"/>
          </a:xfrm>
          <a:prstGeom prst="rightArrow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7806690" y="2996184"/>
            <a:ext cx="1492758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7861554" y="2996184"/>
            <a:ext cx="13830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แก้สมการย้อน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ε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 → k</a:t>
            </a:r>
            <a:r>
              <a:rPr lang="en-US" sz="1050" baseline="-40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2724912" y="369112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③ ทางเลือกที่ต้องดู — ชื่อ Case เดียวกับตารางสรุปหน้าสุดท้าย</a:t>
            </a:r>
            <a:endParaRPr lang="en-US" sz="13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3965448"/>
          <a:ext cx="6574537" cy="1521196"/>
        </p:xfrm>
        <a:graphic>
          <a:graphicData uri="http://schemas.openxmlformats.org/drawingml/2006/table">
            <a:tbl>
              <a:tblPr/>
              <a:tblGrid>
                <a:gridCol w="873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96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ทำอะไร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ปุ่มที่เปลี่ยน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หน้า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ลดทุนเป็นแผน 1 ล้าน · อยู่พระรามเก้าต่อ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 (ยอมเสี่ยงขึ้นเล็กน้อย)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ลดทุนเป็นแผน 1 ล้าน · ย้ายไป รพ.เอกชนที่ k ต่ำกว่า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โรงพยาบาล (k)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 (สมมติ)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มีประกันชีวิตกับบริษัทนั้นอยู่แล้ว · ซื้อสุขภาพล้วนได้ถูกลง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บริษัทที่ถือประกันชีวิต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15–16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ย้ายไปใช้ รพ.รัฐ ด้วยสิทธิข้าราชการ · ไม่ต้องซื้อ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โรงพยาบาล (k, g, C)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· 17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3" name="Shape 37"/>
          <p:cNvSpPr/>
          <p:nvPr/>
        </p:nvSpPr>
        <p:spPr>
          <a:xfrm>
            <a:off x="9601200" y="1764792"/>
            <a:ext cx="2221992" cy="214884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8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5" name="Shape 39"/>
          <p:cNvSpPr/>
          <p:nvPr/>
        </p:nvSpPr>
        <p:spPr>
          <a:xfrm>
            <a:off x="9710928" y="2148840"/>
            <a:ext cx="2002536" cy="406908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0"/>
          <p:cNvSpPr txBox="1"/>
          <p:nvPr/>
        </p:nvSpPr>
        <p:spPr>
          <a:xfrm>
            <a:off x="9747504" y="2148840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งบใหม่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22,993 บาท/ปี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9710928" y="2583180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เปิดตารางหาแผนใน Case A–C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9601200" y="4023360"/>
            <a:ext cx="2221992" cy="214884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 txBox="1"/>
          <p:nvPr/>
        </p:nvSpPr>
        <p:spPr>
          <a:xfrm>
            <a:off x="9601200" y="409651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0" name="Shape 44"/>
          <p:cNvSpPr/>
          <p:nvPr/>
        </p:nvSpPr>
        <p:spPr>
          <a:xfrm>
            <a:off x="9710928" y="4407408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5"/>
          <p:cNvSpPr txBox="1"/>
          <p:nvPr/>
        </p:nvSpPr>
        <p:spPr>
          <a:xfrm>
            <a:off x="9747504" y="4407408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ทางเลือก 4 แบบ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 · B · C · D</a:t>
            </a:r>
            <a:endParaRPr lang="en-US" sz="1050" dirty="0"/>
          </a:p>
        </p:txBody>
      </p:sp>
      <p:sp>
        <p:nvSpPr>
          <p:cNvPr id="52" name="Text 46"/>
          <p:cNvSpPr txBox="1"/>
          <p:nvPr/>
        </p:nvSpPr>
        <p:spPr>
          <a:xfrm>
            <a:off x="9710928" y="4841748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สรุปเทียบกันหน้า 17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12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ตารางเบี้ย IPD 8 บริษัท (ส.ค. 2569 · ตรวจกับเว็บจริง 7 ต.ค. 2569); สมการ Step 3.3–4 แก้ย้อน (SIM-13)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0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1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58" name="Text 52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59" name="Text 53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0" name="Text 54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1" name="Text 55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 · Case A: ลดทุนเป็นแผน 1 ล้าน · อยู่พระรามเก้าต่อ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204722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Scroll bar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 (ยอมเสี่ยงขึ้นเล็กน้อย)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อยู่โรงพยาบาลพระรามเก้าเหมือนเดิม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079242"/>
            <a:ext cx="2057400" cy="309295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315239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3463290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3463290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งบใหม่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24,493 − 1,500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22,993 บาท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075938"/>
            <a:ext cx="1837944" cy="74066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075938"/>
            <a:ext cx="17647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· k(1+g)</a:t>
            </a:r>
            <a:r>
              <a:rPr lang="en-US" sz="1050" baseline="3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(Step 1, 2)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195,848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k(1+g)</a:t>
            </a:r>
            <a:r>
              <a:rPr lang="en-US" sz="1150" b="1" baseline="3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38.940664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475488" y="4866894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512064" y="4866894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p·h &amp; p·a (Step 3)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p·h = 0.004973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p·a = 0.035940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75488" y="5502402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512064" y="5502402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Gross ทุนประกันถ้าเข้าพระรามเก้า (L)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1,197,300 บาท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เปิดตาราง → แผนที่เบี้ยจริง ≤ 22,993 มี 1 แผน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2167128"/>
          <a:ext cx="6574537" cy="941832"/>
        </p:xfrm>
        <a:graphic>
          <a:graphicData uri="http://schemas.openxmlformats.org/drawingml/2006/table">
            <a:tbl>
              <a:tblPr/>
              <a:tblGrid>
                <a:gridCol w="3480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บริษัท · แผน (3 แผนที่ถูกที่สุด)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ทุน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เบี้ยรวม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22,993?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 Health Fit DD · 1 ล้าน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22,723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 Health Fit DD · 5 ล้าน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24,493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Health Happy · 1 ล้าน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24,922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" name="Text 26"/>
          <p:cNvSpPr txBox="1"/>
          <p:nvPr/>
        </p:nvSpPr>
        <p:spPr>
          <a:xfrm>
            <a:off x="2724912" y="3099816"/>
            <a:ext cx="6574536" cy="425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ได้ </a:t>
            </a: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Fit DD 1 ล้าน 22,723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⇒ </a:t>
            </a: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ลดได้ 1,770 (ครบ 1,500)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ทุนใหม่ 1,000,000 ขาด S* อยู่ 1,452 บาท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2724912" y="3571189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แก้สมการย้อน: ทุน 1,000,000 ให้ ε เท่าไหร่</a:t>
            </a:r>
            <a:endParaRPr lang="en-US" sz="1300" dirty="0"/>
          </a:p>
        </p:txBody>
      </p:sp>
      <p:pic>
        <p:nvPicPr>
          <p:cNvPr id="33" name="Image 2" descr="LaTeX: x=\dfrac{S+C+R}{k\,(1+g)^{T}}=\dfrac{1{,}195{,}848}{38.940664}=30{,}7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3845509"/>
            <a:ext cx="3075432" cy="53340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2724912" y="4470349"/>
            <a:ext cx="5593080" cy="393192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LaTeX: \varepsilon=p\,h+p\,a\,S_A(x)=0.004973+0.035940\times 0.140193=1.0011\%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4543501"/>
            <a:ext cx="5318760" cy="246888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2724912" y="4973269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ทุนขาด S* − S = ส่วนที่ต้องจ่ายเองเพิ่มจากแผน (R จ่ายเองอยู่แล้วตามแผน)</a:t>
            </a:r>
            <a:endParaRPr lang="en-US" sz="1300" dirty="0"/>
          </a:p>
        </p:txBody>
      </p:sp>
      <p:pic>
        <p:nvPicPr>
          <p:cNvPr id="37" name="Image 4" descr="LaTeX: S^{\ast}-S=1{,}001{,}452-1{,}000{,}000=1{,}4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2072" y="5247589"/>
            <a:ext cx="3273552" cy="24384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2724912" y="5546293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ถ้าบิลระดับ 1 ใน 100 ปีเกิดจริง รวมจ่ายเอง (เทียบเกณฑ์ Schoen 10%)</a:t>
            </a:r>
            <a:endParaRPr lang="en-US" sz="1300" dirty="0"/>
          </a:p>
        </p:txBody>
      </p:sp>
      <p:pic>
        <p:nvPicPr>
          <p:cNvPr id="39" name="Image 5" descr="LaTeX: L-S=R+(S^{\ast}-S)=195{,}848+1{,}452=197{,}300=10.1\%\ \mathrm{of}\ 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072" y="5820613"/>
            <a:ext cx="5300472" cy="246888"/>
          </a:xfrm>
          <a:prstGeom prst="rect">
            <a:avLst/>
          </a:prstGeom>
        </p:spPr>
      </p:pic>
      <p:sp>
        <p:nvSpPr>
          <p:cNvPr id="40" name="Shape 31"/>
          <p:cNvSpPr/>
          <p:nvPr/>
        </p:nvSpPr>
        <p:spPr>
          <a:xfrm>
            <a:off x="9601200" y="1764792"/>
            <a:ext cx="2221992" cy="298323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2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9710928" y="2148840"/>
            <a:ext cx="2002536" cy="76352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 txBox="1"/>
          <p:nvPr/>
        </p:nvSpPr>
        <p:spPr>
          <a:xfrm>
            <a:off x="9747504" y="2148840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Fit DD 1 ล้าน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22,723 บาท/ปี (ลด 1,770)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9710928" y="2962656"/>
            <a:ext cx="2002536" cy="562356"/>
          </a:xfrm>
          <a:prstGeom prst="rect">
            <a:avLst/>
          </a:prstGeom>
          <a:solidFill>
            <a:srgbClr val="FBE9E7"/>
          </a:solidFill>
          <a:ln w="15875">
            <a:solidFill>
              <a:srgbClr val="B2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 txBox="1"/>
          <p:nvPr/>
        </p:nvSpPr>
        <p:spPr>
          <a:xfrm>
            <a:off x="9747504" y="2962656"/>
            <a:ext cx="1929384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แต่คุณกรรณ์ต้องรับความเสี่ยงเพิ่ม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B2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 1% → 1.0011%</a:t>
            </a:r>
            <a:endParaRPr lang="en-US" sz="1050" dirty="0"/>
          </a:p>
        </p:txBody>
      </p:sp>
      <p:sp>
        <p:nvSpPr>
          <p:cNvPr id="46" name="Text 37"/>
          <p:cNvSpPr txBox="1"/>
          <p:nvPr/>
        </p:nvSpPr>
        <p:spPr>
          <a:xfrm>
            <a:off x="9710928" y="3552444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ใน 99.9 ปี แทน 1 ใน 100 ปี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9710928" y="3767328"/>
            <a:ext cx="2002536" cy="740664"/>
          </a:xfrm>
          <a:prstGeom prst="rect">
            <a:avLst/>
          </a:prstGeom>
          <a:solidFill>
            <a:srgbClr val="FBE9E7"/>
          </a:solidFill>
          <a:ln w="15875">
            <a:solidFill>
              <a:srgbClr val="B2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39"/>
          <p:cNvSpPr txBox="1"/>
          <p:nvPr/>
        </p:nvSpPr>
        <p:spPr>
          <a:xfrm>
            <a:off x="9747504" y="3767328"/>
            <a:ext cx="19293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ค่าใช้จ่ายเกินเกณฑ์ Schoen (τY)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B2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ควักเอง 197,300 = 10.1%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9710928" y="4535424"/>
            <a:ext cx="200253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ไม่ควรจ่ายเกิน 10% ของรายได้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9601200" y="4857750"/>
            <a:ext cx="2221992" cy="131445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2"/>
          <p:cNvSpPr txBox="1"/>
          <p:nvPr/>
        </p:nvSpPr>
        <p:spPr>
          <a:xfrm>
            <a:off x="9601200" y="493090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9710928" y="5241798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4"/>
          <p:cNvSpPr txBox="1"/>
          <p:nvPr/>
        </p:nvSpPr>
        <p:spPr>
          <a:xfrm>
            <a:off x="9747504" y="5241798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เบี้ยรวม 22,723 =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สัญญาหลัก + สุขภาพ</a:t>
            </a:r>
            <a:endParaRPr lang="en-US" sz="1050" dirty="0"/>
          </a:p>
        </p:txBody>
      </p:sp>
      <p:sp>
        <p:nvSpPr>
          <p:cNvPr id="54" name="Text 45"/>
          <p:cNvSpPr txBox="1"/>
          <p:nvPr/>
        </p:nvSpPr>
        <p:spPr>
          <a:xfrm>
            <a:off x="9710928" y="567613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ชีวิตทุน 50,000 · 99/20 รวมอยู่แล้ว — ไม่ต้องบวกเบี้ยชีวิตเพิ่ม · ทุนใหม่ 1 ล้าน → Case B</a:t>
            </a:r>
            <a:endParaRPr lang="en-US" sz="1000" dirty="0"/>
          </a:p>
        </p:txBody>
      </p:sp>
      <p:sp>
        <p:nvSpPr>
          <p:cNvPr id="55" name="Text 46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13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ตารางเบี้ย IPD 8 บริษัท (ส.ค. 2569 · ตรวจกับเว็บจริง 7 ต.ค. 2569); สมการ Step 3.3–4 แก้ย้อน (SIM-13); Schoen et al. (2005)</a:t>
            </a:r>
            <a:endParaRPr lang="en-US" sz="900" dirty="0"/>
          </a:p>
        </p:txBody>
      </p:sp>
      <p:sp>
        <p:nvSpPr>
          <p:cNvPr id="57" name="Shape 48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49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0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60" name="Text 51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61" name="Text 52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62" name="Text 53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63" name="Text 54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 · Case B: ลดทุนเป็นแผน 1 ล้าน · ย้ายไป รพ.เอกชนที่ k ต่ำกว่า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6928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ตัวแปรความเสี่ยงที่ลูกค้าเลือก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 = 1% (คงเดิม)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75488" y="2761488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512064" y="2761488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โรงพยาบาล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โรงพยาบาลเอกชน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567393"/>
            <a:ext cx="2057400" cy="260480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365760" y="3640545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75488" y="3951441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3951441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ทุนใหม่ S (Case A)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1,000,000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75488" y="4408641"/>
            <a:ext cx="1837944" cy="76352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512064" y="4408641"/>
            <a:ext cx="1764792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(1+g)</a:t>
            </a:r>
            <a:r>
              <a:rPr lang="en-US" sz="1050" baseline="3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R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r>
              <a:rPr lang="en-US" sz="1150" b="1" baseline="-4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30,746.78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(1+g)</a:t>
            </a:r>
            <a:r>
              <a:rPr lang="en-US" sz="1150" b="1" baseline="30000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</a:t>
            </a: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= 4.2030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195,848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75488" y="5222457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512064" y="5222457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ตาราง k 9 รพ. (Step 2)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5.34 – 12.07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1892808"/>
          <a:ext cx="6574536" cy="914400"/>
        </p:xfrm>
        <a:graphic>
          <a:graphicData uri="http://schemas.openxmlformats.org/drawingml/2006/table">
            <a:tbl>
              <a:tblPr/>
              <a:tblGrid>
                <a:gridCol w="1324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06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88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1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ย้ายไป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ตัวแปรที่เปลี่ยน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ตัวแปรที่คงเดิม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ผล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รพ.เอกชนอีกแห่ง (Case B)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 อย่างเดียว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 10.8% · C = 0 · x</a:t>
                      </a:r>
                      <a:r>
                        <a:rPr lang="en-US" sz="100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</a:t>
                      </a: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· R · 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ทุนที่ต้องมีเปลี่ยนตาม 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รพ.รัฐ (Case 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 = 1 · g = 2.032% · C = CSMBS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</a:t>
                      </a:r>
                      <a:r>
                        <a:rPr lang="en-US" sz="1000" baseline="-40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</a:t>
                      </a: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· R · 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S* = 0 ⇒ เบี้ย 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2724912" y="2882189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 S = 1 ล้าน (แผนในงบ) → กำหนด ε = 1% → ย้อนหา k สูงสุดที่ทุนนี้ยังพอ → รพ. ที่ k ไม่เกินนี้</a:t>
            </a:r>
            <a:endParaRPr lang="en-US" sz="1300" dirty="0"/>
          </a:p>
        </p:txBody>
      </p:sp>
      <p:pic>
        <p:nvPicPr>
          <p:cNvPr id="30" name="Image 2" descr="LaTeX: k_{\max}=\dfrac{S+C+R}{x_{1\%}\,(1+g)^{T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072" y="3375965"/>
            <a:ext cx="1667256" cy="533400"/>
          </a:xfrm>
          <a:prstGeom prst="rect">
            <a:avLst/>
          </a:prstGeom>
        </p:spPr>
      </p:pic>
      <p:pic>
        <p:nvPicPr>
          <p:cNvPr id="31" name="Image 3" descr="LaTeX: k_{\max}=\dfrac{1{,}000{,}000+0+195{,}848}{30{,}746.78\times 4.202973}=9.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6528" y="3375965"/>
            <a:ext cx="3188208" cy="478536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724912" y="4275125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เกษมราษฎร์ บางแค ⚠️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279392" y="4311701"/>
            <a:ext cx="1873509" cy="68580"/>
          </a:xfrm>
          <a:prstGeom prst="rect">
            <a:avLst/>
          </a:prstGeom>
          <a:solidFill>
            <a:srgbClr val="4C9A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6189477" y="4275125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5.34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2724912" y="4416857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เกษมราษฎร์ ประชาชื่น ⚠️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279392" y="4453433"/>
            <a:ext cx="1954945" cy="68580"/>
          </a:xfrm>
          <a:prstGeom prst="rect">
            <a:avLst/>
          </a:prstGeom>
          <a:solidFill>
            <a:srgbClr val="4C9A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 txBox="1"/>
          <p:nvPr/>
        </p:nvSpPr>
        <p:spPr>
          <a:xfrm>
            <a:off x="6270913" y="4416857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5.57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2724912" y="4558589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วิภาวดี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4279392" y="4595165"/>
            <a:ext cx="2106272" cy="68580"/>
          </a:xfrm>
          <a:prstGeom prst="rect">
            <a:avLst/>
          </a:prstGeom>
          <a:solidFill>
            <a:srgbClr val="4C9A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 txBox="1"/>
          <p:nvPr/>
        </p:nvSpPr>
        <p:spPr>
          <a:xfrm>
            <a:off x="6422240" y="4558589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6.00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2724912" y="4700321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นนทเวช ⚠️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4279392" y="4736897"/>
            <a:ext cx="2150217" cy="68580"/>
          </a:xfrm>
          <a:prstGeom prst="rect">
            <a:avLst/>
          </a:prstGeom>
          <a:solidFill>
            <a:srgbClr val="4C9A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 txBox="1"/>
          <p:nvPr/>
        </p:nvSpPr>
        <p:spPr>
          <a:xfrm>
            <a:off x="6466185" y="4700321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6.13</a:t>
            </a:r>
            <a:endParaRPr lang="en-US" sz="1000" dirty="0"/>
          </a:p>
        </p:txBody>
      </p:sp>
      <p:sp>
        <p:nvSpPr>
          <p:cNvPr id="44" name="Text 37"/>
          <p:cNvSpPr txBox="1"/>
          <p:nvPr/>
        </p:nvSpPr>
        <p:spPr>
          <a:xfrm>
            <a:off x="2724912" y="4842053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ศิครินทร์</a:t>
            </a:r>
            <a:endParaRPr lang="en-US" sz="1000" dirty="0"/>
          </a:p>
        </p:txBody>
      </p:sp>
      <p:sp>
        <p:nvSpPr>
          <p:cNvPr id="45" name="Shape 38"/>
          <p:cNvSpPr/>
          <p:nvPr/>
        </p:nvSpPr>
        <p:spPr>
          <a:xfrm>
            <a:off x="4279392" y="4878629"/>
            <a:ext cx="2195606" cy="68580"/>
          </a:xfrm>
          <a:prstGeom prst="rect">
            <a:avLst/>
          </a:prstGeom>
          <a:solidFill>
            <a:srgbClr val="4C9A55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9"/>
          <p:cNvSpPr txBox="1"/>
          <p:nvPr/>
        </p:nvSpPr>
        <p:spPr>
          <a:xfrm>
            <a:off x="6511574" y="4842053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6.26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2724912" y="4983785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พระรามเก้า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4279392" y="5020361"/>
            <a:ext cx="3251922" cy="68580"/>
          </a:xfrm>
          <a:prstGeom prst="rect">
            <a:avLst/>
          </a:prstGeom>
          <a:solidFill>
            <a:srgbClr val="B9BDC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2"/>
          <p:cNvSpPr txBox="1"/>
          <p:nvPr/>
        </p:nvSpPr>
        <p:spPr>
          <a:xfrm>
            <a:off x="7567890" y="4983785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9.27</a:t>
            </a:r>
            <a:endParaRPr lang="en-US" sz="1000" dirty="0"/>
          </a:p>
        </p:txBody>
      </p:sp>
      <p:sp>
        <p:nvSpPr>
          <p:cNvPr id="50" name="Text 43"/>
          <p:cNvSpPr txBox="1"/>
          <p:nvPr/>
        </p:nvSpPr>
        <p:spPr>
          <a:xfrm>
            <a:off x="2724912" y="5125517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พญาไท นวมินทร์ ⚠️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4279392" y="5162093"/>
            <a:ext cx="3657270" cy="68580"/>
          </a:xfrm>
          <a:prstGeom prst="rect">
            <a:avLst/>
          </a:prstGeom>
          <a:solidFill>
            <a:srgbClr val="B9BDC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5"/>
          <p:cNvSpPr txBox="1"/>
          <p:nvPr/>
        </p:nvSpPr>
        <p:spPr>
          <a:xfrm>
            <a:off x="7973238" y="5125517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10.42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2724912" y="5267249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กรุงเทพ สำนักงานใหญ่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4279392" y="5303825"/>
            <a:ext cx="4225357" cy="68580"/>
          </a:xfrm>
          <a:prstGeom prst="rect">
            <a:avLst/>
          </a:prstGeom>
          <a:solidFill>
            <a:srgbClr val="B9BDC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8"/>
          <p:cNvSpPr txBox="1"/>
          <p:nvPr/>
        </p:nvSpPr>
        <p:spPr>
          <a:xfrm>
            <a:off x="8541325" y="5267249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12.04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2724912" y="5408981"/>
            <a:ext cx="150876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สมิติเวช สุขุมวิท</a:t>
            </a:r>
            <a:endParaRPr lang="en-US" sz="1000" dirty="0"/>
          </a:p>
        </p:txBody>
      </p:sp>
      <p:sp>
        <p:nvSpPr>
          <p:cNvPr id="57" name="Shape 50"/>
          <p:cNvSpPr/>
          <p:nvPr/>
        </p:nvSpPr>
        <p:spPr>
          <a:xfrm>
            <a:off x="4279392" y="5445557"/>
            <a:ext cx="4234764" cy="68580"/>
          </a:xfrm>
          <a:prstGeom prst="rect">
            <a:avLst/>
          </a:prstGeom>
          <a:solidFill>
            <a:srgbClr val="B9BDCC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1"/>
          <p:cNvSpPr txBox="1"/>
          <p:nvPr/>
        </p:nvSpPr>
        <p:spPr>
          <a:xfrm>
            <a:off x="8550732" y="5408981"/>
            <a:ext cx="4114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12.07</a:t>
            </a:r>
            <a:endParaRPr lang="en-US" sz="1000" dirty="0"/>
          </a:p>
        </p:txBody>
      </p:sp>
      <p:sp>
        <p:nvSpPr>
          <p:cNvPr id="59" name="Shape 52"/>
          <p:cNvSpPr/>
          <p:nvPr/>
        </p:nvSpPr>
        <p:spPr>
          <a:xfrm>
            <a:off x="4279392" y="5550713"/>
            <a:ext cx="4562856" cy="0"/>
          </a:xfrm>
          <a:prstGeom prst="line">
            <a:avLst/>
          </a:prstGeom>
          <a:noFill/>
          <a:ln w="9525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3"/>
          <p:cNvSpPr txBox="1"/>
          <p:nvPr/>
        </p:nvSpPr>
        <p:spPr>
          <a:xfrm>
            <a:off x="4142232" y="5569001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5897177" y="5569001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7652121" y="5569001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63" name="Text 56"/>
          <p:cNvSpPr txBox="1"/>
          <p:nvPr/>
        </p:nvSpPr>
        <p:spPr>
          <a:xfrm>
            <a:off x="8750808" y="5569001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00" dirty="0"/>
          </a:p>
        </p:txBody>
      </p:sp>
      <p:sp>
        <p:nvSpPr>
          <p:cNvPr id="64" name="Shape 57"/>
          <p:cNvSpPr/>
          <p:nvPr/>
        </p:nvSpPr>
        <p:spPr>
          <a:xfrm>
            <a:off x="7526040" y="4201973"/>
            <a:ext cx="0" cy="1348740"/>
          </a:xfrm>
          <a:prstGeom prst="line">
            <a:avLst/>
          </a:prstGeom>
          <a:noFill/>
          <a:ln w="22225">
            <a:solidFill>
              <a:srgbClr val="2E7D3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58"/>
          <p:cNvSpPr txBox="1"/>
          <p:nvPr/>
        </p:nvSpPr>
        <p:spPr>
          <a:xfrm>
            <a:off x="7104888" y="4019093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แผนทุน 1 ล้าน: k ≤ 9.25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2724912" y="5751881"/>
            <a:ext cx="6574536" cy="3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แท่งเขียว = นอนได้ที่ ε ≤ 1% · </a:t>
            </a: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โรงพยาบาลที่เปลี่ยนไปใช้ได้: วิภาวดี · ศิครินทร์</a:t>
            </a: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⚠️ ราคา &lt; 3 หัตถการ: เกษมราษฎร์ ×2 · นนทเวช</a:t>
            </a:r>
            <a:endParaRPr lang="en-US" sz="1050" dirty="0"/>
          </a:p>
        </p:txBody>
      </p:sp>
      <p:sp>
        <p:nvSpPr>
          <p:cNvPr id="67" name="Shape 60"/>
          <p:cNvSpPr/>
          <p:nvPr/>
        </p:nvSpPr>
        <p:spPr>
          <a:xfrm>
            <a:off x="9601200" y="1764792"/>
            <a:ext cx="2221992" cy="2415734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69" name="Shape 62"/>
          <p:cNvSpPr/>
          <p:nvPr/>
        </p:nvSpPr>
        <p:spPr>
          <a:xfrm>
            <a:off x="9710928" y="2148840"/>
            <a:ext cx="2002536" cy="76352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3"/>
          <p:cNvSpPr txBox="1"/>
          <p:nvPr/>
        </p:nvSpPr>
        <p:spPr>
          <a:xfrm>
            <a:off x="9747504" y="2148840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B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วิภาวดี · ศิครินทร์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22,723 บาท/ปี (ลด 1,770)</a:t>
            </a:r>
            <a:endParaRPr lang="en-US" sz="1050" dirty="0"/>
          </a:p>
        </p:txBody>
      </p:sp>
      <p:sp>
        <p:nvSpPr>
          <p:cNvPr id="71" name="Text 64"/>
          <p:cNvSpPr txBox="1"/>
          <p:nvPr/>
        </p:nvSpPr>
        <p:spPr>
          <a:xfrm>
            <a:off x="9710928" y="293979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≤ 9.25 และราคาครบ 3 หัตถการ ⇒ ε ≤ 1%</a:t>
            </a:r>
            <a:endParaRPr lang="en-US" sz="1000" dirty="0"/>
          </a:p>
        </p:txBody>
      </p:sp>
      <p:sp>
        <p:nvSpPr>
          <p:cNvPr id="72" name="Shape 65"/>
          <p:cNvSpPr/>
          <p:nvPr/>
        </p:nvSpPr>
        <p:spPr>
          <a:xfrm>
            <a:off x="9601200" y="4290254"/>
            <a:ext cx="2221992" cy="1881946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66"/>
          <p:cNvSpPr txBox="1"/>
          <p:nvPr/>
        </p:nvSpPr>
        <p:spPr>
          <a:xfrm>
            <a:off x="9601200" y="4363406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74" name="Shape 67"/>
          <p:cNvSpPr/>
          <p:nvPr/>
        </p:nvSpPr>
        <p:spPr>
          <a:xfrm>
            <a:off x="9710928" y="4674302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68"/>
          <p:cNvSpPr txBox="1"/>
          <p:nvPr/>
        </p:nvSpPr>
        <p:spPr>
          <a:xfrm>
            <a:off x="9747504" y="4674302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D: ย้ายไป รพ.รัฐ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 0 (S* = 0)</a:t>
            </a:r>
            <a:endParaRPr lang="en-US" sz="1050" dirty="0"/>
          </a:p>
        </p:txBody>
      </p:sp>
      <p:sp>
        <p:nvSpPr>
          <p:cNvPr id="76" name="Text 69"/>
          <p:cNvSpPr txBox="1"/>
          <p:nvPr/>
        </p:nvSpPr>
        <p:spPr>
          <a:xfrm>
            <a:off x="9710928" y="5108642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k, g และ C เปลี่ยนพร้อมกัน (Step 4) → สรุปหน้า 17</a:t>
            </a:r>
            <a:endParaRPr lang="en-US" sz="1000" dirty="0"/>
          </a:p>
        </p:txBody>
      </p:sp>
      <p:sp>
        <p:nvSpPr>
          <p:cNvPr id="77" name="Text 70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14</a:t>
            </a:r>
            <a:endParaRPr lang="en-US" sz="1000" dirty="0"/>
          </a:p>
        </p:txBody>
      </p:sp>
      <p:sp>
        <p:nvSpPr>
          <p:cNvPr id="78" name="Text 71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k จาก reprice_k (Cooper et al. 2019; Thai DRG 6.3.3); สมการ Step 4 แก้ย้อน (SIM-13); ตารางเบี้ย IPD (ส.ค. 2569)</a:t>
            </a:r>
            <a:endParaRPr lang="en-US" sz="900" dirty="0"/>
          </a:p>
        </p:txBody>
      </p:sp>
      <p:sp>
        <p:nvSpPr>
          <p:cNvPr id="79" name="Shape 72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3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4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82" name="Text 75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83" name="Text 76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84" name="Text 77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85" name="Text 78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 · Case C (สมมติ): มีประกันชีวิตกับบริษัทนั้นอยู่แล้ว → ซื้อสุขภาพล้วนได้ถูกลง</a:t>
            </a:r>
            <a:endParaRPr lang="en-US" sz="19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91860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ประกันชีวิตเดิมอยู่กับ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สมมติทีละบริษัทในตาราง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75488" y="258318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คุณกรรณ์จริง = FWD (ผ่าน InsureX) → แถว FWD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793127"/>
            <a:ext cx="2057400" cy="237907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 txBox="1"/>
          <p:nvPr/>
        </p:nvSpPr>
        <p:spPr>
          <a:xfrm>
            <a:off x="365760" y="3866279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75488" y="4177175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 txBox="1"/>
          <p:nvPr/>
        </p:nvSpPr>
        <p:spPr>
          <a:xfrm>
            <a:off x="512064" y="4177175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เบี้ยสุขภาพล้วนที่พิมพ์จริง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แผน (AIA 3 · เมืองไทยฯ 3)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75488" y="4812683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 txBox="1"/>
          <p:nvPr/>
        </p:nvSpPr>
        <p:spPr>
          <a:xfrm>
            <a:off x="512064" y="4812683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งบใหม่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(หน้า 12)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22,993 บาท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 txBox="1"/>
          <p:nvPr/>
        </p:nvSpPr>
        <p:spPr>
          <a:xfrm>
            <a:off x="2724912" y="1892808"/>
            <a:ext cx="31501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ยังไม่มีประกันชีวิตกับบริษัทนั้น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724912" y="2121408"/>
            <a:ext cx="1323045" cy="274320"/>
          </a:xfrm>
          <a:prstGeom prst="rect">
            <a:avLst/>
          </a:prstGeom>
          <a:solidFill>
            <a:srgbClr val="7F89C8"/>
          </a:solidFill>
          <a:ln w="12700">
            <a:solidFill>
              <a:srgbClr val="7F89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 txBox="1"/>
          <p:nvPr/>
        </p:nvSpPr>
        <p:spPr>
          <a:xfrm>
            <a:off x="2724912" y="2121408"/>
            <a:ext cx="1323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สัญญาหลัก (ชีวิต)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4047957" y="2121408"/>
            <a:ext cx="1827063" cy="274320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 txBox="1"/>
          <p:nvPr/>
        </p:nvSpPr>
        <p:spPr>
          <a:xfrm>
            <a:off x="4047957" y="2121408"/>
            <a:ext cx="1827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สัญญาเพิ่มเติม (สุขภาพ)</a:t>
            </a:r>
            <a:endParaRPr lang="en-US" sz="950" dirty="0"/>
          </a:p>
        </p:txBody>
      </p:sp>
      <p:sp>
        <p:nvSpPr>
          <p:cNvPr id="30" name="Text 26"/>
          <p:cNvSpPr txBox="1"/>
          <p:nvPr/>
        </p:nvSpPr>
        <p:spPr>
          <a:xfrm>
            <a:off x="2724912" y="2423160"/>
            <a:ext cx="3150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ซื้อทั้งสองส่วน ⇒ จ่าย </a:t>
            </a: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เบี้ยรวม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149340" y="1892808"/>
            <a:ext cx="31501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มีประกันชีวิตกับบริษัทนั้นแล้ว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149340" y="2121408"/>
            <a:ext cx="1323045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F89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9"/>
          <p:cNvSpPr txBox="1"/>
          <p:nvPr/>
        </p:nvSpPr>
        <p:spPr>
          <a:xfrm>
            <a:off x="6149340" y="2121408"/>
            <a:ext cx="13230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มีอยู่แล้ว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7472385" y="2121408"/>
            <a:ext cx="1827063" cy="274320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1"/>
          <p:cNvSpPr txBox="1"/>
          <p:nvPr/>
        </p:nvSpPr>
        <p:spPr>
          <a:xfrm>
            <a:off x="7472385" y="2121408"/>
            <a:ext cx="1827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สัญญาเพิ่มเติม (สุขภาพ)</a:t>
            </a:r>
            <a:endParaRPr lang="en-US" sz="950" dirty="0"/>
          </a:p>
        </p:txBody>
      </p:sp>
      <p:sp>
        <p:nvSpPr>
          <p:cNvPr id="36" name="Text 32"/>
          <p:cNvSpPr txBox="1"/>
          <p:nvPr/>
        </p:nvSpPr>
        <p:spPr>
          <a:xfrm>
            <a:off x="6149340" y="2423160"/>
            <a:ext cx="31501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ซื้อแค่ส่วนสุขภาพ ⇒ จ่าย </a:t>
            </a: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เบี้ยสุขภาพล้วน</a:t>
            </a: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(ถูกกว่า)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2724912" y="2642616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ไล่ทีละบริษัท — งบ 22,993 (ลดเบี้ยลง 1,500 แล้ว) · กฎ: ทุนสูงสุดที่งบซื้อได้</a:t>
            </a:r>
            <a:endParaRPr lang="en-US" sz="13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2916936"/>
          <a:ext cx="6574537" cy="1870862"/>
        </p:xfrm>
        <a:graphic>
          <a:graphicData uri="http://schemas.openxmlformats.org/drawingml/2006/table">
            <a:tbl>
              <a:tblPr/>
              <a:tblGrid>
                <a:gridCol w="14815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0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1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8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ประกันชีวิตเดิมอยู่กับ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สุขภาพล้วนจริง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แผนในงบ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แผนที่กฎเลือก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ลดได้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Health Happy 1 ล้าน · 21,600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Allianz Ayudhya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Bangkok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FWD (คุณกรรณ์)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Krungthai-AXA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Muang Thai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Samsung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Thai Life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ไม่มี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Fit DD 1 ล้าน · 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9" name="Text 34"/>
          <p:cNvSpPr txBox="1"/>
          <p:nvPr/>
        </p:nvSpPr>
        <p:spPr>
          <a:xfrm>
            <a:off x="2724912" y="4879238"/>
            <a:ext cx="6574536" cy="39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พิมพ์เบี้ยสุขภาพล้วนจริงแค่ </a:t>
            </a: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AIA</a:t>
            </a: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และ </a:t>
            </a: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เมืองไทยฯ</a:t>
            </a: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→ หน้าถัดไปคำนวณทุกแผนของสองบริษัทนี้ · </a:t>
            </a:r>
            <a:r>
              <a:rPr lang="en-US" sz="10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FWD</a:t>
            </a:r>
            <a:r>
              <a:rPr lang="en-US" sz="10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(คุณกรรณ์จริง) ไม่มีราคาที่อายุ 46 ⇒ ได้แผนเดียวกับ Case A/B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9601200" y="1764792"/>
            <a:ext cx="2221992" cy="1960053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6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42" name="Shape 37"/>
          <p:cNvSpPr/>
          <p:nvPr/>
        </p:nvSpPr>
        <p:spPr>
          <a:xfrm>
            <a:off x="9710928" y="2148840"/>
            <a:ext cx="2002536" cy="76352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 txBox="1"/>
          <p:nvPr/>
        </p:nvSpPr>
        <p:spPr>
          <a:xfrm>
            <a:off x="9747504" y="2148840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ถือกับ AIA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AIA Health Happy 1 ล้าน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21,600 (ลด 2,893)</a:t>
            </a:r>
            <a:endParaRPr lang="en-US" sz="1050" dirty="0"/>
          </a:p>
        </p:txBody>
      </p:sp>
      <p:sp>
        <p:nvSpPr>
          <p:cNvPr id="44" name="Text 39"/>
          <p:cNvSpPr txBox="1"/>
          <p:nvPr/>
        </p:nvSpPr>
        <p:spPr>
          <a:xfrm>
            <a:off x="9710928" y="293979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ทุนเท่า Case A · บริษัทอื่นได้แผนเดียวกับ Case A/B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9601200" y="3834573"/>
            <a:ext cx="2221992" cy="2337627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9601200" y="3907725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47" name="Shape 42"/>
          <p:cNvSpPr/>
          <p:nvPr/>
        </p:nvSpPr>
        <p:spPr>
          <a:xfrm>
            <a:off x="9710928" y="4218621"/>
            <a:ext cx="2002536" cy="763524"/>
          </a:xfrm>
          <a:prstGeom prst="rect">
            <a:avLst/>
          </a:prstGeom>
          <a:solidFill>
            <a:srgbClr val="FBE9E7"/>
          </a:solidFill>
          <a:ln w="15875">
            <a:solidFill>
              <a:srgbClr val="B2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3"/>
          <p:cNvSpPr txBox="1"/>
          <p:nvPr/>
        </p:nvSpPr>
        <p:spPr>
          <a:xfrm>
            <a:off x="9747504" y="4218621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ข้อมูลที่ต้องเก็บเพิ่ม (FWD)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B2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สุขภาพล้วน ชาย 46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B2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บรอนซ์ 1 ล้าน · ซิลเวอร์ 3 ล้าน</a:t>
            </a:r>
            <a:endParaRPr lang="en-US" sz="1050" dirty="0"/>
          </a:p>
        </p:txBody>
      </p:sp>
      <p:sp>
        <p:nvSpPr>
          <p:cNvPr id="49" name="Text 44"/>
          <p:cNvSpPr txBox="1"/>
          <p:nvPr/>
        </p:nvSpPr>
        <p:spPr>
          <a:xfrm>
            <a:off x="9710928" y="5009577"/>
            <a:ext cx="20025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ขอใบเสนอราคาจาก InsureX/FWD · ถ้าต่ำกว่า 22,723 / 24,493 จะเปลี่ยน Case A/B / Step 5</a:t>
            </a:r>
            <a:endParaRPr lang="en-US" sz="1000" dirty="0"/>
          </a:p>
        </p:txBody>
      </p:sp>
      <p:sp>
        <p:nvSpPr>
          <p:cNvPr id="50" name="Text 45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15</a:t>
            </a:r>
            <a:endParaRPr lang="en-US" sz="1000" dirty="0"/>
          </a:p>
        </p:txBody>
      </p:sp>
      <p:sp>
        <p:nvSpPr>
          <p:cNvPr id="51" name="Text 46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ตารางตัวแทน AIA Health Happy (aiayourgift.com); หน้าตัวแทนเมืองไทยฯ; deteam (เบี้ยรวม = สัญญาหลัก + สุขภาพ); insurex.co.th; โบรชัวร์ FWD พรีเชียส แคร์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8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49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55" name="Text 50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56" name="Text 51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57" name="Text 52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58" name="Text 53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 · Case C (ต่อ): ทุกแผนของ AIA และเมืองไทยฯ → คำนวณทีละแผน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668594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58521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ประกันชีวิตเดิม (สมมติ)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ถือกับ AIA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ถือกับเมืองไทยฯ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543114"/>
            <a:ext cx="2057400" cy="2629086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365760" y="361626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" y="3927162"/>
            <a:ext cx="1837944" cy="740664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12064" y="3927162"/>
            <a:ext cx="17647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(Step 4) · งบใหม่ P</a:t>
            </a:r>
            <a:r>
              <a:rPr lang="en-US" sz="1050" baseline="-40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(หน้า 12)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1,001,452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22,993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5488" y="4718118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4718118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 พระรามเก้า (Step 4)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1,197,300 บาท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2724912" y="1892808"/>
            <a:ext cx="6574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ราคาที่ใช้ (ตัวหนา) = สุขภาพล้วนถ้าพิมพ์จริง ไม่เช่นนั้นเบี้ยรวม · ε และควักเอง (% รายได้ ที่บิล 1 ใน 100 ปี) คิดที่พระรามเก้า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2386584"/>
          <a:ext cx="6574536" cy="2888406"/>
        </p:xfrm>
        <a:graphic>
          <a:graphicData uri="http://schemas.openxmlformats.org/drawingml/2006/table">
            <a:tbl>
              <a:tblPr/>
              <a:tblGrid>
                <a:gridCol w="1902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5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9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1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5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79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32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99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5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แผน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ทุน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เบี้ยรวม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สุขภาพล้วน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≥ S*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งบ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 สูงสุด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ควักเอง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— Health Happy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Happy 1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1,000,000/ปี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24,922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21,600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1.0011%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Happy 5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5,000,000/ปี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30,022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26,700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0.1442%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 Happy 15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15,000,000/ปี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43,522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40,200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117.59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เมืองไทยประกันชีวิต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 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8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เหมาจ่าย เอ็กซ์ตร้า 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200,000/ครั้ง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16,400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2.5708%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เหมาจ่าย เอ็กซ์ตร้า 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200,000/ครั้ง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18,764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2.5708%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50.9%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เหมาจ่าย เอ็กซ์ตร้า 3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500,000/ครั้ง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19,449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1.6146%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 Health Lite 1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1,000,000/ครั้ง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34,624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1.0011%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 Health Lite 5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5,000,000/ครั้ง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36,137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0.1442%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57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Elite Health Plus 20 ล้าน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20,000,000/ปี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57,598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7D3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✓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23B2E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✗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0.0023%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156.28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6" name="Text 21"/>
          <p:cNvSpPr txBox="1"/>
          <p:nvPr/>
        </p:nvSpPr>
        <p:spPr>
          <a:xfrm>
            <a:off x="2724912" y="5276550"/>
            <a:ext cx="65745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ถือกับ AIA:</a:t>
            </a: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ทุน ≥ S* ถูกสุด 5 ล้าน 26,700 แพงกว่า TL HFDD 5 ล้าน 24,493 ⇒ Step 5 ไม่เปลี่ยน · ในงบ: 1 ล้าน </a:t>
            </a: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21,600</a:t>
            </a: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ทุนเท่า Case A ⇒ </a:t>
            </a: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เสนอได้</a:t>
            </a: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เบี้ยรวม − สุขภาพล้วน = 3,322 ทุกแผน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2724912" y="5703702"/>
            <a:ext cx="6574536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ถือกับเมืองไทยฯ:</a:t>
            </a:r>
            <a:r>
              <a:rPr lang="en-US" sz="10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สุขภาพล้วนมีแค่เอ็กซ์ตร้า 1–3 (ทุน ≤ 500,000/ครั้ง &lt; S*) ⇒ Step 5 ไม่เปลี่ยน · ในงบ กฎเลือก TL HFDD 1 ล้าน 22,723 · เอ็กซ์ตร้าถูกกว่าแต่ ε 1.6146%–2.5708% · ควักเอง 35.6%–50.9% ⇒ </a:t>
            </a:r>
            <a:r>
              <a:rPr lang="en-US" sz="10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ไม่เสนอ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9601200" y="1764792"/>
            <a:ext cx="2221992" cy="240063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9710928" y="2148840"/>
            <a:ext cx="2002536" cy="585216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 txBox="1"/>
          <p:nvPr/>
        </p:nvSpPr>
        <p:spPr>
          <a:xfrm>
            <a:off x="9747504" y="2148840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C (ถือกับ AIA)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Happy 1 ล้าน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21,600 (ลด 2,893)</a:t>
            </a:r>
            <a:endParaRPr lang="en-US" sz="1050" dirty="0"/>
          </a:p>
        </p:txBody>
      </p:sp>
      <p:sp>
        <p:nvSpPr>
          <p:cNvPr id="32" name="Text 27"/>
          <p:cNvSpPr txBox="1"/>
          <p:nvPr/>
        </p:nvSpPr>
        <p:spPr>
          <a:xfrm>
            <a:off x="9710928" y="276148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เสนอได้ · ถูกกว่า TL HFDD 1 ล้าน 1,123 · ทุน ε โรงพยาบาลเท่า Case A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9601200" y="4275150"/>
            <a:ext cx="2221992" cy="1897050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9601200" y="434830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9710928" y="4659198"/>
            <a:ext cx="2002536" cy="406908"/>
          </a:xfrm>
          <a:prstGeom prst="rect">
            <a:avLst/>
          </a:prstGeom>
          <a:solidFill>
            <a:srgbClr val="FBE9E7"/>
          </a:solidFill>
          <a:ln w="15875">
            <a:solidFill>
              <a:srgbClr val="B23B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9747504" y="4659198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เมืองไทยฯ แผนที่ถูกกว่า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B23B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ไม่เสนอ</a:t>
            </a:r>
            <a:endParaRPr lang="en-US" sz="1050" dirty="0"/>
          </a:p>
        </p:txBody>
      </p:sp>
      <p:sp>
        <p:nvSpPr>
          <p:cNvPr id="37" name="Text 32"/>
          <p:cNvSpPr txBox="1"/>
          <p:nvPr/>
        </p:nvSpPr>
        <p:spPr>
          <a:xfrm>
            <a:off x="9710928" y="5093538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ทุนต่ำกว่า S* · ε และเงินควักเองเกินเกณฑ์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16</a:t>
            </a:r>
            <a:endParaRPr lang="en-US" sz="1000" dirty="0"/>
          </a:p>
        </p:txBody>
      </p:sp>
      <p:sp>
        <p:nvSpPr>
          <p:cNvPr id="39" name="Text 34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ตารางตัวแทน AIA Health Happy (aiayourgift.com); หน้าตัวแทนเมืองไทยประกันชีวิต; deteam (เบี้ยรวม); สมการ Step 3.3–4 แก้ย้อน (SIM-13); Schoen et al. (2005)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6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7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4" name="Text 39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5" name="Text 40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46" name="Text 41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1945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F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TFPA Progress Update #3</a:t>
            </a:r>
            <a:endParaRPr lang="en-US" sz="2200" dirty="0"/>
          </a:p>
        </p:txBody>
      </p:sp>
      <p:pic>
        <p:nvPicPr>
          <p:cNvPr id="3" name="Image 0" descr="KMITL–NIDA Financial Engineering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2" y="109728"/>
            <a:ext cx="548640" cy="585216"/>
          </a:xfrm>
          <a:prstGeom prst="rect">
            <a:avLst/>
          </a:prstGeom>
        </p:spPr>
      </p:pic>
      <p:pic>
        <p:nvPicPr>
          <p:cNvPr id="4" name="Image 1" descr="TFPA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146304"/>
            <a:ext cx="1005840" cy="5029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 txBox="1"/>
          <p:nvPr/>
        </p:nvSpPr>
        <p:spPr>
          <a:xfrm>
            <a:off x="365760" y="768096"/>
            <a:ext cx="114601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ลดเบี้ย 1,500 · สรุปทางเลือก Case A–D ที่ยื่นให้คุณกรรณ์</a:t>
            </a:r>
            <a:endParaRPr lang="en-US" sz="2100" dirty="0"/>
          </a:p>
        </p:txBody>
      </p:sp>
      <p:sp>
        <p:nvSpPr>
          <p:cNvPr id="7" name="Shape 3"/>
          <p:cNvSpPr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365760" y="1344168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2560320" y="1344168"/>
            <a:ext cx="6903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solidFill>
            <a:srgbClr val="0A0656"/>
          </a:solidFill>
          <a:ln w="12700">
            <a:solidFill>
              <a:srgbClr val="0A06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 txBox="1"/>
          <p:nvPr/>
        </p:nvSpPr>
        <p:spPr>
          <a:xfrm>
            <a:off x="9601200" y="1344168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2057400" cy="1598576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365760" y="18379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ที่ต้องกรอก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5488" y="2148840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512064" y="2148840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คำขอของลูกค้า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ลดเบี้ยลง 1,500 บาท/ปี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3473096"/>
            <a:ext cx="2057400" cy="2699104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 txBox="1"/>
          <p:nvPr/>
        </p:nvSpPr>
        <p:spPr>
          <a:xfrm>
            <a:off x="365760" y="35462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ที่มีมาให้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75488" y="3857144"/>
            <a:ext cx="1837944" cy="562356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 txBox="1"/>
          <p:nvPr/>
        </p:nvSpPr>
        <p:spPr>
          <a:xfrm>
            <a:off x="512064" y="3857144"/>
            <a:ext cx="176479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ผล Case A–C (หน้า 13–16)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ตารางเบี้ยจริง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75488" y="4469792"/>
            <a:ext cx="1837944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512064" y="4469792"/>
            <a:ext cx="1764792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S* ที่ รพ.รัฐ (Step 4)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บาท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2560320" y="1764792"/>
            <a:ext cx="6903720" cy="4407408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2724912" y="1892808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D — ย้ายไปใช้ รพ.รัฐ ด้วยสิทธิข้าราชการ (ไม่ต้องซื้อ)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2724912" y="2167128"/>
            <a:ext cx="6574536" cy="425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 = 1 · g = 2.032% · C = CSMBS ⇒ บิลออกแบบ 40,748 บาท ต่ำกว่า R อยู่ 155,100 บาท ⇒ S* = 0 (Step 4) ⇒ </a:t>
            </a:r>
            <a:r>
              <a:rPr lang="en-US" sz="115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 0</a:t>
            </a:r>
            <a:r>
              <a:rPr lang="en-US" sz="115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· ข้อแลกเปลี่ยน: ใช้ รพ.รัฐแทนพระรามเก้า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2724912" y="2675077"/>
            <a:ext cx="6574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สรุปทุก Case (ตัวเลขประกาศจริงทั้งหมด)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24912" y="2949397"/>
          <a:ext cx="6574537" cy="1954376"/>
        </p:xfrm>
        <a:graphic>
          <a:graphicData uri="http://schemas.openxmlformats.org/drawingml/2006/table">
            <a:tbl>
              <a:tblPr/>
              <a:tblGrid>
                <a:gridCol w="472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3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4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5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75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ทำอะไร (โรงพยาบาล)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แผน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ทุน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เบี้ย/ปี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ลดได้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ε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6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ตามแผน Step 5 (พระรามเก้า)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TL HFDD 5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24,493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0.1442%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ลดทุนเป็น 1 ล้าน · อยู่พระรามเก้า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TL HFDD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1.0011%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ลดทุนเป็น 1 ล้าน · ย้ายไปวิภาวดี / ศิครินทร์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TL HFDD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22,723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สมมติ: ชีวิตอยู่กับ AIA · ซื้อสุขภาพล้วน (พระรามเก้า)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AIA HH 1 ล้าน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1,000,000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21,600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1.0011%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6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ย้ายไปใช้ รพ.รัฐ (CSMBS) · ไม่ซื้อ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24,493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1F3A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ผ่าน (R)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3C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3"/>
          <p:cNvSpPr txBox="1"/>
          <p:nvPr/>
        </p:nvSpPr>
        <p:spPr>
          <a:xfrm>
            <a:off x="2724912" y="4988509"/>
            <a:ext cx="657453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TL HFDD = ไทยประกันชีวิต Health Fit DD (เบี้ยรวม = สัญญาหลัก + สุขภาพ) · AIA HH = AIA Health Happy · C = สมมติว่าประกันชีวิตอยู่กับ AIA — คุณกรรณ์จริงถือกับ FWD ซึ่งยังไม่มีราคาสุขภาพล้วนอายุ 46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9601200" y="1764792"/>
            <a:ext cx="2221992" cy="1803901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9601200" y="1837944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ที่จะนำไปใช้ต่อ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9710928" y="2148840"/>
            <a:ext cx="2002536" cy="763524"/>
          </a:xfrm>
          <a:prstGeom prst="rect">
            <a:avLst/>
          </a:prstGeom>
          <a:solidFill>
            <a:srgbClr val="FFF3DC"/>
          </a:solidFill>
          <a:ln w="15875">
            <a:solidFill>
              <a:srgbClr val="C77C0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9747504" y="2148840"/>
            <a:ext cx="1929384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ข้อเสนอหลัก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 A หรือ B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Fit DD 1 ล้าน · 22,723</a:t>
            </a:r>
            <a:endParaRPr lang="en-US" sz="1050" dirty="0"/>
          </a:p>
        </p:txBody>
      </p:sp>
      <p:sp>
        <p:nvSpPr>
          <p:cNvPr id="33" name="Text 28"/>
          <p:cNvSpPr txBox="1"/>
          <p:nvPr/>
        </p:nvSpPr>
        <p:spPr>
          <a:xfrm>
            <a:off x="9710928" y="2939796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ลด 1,770 (ครบ 1,500) · A: ε 1.0011% · B: ε ≤ 1%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9601200" y="3678421"/>
            <a:ext cx="2221992" cy="2493779"/>
          </a:xfrm>
          <a:prstGeom prst="rect">
            <a:avLst/>
          </a:prstGeom>
          <a:solidFill>
            <a:srgbClr val="EDEEF4"/>
          </a:solidFill>
          <a:ln w="12700">
            <a:solidFill>
              <a:srgbClr val="EDEE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 txBox="1"/>
          <p:nvPr/>
        </p:nvSpPr>
        <p:spPr>
          <a:xfrm>
            <a:off x="9601200" y="3751573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ที่เก็บไว้ใช้ภายหลัง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9710928" y="4062469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 txBox="1"/>
          <p:nvPr/>
        </p:nvSpPr>
        <p:spPr>
          <a:xfrm>
            <a:off x="9747504" y="4062469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ข้อมูลที่ต้องเก็บเพิ่ม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FWD สุขภาพล้วน อายุ 46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9710928" y="4496809"/>
            <a:ext cx="2002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อาจเปลี่ยนแผนใน Case A/B (หน้า 15)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9710928" y="4867141"/>
            <a:ext cx="2002536" cy="406908"/>
          </a:xfrm>
          <a:prstGeom prst="rect">
            <a:avLst/>
          </a:prstGeom>
          <a:solidFill>
            <a:srgbClr val="D3D6E3"/>
          </a:solidFill>
          <a:ln w="6350">
            <a:solidFill>
              <a:srgbClr val="D3D6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9747504" y="4867141"/>
            <a:ext cx="1929384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ข้อควรระวัง</a:t>
            </a:r>
            <a:endParaRPr lang="en-US" sz="10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0A06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เบี้ยตามตารางมาตรฐาน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9710928" y="5301481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ประวัติสูบบุหรี่/ดื่มสุราและผ่าตัดขาหัก อาจทำให้เบี้ยสูงขึ้นหรือมีข้อยกเว้น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365760" y="61904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17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1554480" y="6190488"/>
            <a:ext cx="10271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4A4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ที่มา: ตารางเบี้ย IPD 8 บริษัท (ส.ค. 2569 · ตรวจกับเว็บจริง 7 ต.ค. 2569); k จาก reprice_k; แบบสำรวจ TFPM 102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0" y="6473952"/>
            <a:ext cx="12191695" cy="0"/>
          </a:xfrm>
          <a:prstGeom prst="line">
            <a:avLst/>
          </a:prstGeom>
          <a:noFill/>
          <a:ln w="12700">
            <a:solidFill>
              <a:srgbClr val="8C8C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0"/>
          <p:cNvSpPr/>
          <p:nvPr/>
        </p:nvSpPr>
        <p:spPr>
          <a:xfrm>
            <a:off x="9528048" y="6419088"/>
            <a:ext cx="1901952" cy="73152"/>
          </a:xfrm>
          <a:prstGeom prst="rect">
            <a:avLst/>
          </a:prstGeom>
          <a:solidFill>
            <a:srgbClr val="2A36A0"/>
          </a:solidFill>
          <a:ln w="12700">
            <a:solidFill>
              <a:srgbClr val="2A3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1"/>
          <p:cNvSpPr txBox="1"/>
          <p:nvPr/>
        </p:nvSpPr>
        <p:spPr>
          <a:xfrm>
            <a:off x="42062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400" dirty="0"/>
          </a:p>
        </p:txBody>
      </p:sp>
      <p:sp>
        <p:nvSpPr>
          <p:cNvPr id="47" name="Text 42"/>
          <p:cNvSpPr txBox="1"/>
          <p:nvPr/>
        </p:nvSpPr>
        <p:spPr>
          <a:xfrm>
            <a:off x="275234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400" dirty="0"/>
          </a:p>
        </p:txBody>
      </p:sp>
      <p:sp>
        <p:nvSpPr>
          <p:cNvPr id="48" name="Text 43"/>
          <p:cNvSpPr txBox="1"/>
          <p:nvPr/>
        </p:nvSpPr>
        <p:spPr>
          <a:xfrm>
            <a:off x="508406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741578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400" dirty="0"/>
          </a:p>
        </p:txBody>
      </p:sp>
      <p:sp>
        <p:nvSpPr>
          <p:cNvPr id="50" name="Text 45"/>
          <p:cNvSpPr txBox="1"/>
          <p:nvPr/>
        </p:nvSpPr>
        <p:spPr>
          <a:xfrm>
            <a:off x="9747504" y="6528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8634</TotalTime>
  <Words>6119</Words>
  <Application>Microsoft Office PowerPoint</Application>
  <PresentationFormat>Widescreen</PresentationFormat>
  <Paragraphs>1158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TFPA Progress Update #3 — Health Insurance Core Model</dc:title>
  <dc:subject>PptxGenJS Presentation</dc:subject>
  <dc:creator>TFPA Group 2</dc:creator>
  <cp:lastModifiedBy>PAMIKA CHANTIN</cp:lastModifiedBy>
  <cp:revision>2</cp:revision>
  <dcterms:created xsi:type="dcterms:W3CDTF">2026-10-07T15:42:07Z</dcterms:created>
  <dcterms:modified xsi:type="dcterms:W3CDTF">2026-10-13T15:38:58Z</dcterms:modified>
</cp:coreProperties>
</file>