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d30e0bf-cfdd-7cf7-5f9a-410088cccbc7}">
          <p14:sldIdLst>
            <p14:sldId id="256"/>
            <p14:sldId id="257"/>
          </p14:sldIdLst>
        </p14:section>
        <p14:section name="News" id="{cedae20e-03ed-8a04-74bc-c1416a44d838}">
          <p14:sldIdLst>
            <p14:sldId id="258"/>
            <p14:sldId id="259"/>
            <p14:sldId id="260"/>
            <p14:sldId id="261"/>
          </p14:sldIdLst>
        </p14:section>
        <p14:section name="Facts" id="{43ea38c9-7801-648f-153a-b0348f9eb67f}">
          <p14:sldIdLst>
            <p14:sldId id="262"/>
            <p14:sldId id="263"/>
            <p14:sldId id="264"/>
            <p14:sldId id="265"/>
            <p14:sldId id="266"/>
            <p14:sldId id="267"/>
            <p14:sldId id="268"/>
          </p14:sldIdLst>
        </p14:section>
        <p14:section name="Question" id="{efba4123-51ec-79e9-ad4e-cea25ef4fb5e}">
          <p14:sldIdLst>
            <p14:sldId id="269"/>
          </p14:sldIdLst>
        </p14:section>
        <p14:section name="Law" id="{744b7266-ff9c-2eaa-39e7-e38afad38e28}">
          <p14:sldIdLst>
            <p14:sldId id="270"/>
          </p14:sldIdLst>
        </p14:section>
        <p14:section name="Analysis" id="{9f496e00-7340-348b-deb8-b3595297e2f6}">
          <p14:sldIdLst>
            <p14:sldId id="271"/>
            <p14:sldId id="272"/>
            <p14:sldId id="273"/>
            <p14:sldId id="274"/>
            <p14:sldId id="275"/>
            <p14:sldId id="276"/>
            <p14:sldId id="277"/>
            <p14:sldId id="278"/>
          </p14:sldIdLst>
        </p14:section>
        <p14:section name="Conclusion" id="{b3f16e54-6091-5392-f495-c8f241df74be}">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0:25]
สวัสดีครับอาจารย์และเพื่อน ๆ ทุกคน พวกเราคือกลุ่มที่ 3 ครับ วันนี้จะมานำเสนองานกลุ่มชิ้นที่ 2 ของวิชา Ethics and Law for Financial Engineers เรื่องคดีสร้างราคาหุ้น TSR
สมาชิกในกลุ่มมีทั้งหมด 6 คนตามตารางบนสไลด์ ทุกคนจะผลัดกันขึ้นมาพูดคนละช่วง ผมขอเป็นคนเปิดเรื่องก่อนนะครับ</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0:35]
การนำเสนอวันนี้แบ่งเป็น 6 ส่วนตามตาราง และตรงกับแท็บด้านล่างของทุกสไลด์ครับ เราเรียงตามวิธีตอบคำถามกฎหมายในไกด์ของอาจารย์ คือเริ่มจากข้อเท็จจริง ตั้งคำถาม แล้วตอบด้วย Law/Rule, Analysis และ Conclusion
เริ่มจาก News คือลิงก์ข่าว เหตุการณ์ ไทม์ไลน์ และผู้มีส่วนเกี่ยวข้อง ต่อด้วย Facts ที่สรุปข้อเท็จจริงทั้งหมดเป็นข้อ F1 ถึง F10 แล้วเทียบกับทุก bullet point ของกฎหมาย จากนั้นเป็นคำถามหลัก ส่วน Law บอกว่าใช้กฎหมายอะไร เพราะอะไร และผิดมาตราไหน ส่วน Analysis วิเคราะห์ 4 Rule ทีละมาตรา และปิดด้วย Conclusion ที่ตอบคำถามในประโยคเดียวครับ</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0:40]
ส่วนแรกคือข่าวครับ ตารางนี้คือแหล่งข่าวทั้งหมดพร้อมลิงก์ ข่าวหลักคือแถวที่ไฮไลต์สีเหลือง เป็นข่าวจากหุ้นสมาร์ท วันที่ 24 มกราคม 2569 เพราะให้รายละเอียดครบที่สุด ทั้งช่วงเวลา พฤติกรรม แรงจูงใจ และมาตราที่ ก.ล.ต. อ้าง
ข่าวมิติหุ้นและฐานเศรษฐกิจวันที่ 23 มกราคมใช้ประกอบ โดยเฉพาะฐานเศรษฐกิจที่ระบุว่าการกระทำนี้ทำให้บุคคลทั่วไปเข้าใจผิดเกี่ยวกับราคาหรือปริมาณการซื้อขาย ส่วนข่าววันที่ 11 พฤษภาคมเป็นข่าวติดตามผลที่ ก.ล.ต. ส่งฟ้องศาลแพ่ง ทุกข่าวลงวันที่หลัง 1 มกราคม 2026 ตามเงื่อนไขของงานครับ</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0:50]
สไลด์นี้สรุปข่าวด้วยหลัก 5W1H ครับ ใคร คือ นางสาวภรัณยา รุจนพรพจี ผู้ถือหุ้นใหญ่ของ SABUY ทำอะไร คือสร้างราคาหรือปริมาณการซื้อขายหุ้น TSR หรือที่เรียกกันว่าปั่นหุ้น เมื่อไร คือ 22 มิถุนายน ถึง 31 สิงหาคม 2565 รวม 47 วันทำการ ที่ไหน คือหุ้น TSR ในตลาดหลักทรัพย์ฯ
ทำไม ก.ล.ต. ระบุว่าเพื่อให้ SABUY บันทึกกำไรจากการวัดมูลค่ายุติธรรมของหุ้น TSR ณ สิ้นไตรมาส 2 และเพื่อทำกำไรจากส่วนต่างราคา ทำอย่างไร คือเคาะซื้อ กวาดคำสั่งขาย และครองคำสั่งซื้อที่ราคาช่องที่ 1 และ 2
ผลล่าสุดตามกล่องสีเหลือง ค.ม.พ. สั่งให้ชำระ 32.3 ล้านบาท แต่เธอไม่ยินยอม ก.ล.ต. จึงขอให้อัยการฟ้องศาลแพ่งเรียก 43 ล้านบาทพร้อมดอกเบี้ย ลิงก์ข่าวหลักอยู่มุมขวาล่างครับ</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0:50]
ขอบคุณครับ สไลด์นี้คือไทม์ไลน์ของคดีครับ ฝั่งซ้ายคือปี 2565 พฤติกรรมเริ่มวันที่ 22 มิถุนายน อีกแค่ 8 วันก็ถึงวันสิ้นไตรมาส 2 ซึ่งเป็นวันที่ SABUY ต้องตีมูลค่าหุ้น TSR พฤติกรรมยังลากยาวไปจนถึง 31 สิงหาคม รวม 47 วันทำการ และเดือนตุลาคม 2565 ตลาดหลักทรัพย์ส่งเรื่องให้ ก.ล.ต.
ผ่านไปราว 3 ปี ฝั่งขวาคือปี 2569 ค.ม.พ. ลงโทษทางแพ่งในเดือนมกราคม เดือนมีนาคมมีคดีหุ้น MSC ของเธอถูกส่งฟ้องเช่นกัน และวันที่ 11 พฤษภาคม ก.ล.ต. ขอให้อัยการฟ้องศาลแพ่งในคดี TSR และส่งเรื่องให้ ปปง. ณ เดือนตุลาคม 2569 ยังไม่มีข่าวคำพิพากษาครับ</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0:50]
ใครบ้างที่เกี่ยวข้องกับข่าวนี้ เราแบ่งเป็น 3 กลุ่มครับ กลุ่มแรกคือฝั่งผู้กระทำ ได้แก่นางสาวภรัณยา ผู้ถูกกล่าวหา และ SABUY ซึ่งเป็นผู้ได้ประโยชน์ เพราะได้กำไรจากมูลค่ายุติธรรมของหุ้น TSR
กลุ่มที่สองคือตลาด ได้แก่บริษัท TSR และผู้ถือหุ้น ที่ราคาหุ้นถูกบิดเบือน และนักลงทุนคนอื่นที่ถูกทำให้เข้าใจผิดและต้องซื้อแพงขึ้น
กลุ่มที่สามคือหน่วยงาน ตลาดหลักทรัพย์ฯ ตรวจพบและส่งเรื่อง ก.ล.ต. ตรวจสอบและบังคับใช้กฎหมาย ค.ม.พ. ซึ่งมีอัยการสูงสุดเป็นประธานตามมาตรา 317/3 กำหนดมาตรการ พนักงานอัยการและศาลแพ่งพิจารณาคดี และ ปปง. ตรวจสอบด้านการฟอกเงินครับ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1:10]
ส่วนที่สองคือข้อเท็จจริงครับ เราเขียนข้อเท็จจริงทั้งหมดเป็นข้อ ๆ ตั้งแต่ F1 ถึง F10 เพื่อให้ตอนวิเคราะห์อ้างอิงกลับมาได้ เหมือนในไกด์ของอาจารย์ที่ใช้คำว่า From the facts
ฝั่งซ้ายคือพฤติกรรมในปี 2565 F1 ผู้กระทำเป็นบุคคลธรรมดาและผู้ถือหุ้นใหญ่ของ SABUY F2 หุ้น TSR จดทะเบียนในตลาดหลักทรัพย์ และ SABUY ถือหุ้น TSR เป็นเงินลงทุนที่วัดมูลค่ายุติธรรม F3 เธอเคาะซื้อและกวาดคำสั่งขายต่อเนื่อง 47 วันทำการ F4 ครอง Bid ช่องที่ 1 และ 2 จนคนอื่นต้องซื้อแพงขึ้น F5 แรงจูงใจตามที่ ก.ล.ต. ระบุ และ F6 ก.ล.ต. ระบุว่าทำให้บุคคลทั่วไปเข้าใจผิดเรื่องราคาหรือปริมาณ
ฝั่งขวาคือการบังคับใช้กฎหมาย F7 ตลาดหลักทรัพย์ฯ ส่งเรื่องเดือนตุลาคม 2565 F8 ค.ม.พ. ลงโทษทางแพ่ง F9 เธอไม่ยินยอม ก.ล.ต. จึงขอให้อัยการฟ้องศาลแพ่ง และ F10 สิ่งที่ข่าวไม่ได้รายงาน เช่น คำสั่งช่วงก่อนเปิดหรือก่อนปิดตลาด ข่าวเท็จ ข้อมูลภายใน หรือการใช้บัญชีคนอื่น ข้อนี้สำคัญเพราะเราจะไม่วิเคราะห์สิ่งที่ไม่มีข้อเท็จจริงรองรับครับ</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0:45]
เพื่อให้เห็นภาพข้อเท็จจริง F3 และ F4 ผมขอใช้กระดานซื้อขายจำลองนะครับ ตัวเลขเป็นตัวเลขสมมติ ไม่ใช่ข้อมูลจริงของหุ้น TSR ฝั่งซ้ายคือ Bid ฝั่งขวาคือ Offer ช่องสีเหลืองคือคำสั่งซื้อก้อนใหญ่ของเธอที่ราคาช่องที่ 1 และ 2
ขั้นที่ 1 Sweep เธอเคาะซื้อกวาด Offer ราคาล่าสุดก็ขยับขึ้น ขั้นที่ 2 Wall ตั้ง Bid ก้อนใหญ่ไว้เหมือนกำแพง คนดูกระดานคิดว่ามีแรงซื้อเยอะ ขั้นที่ 3 Squeeze คนที่อยากซื้อจริงต่อคิวไม่ทัน ต้องไปซื้อที่ราคาสูงกว่า วนไปเรื่อย ๆ ราคาก็ถูกดันขึ้นทีละขั้นครับ</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0:50]
ข้อเท็จจริง F5 คือแรงจูงใจครับ ข้อแรกอ่านตามลูกศรด้านบน ดันราคา TSR ขึ้นตั้งแต่ 22 มิถุนายน อีก 8 วันก็สิ้นไตรมาส 2 SABUY ต้องวัดมูลค่ายุติธรรมของหุ้น TSR ราคายิ่งสูง SABUY ก็ยิ่งมีกำไรทางบัญชี ทั้งที่ไม่ได้ขายหุ้นเลย
ข้อที่สองคือกำไรจากส่วนต่างราคา ซื้อถูก ดันให้แพง แล้วขาย กล่องสีเขียวบอกว่าทำไมเรื่องนี้สำคัญ เพราะแรงจูงใจเป็นหลักฐานของ “เจตนา” ซึ่งเป็นองค์ประกอบของมาตรา 244/3 วงเล็บ 2 ที่เราจะใช้ใน Rule 2 ครับ ต่อไปขอส่งให้เพื่อนเทียบข้อเท็จจริงกับตัวบทครับ</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1:00]
ขอบคุณค่ะ ต่อไปคือการเอาข้อเท็จจริงไปเทียบกับทุก bullet point ของกฎหมายค่ะ ตารางมี 4 คอลัมน์ คือมาตรา ตัวบทว่าอย่างไร ข้อเท็จจริงจากข่าว และตรงหรือไม่ เครื่องหมายถูกสีเขียวคือข้อเท็จจริงตรงกับตัวบท
แถวแรก มาตรา 238 ขอบเขตของหมวดนี้ หุ้น TSR จดทะเบียนในตลาดหลักทรัพย์ จึงอยู่ในขอบเขต แถวที่สองและสามคือมาตรา 244/3 วงเล็บ 1 และ 2 ข้อเท็จจริง F3 F4 F6 ตรงกับวงเล็บ 1 และ F3 F5 ตรงกับวงเล็บ 2
สามแถวล่างคือข้อยกเว้นตามมาตรา 244/4 ได้แก่ การรักษาระดับราคาตามสัญญาจัดจำหน่าย การซื้อหุ้นคืน และการซื้อขายตามประกาศ ก.ล.ต. ไม่มีข้อไหนตรงเลย ผลคือเธอเข้ามาตรา 244/3 และไม่มีข้อยกเว้นมาคุ้มครองค่ะ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1:00]
ตารางที่สองคือมาตรา 244/5 ซึ่งเป็นบทสันนิษฐานห้าข้อค่ะ ถ้าข้อเท็จจริงตรงกับข้อใด กฎหมายจะสันนิษฐานว่าทำให้คนอื่นเข้าใจผิดตามวงเล็บ 1 หรือทำให้ราคาผิดปกติตามวงเล็บ 2
ข้อ 1 ถึง 3 คือการซื้อขายที่ไม่เปลี่ยนผู้รับประโยชน์ และการจับคู่ซื้อขายกับพวกพ้อง ข่าวไม่ได้รายงาน จึงไม่ตรง
ข้อ 4 คือการส่งคำสั่งช่วงก่อนเปิดหรือก่อนปิดตลาด ก.ล.ต. อ้างข้อนี้ แต่กลุ่มเราค้นข่าวทุกแหล่งแล้ว ไม่มีข้อเท็จจริงเรื่องช่วงเวลาดังกล่าวเลย เราจึงไม่นำข้อ 4 มาใช้ ส่วนข้อ 5 การส่งคำสั่งที่ขัดขวางคนอื่นจนต้องซื้อแพงขึ้น ตรงกับ F4 การครอง Bid พอดี บทสันนิษฐานข้อ 5 จึงใช้ได้ค่ะ</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0:50]
ตารางที่สามคือความผิดอื่นในหมวดเดียวกันค่ะ มาตรา 240 การเผยแพร่ข้อมูลเท็จ มาตรา 241 บทวิเคราะห์ที่บิดเบือน มาตรา 242 การใช้หรือเปิดเผยข้อมูลภายใน ข่าวไม่มีข้อเท็จจริงเหล่านี้เลย
มาตรา 243 และ 244 เป็นบทสันนิษฐานว่าใครรู้ข้อมูลภายใน ซึ่งใช้เมื่อมีประเด็นมาตรา 242 เท่านั้น ส่วนมาตรา 244/1 และ 244/2 ใช้กับบริษัทหลักทรัพย์ บริษัทจัดการกองทุน และพนักงานที่ชิงซื้อขายตัดหน้าลูกค้า เธอไม่ใช่บุคคลกลุ่มนี้ ผลคือไม่มีข้อไหนตรงค่ะ</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0:40]
ตารางสุดท้ายคือมาตรา 244/6 ซึ่งสันนิษฐานว่าใครเป็นตัวการ เช่น เปิดบัญชีร่วม ให้คนอื่นใช้บัญชี จ่ายเงินหรือวางหลักประกันแทนกัน และมาตรา 244/7 การส่งคำสั่งจนระบบซื้อขายล่าช้าหรือหยุดชะงัก
ข่าวรายงานว่าเธอส่งคำสั่งเอง ไม่มีการใช้บัญชีหรือเงินของคนอื่น และไม่มีระบบล่ม ทุกข้อจึงไม่ตรง สรุปจากสี่ตารางคือ ข้อเท็จจริงตรงกับมาตรา 244/3 วงเล็บ 1 และ 2 โดยมีบทสันนิษฐานมาตรา 244/5 วงเล็บ 5 เท่านั้นค่ะ</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0:30]
จากข้อเท็จจริงทั้งหมด เราตั้งคำถามหลักหนึ่งข้อเหมือนในไกด์ของอาจารย์ค่ะ คือ นางสาวภรัณยาได้กระทำความผิดฐานการกระทำอันไม่เป็นธรรมเกี่ยวกับการซื้อขายหลักทรัพย์ตาม พ.ร.บ.หลักทรัพย์ฯ หรือไม่ และอาจถูกลงโทษอย่างไร
เราจะตอบด้วย 4 Rule ตามกล่องด้านล่าง แต่ละ Rule ตอบแบบอาจารย์ คือ Law/Rule แล้ว Analysis แล้ว Conclusion ต่อไปขอส่งให้เพื่อนอธิบายว่าเราใช้กฎหมายอะไรค่ะ</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0:50]
ขอบคุณครับ ส่วน Law ตอบสามเรื่อง คือใช้กฎหมายอะไร ทำไม และผิดมาตราไหนครับ กฎหมายที่ใช้คือ พ.ร.บ.หลักทรัพย์และตลาดหลักทรัพย์ พ.ศ. 2535 สามกลุ่ม
กลุ่มแรก มาตรา 238 ถึง 244/7 หมวดการกระทำอันไม่เป็นธรรม เพราะ TSR เป็นหลักทรัพย์จดทะเบียน และการกระทำคือการส่งคำสั่งซื้อขาย กลุ่มที่สอง มาตรา 296 ถึง 296/2 และ 297/1 คือโทษอาญาของมาตรา 244/3 และกลุ่มที่สาม มาตรา 317/1 ถึง 317/8 คือมาตรการลงโทษทางแพ่ง ซึ่งเป็นเส้นทางที่ ก.ล.ต. ใช้จริง
สรุปตามกล่องสีเขียว มาตราที่ผิดคือ 244/3 วงเล็บ 1 และ 2 ประกอบบทสันนิษฐาน 244/5 วงเล็บ 5 ส่วนกล่องสีเหลือง 244/5 วงเล็บ 4 เราไม่ใช้ เพราะไม่มีข้อเท็จจริงรองรับครับ</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0:50]
เริ่ม Rule 1 ครับ ตามไกด์ของอาจารย์ ขั้นแรกคือยกตัวบท Under the Securities and Exchange Act Section 244/3 วงเล็บ 1 ห้ามบุคคลใดส่งคำสั่งหรือซื้อขายหลักทรัพย์ในลักษณะที่ทำให้บุคคลอื่นเข้าใจผิดเกี่ยวกับราคาหรือปริมาณการซื้อขาย
ประกอบกับมาตรา 244/5 วงเล็บ 5 ที่สันนิษฐานว่า การส่งคำสั่งที่ขัดขวางการซื้อขายของคนอื่นจนต้องซื้อแพงขึ้น ถือว่าทำให้คนอื่นเข้าใจผิด และมาตรา 238 ที่กำหนดขอบเขต ทางขวาคือองค์ประกอบสี่ข้อที่ต้องพิสูจน์ครับ</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1:10]
ขั้นที่สองคือ Analysis ครับ From the facts นางสาวภรัณยาเคาะซื้อและครองคำสั่งซื้อหุ้น TSR ตั้งแต่ 22 มิถุนายน ถึง 31 สิงหาคม 2565 ตาม F3 และ F4 วิเคราะห์ตามองค์ประกอบได้ดังนี้
First เธอเป็น “บุคคลใด” เพราะเป็นบุคคลธรรมดา ตาม F1 Second หุ้น TSR จดทะเบียนในตลาดหลักทรัพย์ หมวดนี้จึงใช้ได้ตามมาตรา 238 ตาม F2 Third เธอส่งคำสั่งและซื้อขายหลักทรัพย์จริง ตาม F3 Fourth การครอง Bid ขัดขวางคนอื่นจนต้องซื้อแพงขึ้น ตรงกับมาตรา 244/5 วงเล็บ 5 กฎหมายจึงสันนิษฐานว่าทำให้คนอื่นเข้าใจผิด และ ก.ล.ต. ก็ระบุว่าบุคคลทั่วไปเข้าใจผิดจริงตาม F6 อีกทั้งไม่มีข้อยกเว้นตามมาตรา 244/4
ขั้นที่สามคือ Conclusion In conclusion การกระทำของเธอผิดมาตรา 244/3 วงเล็บ 1 โดยมีบทสันนิษฐานมาตรา 244/5 วงเล็บ 5 สนับสนุนครับ</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0:45]
ขอบคุณครับ Rule 2 คือมาตรา 244/3 วงเล็บ 2 ห้ามส่งคำสั่งหรือซื้อขายหลักทรัพย์อย่างต่อเนื่อง โดยมีเจตนาให้ราคาหรือปริมาณการซื้อขายผิดไปจากสภาพปกติของตลาด ประกอบบทสันนิษฐานมาตรา 244/5 วงเล็บ 5 ที่ใช้กับวงเล็บ 2 ได้ด้วย
กล่องสีเหลืองคือข้อสังเกตครับ ก.ล.ต. อ้างมาตรา 244/5 วงเล็บ 4 ด้วย แต่ไม่มีข่าวไหนให้ข้อเท็จจริงเรื่องคำสั่งช่วงก่อนเปิดหรือก่อนปิดตลาด เราจึงไม่ใช้ องค์ประกอบที่ต้องพิสูจน์มีสามข้อตามทางขวาครับ</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1:00]
From the facts นางสาวภรัณยาซึ่งเป็นผู้ถือหุ้นใหญ่ของ SABUY ส่งคำสั่งซื้อหุ้น TSR ต่อเนื่อง 47 วันทำการ ในขณะที่ SABUY ถือหุ้น TSR ที่ต้องวัดมูลค่ายุติธรรม วิเคราะห์ได้ดังนี้ครับ
First เธอส่งคำสั่งและซื้อขายหุ้น TSR ตาม F3 F4 Second ทำอย่างต่อเนื่องทุกวันเป็นเวลา 47 วันทำการ ไม่ใช่คำสั่งครั้งเดียว ตาม F3 Third มีเจตนา เพราะ ก.ล.ต. พบว่าเธอต้องการให้ SABUY มีกำไรจากมูลค่ายุติธรรม ณ สิ้นไตรมาส 2 และทำกำไรส่วนต่าง ตาม F5 อีกทั้งการครอง Bid เข้าบทสันนิษฐานมาตรา 244/5 วงเล็บ 5 ว่าราคาผิดปกติ However เราไม่ใช้วงเล็บ 4 เพราะไม่มีข้อเท็จจริงรองรับ
In conclusion การกระทำของเธอผิดมาตรา 244/3 วงเล็บ 2 ด้วย ซึ่งมีโทษหนักกว่าตามมาตรา 296/1 ครับ</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0:50]
Rule 3 คือโทษอาญาครับ ตัวบทมีสามมาตรา มาตรา 296 ผู้ฝ่าฝืนมาตรา 244/3 วงเล็บ 1 จำคุกไม่เกิน 2 ปี หรือปรับ 5 แสนถึง 2 ล้านบาท หรือทั้งจำทั้งปรับ มาตรา 296/1 ผู้ฝ่าฝืนวงเล็บ 2 จำคุกไม่เกิน 5 ปี หรือปรับ 1 ล้านถึง 5 ล้านบาท หรือทั้งจำทั้งปรับ
มาตรา 296/2 ถ้าผู้กระทำได้รับหรือพึงได้รับประโยชน์ ให้ปรับไม่เกิน 2 เท่าของประโยชน์ แต่ไม่ต่ำกว่าขั้นต่ำ และมาตรา 297/1 ด้านล่าง ให้ศาลสั่งชดใช้ประโยชน์ ห้ามซื้อขายไม่เกิน 5 ปี ห้ามเป็นกรรมการไม่เกิน 10 ปี และชดใช้ค่าใช้จ่ายของ ก.ล.ต. ได้ครับ</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1:00]
From the facts จาก Rule 1 และ 2 เธอผิดมาตรา 244/3 ทั้งสองวงเล็บ และ ค.ม.พ. สั่งให้ชดใช้ประโยชน์ที่ได้รับ ตาม F8 แปลว่ามีประโยชน์เกิดขึ้น ถ้าคดีไปทางอาญา
First วงเล็บ 1 ใช้มาตรา 296 จำคุกไม่เกิน 2 ปี หรือปรับ 0.5 ถึง 2 ล้านบาท Second วงเล็บ 2 ใช้มาตรา 296/1 ที่หนักกว่า จำคุกไม่เกิน 5 ปี หรือปรับ 1 ถึง 5 ล้านบาท Third เพราะได้รับประโยชน์ มาตรา 296/2 ให้ปรับได้ถึง 2 เท่าของประโยชน์ แต่ไม่ต่ำกว่าขั้นต่ำ และนอกจากนี้ ถ้าศาลลงโทษ มาตรา 297/1 ให้ศาลสั่งชดใช้ประโยชน์ ห้ามซื้อขาย และห้ามเป็นกรรมการได้
In conclusion เธออาจถูกจำคุกไม่เกิน 5 ปี และปรับไม่เกิน 2 เท่าของประโยชน์ แต่ไม่ต่ำกว่า 1 ล้านบาท เว้นแต่สิทธิฟ้องอาญาระงับไปตามช่องทางแพ่งใน Rule 4 ครับ</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0:50]
ขอบคุณครับ Rule 4 คือมาตรการลงโทษทางแพ่ง ซึ่งเป็นเส้นทางที่คดีนี้ใช้จริงครับ มาตรา 317/1 วงเล็บ 1 ความผิดตามมาตรา 296 และ 296/1 ใช้มาตรการทางแพ่งได้ มาตรา 317/4 มีห้ามาตรการ คือค่าปรับทางแพ่ง ชดใช้ประโยชน์ ห้ามซื้อขายไม่เกิน 5 ปี ห้ามเป็นกรรมการไม่เกิน 10 ปี และชดใช้ค่าใช้จ่าย
มาตรา 317/5 วงเล็บ 1 ค่าปรับทางแพ่งไม่เกิน 2 เท่าของประโยชน์ แต่ไม่ต่ำกว่า 5 แสนบาท และมาตรา 317/7 กับ 317/8 ถ้ายินยอมและจ่ายครบ สิทธิฟ้องอาญาระงับ ถ้าไม่ยินยอม ก.ล.ต. ต้องฟ้องศาล ดอกเบี้ยเดินตั้งแต่วันฟ้อง และสิทธิฟ้องอาญาระงับเมื่อจ่ายครบตามคำพิพากษาครับ</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1:00]
From the facts ค.ม.พ. ลงโทษทางแพ่งตาม F8 แต่เธอไม่ยินยอม ก.ล.ต. จึงขอให้อัยการฟ้องศาลแพ่งเมื่อ 11 พฤษภาคม 2569 ตาม F9 วิเคราะห์ได้ดังนี้ครับ
First ความผิดตามมาตรา 244/3 มีโทษตามมาตรา 296 และ 296/1 จึงใช้มาตรการทางแพ่งได้ตามมาตรา 317/1 วงเล็บ 1 Second ค.ม.พ. ใช้ครบทั้งห้ามาตรการตามมาตรา 317/4 คือเงินรวม 32,327,329 บาท ซึ่งประกอบด้วยค่าปรับ ชดใช้ประโยชน์ และค่าใช้จ่าย บวกกับห้ามซื้อขาย 6 เดือน และห้ามเป็นกรรมการ 12 เดือน อยู่ในเพดาน 5 ปีและ 10 ปี Third เธอไม่ยินยอมตามมาตรา 317/7 จึงเข้ามาตรา 317/8 ก.ล.ต. ต้องฟ้องศาล ดอกเบี้ยเดินตั้งแต่วันฟ้อง และเรียก 43,018,879.32 บาท Finally สิทธิฟ้องอาญาจะระงับก็ต่อเมื่อศาลพิพากษาและเธอจ่ายครบ
In conclusion มาตรการทางแพ่งตามมาตรา 317/1 วงเล็บ 1, 317/4 และ 317/5 ใช้กับเธอได้ และเพราะเธอปฏิเสธ คดีจึงอยู่ในศาลแพ่งตามมาตรา 317/8 ยังไม่มีคำพิพากษา ณ ตุลาคม 2569 ครับ</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1:00]
มาถึงข้อสรุปครับ ตามไกด์ของอาจารย์ เราตอบคำถามในย่อหน้าเดียว In conclusion นางสาวภรัณยา รุจนพรพจี กระทำความผิดฐานการกระทำอันไม่เป็นธรรมเกี่ยวกับการซื้อขายหลักทรัพย์ ตามมาตรา 244/3 วงเล็บ 1 และ 2 ประกอบบทสันนิษฐานมาตรา 244/5 วงเล็บ 5 โดยเคาะซื้อและครอง Bid หุ้น TSR 47 วันทำการ เพื่อดันราคาให้ SABUY ได้ประโยชน์
ทางอาญา เธออาจถูกจำคุกไม่เกิน 5 ปี และปรับไม่เกิน 2 เท่าของประโยชน์ตามมาตรา 296/1 และ 296/2 แต่ ก.ล.ต. เลือกใช้มาตรการทางแพ่ง เธอปฏิเสธยอด 32.3 ล้านบาท ก.ล.ต. จึงฟ้องศาลแพ่งเรียก 43 ล้านบาทพร้อมดอกเบี้ย ตามมาตรา 317/8
สี่กล่องด้านล่างคือข้อสรุปของแต่ละ Rule และขอย้ำว่าทั้งหมดนี้อิงจากข้อเท็จจริงในข่าว ยังไม่มีคำพิพากษาของศาลครับ</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0:15]
การนำเสนอของกลุ่มที่ 3 ก็มีเพียงเท่านี้ครับ ขอบคุณอาจารย์และเพื่อน ๆ ทุกคนที่ตั้งใจฟัง หากมีคำถาม เชิญได้เลยครับ</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Ethics and Law for Financial Engineers</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464808"/>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464808"/>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_NEW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Shape 3"/>
          <p:cNvSpPr/>
          <p:nvPr/>
        </p:nvSpPr>
        <p:spPr>
          <a:xfrm>
            <a:off x="594360" y="6387084"/>
            <a:ext cx="1452829" cy="64008"/>
          </a:xfrm>
          <a:prstGeom prst="rect">
            <a:avLst/>
          </a:prstGeom>
          <a:solidFill>
            <a:schemeClr val="tx2"/>
          </a:solidFill>
          <a:ln/>
        </p:spPr>
      </p:sp>
      <p:sp>
        <p:nvSpPr>
          <p:cNvPr id="8" name="Text 4"/>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News</a:t>
            </a:r>
            <a:endParaRPr lang="en-US" sz="1300" dirty="0"/>
          </a:p>
        </p:txBody>
      </p:sp>
      <p:sp>
        <p:nvSpPr>
          <p:cNvPr id="9" name="Text 5"/>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_FACT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Shape 4"/>
          <p:cNvSpPr/>
          <p:nvPr/>
        </p:nvSpPr>
        <p:spPr>
          <a:xfrm>
            <a:off x="2504389" y="6387084"/>
            <a:ext cx="1452829" cy="64008"/>
          </a:xfrm>
          <a:prstGeom prst="rect">
            <a:avLst/>
          </a:prstGeom>
          <a:solidFill>
            <a:schemeClr val="tx2"/>
          </a:solidFill>
          <a:ln/>
        </p:spPr>
      </p:sp>
      <p:sp>
        <p:nvSpPr>
          <p:cNvPr id="9" name="Text 5"/>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Facts</a:t>
            </a:r>
            <a:endParaRPr lang="en-US" sz="1300" dirty="0"/>
          </a:p>
        </p:txBody>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_QUESTI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Shape 5"/>
          <p:cNvSpPr/>
          <p:nvPr/>
        </p:nvSpPr>
        <p:spPr>
          <a:xfrm>
            <a:off x="4414418" y="6387084"/>
            <a:ext cx="1452829" cy="64008"/>
          </a:xfrm>
          <a:prstGeom prst="rect">
            <a:avLst/>
          </a:prstGeom>
          <a:solidFill>
            <a:schemeClr val="tx2"/>
          </a:solidFill>
          <a:ln/>
        </p:spPr>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_LAW">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Shape 6"/>
          <p:cNvSpPr/>
          <p:nvPr/>
        </p:nvSpPr>
        <p:spPr>
          <a:xfrm>
            <a:off x="6324448" y="6387084"/>
            <a:ext cx="1452829" cy="64008"/>
          </a:xfrm>
          <a:prstGeom prst="rect">
            <a:avLst/>
          </a:prstGeom>
          <a:solidFill>
            <a:schemeClr val="tx2"/>
          </a:solidFill>
          <a:ln/>
        </p:spPr>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_ANALYSI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Text 6"/>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1" name="Shape 7"/>
          <p:cNvSpPr/>
          <p:nvPr/>
        </p:nvSpPr>
        <p:spPr>
          <a:xfrm>
            <a:off x="8234477" y="6387084"/>
            <a:ext cx="1452829" cy="64008"/>
          </a:xfrm>
          <a:prstGeom prst="rect">
            <a:avLst/>
          </a:prstGeom>
          <a:solidFill>
            <a:schemeClr val="tx2"/>
          </a:solidFill>
          <a:ln/>
        </p:spPr>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_CONCLUSI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Text 6"/>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1" name="Text 7"/>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2" name="Shape 8"/>
          <p:cNvSpPr/>
          <p:nvPr/>
        </p:nvSpPr>
        <p:spPr>
          <a:xfrm>
            <a:off x="10144506" y="6387084"/>
            <a:ext cx="1452829" cy="64008"/>
          </a:xfrm>
          <a:prstGeom prst="rect">
            <a:avLst/>
          </a:prstGeom>
          <a:solidFill>
            <a:schemeClr val="tx2"/>
          </a:solidFill>
          <a:ln/>
        </p:spPr>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1009</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mitihoon.com/2026/01/23/611929/" TargetMode="External"/><Relationship Id="rId2" Type="http://schemas.openxmlformats.org/officeDocument/2006/relationships/hyperlink" Target="https://www.thansettakij.com/finance/stockmarket/649730" TargetMode="External"/><Relationship Id="rId3" Type="http://schemas.openxmlformats.org/officeDocument/2006/relationships/hyperlink" Target="https://hoonsmart.com/archives/400329" TargetMode="External"/><Relationship Id="rId4" Type="http://schemas.openxmlformats.org/officeDocument/2006/relationships/hyperlink" Target="https://www.thansettakij.com/finance/stockmarket/654988" TargetMode="External"/><Relationship Id="rId5" Type="http://schemas.openxmlformats.org/officeDocument/2006/relationships/hyperlink" Target="https://www.thansettakij.com/finance/658785" TargetMode="External"/><Relationship Id="rId6" Type="http://schemas.openxmlformats.org/officeDocument/2006/relationships/hyperlink" Target="https://hoonsmart.com/archives/417813" TargetMode="External"/><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7" Type="http://schemas.openxmlformats.org/officeDocument/2006/relationships/hyperlink" Target="https://hoonsmart.com/archives/400329" TargetMode="Externa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8" Type="http://schemas.openxmlformats.org/officeDocument/2006/relationships/slideLayout" Target="../slideLayouts/slideLayout4.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hoonsmart.com/archives/400329" TargetMode="External"/><Relationship Id="rId2" Type="http://schemas.openxmlformats.org/officeDocument/2006/relationships/hyperlink" Target="https://www.thansettakij.com/finance/658785" TargetMode="External"/><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GROUP ASSIGNMENT 2 (2026)</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(1992), as amended</a:t>
            </a:r>
            <a:endParaRPr lang="en-US" sz="1050" dirty="0"/>
          </a:p>
        </p:txBody>
      </p:sp>
      <p:sp>
        <p:nvSpPr>
          <p:cNvPr id="5" name="s1-subbar-1"/>
          <p:cNvSpPr/>
          <p:nvPr/>
        </p:nvSpPr>
        <p:spPr>
          <a:xfrm>
            <a:off x="365760" y="1353312"/>
            <a:ext cx="11460175" cy="347472"/>
          </a:xfrm>
          <a:prstGeom prst="rect">
            <a:avLst/>
          </a:prstGeom>
          <a:solidFill>
            <a:schemeClr val="tx2"/>
          </a:solidFill>
          <a:ln/>
        </p:spPr>
      </p:sp>
      <p:sp>
        <p:nvSpPr>
          <p:cNvPr id="6" name="s1-subbar-text-2"/>
          <p:cNvSpPr txBox="1"/>
          <p:nvPr/>
        </p:nvSpPr>
        <p:spPr>
          <a:xfrm>
            <a:off x="365760" y="135331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Group 3 · Group Members</a:t>
            </a:r>
            <a:endParaRPr lang="en-US" sz="1400" dirty="0"/>
          </a:p>
        </p:txBody>
      </p:sp>
      <p:graphicFrame>
        <p:nvGraphicFramePr>
          <p:cNvPr id="2" name="s1-table-3"/>
          <p:cNvGraphicFramePr>
            <a:graphicFrameLocks noGrp="1"/>
          </p:cNvGraphicFramePr>
          <p:nvPr>
            <p:extLst>
              <p:ext uri="{D42A27DB-BD31-4B8C-83A1-F6EECF244321}">
                <p14:modId xmlns:p14="http://schemas.microsoft.com/office/powerpoint/2010/main" val="1579011935"/>
              </p:ext>
            </p:extLst>
          </p:nvPr>
        </p:nvGraphicFramePr>
        <p:xfrm>
          <a:off x="365760" y="1792224"/>
          <a:ext cx="11460175" cy="914400"/>
        </p:xfrm>
        <a:graphic>
          <a:graphicData uri="http://schemas.openxmlformats.org/drawingml/2006/table">
            <a:tbl>
              <a:tblPr/>
              <a:tblGrid>
                <a:gridCol w="914400"/>
                <a:gridCol w="2194560"/>
                <a:gridCol w="5120640"/>
                <a:gridCol w="3230575"/>
              </a:tblGrid>
              <a:tr h="384048">
                <a:tc>
                  <a:txBody>
                    <a:bodyPr/>
                    <a:lstStyle/>
                    <a:p>
                      <a:pPr algn="ctr" indent="0" marL="0">
                        <a:buNone/>
                      </a:pPr>
                      <a:r>
                        <a:rPr lang="en-US" sz="1200" b="1" dirty="0">
                          <a:solidFill>
                            <a:schemeClr val="bg1"/>
                          </a:solidFill>
                        </a:rPr>
                        <a:t>No.</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Student ID</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Full Name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Participation Rate (%)</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402336">
                <a:tc>
                  <a:txBody>
                    <a:bodyPr/>
                    <a:lstStyle/>
                    <a:p>
                      <a:pPr algn="ctr" indent="0" marL="0">
                        <a:buNone/>
                      </a:pPr>
                      <a:r>
                        <a:rPr lang="en-US" sz="1200" dirty="0">
                          <a:solidFill>
                            <a:schemeClr val="tx1"/>
                          </a:solidFill>
                        </a:rPr>
                        <a:t>1</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66011078</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Natachat Teecharcharn</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rPr>
                        <a:t>2</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66011097</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Mr. Nutdanai Jindadang</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02336">
                <a:tc>
                  <a:txBody>
                    <a:bodyPr/>
                    <a:lstStyle/>
                    <a:p>
                      <a:pPr algn="ctr" indent="0" marL="0">
                        <a:buNone/>
                      </a:pPr>
                      <a:r>
                        <a:rPr lang="en-US" sz="1200" dirty="0">
                          <a:solidFill>
                            <a:schemeClr val="tx1"/>
                          </a:solidFill>
                        </a:rPr>
                        <a:t>3</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66011104</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Miss Pamika Chantin</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rPr>
                        <a:t>4</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66011106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Mr. Panas Sri-Anant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02336">
                <a:tc>
                  <a:txBody>
                    <a:bodyPr/>
                    <a:lstStyle/>
                    <a:p>
                      <a:pPr algn="ctr" indent="0" marL="0">
                        <a:buNone/>
                      </a:pPr>
                      <a:r>
                        <a:rPr lang="en-US" sz="1200" dirty="0">
                          <a:solidFill>
                            <a:schemeClr val="tx1"/>
                          </a:solidFill>
                        </a:rPr>
                        <a:t>5</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66011126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Pasit Larpkittipanich</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rPr>
                        <a:t>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66011128</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Mr. Passakorn Laksanakorn</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bl>
          </a:graphicData>
        </a:graphic>
      </p:graphicFrame>
      <p:sp>
        <p:nvSpPr>
          <p:cNvPr id="8" name="s1-subbar-4"/>
          <p:cNvSpPr/>
          <p:nvPr/>
        </p:nvSpPr>
        <p:spPr>
          <a:xfrm>
            <a:off x="365760" y="4754880"/>
            <a:ext cx="11460175" cy="347472"/>
          </a:xfrm>
          <a:prstGeom prst="rect">
            <a:avLst/>
          </a:prstGeom>
          <a:solidFill>
            <a:schemeClr val="tx2"/>
          </a:solidFill>
          <a:ln/>
        </p:spPr>
      </p:sp>
      <p:sp>
        <p:nvSpPr>
          <p:cNvPr id="9" name="s1-subbar-text-5"/>
          <p:cNvSpPr txBox="1"/>
          <p:nvPr/>
        </p:nvSpPr>
        <p:spPr>
          <a:xfrm>
            <a:off x="365760" y="4754880"/>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Course Details</a:t>
            </a:r>
            <a:endParaRPr lang="en-US" sz="1400" dirty="0"/>
          </a:p>
        </p:txBody>
      </p:sp>
      <p:sp>
        <p:nvSpPr>
          <p:cNvPr id="10" name="s1-chip-6"/>
          <p:cNvSpPr/>
          <p:nvPr/>
        </p:nvSpPr>
        <p:spPr>
          <a:xfrm>
            <a:off x="365760" y="5193792"/>
            <a:ext cx="2762174" cy="1005840"/>
          </a:xfrm>
          <a:prstGeom prst="rect">
            <a:avLst/>
          </a:prstGeom>
          <a:solidFill>
            <a:schemeClr val="accent2"/>
          </a:solidFill>
          <a:ln/>
        </p:spPr>
      </p:sp>
      <p:sp>
        <p:nvSpPr>
          <p:cNvPr id="11" name="s1-chip-text-7"/>
          <p:cNvSpPr txBox="1"/>
          <p:nvPr/>
        </p:nvSpPr>
        <p:spPr>
          <a:xfrm>
            <a:off x="365760" y="5193792"/>
            <a:ext cx="2762174"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Course</a:t>
            </a:r>
            <a:endParaRPr lang="en-US" sz="1200" dirty="0"/>
          </a:p>
          <a:p>
            <a:pPr algn="ctr" indent="0" marL="0">
              <a:buNone/>
            </a:pPr>
            <a:r>
              <a:rPr lang="en-US" sz="1200" b="1" dirty="0">
                <a:solidFill>
                  <a:schemeClr val="tx2"/>
                </a:solidFill>
              </a:rPr>
              <a:t>Ethics and Law for Financial Engineers</a:t>
            </a:r>
            <a:endParaRPr lang="en-US" sz="1200" dirty="0"/>
          </a:p>
        </p:txBody>
      </p:sp>
      <p:sp>
        <p:nvSpPr>
          <p:cNvPr id="12" name="s1-chip-8"/>
          <p:cNvSpPr/>
          <p:nvPr/>
        </p:nvSpPr>
        <p:spPr>
          <a:xfrm>
            <a:off x="3265094" y="5193792"/>
            <a:ext cx="2762174" cy="1005840"/>
          </a:xfrm>
          <a:prstGeom prst="rect">
            <a:avLst/>
          </a:prstGeom>
          <a:solidFill>
            <a:schemeClr val="accent2"/>
          </a:solidFill>
          <a:ln/>
        </p:spPr>
      </p:sp>
      <p:sp>
        <p:nvSpPr>
          <p:cNvPr id="13" name="s1-chip-text-9"/>
          <p:cNvSpPr txBox="1"/>
          <p:nvPr/>
        </p:nvSpPr>
        <p:spPr>
          <a:xfrm>
            <a:off x="3265094" y="5193792"/>
            <a:ext cx="2762174"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Instructor</a:t>
            </a:r>
            <a:endParaRPr lang="en-US" sz="1200" dirty="0"/>
          </a:p>
          <a:p>
            <a:pPr algn="ctr" indent="0" marL="0">
              <a:buNone/>
            </a:pPr>
            <a:r>
              <a:rPr lang="en-US" sz="1200" b="1" dirty="0">
                <a:solidFill>
                  <a:schemeClr val="tx2"/>
                </a:solidFill>
              </a:rPr>
              <a:t>Dr. Chatchai Lapprathana</a:t>
            </a:r>
            <a:endParaRPr lang="en-US" sz="1200" dirty="0"/>
          </a:p>
        </p:txBody>
      </p:sp>
      <p:sp>
        <p:nvSpPr>
          <p:cNvPr id="14" name="s1-chip-10"/>
          <p:cNvSpPr/>
          <p:nvPr/>
        </p:nvSpPr>
        <p:spPr>
          <a:xfrm>
            <a:off x="6164428" y="5193792"/>
            <a:ext cx="2762174" cy="1005840"/>
          </a:xfrm>
          <a:prstGeom prst="rect">
            <a:avLst/>
          </a:prstGeom>
          <a:solidFill>
            <a:schemeClr val="accent2"/>
          </a:solidFill>
          <a:ln/>
        </p:spPr>
      </p:sp>
      <p:sp>
        <p:nvSpPr>
          <p:cNvPr id="15" name="s1-chip-text-11"/>
          <p:cNvSpPr txBox="1"/>
          <p:nvPr/>
        </p:nvSpPr>
        <p:spPr>
          <a:xfrm>
            <a:off x="6164428" y="5193792"/>
            <a:ext cx="2762174"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Submission date</a:t>
            </a:r>
            <a:endParaRPr lang="en-US" sz="1200" dirty="0"/>
          </a:p>
          <a:p>
            <a:pPr algn="ctr" indent="0" marL="0">
              <a:buNone/>
            </a:pPr>
            <a:r>
              <a:rPr lang="en-US" sz="1200" b="1" dirty="0">
                <a:solidFill>
                  <a:schemeClr val="tx2"/>
                </a:solidFill>
              </a:rPr>
              <a:t>21 October 2026</a:t>
            </a:r>
            <a:endParaRPr lang="en-US" sz="1200" dirty="0"/>
          </a:p>
        </p:txBody>
      </p:sp>
      <p:sp>
        <p:nvSpPr>
          <p:cNvPr id="16" name="s1-chip-12"/>
          <p:cNvSpPr/>
          <p:nvPr/>
        </p:nvSpPr>
        <p:spPr>
          <a:xfrm>
            <a:off x="9063761" y="5193792"/>
            <a:ext cx="2762174" cy="1005840"/>
          </a:xfrm>
          <a:prstGeom prst="rect">
            <a:avLst/>
          </a:prstGeom>
          <a:solidFill>
            <a:schemeClr val="accent2"/>
          </a:solidFill>
          <a:ln/>
        </p:spPr>
      </p:sp>
      <p:sp>
        <p:nvSpPr>
          <p:cNvPr id="17" name="s1-chip-text-13"/>
          <p:cNvSpPr txBox="1"/>
          <p:nvPr/>
        </p:nvSpPr>
        <p:spPr>
          <a:xfrm>
            <a:off x="9063761" y="5193792"/>
            <a:ext cx="2762174" cy="1005840"/>
          </a:xfrm>
          <a:prstGeom prst="rect">
            <a:avLst/>
          </a:prstGeom>
          <a:noFill/>
          <a:ln/>
        </p:spPr>
        <p:txBody>
          <a:bodyPr wrap="square" lIns="50800" tIns="50800" rIns="50800" bIns="50800" rtlCol="0" anchor="ctr"/>
          <a:lstStyle/>
          <a:p>
            <a:pPr algn="ctr" indent="0" marL="0">
              <a:buNone/>
            </a:pPr>
            <a:r>
              <a:rPr lang="en-US" sz="1200" dirty="0">
                <a:solidFill>
                  <a:schemeClr val="tx1"/>
                </a:solidFill>
              </a:rPr>
              <a:t>Case</a:t>
            </a:r>
            <a:endParaRPr lang="en-US" sz="1200" dirty="0"/>
          </a:p>
          <a:p>
            <a:pPr algn="ctr" indent="0" marL="0">
              <a:buNone/>
            </a:pPr>
            <a:r>
              <a:rPr lang="en-US" sz="1200" b="1" dirty="0">
                <a:solidFill>
                  <a:schemeClr val="tx2"/>
                </a:solidFill>
              </a:rPr>
              <a:t>Manipulating the price of TSR shares</a:t>
            </a:r>
            <a:endParaRPr lang="en-US" sz="12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Roadmap: How We Answer the Case</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Method: “A guide to answer a legal question (2026)” · Securities and Exchange Act B.E. 2535</a:t>
            </a:r>
            <a:endParaRPr lang="en-US" sz="1050" dirty="0"/>
          </a:p>
        </p:txBody>
      </p:sp>
      <p:sp>
        <p:nvSpPr>
          <p:cNvPr id="5" name="s2-subbar-1"/>
          <p:cNvSpPr/>
          <p:nvPr/>
        </p:nvSpPr>
        <p:spPr>
          <a:xfrm>
            <a:off x="365760" y="1353312"/>
            <a:ext cx="914400" cy="347472"/>
          </a:xfrm>
          <a:prstGeom prst="rect">
            <a:avLst/>
          </a:prstGeom>
          <a:solidFill>
            <a:schemeClr val="tx2"/>
          </a:solidFill>
          <a:ln/>
        </p:spPr>
      </p:sp>
      <p:sp>
        <p:nvSpPr>
          <p:cNvPr id="6" name="s2-subbar-text-2"/>
          <p:cNvSpPr txBox="1"/>
          <p:nvPr/>
        </p:nvSpPr>
        <p:spPr>
          <a:xfrm>
            <a:off x="365760" y="1353312"/>
            <a:ext cx="914400" cy="347472"/>
          </a:xfrm>
          <a:prstGeom prst="rect">
            <a:avLst/>
          </a:prstGeom>
          <a:noFill/>
          <a:ln/>
        </p:spPr>
        <p:txBody>
          <a:bodyPr wrap="square" lIns="0" tIns="0" rIns="0" bIns="0" rtlCol="0" anchor="ctr"/>
          <a:lstStyle/>
          <a:p>
            <a:pPr algn="ctr" indent="0" marL="0">
              <a:buNone/>
            </a:pPr>
            <a:r>
              <a:rPr lang="en-US" sz="1400" b="1" dirty="0">
                <a:solidFill>
                  <a:schemeClr val="bg1"/>
                </a:solidFill>
              </a:rPr>
              <a:t>Part</a:t>
            </a:r>
            <a:endParaRPr lang="en-US" sz="1400" dirty="0"/>
          </a:p>
        </p:txBody>
      </p:sp>
      <p:sp>
        <p:nvSpPr>
          <p:cNvPr id="7" name="s2-subbar-3"/>
          <p:cNvSpPr/>
          <p:nvPr/>
        </p:nvSpPr>
        <p:spPr>
          <a:xfrm>
            <a:off x="1417320" y="1353312"/>
            <a:ext cx="2011680" cy="347472"/>
          </a:xfrm>
          <a:prstGeom prst="rect">
            <a:avLst/>
          </a:prstGeom>
          <a:solidFill>
            <a:schemeClr val="tx2"/>
          </a:solidFill>
          <a:ln/>
        </p:spPr>
      </p:sp>
      <p:sp>
        <p:nvSpPr>
          <p:cNvPr id="8" name="s2-subbar-text-4"/>
          <p:cNvSpPr txBox="1"/>
          <p:nvPr/>
        </p:nvSpPr>
        <p:spPr>
          <a:xfrm>
            <a:off x="1417320" y="1353312"/>
            <a:ext cx="2011680" cy="347472"/>
          </a:xfrm>
          <a:prstGeom prst="rect">
            <a:avLst/>
          </a:prstGeom>
          <a:noFill/>
          <a:ln/>
        </p:spPr>
        <p:txBody>
          <a:bodyPr wrap="square" lIns="0" tIns="0" rIns="0" bIns="0" rtlCol="0" anchor="ctr"/>
          <a:lstStyle/>
          <a:p>
            <a:pPr algn="ctr" indent="0" marL="0">
              <a:buNone/>
            </a:pPr>
            <a:r>
              <a:rPr lang="en-US" sz="1400" b="1" dirty="0">
                <a:solidFill>
                  <a:schemeClr val="bg1"/>
                </a:solidFill>
              </a:rPr>
              <a:t>Topic</a:t>
            </a:r>
            <a:endParaRPr lang="en-US" sz="1400" dirty="0"/>
          </a:p>
        </p:txBody>
      </p:sp>
      <p:sp>
        <p:nvSpPr>
          <p:cNvPr id="9" name="s2-subbar-5"/>
          <p:cNvSpPr/>
          <p:nvPr/>
        </p:nvSpPr>
        <p:spPr>
          <a:xfrm>
            <a:off x="3566160" y="1353312"/>
            <a:ext cx="4937760" cy="347472"/>
          </a:xfrm>
          <a:prstGeom prst="rect">
            <a:avLst/>
          </a:prstGeom>
          <a:solidFill>
            <a:schemeClr val="tx2"/>
          </a:solidFill>
          <a:ln/>
        </p:spPr>
      </p:sp>
      <p:sp>
        <p:nvSpPr>
          <p:cNvPr id="10" name="s2-subbar-text-6"/>
          <p:cNvSpPr txBox="1"/>
          <p:nvPr/>
        </p:nvSpPr>
        <p:spPr>
          <a:xfrm>
            <a:off x="3566160" y="1353312"/>
            <a:ext cx="4937760" cy="347472"/>
          </a:xfrm>
          <a:prstGeom prst="rect">
            <a:avLst/>
          </a:prstGeom>
          <a:noFill/>
          <a:ln/>
        </p:spPr>
        <p:txBody>
          <a:bodyPr wrap="square" lIns="0" tIns="0" rIns="0" bIns="0" rtlCol="0" anchor="ctr"/>
          <a:lstStyle/>
          <a:p>
            <a:pPr algn="ctr" indent="0" marL="0">
              <a:buNone/>
            </a:pPr>
            <a:r>
              <a:rPr lang="en-US" sz="1400" b="1" dirty="0">
                <a:solidFill>
                  <a:schemeClr val="bg1"/>
                </a:solidFill>
              </a:rPr>
              <a:t>What we cover</a:t>
            </a:r>
            <a:endParaRPr lang="en-US" sz="1400" dirty="0"/>
          </a:p>
        </p:txBody>
      </p:sp>
      <p:sp>
        <p:nvSpPr>
          <p:cNvPr id="11" name="s2-subbar-7"/>
          <p:cNvSpPr/>
          <p:nvPr/>
        </p:nvSpPr>
        <p:spPr>
          <a:xfrm>
            <a:off x="8641080" y="1353312"/>
            <a:ext cx="3184855" cy="347472"/>
          </a:xfrm>
          <a:prstGeom prst="rect">
            <a:avLst/>
          </a:prstGeom>
          <a:solidFill>
            <a:schemeClr val="tx2"/>
          </a:solidFill>
          <a:ln/>
        </p:spPr>
      </p:sp>
      <p:sp>
        <p:nvSpPr>
          <p:cNvPr id="12" name="s2-subbar-text-8"/>
          <p:cNvSpPr txBox="1"/>
          <p:nvPr/>
        </p:nvSpPr>
        <p:spPr>
          <a:xfrm>
            <a:off x="8641080" y="1353312"/>
            <a:ext cx="3184855" cy="347472"/>
          </a:xfrm>
          <a:prstGeom prst="rect">
            <a:avLst/>
          </a:prstGeom>
          <a:noFill/>
          <a:ln/>
        </p:spPr>
        <p:txBody>
          <a:bodyPr wrap="square" lIns="0" tIns="0" rIns="0" bIns="0" rtlCol="0" anchor="ctr"/>
          <a:lstStyle/>
          <a:p>
            <a:pPr algn="ctr" indent="0" marL="0">
              <a:buNone/>
            </a:pPr>
            <a:r>
              <a:rPr lang="en-US" sz="1400" b="1" dirty="0">
                <a:solidFill>
                  <a:schemeClr val="bg1"/>
                </a:solidFill>
              </a:rPr>
              <a:t>Key sections / method</a:t>
            </a:r>
            <a:endParaRPr lang="en-US" sz="1400" dirty="0"/>
          </a:p>
        </p:txBody>
      </p:sp>
      <p:sp>
        <p:nvSpPr>
          <p:cNvPr id="13" name="s2-box-9"/>
          <p:cNvSpPr/>
          <p:nvPr/>
        </p:nvSpPr>
        <p:spPr>
          <a:xfrm>
            <a:off x="365760" y="1792224"/>
            <a:ext cx="914400" cy="699516"/>
          </a:xfrm>
          <a:prstGeom prst="rect">
            <a:avLst/>
          </a:prstGeom>
          <a:solidFill>
            <a:schemeClr val="accent2"/>
          </a:solidFill>
          <a:ln/>
        </p:spPr>
      </p:sp>
      <p:sp>
        <p:nvSpPr>
          <p:cNvPr id="14" name="s2-text-10"/>
          <p:cNvSpPr txBox="1"/>
          <p:nvPr/>
        </p:nvSpPr>
        <p:spPr>
          <a:xfrm>
            <a:off x="365760" y="1792224"/>
            <a:ext cx="914400" cy="699516"/>
          </a:xfrm>
          <a:prstGeom prst="rect">
            <a:avLst/>
          </a:prstGeom>
          <a:noFill/>
          <a:ln/>
        </p:spPr>
        <p:txBody>
          <a:bodyPr wrap="square" lIns="0" tIns="0" rIns="0" bIns="0" rtlCol="0" anchor="ctr"/>
          <a:lstStyle/>
          <a:p>
            <a:pPr algn="ctr" indent="0" marL="0">
              <a:buNone/>
            </a:pPr>
            <a:r>
              <a:rPr lang="en-US" sz="1600" b="1" dirty="0">
                <a:solidFill>
                  <a:schemeClr val="tx2"/>
                </a:solidFill>
              </a:rPr>
              <a:t>01</a:t>
            </a:r>
            <a:endParaRPr lang="en-US" sz="1600" dirty="0"/>
          </a:p>
        </p:txBody>
      </p:sp>
      <p:sp>
        <p:nvSpPr>
          <p:cNvPr id="15" name="s2-box-11"/>
          <p:cNvSpPr/>
          <p:nvPr/>
        </p:nvSpPr>
        <p:spPr>
          <a:xfrm>
            <a:off x="1417320" y="1792224"/>
            <a:ext cx="2011680" cy="699516"/>
          </a:xfrm>
          <a:prstGeom prst="rect">
            <a:avLst/>
          </a:prstGeom>
          <a:solidFill>
            <a:schemeClr val="bg2"/>
          </a:solidFill>
          <a:ln/>
        </p:spPr>
      </p:sp>
      <p:sp>
        <p:nvSpPr>
          <p:cNvPr id="16" name="s2-text-12"/>
          <p:cNvSpPr txBox="1"/>
          <p:nvPr/>
        </p:nvSpPr>
        <p:spPr>
          <a:xfrm>
            <a:off x="1600200" y="1792224"/>
            <a:ext cx="1737360" cy="699516"/>
          </a:xfrm>
          <a:prstGeom prst="rect">
            <a:avLst/>
          </a:prstGeom>
          <a:noFill/>
          <a:ln/>
        </p:spPr>
        <p:txBody>
          <a:bodyPr wrap="square" lIns="0" tIns="0" rIns="0" bIns="0" rtlCol="0" anchor="ctr"/>
          <a:lstStyle/>
          <a:p>
            <a:pPr indent="0" marL="0">
              <a:buNone/>
            </a:pPr>
            <a:r>
              <a:rPr lang="en-US" sz="1400" b="1" dirty="0">
                <a:solidFill>
                  <a:schemeClr val="tx2"/>
                </a:solidFill>
              </a:rPr>
              <a:t>News</a:t>
            </a:r>
            <a:endParaRPr lang="en-US" sz="1400" dirty="0"/>
          </a:p>
        </p:txBody>
      </p:sp>
      <p:sp>
        <p:nvSpPr>
          <p:cNvPr id="17" name="s2-box-13"/>
          <p:cNvSpPr/>
          <p:nvPr/>
        </p:nvSpPr>
        <p:spPr>
          <a:xfrm>
            <a:off x="3566160" y="1792224"/>
            <a:ext cx="4937760" cy="699516"/>
          </a:xfrm>
          <a:prstGeom prst="rect">
            <a:avLst/>
          </a:prstGeom>
          <a:solidFill>
            <a:schemeClr val="bg2"/>
          </a:solidFill>
          <a:ln/>
        </p:spPr>
      </p:sp>
      <p:sp>
        <p:nvSpPr>
          <p:cNvPr id="18" name="s2-text-14"/>
          <p:cNvSpPr txBox="1"/>
          <p:nvPr/>
        </p:nvSpPr>
        <p:spPr>
          <a:xfrm>
            <a:off x="3749040" y="1792224"/>
            <a:ext cx="4572000" cy="699516"/>
          </a:xfrm>
          <a:prstGeom prst="rect">
            <a:avLst/>
          </a:prstGeom>
          <a:noFill/>
          <a:ln/>
        </p:spPr>
        <p:txBody>
          <a:bodyPr wrap="square" lIns="0" tIns="0" rIns="0" bIns="0" rtlCol="0" anchor="ctr"/>
          <a:lstStyle/>
          <a:p>
            <a:pPr indent="0" marL="0">
              <a:buNone/>
            </a:pPr>
            <a:r>
              <a:rPr lang="en-US" sz="1200" dirty="0">
                <a:solidFill>
                  <a:schemeClr val="tx1"/>
                </a:solidFill>
              </a:rPr>
              <a:t>The news URLs, what happened, the timeline and the stakeholders</a:t>
            </a:r>
            <a:endParaRPr lang="en-US" sz="1200" dirty="0"/>
          </a:p>
        </p:txBody>
      </p:sp>
      <p:sp>
        <p:nvSpPr>
          <p:cNvPr id="19" name="s2-box-15"/>
          <p:cNvSpPr/>
          <p:nvPr/>
        </p:nvSpPr>
        <p:spPr>
          <a:xfrm>
            <a:off x="8641080" y="1792224"/>
            <a:ext cx="3184855" cy="699516"/>
          </a:xfrm>
          <a:prstGeom prst="rect">
            <a:avLst/>
          </a:prstGeom>
          <a:solidFill>
            <a:schemeClr val="bg2"/>
          </a:solidFill>
          <a:ln/>
        </p:spPr>
      </p:sp>
      <p:sp>
        <p:nvSpPr>
          <p:cNvPr id="20" name="s2-text-16"/>
          <p:cNvSpPr txBox="1"/>
          <p:nvPr/>
        </p:nvSpPr>
        <p:spPr>
          <a:xfrm>
            <a:off x="8823960" y="1792224"/>
            <a:ext cx="2819095" cy="699516"/>
          </a:xfrm>
          <a:prstGeom prst="rect">
            <a:avLst/>
          </a:prstGeom>
          <a:noFill/>
          <a:ln/>
        </p:spPr>
        <p:txBody>
          <a:bodyPr wrap="square" lIns="0" tIns="0" rIns="0" bIns="0" rtlCol="0" anchor="ctr"/>
          <a:lstStyle/>
          <a:p>
            <a:pPr indent="0" marL="0">
              <a:buNone/>
            </a:pPr>
            <a:r>
              <a:rPr lang="en-US" sz="1200" dirty="0">
                <a:solidFill>
                  <a:schemeClr val="tx2"/>
                </a:solidFill>
              </a:rPr>
              <a:t>All sources dated 2026</a:t>
            </a:r>
            <a:endParaRPr lang="en-US" sz="1200" dirty="0"/>
          </a:p>
        </p:txBody>
      </p:sp>
      <p:sp>
        <p:nvSpPr>
          <p:cNvPr id="21" name="s2-box-17"/>
          <p:cNvSpPr/>
          <p:nvPr/>
        </p:nvSpPr>
        <p:spPr>
          <a:xfrm>
            <a:off x="365760" y="2564892"/>
            <a:ext cx="914400" cy="699516"/>
          </a:xfrm>
          <a:prstGeom prst="rect">
            <a:avLst/>
          </a:prstGeom>
          <a:solidFill>
            <a:schemeClr val="accent2"/>
          </a:solidFill>
          <a:ln/>
        </p:spPr>
      </p:sp>
      <p:sp>
        <p:nvSpPr>
          <p:cNvPr id="22" name="s2-text-18"/>
          <p:cNvSpPr txBox="1"/>
          <p:nvPr/>
        </p:nvSpPr>
        <p:spPr>
          <a:xfrm>
            <a:off x="365760" y="2564892"/>
            <a:ext cx="914400" cy="699516"/>
          </a:xfrm>
          <a:prstGeom prst="rect">
            <a:avLst/>
          </a:prstGeom>
          <a:noFill/>
          <a:ln/>
        </p:spPr>
        <p:txBody>
          <a:bodyPr wrap="square" lIns="0" tIns="0" rIns="0" bIns="0" rtlCol="0" anchor="ctr"/>
          <a:lstStyle/>
          <a:p>
            <a:pPr algn="ctr" indent="0" marL="0">
              <a:buNone/>
            </a:pPr>
            <a:r>
              <a:rPr lang="en-US" sz="1600" b="1" dirty="0">
                <a:solidFill>
                  <a:schemeClr val="tx2"/>
                </a:solidFill>
              </a:rPr>
              <a:t>02</a:t>
            </a:r>
            <a:endParaRPr lang="en-US" sz="1600" dirty="0"/>
          </a:p>
        </p:txBody>
      </p:sp>
      <p:sp>
        <p:nvSpPr>
          <p:cNvPr id="23" name="s2-box-19"/>
          <p:cNvSpPr/>
          <p:nvPr/>
        </p:nvSpPr>
        <p:spPr>
          <a:xfrm>
            <a:off x="1417320" y="2564892"/>
            <a:ext cx="2011680" cy="699516"/>
          </a:xfrm>
          <a:prstGeom prst="rect">
            <a:avLst/>
          </a:prstGeom>
          <a:solidFill>
            <a:schemeClr val="bg2"/>
          </a:solidFill>
          <a:ln/>
        </p:spPr>
      </p:sp>
      <p:sp>
        <p:nvSpPr>
          <p:cNvPr id="24" name="s2-text-20"/>
          <p:cNvSpPr txBox="1"/>
          <p:nvPr/>
        </p:nvSpPr>
        <p:spPr>
          <a:xfrm>
            <a:off x="1600200" y="2564892"/>
            <a:ext cx="1737360" cy="699516"/>
          </a:xfrm>
          <a:prstGeom prst="rect">
            <a:avLst/>
          </a:prstGeom>
          <a:noFill/>
          <a:ln/>
        </p:spPr>
        <p:txBody>
          <a:bodyPr wrap="square" lIns="0" tIns="0" rIns="0" bIns="0" rtlCol="0" anchor="ctr"/>
          <a:lstStyle/>
          <a:p>
            <a:pPr indent="0" marL="0">
              <a:buNone/>
            </a:pPr>
            <a:r>
              <a:rPr lang="en-US" sz="1400" b="1" dirty="0">
                <a:solidFill>
                  <a:schemeClr val="tx2"/>
                </a:solidFill>
              </a:rPr>
              <a:t>Facts</a:t>
            </a:r>
            <a:endParaRPr lang="en-US" sz="1400" dirty="0"/>
          </a:p>
        </p:txBody>
      </p:sp>
      <p:sp>
        <p:nvSpPr>
          <p:cNvPr id="25" name="s2-box-21"/>
          <p:cNvSpPr/>
          <p:nvPr/>
        </p:nvSpPr>
        <p:spPr>
          <a:xfrm>
            <a:off x="3566160" y="2564892"/>
            <a:ext cx="4937760" cy="699516"/>
          </a:xfrm>
          <a:prstGeom prst="rect">
            <a:avLst/>
          </a:prstGeom>
          <a:solidFill>
            <a:schemeClr val="bg2"/>
          </a:solidFill>
          <a:ln/>
        </p:spPr>
      </p:sp>
      <p:sp>
        <p:nvSpPr>
          <p:cNvPr id="26" name="s2-text-22"/>
          <p:cNvSpPr txBox="1"/>
          <p:nvPr/>
        </p:nvSpPr>
        <p:spPr>
          <a:xfrm>
            <a:off x="3749040" y="2564892"/>
            <a:ext cx="4572000" cy="699516"/>
          </a:xfrm>
          <a:prstGeom prst="rect">
            <a:avLst/>
          </a:prstGeom>
          <a:noFill/>
          <a:ln/>
        </p:spPr>
        <p:txBody>
          <a:bodyPr wrap="square" lIns="0" tIns="0" rIns="0" bIns="0" rtlCol="0" anchor="ctr"/>
          <a:lstStyle/>
          <a:p>
            <a:pPr indent="0" marL="0">
              <a:buNone/>
            </a:pPr>
            <a:r>
              <a:rPr lang="en-US" sz="1200" dirty="0">
                <a:solidFill>
                  <a:schemeClr val="tx1"/>
                </a:solidFill>
              </a:rPr>
              <a:t>All facts (F1–F10), then every bullet point of the law mapped as ✓ or ✗</a:t>
            </a:r>
            <a:endParaRPr lang="en-US" sz="1200" dirty="0"/>
          </a:p>
        </p:txBody>
      </p:sp>
      <p:sp>
        <p:nvSpPr>
          <p:cNvPr id="27" name="s2-box-23"/>
          <p:cNvSpPr/>
          <p:nvPr/>
        </p:nvSpPr>
        <p:spPr>
          <a:xfrm>
            <a:off x="8641080" y="2564892"/>
            <a:ext cx="3184855" cy="699516"/>
          </a:xfrm>
          <a:prstGeom prst="rect">
            <a:avLst/>
          </a:prstGeom>
          <a:solidFill>
            <a:schemeClr val="bg2"/>
          </a:solidFill>
          <a:ln/>
        </p:spPr>
      </p:sp>
      <p:sp>
        <p:nvSpPr>
          <p:cNvPr id="28" name="s2-text-24"/>
          <p:cNvSpPr txBox="1"/>
          <p:nvPr/>
        </p:nvSpPr>
        <p:spPr>
          <a:xfrm>
            <a:off x="8823960" y="2564892"/>
            <a:ext cx="2819095" cy="699516"/>
          </a:xfrm>
          <a:prstGeom prst="rect">
            <a:avLst/>
          </a:prstGeom>
          <a:noFill/>
          <a:ln/>
        </p:spPr>
        <p:txBody>
          <a:bodyPr wrap="square" lIns="0" tIns="0" rIns="0" bIns="0" rtlCol="0" anchor="ctr"/>
          <a:lstStyle/>
          <a:p>
            <a:pPr indent="0" marL="0">
              <a:buNone/>
            </a:pPr>
            <a:r>
              <a:rPr lang="en-US" sz="1200" dirty="0">
                <a:solidFill>
                  <a:schemeClr val="tx2"/>
                </a:solidFill>
              </a:rPr>
              <a:t>ss.238–244/7 checklist</a:t>
            </a:r>
            <a:endParaRPr lang="en-US" sz="1200" dirty="0"/>
          </a:p>
        </p:txBody>
      </p:sp>
      <p:sp>
        <p:nvSpPr>
          <p:cNvPr id="29" name="s2-box-25"/>
          <p:cNvSpPr/>
          <p:nvPr/>
        </p:nvSpPr>
        <p:spPr>
          <a:xfrm>
            <a:off x="365760" y="3337560"/>
            <a:ext cx="914400" cy="699516"/>
          </a:xfrm>
          <a:prstGeom prst="rect">
            <a:avLst/>
          </a:prstGeom>
          <a:solidFill>
            <a:schemeClr val="accent2"/>
          </a:solidFill>
          <a:ln/>
        </p:spPr>
      </p:sp>
      <p:sp>
        <p:nvSpPr>
          <p:cNvPr id="30" name="s2-text-26"/>
          <p:cNvSpPr txBox="1"/>
          <p:nvPr/>
        </p:nvSpPr>
        <p:spPr>
          <a:xfrm>
            <a:off x="365760" y="3337560"/>
            <a:ext cx="914400" cy="699516"/>
          </a:xfrm>
          <a:prstGeom prst="rect">
            <a:avLst/>
          </a:prstGeom>
          <a:noFill/>
          <a:ln/>
        </p:spPr>
        <p:txBody>
          <a:bodyPr wrap="square" lIns="0" tIns="0" rIns="0" bIns="0" rtlCol="0" anchor="ctr"/>
          <a:lstStyle/>
          <a:p>
            <a:pPr algn="ctr" indent="0" marL="0">
              <a:buNone/>
            </a:pPr>
            <a:r>
              <a:rPr lang="en-US" sz="1600" b="1" dirty="0">
                <a:solidFill>
                  <a:schemeClr val="tx2"/>
                </a:solidFill>
              </a:rPr>
              <a:t>03</a:t>
            </a:r>
            <a:endParaRPr lang="en-US" sz="1600" dirty="0"/>
          </a:p>
        </p:txBody>
      </p:sp>
      <p:sp>
        <p:nvSpPr>
          <p:cNvPr id="31" name="s2-box-27"/>
          <p:cNvSpPr/>
          <p:nvPr/>
        </p:nvSpPr>
        <p:spPr>
          <a:xfrm>
            <a:off x="1417320" y="3337560"/>
            <a:ext cx="2011680" cy="699516"/>
          </a:xfrm>
          <a:prstGeom prst="rect">
            <a:avLst/>
          </a:prstGeom>
          <a:solidFill>
            <a:schemeClr val="bg2"/>
          </a:solidFill>
          <a:ln/>
        </p:spPr>
      </p:sp>
      <p:sp>
        <p:nvSpPr>
          <p:cNvPr id="32" name="s2-text-28"/>
          <p:cNvSpPr txBox="1"/>
          <p:nvPr/>
        </p:nvSpPr>
        <p:spPr>
          <a:xfrm>
            <a:off x="1600200" y="3337560"/>
            <a:ext cx="1737360" cy="699516"/>
          </a:xfrm>
          <a:prstGeom prst="rect">
            <a:avLst/>
          </a:prstGeom>
          <a:noFill/>
          <a:ln/>
        </p:spPr>
        <p:txBody>
          <a:bodyPr wrap="square" lIns="0" tIns="0" rIns="0" bIns="0" rtlCol="0" anchor="ctr"/>
          <a:lstStyle/>
          <a:p>
            <a:pPr indent="0" marL="0">
              <a:buNone/>
            </a:pPr>
            <a:r>
              <a:rPr lang="en-US" sz="1400" b="1" dirty="0">
                <a:solidFill>
                  <a:schemeClr val="tx2"/>
                </a:solidFill>
              </a:rPr>
              <a:t>Question</a:t>
            </a:r>
            <a:endParaRPr lang="en-US" sz="1400" dirty="0"/>
          </a:p>
        </p:txBody>
      </p:sp>
      <p:sp>
        <p:nvSpPr>
          <p:cNvPr id="33" name="s2-box-29"/>
          <p:cNvSpPr/>
          <p:nvPr/>
        </p:nvSpPr>
        <p:spPr>
          <a:xfrm>
            <a:off x="3566160" y="3337560"/>
            <a:ext cx="4937760" cy="699516"/>
          </a:xfrm>
          <a:prstGeom prst="rect">
            <a:avLst/>
          </a:prstGeom>
          <a:solidFill>
            <a:schemeClr val="bg2"/>
          </a:solidFill>
          <a:ln/>
        </p:spPr>
      </p:sp>
      <p:sp>
        <p:nvSpPr>
          <p:cNvPr id="34" name="s2-text-30"/>
          <p:cNvSpPr txBox="1"/>
          <p:nvPr/>
        </p:nvSpPr>
        <p:spPr>
          <a:xfrm>
            <a:off x="3749040" y="3337560"/>
            <a:ext cx="4572000" cy="699516"/>
          </a:xfrm>
          <a:prstGeom prst="rect">
            <a:avLst/>
          </a:prstGeom>
          <a:noFill/>
          <a:ln/>
        </p:spPr>
        <p:txBody>
          <a:bodyPr wrap="square" lIns="0" tIns="0" rIns="0" bIns="0" rtlCol="0" anchor="ctr"/>
          <a:lstStyle/>
          <a:p>
            <a:pPr indent="0" marL="0">
              <a:buNone/>
            </a:pPr>
            <a:r>
              <a:rPr lang="en-US" sz="1200" dirty="0">
                <a:solidFill>
                  <a:schemeClr val="tx1"/>
                </a:solidFill>
              </a:rPr>
              <a:t>The one legal question this presentation answers</a:t>
            </a:r>
            <a:endParaRPr lang="en-US" sz="1200" dirty="0"/>
          </a:p>
        </p:txBody>
      </p:sp>
      <p:sp>
        <p:nvSpPr>
          <p:cNvPr id="35" name="s2-box-31"/>
          <p:cNvSpPr/>
          <p:nvPr/>
        </p:nvSpPr>
        <p:spPr>
          <a:xfrm>
            <a:off x="8641080" y="3337560"/>
            <a:ext cx="3184855" cy="699516"/>
          </a:xfrm>
          <a:prstGeom prst="rect">
            <a:avLst/>
          </a:prstGeom>
          <a:solidFill>
            <a:schemeClr val="bg2"/>
          </a:solidFill>
          <a:ln/>
        </p:spPr>
      </p:sp>
      <p:sp>
        <p:nvSpPr>
          <p:cNvPr id="36" name="s2-text-32"/>
          <p:cNvSpPr txBox="1"/>
          <p:nvPr/>
        </p:nvSpPr>
        <p:spPr>
          <a:xfrm>
            <a:off x="8823960" y="3337560"/>
            <a:ext cx="2819095" cy="699516"/>
          </a:xfrm>
          <a:prstGeom prst="rect">
            <a:avLst/>
          </a:prstGeom>
          <a:noFill/>
          <a:ln/>
        </p:spPr>
        <p:txBody>
          <a:bodyPr wrap="square" lIns="0" tIns="0" rIns="0" bIns="0" rtlCol="0" anchor="ctr"/>
          <a:lstStyle/>
          <a:p>
            <a:pPr indent="0" marL="0">
              <a:buNone/>
            </a:pPr>
            <a:r>
              <a:rPr lang="en-US" sz="1200" dirty="0">
                <a:solidFill>
                  <a:schemeClr val="tx2"/>
                </a:solidFill>
              </a:rPr>
              <a:t>Facts → Question (guide)</a:t>
            </a:r>
            <a:endParaRPr lang="en-US" sz="1200" dirty="0"/>
          </a:p>
        </p:txBody>
      </p:sp>
      <p:sp>
        <p:nvSpPr>
          <p:cNvPr id="37" name="s2-box-33"/>
          <p:cNvSpPr/>
          <p:nvPr/>
        </p:nvSpPr>
        <p:spPr>
          <a:xfrm>
            <a:off x="365760" y="4110228"/>
            <a:ext cx="914400" cy="699516"/>
          </a:xfrm>
          <a:prstGeom prst="rect">
            <a:avLst/>
          </a:prstGeom>
          <a:solidFill>
            <a:schemeClr val="accent2"/>
          </a:solidFill>
          <a:ln/>
        </p:spPr>
      </p:sp>
      <p:sp>
        <p:nvSpPr>
          <p:cNvPr id="38" name="s2-text-34"/>
          <p:cNvSpPr txBox="1"/>
          <p:nvPr/>
        </p:nvSpPr>
        <p:spPr>
          <a:xfrm>
            <a:off x="365760" y="4110228"/>
            <a:ext cx="914400" cy="699516"/>
          </a:xfrm>
          <a:prstGeom prst="rect">
            <a:avLst/>
          </a:prstGeom>
          <a:noFill/>
          <a:ln/>
        </p:spPr>
        <p:txBody>
          <a:bodyPr wrap="square" lIns="0" tIns="0" rIns="0" bIns="0" rtlCol="0" anchor="ctr"/>
          <a:lstStyle/>
          <a:p>
            <a:pPr algn="ctr" indent="0" marL="0">
              <a:buNone/>
            </a:pPr>
            <a:r>
              <a:rPr lang="en-US" sz="1600" b="1" dirty="0">
                <a:solidFill>
                  <a:schemeClr val="tx2"/>
                </a:solidFill>
              </a:rPr>
              <a:t>04</a:t>
            </a:r>
            <a:endParaRPr lang="en-US" sz="1600" dirty="0"/>
          </a:p>
        </p:txBody>
      </p:sp>
      <p:sp>
        <p:nvSpPr>
          <p:cNvPr id="39" name="s2-box-35"/>
          <p:cNvSpPr/>
          <p:nvPr/>
        </p:nvSpPr>
        <p:spPr>
          <a:xfrm>
            <a:off x="1417320" y="4110228"/>
            <a:ext cx="2011680" cy="699516"/>
          </a:xfrm>
          <a:prstGeom prst="rect">
            <a:avLst/>
          </a:prstGeom>
          <a:solidFill>
            <a:schemeClr val="bg2"/>
          </a:solidFill>
          <a:ln/>
        </p:spPr>
      </p:sp>
      <p:sp>
        <p:nvSpPr>
          <p:cNvPr id="40" name="s2-text-36"/>
          <p:cNvSpPr txBox="1"/>
          <p:nvPr/>
        </p:nvSpPr>
        <p:spPr>
          <a:xfrm>
            <a:off x="1600200" y="4110228"/>
            <a:ext cx="1737360" cy="699516"/>
          </a:xfrm>
          <a:prstGeom prst="rect">
            <a:avLst/>
          </a:prstGeom>
          <a:noFill/>
          <a:ln/>
        </p:spPr>
        <p:txBody>
          <a:bodyPr wrap="square" lIns="0" tIns="0" rIns="0" bIns="0" rtlCol="0" anchor="ctr"/>
          <a:lstStyle/>
          <a:p>
            <a:pPr indent="0" marL="0">
              <a:buNone/>
            </a:pPr>
            <a:r>
              <a:rPr lang="en-US" sz="1400" b="1" dirty="0">
                <a:solidFill>
                  <a:schemeClr val="tx2"/>
                </a:solidFill>
              </a:rPr>
              <a:t>Law</a:t>
            </a:r>
            <a:endParaRPr lang="en-US" sz="1400" dirty="0"/>
          </a:p>
        </p:txBody>
      </p:sp>
      <p:sp>
        <p:nvSpPr>
          <p:cNvPr id="41" name="s2-box-37"/>
          <p:cNvSpPr/>
          <p:nvPr/>
        </p:nvSpPr>
        <p:spPr>
          <a:xfrm>
            <a:off x="3566160" y="4110228"/>
            <a:ext cx="4937760" cy="699516"/>
          </a:xfrm>
          <a:prstGeom prst="rect">
            <a:avLst/>
          </a:prstGeom>
          <a:solidFill>
            <a:schemeClr val="bg2"/>
          </a:solidFill>
          <a:ln/>
        </p:spPr>
      </p:sp>
      <p:sp>
        <p:nvSpPr>
          <p:cNvPr id="42" name="s2-text-38"/>
          <p:cNvSpPr txBox="1"/>
          <p:nvPr/>
        </p:nvSpPr>
        <p:spPr>
          <a:xfrm>
            <a:off x="3749040" y="4110228"/>
            <a:ext cx="4572000" cy="699516"/>
          </a:xfrm>
          <a:prstGeom prst="rect">
            <a:avLst/>
          </a:prstGeom>
          <a:noFill/>
          <a:ln/>
        </p:spPr>
        <p:txBody>
          <a:bodyPr wrap="square" lIns="0" tIns="0" rIns="0" bIns="0" rtlCol="0" anchor="ctr"/>
          <a:lstStyle/>
          <a:p>
            <a:pPr indent="0" marL="0">
              <a:buNone/>
            </a:pPr>
            <a:r>
              <a:rPr lang="en-US" sz="1200" dirty="0">
                <a:solidFill>
                  <a:schemeClr val="tx1"/>
                </a:solidFill>
              </a:rPr>
              <a:t>Which law we use, why, and which sections were violated</a:t>
            </a:r>
            <a:endParaRPr lang="en-US" sz="1200" dirty="0"/>
          </a:p>
        </p:txBody>
      </p:sp>
      <p:sp>
        <p:nvSpPr>
          <p:cNvPr id="43" name="s2-box-39"/>
          <p:cNvSpPr/>
          <p:nvPr/>
        </p:nvSpPr>
        <p:spPr>
          <a:xfrm>
            <a:off x="8641080" y="4110228"/>
            <a:ext cx="3184855" cy="699516"/>
          </a:xfrm>
          <a:prstGeom prst="rect">
            <a:avLst/>
          </a:prstGeom>
          <a:solidFill>
            <a:schemeClr val="bg2"/>
          </a:solidFill>
          <a:ln/>
        </p:spPr>
      </p:sp>
      <p:sp>
        <p:nvSpPr>
          <p:cNvPr id="44" name="s2-text-40"/>
          <p:cNvSpPr txBox="1"/>
          <p:nvPr/>
        </p:nvSpPr>
        <p:spPr>
          <a:xfrm>
            <a:off x="8823960" y="4110228"/>
            <a:ext cx="2819095" cy="699516"/>
          </a:xfrm>
          <a:prstGeom prst="rect">
            <a:avLst/>
          </a:prstGeom>
          <a:noFill/>
          <a:ln/>
        </p:spPr>
        <p:txBody>
          <a:bodyPr wrap="square" lIns="0" tIns="0" rIns="0" bIns="0" rtlCol="0" anchor="ctr"/>
          <a:lstStyle/>
          <a:p>
            <a:pPr indent="0" marL="0">
              <a:buNone/>
            </a:pPr>
            <a:r>
              <a:rPr lang="en-US" sz="1200" dirty="0">
                <a:solidFill>
                  <a:schemeClr val="tx2"/>
                </a:solidFill>
              </a:rPr>
              <a:t>SEC Act B.E. 2535</a:t>
            </a:r>
            <a:endParaRPr lang="en-US" sz="1200" dirty="0"/>
          </a:p>
        </p:txBody>
      </p:sp>
      <p:sp>
        <p:nvSpPr>
          <p:cNvPr id="45" name="s2-box-41"/>
          <p:cNvSpPr/>
          <p:nvPr/>
        </p:nvSpPr>
        <p:spPr>
          <a:xfrm>
            <a:off x="365760" y="4882896"/>
            <a:ext cx="914400" cy="699516"/>
          </a:xfrm>
          <a:prstGeom prst="rect">
            <a:avLst/>
          </a:prstGeom>
          <a:solidFill>
            <a:schemeClr val="accent2"/>
          </a:solidFill>
          <a:ln/>
        </p:spPr>
      </p:sp>
      <p:sp>
        <p:nvSpPr>
          <p:cNvPr id="46" name="s2-text-42"/>
          <p:cNvSpPr txBox="1"/>
          <p:nvPr/>
        </p:nvSpPr>
        <p:spPr>
          <a:xfrm>
            <a:off x="365760" y="4882896"/>
            <a:ext cx="914400" cy="699516"/>
          </a:xfrm>
          <a:prstGeom prst="rect">
            <a:avLst/>
          </a:prstGeom>
          <a:noFill/>
          <a:ln/>
        </p:spPr>
        <p:txBody>
          <a:bodyPr wrap="square" lIns="0" tIns="0" rIns="0" bIns="0" rtlCol="0" anchor="ctr"/>
          <a:lstStyle/>
          <a:p>
            <a:pPr algn="ctr" indent="0" marL="0">
              <a:buNone/>
            </a:pPr>
            <a:r>
              <a:rPr lang="en-US" sz="1600" b="1" dirty="0">
                <a:solidFill>
                  <a:schemeClr val="tx2"/>
                </a:solidFill>
              </a:rPr>
              <a:t>05</a:t>
            </a:r>
            <a:endParaRPr lang="en-US" sz="1600" dirty="0"/>
          </a:p>
        </p:txBody>
      </p:sp>
      <p:sp>
        <p:nvSpPr>
          <p:cNvPr id="47" name="s2-box-43"/>
          <p:cNvSpPr/>
          <p:nvPr/>
        </p:nvSpPr>
        <p:spPr>
          <a:xfrm>
            <a:off x="1417320" y="4882896"/>
            <a:ext cx="2011680" cy="699516"/>
          </a:xfrm>
          <a:prstGeom prst="rect">
            <a:avLst/>
          </a:prstGeom>
          <a:solidFill>
            <a:schemeClr val="bg2"/>
          </a:solidFill>
          <a:ln/>
        </p:spPr>
      </p:sp>
      <p:sp>
        <p:nvSpPr>
          <p:cNvPr id="48" name="s2-text-44"/>
          <p:cNvSpPr txBox="1"/>
          <p:nvPr/>
        </p:nvSpPr>
        <p:spPr>
          <a:xfrm>
            <a:off x="1600200" y="4882896"/>
            <a:ext cx="1737360" cy="699516"/>
          </a:xfrm>
          <a:prstGeom prst="rect">
            <a:avLst/>
          </a:prstGeom>
          <a:noFill/>
          <a:ln/>
        </p:spPr>
        <p:txBody>
          <a:bodyPr wrap="square" lIns="0" tIns="0" rIns="0" bIns="0" rtlCol="0" anchor="ctr"/>
          <a:lstStyle/>
          <a:p>
            <a:pPr indent="0" marL="0">
              <a:buNone/>
            </a:pPr>
            <a:r>
              <a:rPr lang="en-US" sz="1400" b="1" dirty="0">
                <a:solidFill>
                  <a:schemeClr val="tx2"/>
                </a:solidFill>
              </a:rPr>
              <a:t>Analysis</a:t>
            </a:r>
            <a:endParaRPr lang="en-US" sz="1400" dirty="0"/>
          </a:p>
        </p:txBody>
      </p:sp>
      <p:sp>
        <p:nvSpPr>
          <p:cNvPr id="49" name="s2-box-45"/>
          <p:cNvSpPr/>
          <p:nvPr/>
        </p:nvSpPr>
        <p:spPr>
          <a:xfrm>
            <a:off x="3566160" y="4882896"/>
            <a:ext cx="4937760" cy="699516"/>
          </a:xfrm>
          <a:prstGeom prst="rect">
            <a:avLst/>
          </a:prstGeom>
          <a:solidFill>
            <a:schemeClr val="bg2"/>
          </a:solidFill>
          <a:ln/>
        </p:spPr>
      </p:sp>
      <p:sp>
        <p:nvSpPr>
          <p:cNvPr id="50" name="s2-text-46"/>
          <p:cNvSpPr txBox="1"/>
          <p:nvPr/>
        </p:nvSpPr>
        <p:spPr>
          <a:xfrm>
            <a:off x="3749040" y="4882896"/>
            <a:ext cx="4572000" cy="699516"/>
          </a:xfrm>
          <a:prstGeom prst="rect">
            <a:avLst/>
          </a:prstGeom>
          <a:noFill/>
          <a:ln/>
        </p:spPr>
        <p:txBody>
          <a:bodyPr wrap="square" lIns="0" tIns="0" rIns="0" bIns="0" rtlCol="0" anchor="ctr"/>
          <a:lstStyle/>
          <a:p>
            <a:pPr indent="0" marL="0">
              <a:buNone/>
            </a:pPr>
            <a:r>
              <a:rPr lang="en-US" sz="1200" dirty="0">
                <a:solidFill>
                  <a:schemeClr val="tx1"/>
                </a:solidFill>
              </a:rPr>
              <a:t>Rules 1–4, each answered as Law/Rule → Analysis → Conclusion</a:t>
            </a:r>
            <a:endParaRPr lang="en-US" sz="1200" dirty="0"/>
          </a:p>
        </p:txBody>
      </p:sp>
      <p:sp>
        <p:nvSpPr>
          <p:cNvPr id="51" name="s2-box-47"/>
          <p:cNvSpPr/>
          <p:nvPr/>
        </p:nvSpPr>
        <p:spPr>
          <a:xfrm>
            <a:off x="8641080" y="4882896"/>
            <a:ext cx="3184855" cy="699516"/>
          </a:xfrm>
          <a:prstGeom prst="rect">
            <a:avLst/>
          </a:prstGeom>
          <a:solidFill>
            <a:schemeClr val="bg2"/>
          </a:solidFill>
          <a:ln/>
        </p:spPr>
      </p:sp>
      <p:sp>
        <p:nvSpPr>
          <p:cNvPr id="52" name="s2-text-48"/>
          <p:cNvSpPr txBox="1"/>
          <p:nvPr/>
        </p:nvSpPr>
        <p:spPr>
          <a:xfrm>
            <a:off x="8823960" y="4882896"/>
            <a:ext cx="2819095" cy="699516"/>
          </a:xfrm>
          <a:prstGeom prst="rect">
            <a:avLst/>
          </a:prstGeom>
          <a:noFill/>
          <a:ln/>
        </p:spPr>
        <p:txBody>
          <a:bodyPr wrap="square" lIns="0" tIns="0" rIns="0" bIns="0" rtlCol="0" anchor="ctr"/>
          <a:lstStyle/>
          <a:p>
            <a:pPr indent="0" marL="0">
              <a:buNone/>
            </a:pPr>
            <a:r>
              <a:rPr lang="en-US" sz="1200" dirty="0">
                <a:solidFill>
                  <a:schemeClr val="tx2"/>
                </a:solidFill>
              </a:rPr>
              <a:t>ss.244/3, 244/5, 296–296/2, 317/1–317/8</a:t>
            </a:r>
            <a:endParaRPr lang="en-US" sz="1200" dirty="0"/>
          </a:p>
        </p:txBody>
      </p:sp>
      <p:sp>
        <p:nvSpPr>
          <p:cNvPr id="53" name="s2-box-49"/>
          <p:cNvSpPr/>
          <p:nvPr/>
        </p:nvSpPr>
        <p:spPr>
          <a:xfrm>
            <a:off x="365760" y="5655564"/>
            <a:ext cx="914400" cy="699516"/>
          </a:xfrm>
          <a:prstGeom prst="rect">
            <a:avLst/>
          </a:prstGeom>
          <a:solidFill>
            <a:schemeClr val="accent2"/>
          </a:solidFill>
          <a:ln/>
        </p:spPr>
      </p:sp>
      <p:sp>
        <p:nvSpPr>
          <p:cNvPr id="54" name="s2-text-50"/>
          <p:cNvSpPr txBox="1"/>
          <p:nvPr/>
        </p:nvSpPr>
        <p:spPr>
          <a:xfrm>
            <a:off x="365760" y="5655564"/>
            <a:ext cx="914400" cy="699516"/>
          </a:xfrm>
          <a:prstGeom prst="rect">
            <a:avLst/>
          </a:prstGeom>
          <a:noFill/>
          <a:ln/>
        </p:spPr>
        <p:txBody>
          <a:bodyPr wrap="square" lIns="0" tIns="0" rIns="0" bIns="0" rtlCol="0" anchor="ctr"/>
          <a:lstStyle/>
          <a:p>
            <a:pPr algn="ctr" indent="0" marL="0">
              <a:buNone/>
            </a:pPr>
            <a:r>
              <a:rPr lang="en-US" sz="1600" b="1" dirty="0">
                <a:solidFill>
                  <a:schemeClr val="tx2"/>
                </a:solidFill>
              </a:rPr>
              <a:t>06</a:t>
            </a:r>
            <a:endParaRPr lang="en-US" sz="1600" dirty="0"/>
          </a:p>
        </p:txBody>
      </p:sp>
      <p:sp>
        <p:nvSpPr>
          <p:cNvPr id="55" name="s2-box-51"/>
          <p:cNvSpPr/>
          <p:nvPr/>
        </p:nvSpPr>
        <p:spPr>
          <a:xfrm>
            <a:off x="1417320" y="5655564"/>
            <a:ext cx="2011680" cy="699516"/>
          </a:xfrm>
          <a:prstGeom prst="rect">
            <a:avLst/>
          </a:prstGeom>
          <a:solidFill>
            <a:schemeClr val="bg2"/>
          </a:solidFill>
          <a:ln/>
        </p:spPr>
      </p:sp>
      <p:sp>
        <p:nvSpPr>
          <p:cNvPr id="56" name="s2-text-52"/>
          <p:cNvSpPr txBox="1"/>
          <p:nvPr/>
        </p:nvSpPr>
        <p:spPr>
          <a:xfrm>
            <a:off x="1600200" y="5655564"/>
            <a:ext cx="1737360" cy="699516"/>
          </a:xfrm>
          <a:prstGeom prst="rect">
            <a:avLst/>
          </a:prstGeom>
          <a:noFill/>
          <a:ln/>
        </p:spPr>
        <p:txBody>
          <a:bodyPr wrap="square" lIns="0" tIns="0" rIns="0" bIns="0" rtlCol="0" anchor="ctr"/>
          <a:lstStyle/>
          <a:p>
            <a:pPr indent="0" marL="0">
              <a:buNone/>
            </a:pPr>
            <a:r>
              <a:rPr lang="en-US" sz="1400" b="1" dirty="0">
                <a:solidFill>
                  <a:schemeClr val="tx2"/>
                </a:solidFill>
              </a:rPr>
              <a:t>Conclusion</a:t>
            </a:r>
            <a:endParaRPr lang="en-US" sz="1400" dirty="0"/>
          </a:p>
        </p:txBody>
      </p:sp>
      <p:sp>
        <p:nvSpPr>
          <p:cNvPr id="57" name="s2-box-53"/>
          <p:cNvSpPr/>
          <p:nvPr/>
        </p:nvSpPr>
        <p:spPr>
          <a:xfrm>
            <a:off x="3566160" y="5655564"/>
            <a:ext cx="4937760" cy="699516"/>
          </a:xfrm>
          <a:prstGeom prst="rect">
            <a:avLst/>
          </a:prstGeom>
          <a:solidFill>
            <a:schemeClr val="bg2"/>
          </a:solidFill>
          <a:ln/>
        </p:spPr>
      </p:sp>
      <p:sp>
        <p:nvSpPr>
          <p:cNvPr id="58" name="s2-text-54"/>
          <p:cNvSpPr txBox="1"/>
          <p:nvPr/>
        </p:nvSpPr>
        <p:spPr>
          <a:xfrm>
            <a:off x="3749040" y="5655564"/>
            <a:ext cx="4572000" cy="699516"/>
          </a:xfrm>
          <a:prstGeom prst="rect">
            <a:avLst/>
          </a:prstGeom>
          <a:noFill/>
          <a:ln/>
        </p:spPr>
        <p:txBody>
          <a:bodyPr wrap="square" lIns="0" tIns="0" rIns="0" bIns="0" rtlCol="0" anchor="ctr"/>
          <a:lstStyle/>
          <a:p>
            <a:pPr indent="0" marL="0">
              <a:buNone/>
            </a:pPr>
            <a:r>
              <a:rPr lang="en-US" sz="1200" dirty="0">
                <a:solidFill>
                  <a:schemeClr val="tx1"/>
                </a:solidFill>
              </a:rPr>
              <a:t>“In conclusion, …” — one answer to the Question</a:t>
            </a:r>
            <a:endParaRPr lang="en-US" sz="1200" dirty="0"/>
          </a:p>
        </p:txBody>
      </p:sp>
      <p:sp>
        <p:nvSpPr>
          <p:cNvPr id="59" name="s2-box-55"/>
          <p:cNvSpPr/>
          <p:nvPr/>
        </p:nvSpPr>
        <p:spPr>
          <a:xfrm>
            <a:off x="8641080" y="5655564"/>
            <a:ext cx="3184855" cy="699516"/>
          </a:xfrm>
          <a:prstGeom prst="rect">
            <a:avLst/>
          </a:prstGeom>
          <a:solidFill>
            <a:schemeClr val="bg2"/>
          </a:solidFill>
          <a:ln/>
        </p:spPr>
      </p:sp>
      <p:sp>
        <p:nvSpPr>
          <p:cNvPr id="60" name="s2-text-56"/>
          <p:cNvSpPr txBox="1"/>
          <p:nvPr/>
        </p:nvSpPr>
        <p:spPr>
          <a:xfrm>
            <a:off x="8823960" y="5655564"/>
            <a:ext cx="2819095" cy="699516"/>
          </a:xfrm>
          <a:prstGeom prst="rect">
            <a:avLst/>
          </a:prstGeom>
          <a:noFill/>
          <a:ln/>
        </p:spPr>
        <p:txBody>
          <a:bodyPr wrap="square" lIns="0" tIns="0" rIns="0" bIns="0" rtlCol="0" anchor="ctr"/>
          <a:lstStyle/>
          <a:p>
            <a:pPr indent="0" marL="0">
              <a:buNone/>
            </a:pPr>
            <a:r>
              <a:rPr lang="en-US" sz="1200" dirty="0">
                <a:solidFill>
                  <a:schemeClr val="tx2"/>
                </a:solidFill>
              </a:rPr>
              <a:t>Answer to the Question</a:t>
            </a:r>
            <a:endParaRPr lang="en-US" sz="12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News: Our Sources and URLs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Mitihoon; Thansettakij; Hoonsmart (Jan–May 2026)</a:t>
            </a:r>
            <a:endParaRPr lang="en-US" sz="1050" dirty="0"/>
          </a:p>
        </p:txBody>
      </p:sp>
      <p:graphicFrame>
        <p:nvGraphicFramePr>
          <p:cNvPr id="4" name="s3-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417320"/>
                <a:gridCol w="5394960"/>
                <a:gridCol w="4647895"/>
              </a:tblGrid>
              <a:tr h="347472">
                <a:tc>
                  <a:txBody>
                    <a:bodyPr/>
                    <a:lstStyle/>
                    <a:p>
                      <a:pPr algn="ctr" indent="0" marL="0">
                        <a:buNone/>
                      </a:pPr>
                      <a:r>
                        <a:rPr lang="en-US" sz="1100" b="1" dirty="0">
                          <a:solidFill>
                            <a:schemeClr val="bg1"/>
                          </a:solidFill>
                        </a:rPr>
                        <a:t>Date</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Outlet and headline</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URL</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548640">
                <a:tc>
                  <a:txBody>
                    <a:bodyPr/>
                    <a:lstStyle/>
                    <a:p>
                      <a:pPr indent="0" marL="0">
                        <a:buNone/>
                      </a:pPr>
                      <a:r>
                        <a:rPr lang="en-US" sz="1100" dirty="0">
                          <a:solidFill>
                            <a:schemeClr val="tx1"/>
                          </a:solidFill>
                        </a:rPr>
                        <a:t>23 Jan 2026</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b="1" dirty="0">
                          <a:solidFill>
                            <a:schemeClr val="tx2"/>
                          </a:solidFill>
                        </a:rPr>
                        <a:t>มิติหุ้น (Mitihoon)</a:t>
                      </a:r>
                      <a:endParaRPr lang="en-US" sz="1100" dirty="0"/>
                    </a:p>
                    <a:p>
                      <a:pPr indent="0" marL="0">
                        <a:buNone/>
                      </a:pPr>
                      <a:r>
                        <a:rPr lang="en-US" sz="1100" dirty="0">
                          <a:solidFill>
                            <a:schemeClr val="tx1"/>
                          </a:solidFill>
                        </a:rPr>
                        <a:t>ก.ล.ต. ใช้มาตรการลงโทษทางแพ่งกับผู้กระทำความผิด 1 ราย กรณีสร้างราคาหรือปริมาณการซื้อขายหุ้น TSR</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https://www.mitihoon.com/2026/01/23/611929/</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48640">
                <a:tc>
                  <a:txBody>
                    <a:bodyPr/>
                    <a:lstStyle/>
                    <a:p>
                      <a:pPr indent="0" marL="0">
                        <a:buNone/>
                      </a:pPr>
                      <a:r>
                        <a:rPr lang="en-US" sz="1100" dirty="0">
                          <a:solidFill>
                            <a:schemeClr val="tx1"/>
                          </a:solidFill>
                        </a:rPr>
                        <a:t>23 Jan 2026</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00" b="1" dirty="0">
                          <a:solidFill>
                            <a:schemeClr val="tx2"/>
                          </a:solidFill>
                        </a:rPr>
                        <a:t>ฐานเศรษฐกิจ (Thansettakij)</a:t>
                      </a:r>
                      <a:endParaRPr lang="en-US" sz="1100" dirty="0"/>
                    </a:p>
                    <a:p>
                      <a:pPr indent="0" marL="0">
                        <a:buNone/>
                      </a:pPr>
                      <a:r>
                        <a:rPr lang="en-US" sz="1100" dirty="0">
                          <a:solidFill>
                            <a:schemeClr val="tx1"/>
                          </a:solidFill>
                        </a:rPr>
                        <a:t>ก.ล.ต. ลงโทษทางแพ่ง ‘ภรัณยา รุจนพรพจี’ กรณีปั่นหุ้น TSR สั่งปรับกว่า 32 ล้าน</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00"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https://www.thansettakij.com/finance/stockmarket/649730</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548640">
                <a:tc>
                  <a:txBody>
                    <a:bodyPr/>
                    <a:lstStyle/>
                    <a:p>
                      <a:pPr indent="0" marL="0">
                        <a:buNone/>
                      </a:pPr>
                      <a:r>
                        <a:rPr lang="en-US" sz="1100" b="1" dirty="0">
                          <a:solidFill>
                            <a:schemeClr val="tx1"/>
                          </a:solidFill>
                        </a:rPr>
                        <a:t>24 Jan 2026</a:t>
                      </a:r>
                      <a:endParaRPr lang="en-US" sz="1100" dirty="0"/>
                    </a:p>
                    <a:p>
                      <a:pPr indent="0" marL="0">
                        <a:buNone/>
                      </a:pPr>
                      <a:r>
                        <a:rPr lang="en-US" sz="1050" b="1" dirty="0">
                          <a:solidFill>
                            <a:schemeClr val="accent4"/>
                          </a:solidFill>
                        </a:rPr>
                        <a:t>MAIN NEWS</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indent="0" marL="0">
                        <a:buNone/>
                      </a:pPr>
                      <a:r>
                        <a:rPr lang="en-US" sz="1100" b="1" dirty="0">
                          <a:solidFill>
                            <a:schemeClr val="tx2"/>
                          </a:solidFill>
                        </a:rPr>
                        <a:t>หุ้นสมาร์ท (Hoonsmart)</a:t>
                      </a:r>
                      <a:endParaRPr lang="en-US" sz="1100" dirty="0"/>
                    </a:p>
                    <a:p>
                      <a:pPr indent="0" marL="0">
                        <a:buNone/>
                      </a:pPr>
                      <a:r>
                        <a:rPr lang="en-US" sz="1100" dirty="0">
                          <a:solidFill>
                            <a:schemeClr val="tx1"/>
                          </a:solidFill>
                        </a:rPr>
                        <a:t>ก.ล.ต.สั่งปรับ “ภรัณยา รุจนพรพจี” กว่า 32 ลบ. ปั่นหุ้น TSR</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indent="0" marL="0">
                        <a:buNone/>
                      </a:pPr>
                      <a:r>
                        <a:rPr lang="en-US" sz="1100" u="sng" dirty="0">
                          <a:solidFill>
                            <a:schemeClr val="tx2"/>
                          </a:solidFill>
                          <a:hlinkClick r:id="rId3"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r>
              <a:tr h="548640">
                <a:tc>
                  <a:txBody>
                    <a:bodyPr/>
                    <a:lstStyle/>
                    <a:p>
                      <a:pPr indent="0" marL="0">
                        <a:buNone/>
                      </a:pPr>
                      <a:r>
                        <a:rPr lang="en-US" sz="1100" dirty="0">
                          <a:solidFill>
                            <a:schemeClr val="tx1"/>
                          </a:solidFill>
                        </a:rPr>
                        <a:t>26 Mar 2026</a:t>
                      </a:r>
                      <a:endParaRPr lang="en-US" sz="1100" dirty="0"/>
                    </a:p>
                    <a:p>
                      <a:pPr indent="0" marL="0">
                        <a:buNone/>
                      </a:pPr>
                      <a:r>
                        <a:rPr lang="en-US" sz="1050" b="1" dirty="0">
                          <a:solidFill>
                            <a:schemeClr val="accent5"/>
                          </a:solidFill>
                        </a:rPr>
                        <a:t>Related case</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00" b="1" dirty="0">
                          <a:solidFill>
                            <a:schemeClr val="tx2"/>
                          </a:solidFill>
                        </a:rPr>
                        <a:t>ฐานเศรษฐกิจ (Thansettakij)</a:t>
                      </a:r>
                      <a:endParaRPr lang="en-US" sz="1100" dirty="0"/>
                    </a:p>
                    <a:p>
                      <a:pPr indent="0" marL="0">
                        <a:buNone/>
                      </a:pPr>
                      <a:r>
                        <a:rPr lang="en-US" sz="1100" dirty="0">
                          <a:solidFill>
                            <a:schemeClr val="tx1"/>
                          </a:solidFill>
                        </a:rPr>
                        <a:t>ก.ล.ต. ลงดาบ ‘ภรัณยา รุจนพรพจี’ กรณีปั่นหุ้น MSC</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00" u="sng" dirty="0">
                          <a:solidFill>
                            <a:schemeClr val="tx2"/>
                          </a:solidFill>
                          <a:hlinkClick r:id="rId4" invalidUrl="" action="" tgtFrame="" tooltip="" history="1" highlightClick="0" endSnd="0">
                            <a:extLst>
                              <a:ext uri="{A12FA001-AC4F-418D-AE19-62706E023703}">
                                <ahyp:hlinkClr xmlns:ahyp="http://schemas.microsoft.com/office/drawing/2018/hyperlinkcolor" val="tx"/>
                              </a:ext>
                            </a:extLst>
                          </a:hlinkClick>
                        </a:rPr>
                        <a:t>https://www.thansettakij.com/finance/stockmarket/654988</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548640">
                <a:tc>
                  <a:txBody>
                    <a:bodyPr/>
                    <a:lstStyle/>
                    <a:p>
                      <a:pPr indent="0" marL="0">
                        <a:buNone/>
                      </a:pPr>
                      <a:r>
                        <a:rPr lang="en-US" sz="1100" dirty="0">
                          <a:solidFill>
                            <a:schemeClr val="tx1"/>
                          </a:solidFill>
                        </a:rPr>
                        <a:t>11 May 2026</a:t>
                      </a:r>
                      <a:endParaRPr lang="en-US" sz="1100" dirty="0"/>
                    </a:p>
                    <a:p>
                      <a:pPr indent="0" marL="0">
                        <a:buNone/>
                      </a:pPr>
                      <a:r>
                        <a:rPr lang="en-US" sz="1050" b="1" dirty="0">
                          <a:solidFill>
                            <a:schemeClr val="accent5"/>
                          </a:solidFill>
                        </a:rPr>
                        <a:t>Follow-up</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b="1" dirty="0">
                          <a:solidFill>
                            <a:schemeClr val="tx2"/>
                          </a:solidFill>
                        </a:rPr>
                        <a:t>ฐานเศรษฐกิจ (Thansettakij)</a:t>
                      </a:r>
                      <a:endParaRPr lang="en-US" sz="1100" dirty="0"/>
                    </a:p>
                    <a:p>
                      <a:pPr indent="0" marL="0">
                        <a:buNone/>
                      </a:pPr>
                      <a:r>
                        <a:rPr lang="en-US" sz="1100" dirty="0">
                          <a:solidFill>
                            <a:schemeClr val="tx1"/>
                          </a:solidFill>
                        </a:rPr>
                        <a:t>ก.ล.ต. ส่งฟ้อง ‘ภรัณยา รุจนพรพจี’ คดีปั่นหุ้น TSR เรียกชำระ 43 ล้านบาท</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5" invalidUrl="" action="" tgtFrame="" tooltip="" history="1" highlightClick="0" endSnd="0">
                            <a:extLst>
                              <a:ext uri="{A12FA001-AC4F-418D-AE19-62706E023703}">
                                <ahyp:hlinkClr xmlns:ahyp="http://schemas.microsoft.com/office/drawing/2018/hyperlinkcolor" val="tx"/>
                              </a:ext>
                            </a:extLst>
                          </a:hlinkClick>
                        </a:rPr>
                        <a:t>https://www.thansettakij.com/finance/658785</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48640">
                <a:tc>
                  <a:txBody>
                    <a:bodyPr/>
                    <a:lstStyle/>
                    <a:p>
                      <a:pPr indent="0" marL="0">
                        <a:buNone/>
                      </a:pPr>
                      <a:r>
                        <a:rPr lang="en-US" sz="1100" dirty="0">
                          <a:solidFill>
                            <a:schemeClr val="tx1"/>
                          </a:solidFill>
                        </a:rPr>
                        <a:t>11 May 2026</a:t>
                      </a:r>
                      <a:endParaRPr lang="en-US" sz="1100" dirty="0"/>
                    </a:p>
                    <a:p>
                      <a:pPr indent="0" marL="0">
                        <a:buNone/>
                      </a:pPr>
                      <a:r>
                        <a:rPr lang="en-US" sz="1050" b="1" dirty="0">
                          <a:solidFill>
                            <a:schemeClr val="accent5"/>
                          </a:solidFill>
                        </a:rPr>
                        <a:t>Follow-up</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00" b="1" dirty="0">
                          <a:solidFill>
                            <a:schemeClr val="tx2"/>
                          </a:solidFill>
                        </a:rPr>
                        <a:t>หุ้นสมาร์ท (Hoonsmart)</a:t>
                      </a:r>
                      <a:endParaRPr lang="en-US" sz="1100" dirty="0"/>
                    </a:p>
                    <a:p>
                      <a:pPr indent="0" marL="0">
                        <a:buNone/>
                      </a:pPr>
                      <a:r>
                        <a:rPr lang="en-US" sz="1100" dirty="0">
                          <a:solidFill>
                            <a:schemeClr val="tx1"/>
                          </a:solidFill>
                        </a:rPr>
                        <a:t>ก.ล.ต.ขออัยการฟ้อง คดีสร้างราคาหุ้น TSR</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00" u="sng" dirty="0">
                          <a:solidFill>
                            <a:schemeClr val="tx2"/>
                          </a:solidFill>
                          <a:hlinkClick r:id="rId6" invalidUrl="" action="" tgtFrame="" tooltip="" history="1" highlightClick="0" endSnd="0">
                            <a:extLst>
                              <a:ext uri="{A12FA001-AC4F-418D-AE19-62706E023703}">
                                <ahyp:hlinkClr xmlns:ahyp="http://schemas.microsoft.com/office/drawing/2018/hyperlinkcolor" val="tx"/>
                              </a:ext>
                            </a:extLst>
                          </a:hlinkClick>
                        </a:rPr>
                        <a:t>https://hoonsmart.com/archives/417813</a:t>
                      </a:r>
                      <a:endParaRPr lang="en-US" sz="11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bl>
          </a:graphicData>
        </a:graphic>
      </p:graphicFrame>
      <p:sp>
        <p:nvSpPr>
          <p:cNvPr id="6" name="s3-box-2"/>
          <p:cNvSpPr/>
          <p:nvPr/>
        </p:nvSpPr>
        <p:spPr>
          <a:xfrm>
            <a:off x="365760" y="5230368"/>
            <a:ext cx="5661508" cy="896112"/>
          </a:xfrm>
          <a:prstGeom prst="rect">
            <a:avLst/>
          </a:prstGeom>
          <a:solidFill>
            <a:schemeClr val="bg2"/>
          </a:solidFill>
          <a:ln/>
        </p:spPr>
      </p:sp>
      <p:sp>
        <p:nvSpPr>
          <p:cNvPr id="7" name="s3-text-3"/>
          <p:cNvSpPr txBox="1"/>
          <p:nvPr/>
        </p:nvSpPr>
        <p:spPr>
          <a:xfrm>
            <a:off x="548640" y="5230368"/>
            <a:ext cx="5295748" cy="896112"/>
          </a:xfrm>
          <a:prstGeom prst="rect">
            <a:avLst/>
          </a:prstGeom>
          <a:noFill/>
          <a:ln/>
        </p:spPr>
        <p:txBody>
          <a:bodyPr wrap="square" lIns="0" tIns="0" rIns="0" bIns="0" rtlCol="0" anchor="ctr"/>
          <a:lstStyle/>
          <a:p>
            <a:pPr indent="0" marL="0">
              <a:buNone/>
            </a:pPr>
            <a:r>
              <a:rPr lang="en-US" sz="1200" b="1" dirty="0">
                <a:solidFill>
                  <a:schemeClr val="tx2"/>
                </a:solidFill>
              </a:rPr>
              <a:t>Main news: </a:t>
            </a:r>
            <a:pPr indent="0" marL="0">
              <a:buNone/>
            </a:pPr>
            <a:r>
              <a:rPr lang="en-US" sz="1200" dirty="0">
                <a:solidFill>
                  <a:schemeClr val="tx1"/>
                </a:solidFill>
              </a:rPr>
              <a:t>Hoonsmart (24 Jan 2026), the most complete account of the period, conduct, motive and sections cited.</a:t>
            </a:r>
            <a:endParaRPr lang="en-US" sz="1200" dirty="0"/>
          </a:p>
        </p:txBody>
      </p:sp>
      <p:sp>
        <p:nvSpPr>
          <p:cNvPr id="8" name="s3-box-4"/>
          <p:cNvSpPr/>
          <p:nvPr/>
        </p:nvSpPr>
        <p:spPr>
          <a:xfrm>
            <a:off x="6164428" y="5230368"/>
            <a:ext cx="5661508" cy="896112"/>
          </a:xfrm>
          <a:prstGeom prst="rect">
            <a:avLst/>
          </a:prstGeom>
          <a:solidFill>
            <a:schemeClr val="bg2"/>
          </a:solidFill>
          <a:ln/>
        </p:spPr>
      </p:sp>
      <p:sp>
        <p:nvSpPr>
          <p:cNvPr id="9" name="s3-text-5"/>
          <p:cNvSpPr txBox="1"/>
          <p:nvPr/>
        </p:nvSpPr>
        <p:spPr>
          <a:xfrm>
            <a:off x="6347308" y="5230368"/>
            <a:ext cx="5295748" cy="896112"/>
          </a:xfrm>
          <a:prstGeom prst="rect">
            <a:avLst/>
          </a:prstGeom>
          <a:noFill/>
          <a:ln/>
        </p:spPr>
        <p:txBody>
          <a:bodyPr wrap="square" lIns="0" tIns="0" rIns="0" bIns="0" rtlCol="0" anchor="ctr"/>
          <a:lstStyle/>
          <a:p>
            <a:pPr indent="0" marL="0">
              <a:buNone/>
            </a:pPr>
            <a:r>
              <a:rPr lang="en-US" sz="1200" b="1" dirty="0">
                <a:solidFill>
                  <a:schemeClr val="tx2"/>
                </a:solidFill>
              </a:rPr>
              <a:t>Requirement met: </a:t>
            </a:r>
            <a:pPr indent="0" marL="0">
              <a:buNone/>
            </a:pPr>
            <a:r>
              <a:rPr lang="en-US" sz="1200" dirty="0">
                <a:solidFill>
                  <a:schemeClr val="tx1"/>
                </a:solidFill>
              </a:rPr>
              <a:t>every news item is dated after 1 January 2026, and every URL is listed above.</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News: What Happened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(24 Jan 2026); Mitihoon (23 Jan 2026); Thansettakij (23 Jan &amp; 11 May 2026)</a:t>
            </a:r>
            <a:endParaRPr lang="en-US" sz="1050" dirty="0"/>
          </a:p>
        </p:txBody>
      </p:sp>
      <p:sp>
        <p:nvSpPr>
          <p:cNvPr id="5" name="s4-box-1"/>
          <p:cNvSpPr/>
          <p:nvPr/>
        </p:nvSpPr>
        <p:spPr>
          <a:xfrm>
            <a:off x="365760" y="1353312"/>
            <a:ext cx="3728618" cy="1627632"/>
          </a:xfrm>
          <a:prstGeom prst="rect">
            <a:avLst/>
          </a:prstGeom>
          <a:solidFill>
            <a:schemeClr val="bg2"/>
          </a:solidFill>
          <a:ln/>
        </p:spPr>
      </p:sp>
      <p:sp>
        <p:nvSpPr>
          <p:cNvPr id="6" name="s4-icon-bg-2"/>
          <p:cNvSpPr/>
          <p:nvPr/>
        </p:nvSpPr>
        <p:spPr>
          <a:xfrm>
            <a:off x="594360" y="1554480"/>
            <a:ext cx="530352" cy="530352"/>
          </a:xfrm>
          <a:prstGeom prst="ellipse">
            <a:avLst/>
          </a:prstGeom>
          <a:solidFill>
            <a:schemeClr val="tx2"/>
          </a:solidFill>
          <a:ln/>
        </p:spPr>
      </p:sp>
      <p:pic>
        <p:nvPicPr>
          <p:cNvPr id="7" name="s4-icon-3" descr="preencoded.png">    </p:cNvPr>
          <p:cNvPicPr>
            <a:picLocks noChangeAspect="1"/>
          </p:cNvPicPr>
          <p:nvPr/>
        </p:nvPicPr>
        <p:blipFill>
          <a:blip r:embed="rId1"/>
          <a:stretch>
            <a:fillRect/>
          </a:stretch>
        </p:blipFill>
        <p:spPr>
          <a:xfrm>
            <a:off x="726948" y="1687068"/>
            <a:ext cx="265176" cy="265176"/>
          </a:xfrm>
          <a:prstGeom prst="rect">
            <a:avLst/>
          </a:prstGeom>
        </p:spPr>
      </p:pic>
      <p:sp>
        <p:nvSpPr>
          <p:cNvPr id="8" name="s4-text-4"/>
          <p:cNvSpPr txBox="1"/>
          <p:nvPr/>
        </p:nvSpPr>
        <p:spPr>
          <a:xfrm>
            <a:off x="1261872" y="1554480"/>
            <a:ext cx="2631338" cy="530352"/>
          </a:xfrm>
          <a:prstGeom prst="rect">
            <a:avLst/>
          </a:prstGeom>
          <a:noFill/>
          <a:ln/>
        </p:spPr>
        <p:txBody>
          <a:bodyPr wrap="square" lIns="0" tIns="0" rIns="0" bIns="0" rtlCol="0" anchor="ctr"/>
          <a:lstStyle/>
          <a:p>
            <a:pPr indent="0" marL="0">
              <a:buNone/>
            </a:pPr>
            <a:r>
              <a:rPr lang="en-US" sz="1400" b="1" dirty="0">
                <a:solidFill>
                  <a:schemeClr val="tx2"/>
                </a:solidFill>
              </a:rPr>
              <a:t>Who</a:t>
            </a:r>
            <a:endParaRPr lang="en-US" sz="1400" dirty="0"/>
          </a:p>
        </p:txBody>
      </p:sp>
      <p:sp>
        <p:nvSpPr>
          <p:cNvPr id="9" name="s4-text-5"/>
          <p:cNvSpPr txBox="1"/>
          <p:nvPr/>
        </p:nvSpPr>
        <p:spPr>
          <a:xfrm>
            <a:off x="594360" y="2194560"/>
            <a:ext cx="3271418" cy="713232"/>
          </a:xfrm>
          <a:prstGeom prst="rect">
            <a:avLst/>
          </a:prstGeom>
          <a:noFill/>
          <a:ln/>
        </p:spPr>
        <p:txBody>
          <a:bodyPr wrap="square" lIns="0" tIns="0" rIns="0" bIns="0" rtlCol="0" anchor="t"/>
          <a:lstStyle/>
          <a:p>
            <a:pPr indent="0" marL="0">
              <a:buNone/>
            </a:pPr>
            <a:r>
              <a:rPr lang="en-US" sz="1200" dirty="0">
                <a:solidFill>
                  <a:schemeClr val="tx1"/>
                </a:solidFill>
              </a:rPr>
              <a:t>นางสาวภรัณยา รุจนพรพจี, an individual investor and a major shareholder of SABUY</a:t>
            </a:r>
            <a:endParaRPr lang="en-US" sz="1200" dirty="0"/>
          </a:p>
        </p:txBody>
      </p:sp>
      <p:sp>
        <p:nvSpPr>
          <p:cNvPr id="10" name="s4-box-6"/>
          <p:cNvSpPr/>
          <p:nvPr/>
        </p:nvSpPr>
        <p:spPr>
          <a:xfrm>
            <a:off x="4231538" y="1353312"/>
            <a:ext cx="3728618" cy="1627632"/>
          </a:xfrm>
          <a:prstGeom prst="rect">
            <a:avLst/>
          </a:prstGeom>
          <a:solidFill>
            <a:schemeClr val="bg2"/>
          </a:solidFill>
          <a:ln/>
        </p:spPr>
      </p:sp>
      <p:sp>
        <p:nvSpPr>
          <p:cNvPr id="11" name="s4-icon-bg-7"/>
          <p:cNvSpPr/>
          <p:nvPr/>
        </p:nvSpPr>
        <p:spPr>
          <a:xfrm>
            <a:off x="4460138" y="1554480"/>
            <a:ext cx="530352" cy="530352"/>
          </a:xfrm>
          <a:prstGeom prst="ellipse">
            <a:avLst/>
          </a:prstGeom>
          <a:solidFill>
            <a:schemeClr val="tx2"/>
          </a:solidFill>
          <a:ln/>
        </p:spPr>
      </p:sp>
      <p:pic>
        <p:nvPicPr>
          <p:cNvPr id="12" name="s4-icon-8" descr="preencoded.png">    </p:cNvPr>
          <p:cNvPicPr>
            <a:picLocks noChangeAspect="1"/>
          </p:cNvPicPr>
          <p:nvPr/>
        </p:nvPicPr>
        <p:blipFill>
          <a:blip r:embed="rId2"/>
          <a:stretch>
            <a:fillRect/>
          </a:stretch>
        </p:blipFill>
        <p:spPr>
          <a:xfrm>
            <a:off x="4592726" y="1687068"/>
            <a:ext cx="265176" cy="265176"/>
          </a:xfrm>
          <a:prstGeom prst="rect">
            <a:avLst/>
          </a:prstGeom>
        </p:spPr>
      </p:pic>
      <p:sp>
        <p:nvSpPr>
          <p:cNvPr id="13" name="s4-text-9"/>
          <p:cNvSpPr txBox="1"/>
          <p:nvPr/>
        </p:nvSpPr>
        <p:spPr>
          <a:xfrm>
            <a:off x="5127650" y="1554480"/>
            <a:ext cx="2631338" cy="530352"/>
          </a:xfrm>
          <a:prstGeom prst="rect">
            <a:avLst/>
          </a:prstGeom>
          <a:noFill/>
          <a:ln/>
        </p:spPr>
        <p:txBody>
          <a:bodyPr wrap="square" lIns="0" tIns="0" rIns="0" bIns="0" rtlCol="0" anchor="ctr"/>
          <a:lstStyle/>
          <a:p>
            <a:pPr indent="0" marL="0">
              <a:buNone/>
            </a:pPr>
            <a:r>
              <a:rPr lang="en-US" sz="1400" b="1" dirty="0">
                <a:solidFill>
                  <a:schemeClr val="tx2"/>
                </a:solidFill>
              </a:rPr>
              <a:t>What</a:t>
            </a:r>
            <a:endParaRPr lang="en-US" sz="1400" dirty="0"/>
          </a:p>
        </p:txBody>
      </p:sp>
      <p:sp>
        <p:nvSpPr>
          <p:cNvPr id="14" name="s4-text-10"/>
          <p:cNvSpPr txBox="1"/>
          <p:nvPr/>
        </p:nvSpPr>
        <p:spPr>
          <a:xfrm>
            <a:off x="4460138" y="2194560"/>
            <a:ext cx="3271418" cy="713232"/>
          </a:xfrm>
          <a:prstGeom prst="rect">
            <a:avLst/>
          </a:prstGeom>
          <a:noFill/>
          <a:ln/>
        </p:spPr>
        <p:txBody>
          <a:bodyPr wrap="square" lIns="0" tIns="0" rIns="0" bIns="0" rtlCol="0" anchor="t"/>
          <a:lstStyle/>
          <a:p>
            <a:pPr indent="0" marL="0">
              <a:buNone/>
            </a:pPr>
            <a:r>
              <a:rPr lang="en-US" sz="1200" dirty="0">
                <a:solidFill>
                  <a:schemeClr val="tx1"/>
                </a:solidFill>
              </a:rPr>
              <a:t>Created the price and volume of TSR shares (market manipulation, “ปั่นหุ้น”)</a:t>
            </a:r>
            <a:endParaRPr lang="en-US" sz="1200" dirty="0"/>
          </a:p>
        </p:txBody>
      </p:sp>
      <p:sp>
        <p:nvSpPr>
          <p:cNvPr id="15" name="s4-box-11"/>
          <p:cNvSpPr/>
          <p:nvPr/>
        </p:nvSpPr>
        <p:spPr>
          <a:xfrm>
            <a:off x="8097317" y="1353312"/>
            <a:ext cx="3728618" cy="1627632"/>
          </a:xfrm>
          <a:prstGeom prst="rect">
            <a:avLst/>
          </a:prstGeom>
          <a:solidFill>
            <a:schemeClr val="bg2"/>
          </a:solidFill>
          <a:ln/>
        </p:spPr>
      </p:sp>
      <p:sp>
        <p:nvSpPr>
          <p:cNvPr id="16" name="s4-icon-bg-12"/>
          <p:cNvSpPr/>
          <p:nvPr/>
        </p:nvSpPr>
        <p:spPr>
          <a:xfrm>
            <a:off x="8325917" y="1554480"/>
            <a:ext cx="530352" cy="530352"/>
          </a:xfrm>
          <a:prstGeom prst="ellipse">
            <a:avLst/>
          </a:prstGeom>
          <a:solidFill>
            <a:schemeClr val="tx2"/>
          </a:solidFill>
          <a:ln/>
        </p:spPr>
      </p:sp>
      <p:pic>
        <p:nvPicPr>
          <p:cNvPr id="17" name="s4-icon-13" descr="preencoded.png">    </p:cNvPr>
          <p:cNvPicPr>
            <a:picLocks noChangeAspect="1"/>
          </p:cNvPicPr>
          <p:nvPr/>
        </p:nvPicPr>
        <p:blipFill>
          <a:blip r:embed="rId3"/>
          <a:stretch>
            <a:fillRect/>
          </a:stretch>
        </p:blipFill>
        <p:spPr>
          <a:xfrm>
            <a:off x="8458505" y="1687068"/>
            <a:ext cx="265176" cy="265176"/>
          </a:xfrm>
          <a:prstGeom prst="rect">
            <a:avLst/>
          </a:prstGeom>
        </p:spPr>
      </p:pic>
      <p:sp>
        <p:nvSpPr>
          <p:cNvPr id="18" name="s4-text-14"/>
          <p:cNvSpPr txBox="1"/>
          <p:nvPr/>
        </p:nvSpPr>
        <p:spPr>
          <a:xfrm>
            <a:off x="8993429" y="1554480"/>
            <a:ext cx="2631338" cy="530352"/>
          </a:xfrm>
          <a:prstGeom prst="rect">
            <a:avLst/>
          </a:prstGeom>
          <a:noFill/>
          <a:ln/>
        </p:spPr>
        <p:txBody>
          <a:bodyPr wrap="square" lIns="0" tIns="0" rIns="0" bIns="0" rtlCol="0" anchor="ctr"/>
          <a:lstStyle/>
          <a:p>
            <a:pPr indent="0" marL="0">
              <a:buNone/>
            </a:pPr>
            <a:r>
              <a:rPr lang="en-US" sz="1400" b="1" dirty="0">
                <a:solidFill>
                  <a:schemeClr val="tx2"/>
                </a:solidFill>
              </a:rPr>
              <a:t>When</a:t>
            </a:r>
            <a:endParaRPr lang="en-US" sz="1400" dirty="0"/>
          </a:p>
        </p:txBody>
      </p:sp>
      <p:sp>
        <p:nvSpPr>
          <p:cNvPr id="19" name="s4-text-15"/>
          <p:cNvSpPr txBox="1"/>
          <p:nvPr/>
        </p:nvSpPr>
        <p:spPr>
          <a:xfrm>
            <a:off x="8325917" y="2194560"/>
            <a:ext cx="3271418" cy="713232"/>
          </a:xfrm>
          <a:prstGeom prst="rect">
            <a:avLst/>
          </a:prstGeom>
          <a:noFill/>
          <a:ln/>
        </p:spPr>
        <p:txBody>
          <a:bodyPr wrap="square" lIns="0" tIns="0" rIns="0" bIns="0" rtlCol="0" anchor="t"/>
          <a:lstStyle/>
          <a:p>
            <a:pPr indent="0" marL="0">
              <a:buNone/>
            </a:pPr>
            <a:r>
              <a:rPr lang="en-US" sz="1200" dirty="0">
                <a:solidFill>
                  <a:schemeClr val="tx1"/>
                </a:solidFill>
              </a:rPr>
              <a:t>22 Jun – 31 Aug 2022 (47 trading days); sanctions announced Jan and May 2026</a:t>
            </a:r>
            <a:endParaRPr lang="en-US" sz="1200" dirty="0"/>
          </a:p>
        </p:txBody>
      </p:sp>
      <p:sp>
        <p:nvSpPr>
          <p:cNvPr id="20" name="s4-box-16"/>
          <p:cNvSpPr/>
          <p:nvPr/>
        </p:nvSpPr>
        <p:spPr>
          <a:xfrm>
            <a:off x="365760" y="3118104"/>
            <a:ext cx="3728618" cy="1627632"/>
          </a:xfrm>
          <a:prstGeom prst="rect">
            <a:avLst/>
          </a:prstGeom>
          <a:solidFill>
            <a:schemeClr val="bg2"/>
          </a:solidFill>
          <a:ln/>
        </p:spPr>
      </p:sp>
      <p:sp>
        <p:nvSpPr>
          <p:cNvPr id="21" name="s4-icon-bg-17"/>
          <p:cNvSpPr/>
          <p:nvPr/>
        </p:nvSpPr>
        <p:spPr>
          <a:xfrm>
            <a:off x="594360" y="3319272"/>
            <a:ext cx="530352" cy="530352"/>
          </a:xfrm>
          <a:prstGeom prst="ellipse">
            <a:avLst/>
          </a:prstGeom>
          <a:solidFill>
            <a:schemeClr val="tx2"/>
          </a:solidFill>
          <a:ln/>
        </p:spPr>
      </p:sp>
      <p:pic>
        <p:nvPicPr>
          <p:cNvPr id="22" name="s4-icon-18" descr="preencoded.png">    </p:cNvPr>
          <p:cNvPicPr>
            <a:picLocks noChangeAspect="1"/>
          </p:cNvPicPr>
          <p:nvPr/>
        </p:nvPicPr>
        <p:blipFill>
          <a:blip r:embed="rId4"/>
          <a:stretch>
            <a:fillRect/>
          </a:stretch>
        </p:blipFill>
        <p:spPr>
          <a:xfrm>
            <a:off x="726948" y="3451860"/>
            <a:ext cx="265176" cy="265176"/>
          </a:xfrm>
          <a:prstGeom prst="rect">
            <a:avLst/>
          </a:prstGeom>
        </p:spPr>
      </p:pic>
      <p:sp>
        <p:nvSpPr>
          <p:cNvPr id="23" name="s4-text-19"/>
          <p:cNvSpPr txBox="1"/>
          <p:nvPr/>
        </p:nvSpPr>
        <p:spPr>
          <a:xfrm>
            <a:off x="1261872" y="3319272"/>
            <a:ext cx="2631338" cy="530352"/>
          </a:xfrm>
          <a:prstGeom prst="rect">
            <a:avLst/>
          </a:prstGeom>
          <a:noFill/>
          <a:ln/>
        </p:spPr>
        <p:txBody>
          <a:bodyPr wrap="square" lIns="0" tIns="0" rIns="0" bIns="0" rtlCol="0" anchor="ctr"/>
          <a:lstStyle/>
          <a:p>
            <a:pPr indent="0" marL="0">
              <a:buNone/>
            </a:pPr>
            <a:r>
              <a:rPr lang="en-US" sz="1400" b="1" dirty="0">
                <a:solidFill>
                  <a:schemeClr val="tx2"/>
                </a:solidFill>
              </a:rPr>
              <a:t>Where</a:t>
            </a:r>
            <a:endParaRPr lang="en-US" sz="1400" dirty="0"/>
          </a:p>
        </p:txBody>
      </p:sp>
      <p:sp>
        <p:nvSpPr>
          <p:cNvPr id="24" name="s4-text-20"/>
          <p:cNvSpPr txBox="1"/>
          <p:nvPr/>
        </p:nvSpPr>
        <p:spPr>
          <a:xfrm>
            <a:off x="594360" y="3959352"/>
            <a:ext cx="3271418" cy="713232"/>
          </a:xfrm>
          <a:prstGeom prst="rect">
            <a:avLst/>
          </a:prstGeom>
          <a:noFill/>
          <a:ln/>
        </p:spPr>
        <p:txBody>
          <a:bodyPr wrap="square" lIns="0" tIns="0" rIns="0" bIns="0" rtlCol="0" anchor="t"/>
          <a:lstStyle/>
          <a:p>
            <a:pPr indent="0" marL="0">
              <a:buNone/>
            </a:pPr>
            <a:r>
              <a:rPr lang="en-US" sz="1200" dirty="0">
                <a:solidFill>
                  <a:schemeClr val="tx1"/>
                </a:solidFill>
              </a:rPr>
              <a:t>TSR shares, listed on the Stock Exchange of Thailand (SET)</a:t>
            </a:r>
            <a:endParaRPr lang="en-US" sz="1200" dirty="0"/>
          </a:p>
        </p:txBody>
      </p:sp>
      <p:sp>
        <p:nvSpPr>
          <p:cNvPr id="25" name="s4-box-21"/>
          <p:cNvSpPr/>
          <p:nvPr/>
        </p:nvSpPr>
        <p:spPr>
          <a:xfrm>
            <a:off x="4231538" y="3118104"/>
            <a:ext cx="3728618" cy="1627632"/>
          </a:xfrm>
          <a:prstGeom prst="rect">
            <a:avLst/>
          </a:prstGeom>
          <a:solidFill>
            <a:schemeClr val="bg2"/>
          </a:solidFill>
          <a:ln/>
        </p:spPr>
      </p:sp>
      <p:sp>
        <p:nvSpPr>
          <p:cNvPr id="26" name="s4-icon-bg-22"/>
          <p:cNvSpPr/>
          <p:nvPr/>
        </p:nvSpPr>
        <p:spPr>
          <a:xfrm>
            <a:off x="4460138" y="3319272"/>
            <a:ext cx="530352" cy="530352"/>
          </a:xfrm>
          <a:prstGeom prst="ellipse">
            <a:avLst/>
          </a:prstGeom>
          <a:solidFill>
            <a:schemeClr val="tx2"/>
          </a:solidFill>
          <a:ln/>
        </p:spPr>
      </p:sp>
      <p:pic>
        <p:nvPicPr>
          <p:cNvPr id="27" name="s4-icon-23" descr="preencoded.png">    </p:cNvPr>
          <p:cNvPicPr>
            <a:picLocks noChangeAspect="1"/>
          </p:cNvPicPr>
          <p:nvPr/>
        </p:nvPicPr>
        <p:blipFill>
          <a:blip r:embed="rId5"/>
          <a:stretch>
            <a:fillRect/>
          </a:stretch>
        </p:blipFill>
        <p:spPr>
          <a:xfrm>
            <a:off x="4592726" y="3451860"/>
            <a:ext cx="265176" cy="265176"/>
          </a:xfrm>
          <a:prstGeom prst="rect">
            <a:avLst/>
          </a:prstGeom>
        </p:spPr>
      </p:pic>
      <p:sp>
        <p:nvSpPr>
          <p:cNvPr id="28" name="s4-text-24"/>
          <p:cNvSpPr txBox="1"/>
          <p:nvPr/>
        </p:nvSpPr>
        <p:spPr>
          <a:xfrm>
            <a:off x="5127650" y="3319272"/>
            <a:ext cx="2631338" cy="530352"/>
          </a:xfrm>
          <a:prstGeom prst="rect">
            <a:avLst/>
          </a:prstGeom>
          <a:noFill/>
          <a:ln/>
        </p:spPr>
        <p:txBody>
          <a:bodyPr wrap="square" lIns="0" tIns="0" rIns="0" bIns="0" rtlCol="0" anchor="ctr"/>
          <a:lstStyle/>
          <a:p>
            <a:pPr indent="0" marL="0">
              <a:buNone/>
            </a:pPr>
            <a:r>
              <a:rPr lang="en-US" sz="1400" b="1" dirty="0">
                <a:solidFill>
                  <a:schemeClr val="tx2"/>
                </a:solidFill>
              </a:rPr>
              <a:t>Why</a:t>
            </a:r>
            <a:endParaRPr lang="en-US" sz="1400" dirty="0"/>
          </a:p>
        </p:txBody>
      </p:sp>
      <p:sp>
        <p:nvSpPr>
          <p:cNvPr id="29" name="s4-text-25"/>
          <p:cNvSpPr txBox="1"/>
          <p:nvPr/>
        </p:nvSpPr>
        <p:spPr>
          <a:xfrm>
            <a:off x="4460138" y="3959352"/>
            <a:ext cx="3271418" cy="713232"/>
          </a:xfrm>
          <a:prstGeom prst="rect">
            <a:avLst/>
          </a:prstGeom>
          <a:noFill/>
          <a:ln/>
        </p:spPr>
        <p:txBody>
          <a:bodyPr wrap="square" lIns="0" tIns="0" rIns="0" bIns="0" rtlCol="0" anchor="t"/>
          <a:lstStyle/>
          <a:p>
            <a:pPr indent="0" marL="0">
              <a:buNone/>
            </a:pPr>
            <a:r>
              <a:rPr lang="en-US" sz="1200" dirty="0">
                <a:solidFill>
                  <a:schemeClr val="tx1"/>
                </a:solidFill>
              </a:rPr>
              <a:t>So SABUY could book a fair-value gain on TSR at the end of Q2/2022, and to profit from the price spread</a:t>
            </a:r>
            <a:endParaRPr lang="en-US" sz="1200" dirty="0"/>
          </a:p>
        </p:txBody>
      </p:sp>
      <p:sp>
        <p:nvSpPr>
          <p:cNvPr id="30" name="s4-box-26"/>
          <p:cNvSpPr/>
          <p:nvPr/>
        </p:nvSpPr>
        <p:spPr>
          <a:xfrm>
            <a:off x="8097317" y="3118104"/>
            <a:ext cx="3728618" cy="1627632"/>
          </a:xfrm>
          <a:prstGeom prst="rect">
            <a:avLst/>
          </a:prstGeom>
          <a:solidFill>
            <a:schemeClr val="bg2"/>
          </a:solidFill>
          <a:ln/>
        </p:spPr>
      </p:sp>
      <p:sp>
        <p:nvSpPr>
          <p:cNvPr id="31" name="s4-icon-bg-27"/>
          <p:cNvSpPr/>
          <p:nvPr/>
        </p:nvSpPr>
        <p:spPr>
          <a:xfrm>
            <a:off x="8325917" y="3319272"/>
            <a:ext cx="530352" cy="530352"/>
          </a:xfrm>
          <a:prstGeom prst="ellipse">
            <a:avLst/>
          </a:prstGeom>
          <a:solidFill>
            <a:schemeClr val="tx2"/>
          </a:solidFill>
          <a:ln/>
        </p:spPr>
      </p:sp>
      <p:pic>
        <p:nvPicPr>
          <p:cNvPr id="32" name="s4-icon-28" descr="preencoded.png">    </p:cNvPr>
          <p:cNvPicPr>
            <a:picLocks noChangeAspect="1"/>
          </p:cNvPicPr>
          <p:nvPr/>
        </p:nvPicPr>
        <p:blipFill>
          <a:blip r:embed="rId6"/>
          <a:stretch>
            <a:fillRect/>
          </a:stretch>
        </p:blipFill>
        <p:spPr>
          <a:xfrm>
            <a:off x="8458505" y="3451860"/>
            <a:ext cx="265176" cy="265176"/>
          </a:xfrm>
          <a:prstGeom prst="rect">
            <a:avLst/>
          </a:prstGeom>
        </p:spPr>
      </p:pic>
      <p:sp>
        <p:nvSpPr>
          <p:cNvPr id="33" name="s4-text-29"/>
          <p:cNvSpPr txBox="1"/>
          <p:nvPr/>
        </p:nvSpPr>
        <p:spPr>
          <a:xfrm>
            <a:off x="8993429" y="3319272"/>
            <a:ext cx="2631338" cy="530352"/>
          </a:xfrm>
          <a:prstGeom prst="rect">
            <a:avLst/>
          </a:prstGeom>
          <a:noFill/>
          <a:ln/>
        </p:spPr>
        <p:txBody>
          <a:bodyPr wrap="square" lIns="0" tIns="0" rIns="0" bIns="0" rtlCol="0" anchor="ctr"/>
          <a:lstStyle/>
          <a:p>
            <a:pPr indent="0" marL="0">
              <a:buNone/>
            </a:pPr>
            <a:r>
              <a:rPr lang="en-US" sz="1400" b="1" dirty="0">
                <a:solidFill>
                  <a:schemeClr val="tx2"/>
                </a:solidFill>
              </a:rPr>
              <a:t>How</a:t>
            </a:r>
            <a:endParaRPr lang="en-US" sz="1400" dirty="0"/>
          </a:p>
        </p:txBody>
      </p:sp>
      <p:sp>
        <p:nvSpPr>
          <p:cNvPr id="34" name="s4-text-30"/>
          <p:cNvSpPr txBox="1"/>
          <p:nvPr/>
        </p:nvSpPr>
        <p:spPr>
          <a:xfrm>
            <a:off x="8325917" y="3959352"/>
            <a:ext cx="3271418" cy="713232"/>
          </a:xfrm>
          <a:prstGeom prst="rect">
            <a:avLst/>
          </a:prstGeom>
          <a:noFill/>
          <a:ln/>
        </p:spPr>
        <p:txBody>
          <a:bodyPr wrap="square" lIns="0" tIns="0" rIns="0" bIns="0" rtlCol="0" anchor="t"/>
          <a:lstStyle/>
          <a:p>
            <a:pPr indent="0" marL="0">
              <a:buNone/>
            </a:pPr>
            <a:r>
              <a:rPr lang="en-US" sz="1200" dirty="0">
                <a:solidFill>
                  <a:schemeClr val="tx1"/>
                </a:solidFill>
              </a:rPr>
              <a:t>Hitting the offers, sweeping sell orders, and holding large bids at price levels 1 and 2</a:t>
            </a:r>
            <a:endParaRPr lang="en-US" sz="1200" dirty="0"/>
          </a:p>
        </p:txBody>
      </p:sp>
      <p:sp>
        <p:nvSpPr>
          <p:cNvPr id="35" name="s4-box-31"/>
          <p:cNvSpPr/>
          <p:nvPr/>
        </p:nvSpPr>
        <p:spPr>
          <a:xfrm>
            <a:off x="365760" y="4882896"/>
            <a:ext cx="7589520" cy="1243584"/>
          </a:xfrm>
          <a:prstGeom prst="rect">
            <a:avLst/>
          </a:prstGeom>
          <a:solidFill>
            <a:srgbClr val="FFF3DC"/>
          </a:solidFill>
          <a:ln w="12700">
            <a:solidFill>
              <a:schemeClr val="accent4"/>
            </a:solidFill>
            <a:prstDash val="solid"/>
          </a:ln>
        </p:spPr>
      </p:sp>
      <p:sp>
        <p:nvSpPr>
          <p:cNvPr id="36" name="s4-text-32"/>
          <p:cNvSpPr txBox="1"/>
          <p:nvPr/>
        </p:nvSpPr>
        <p:spPr>
          <a:xfrm>
            <a:off x="548640" y="4882896"/>
            <a:ext cx="7223760" cy="1243584"/>
          </a:xfrm>
          <a:prstGeom prst="rect">
            <a:avLst/>
          </a:prstGeom>
          <a:noFill/>
          <a:ln/>
        </p:spPr>
        <p:txBody>
          <a:bodyPr wrap="square" lIns="0" tIns="0" rIns="0" bIns="0" rtlCol="0" anchor="ctr"/>
          <a:lstStyle/>
          <a:p>
            <a:pPr indent="0" marL="0">
              <a:spcAft>
                <a:spcPts val="200"/>
              </a:spcAft>
              <a:buNone/>
            </a:pPr>
            <a:r>
              <a:rPr lang="en-US" sz="1200" b="1" dirty="0">
                <a:solidFill>
                  <a:schemeClr val="accent4"/>
                </a:solidFill>
              </a:rPr>
              <a:t>Outcome so far</a:t>
            </a:r>
            <a:endParaRPr lang="en-US" sz="1200" dirty="0"/>
          </a:p>
          <a:p>
            <a:pPr indent="0" marL="0">
              <a:spcAft>
                <a:spcPts val="200"/>
              </a:spcAft>
              <a:buNone/>
            </a:pPr>
            <a:r>
              <a:rPr lang="en-US" sz="1200" dirty="0">
                <a:solidFill>
                  <a:schemeClr val="tx1"/>
                </a:solidFill>
              </a:rPr>
              <a:t>CSC civil sanction of THB 32,327,329 (Jan 2026) → she refused → the SEC asked the prosecutor to sue in the Civil Court for THB 43,018,879.32 plus interest (May 2026).</a:t>
            </a:r>
            <a:endParaRPr lang="en-US" sz="1200" dirty="0"/>
          </a:p>
        </p:txBody>
      </p:sp>
      <p:sp>
        <p:nvSpPr>
          <p:cNvPr id="37" name="s4-box-33"/>
          <p:cNvSpPr/>
          <p:nvPr/>
        </p:nvSpPr>
        <p:spPr>
          <a:xfrm>
            <a:off x="8092440" y="4882896"/>
            <a:ext cx="3733495" cy="1243584"/>
          </a:xfrm>
          <a:prstGeom prst="rect">
            <a:avLst/>
          </a:prstGeom>
          <a:solidFill>
            <a:schemeClr val="accent2"/>
          </a:solidFill>
          <a:ln/>
        </p:spPr>
      </p:sp>
      <p:sp>
        <p:nvSpPr>
          <p:cNvPr id="38" name="s4-text-34"/>
          <p:cNvSpPr txBox="1"/>
          <p:nvPr/>
        </p:nvSpPr>
        <p:spPr>
          <a:xfrm>
            <a:off x="8183880" y="4882896"/>
            <a:ext cx="3550615" cy="1243584"/>
          </a:xfrm>
          <a:prstGeom prst="rect">
            <a:avLst/>
          </a:prstGeom>
          <a:noFill/>
          <a:ln/>
        </p:spPr>
        <p:txBody>
          <a:bodyPr wrap="square" lIns="0" tIns="0" rIns="0" bIns="0" rtlCol="0" anchor="ctr"/>
          <a:lstStyle/>
          <a:p>
            <a:pPr algn="ctr" indent="0" marL="0">
              <a:spcAft>
                <a:spcPts val="200"/>
              </a:spcAft>
              <a:buNone/>
            </a:pPr>
            <a:r>
              <a:rPr lang="en-US" sz="1200" dirty="0">
                <a:solidFill>
                  <a:schemeClr val="tx1"/>
                </a:solidFill>
              </a:rPr>
              <a:t>Main news (Hoonsmart, 24 Jan 2026)</a:t>
            </a:r>
            <a:endParaRPr lang="en-US" sz="1200" dirty="0"/>
          </a:p>
          <a:p>
            <a:pPr algn="ctr" indent="0" marL="0">
              <a:spcAft>
                <a:spcPts val="200"/>
              </a:spcAft>
              <a:buNone/>
            </a:pPr>
            <a:r>
              <a:rPr lang="en-US" sz="1200" b="1" u="sng" dirty="0">
                <a:solidFill>
                  <a:schemeClr val="tx2"/>
                </a:solidFill>
                <a:hlinkClick r:id="rId7"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News: Timeline of the Case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Mitihoon (23 Jan 2026); Hoonsmart (24 Jan &amp; 11 May 2026); Thansettakij (26 Mar &amp; 11 May 2026)</a:t>
            </a:r>
            <a:endParaRPr lang="en-US" sz="1050" dirty="0"/>
          </a:p>
        </p:txBody>
      </p:sp>
      <p:sp>
        <p:nvSpPr>
          <p:cNvPr id="5" name="s5-subbar-1"/>
          <p:cNvSpPr/>
          <p:nvPr/>
        </p:nvSpPr>
        <p:spPr>
          <a:xfrm>
            <a:off x="365760" y="1353312"/>
            <a:ext cx="5120640" cy="347472"/>
          </a:xfrm>
          <a:prstGeom prst="rect">
            <a:avLst/>
          </a:prstGeom>
          <a:solidFill>
            <a:schemeClr val="tx2"/>
          </a:solidFill>
          <a:ln/>
        </p:spPr>
      </p:sp>
      <p:sp>
        <p:nvSpPr>
          <p:cNvPr id="6" name="s5-subbar-text-2"/>
          <p:cNvSpPr txBox="1"/>
          <p:nvPr/>
        </p:nvSpPr>
        <p:spPr>
          <a:xfrm>
            <a:off x="365760" y="1353312"/>
            <a:ext cx="5120640" cy="347472"/>
          </a:xfrm>
          <a:prstGeom prst="rect">
            <a:avLst/>
          </a:prstGeom>
          <a:noFill/>
          <a:ln/>
        </p:spPr>
        <p:txBody>
          <a:bodyPr wrap="square" lIns="0" tIns="0" rIns="0" bIns="0" rtlCol="0" anchor="ctr"/>
          <a:lstStyle/>
          <a:p>
            <a:pPr algn="ctr" indent="0" marL="0">
              <a:buNone/>
            </a:pPr>
            <a:r>
              <a:rPr lang="en-US" sz="1400" b="1" dirty="0">
                <a:solidFill>
                  <a:schemeClr val="bg1"/>
                </a:solidFill>
              </a:rPr>
              <a:t>2022 · The Conduct</a:t>
            </a:r>
            <a:endParaRPr lang="en-US" sz="1400" dirty="0"/>
          </a:p>
        </p:txBody>
      </p:sp>
      <p:sp>
        <p:nvSpPr>
          <p:cNvPr id="7" name="s5-subbar-3"/>
          <p:cNvSpPr/>
          <p:nvPr/>
        </p:nvSpPr>
        <p:spPr>
          <a:xfrm>
            <a:off x="6705295" y="1353312"/>
            <a:ext cx="5120640" cy="347472"/>
          </a:xfrm>
          <a:prstGeom prst="rect">
            <a:avLst/>
          </a:prstGeom>
          <a:solidFill>
            <a:schemeClr val="tx2"/>
          </a:solidFill>
          <a:ln/>
        </p:spPr>
      </p:sp>
      <p:sp>
        <p:nvSpPr>
          <p:cNvPr id="8" name="s5-subbar-text-4"/>
          <p:cNvSpPr txBox="1"/>
          <p:nvPr/>
        </p:nvSpPr>
        <p:spPr>
          <a:xfrm>
            <a:off x="6705295" y="1353312"/>
            <a:ext cx="5120640" cy="347472"/>
          </a:xfrm>
          <a:prstGeom prst="rect">
            <a:avLst/>
          </a:prstGeom>
          <a:noFill/>
          <a:ln/>
        </p:spPr>
        <p:txBody>
          <a:bodyPr wrap="square" lIns="0" tIns="0" rIns="0" bIns="0" rtlCol="0" anchor="ctr"/>
          <a:lstStyle/>
          <a:p>
            <a:pPr algn="ctr" indent="0" marL="0">
              <a:buNone/>
            </a:pPr>
            <a:r>
              <a:rPr lang="en-US" sz="1400" b="1" dirty="0">
                <a:solidFill>
                  <a:schemeClr val="bg1"/>
                </a:solidFill>
              </a:rPr>
              <a:t>2026 · Enforcement</a:t>
            </a:r>
            <a:endParaRPr lang="en-US" sz="1400" dirty="0"/>
          </a:p>
        </p:txBody>
      </p:sp>
      <p:sp>
        <p:nvSpPr>
          <p:cNvPr id="9" name="s5-box-5"/>
          <p:cNvSpPr/>
          <p:nvPr/>
        </p:nvSpPr>
        <p:spPr>
          <a:xfrm>
            <a:off x="365760" y="1792224"/>
            <a:ext cx="5120640" cy="3401568"/>
          </a:xfrm>
          <a:prstGeom prst="rect">
            <a:avLst/>
          </a:prstGeom>
          <a:solidFill>
            <a:schemeClr val="bg2"/>
          </a:solidFill>
          <a:ln/>
        </p:spPr>
      </p:sp>
      <p:sp>
        <p:nvSpPr>
          <p:cNvPr id="10" name="s5-box-6"/>
          <p:cNvSpPr/>
          <p:nvPr/>
        </p:nvSpPr>
        <p:spPr>
          <a:xfrm>
            <a:off x="6705295" y="1792224"/>
            <a:ext cx="5120640" cy="3401568"/>
          </a:xfrm>
          <a:prstGeom prst="rect">
            <a:avLst/>
          </a:prstGeom>
          <a:solidFill>
            <a:schemeClr val="bg2"/>
          </a:solidFill>
          <a:ln/>
        </p:spPr>
      </p:sp>
      <p:sp>
        <p:nvSpPr>
          <p:cNvPr id="11" name="s5-line-7"/>
          <p:cNvSpPr/>
          <p:nvPr/>
        </p:nvSpPr>
        <p:spPr>
          <a:xfrm>
            <a:off x="502920" y="3493008"/>
            <a:ext cx="4846320" cy="0"/>
          </a:xfrm>
          <a:prstGeom prst="line">
            <a:avLst/>
          </a:prstGeom>
          <a:noFill/>
          <a:ln w="25400">
            <a:solidFill>
              <a:schemeClr val="tx2"/>
            </a:solidFill>
            <a:prstDash val="solid"/>
          </a:ln>
        </p:spPr>
      </p:sp>
      <p:sp>
        <p:nvSpPr>
          <p:cNvPr id="12" name="s5-line-8"/>
          <p:cNvSpPr/>
          <p:nvPr/>
        </p:nvSpPr>
        <p:spPr>
          <a:xfrm>
            <a:off x="6842455" y="3493008"/>
            <a:ext cx="4846320" cy="0"/>
          </a:xfrm>
          <a:prstGeom prst="line">
            <a:avLst/>
          </a:prstGeom>
          <a:noFill/>
          <a:ln w="25400">
            <a:solidFill>
              <a:schemeClr val="tx2"/>
            </a:solidFill>
            <a:prstDash val="solid"/>
          </a:ln>
        </p:spPr>
      </p:sp>
      <p:sp>
        <p:nvSpPr>
          <p:cNvPr id="13" name="s5-line-9"/>
          <p:cNvSpPr/>
          <p:nvPr/>
        </p:nvSpPr>
        <p:spPr>
          <a:xfrm>
            <a:off x="5532120" y="3493008"/>
            <a:ext cx="1127455" cy="0"/>
          </a:xfrm>
          <a:prstGeom prst="line">
            <a:avLst/>
          </a:prstGeom>
          <a:noFill/>
          <a:ln w="19050">
            <a:solidFill>
              <a:schemeClr val="accent5"/>
            </a:solidFill>
            <a:prstDash val="dash"/>
          </a:ln>
        </p:spPr>
      </p:sp>
      <p:sp>
        <p:nvSpPr>
          <p:cNvPr id="14" name="s5-text-10"/>
          <p:cNvSpPr txBox="1"/>
          <p:nvPr/>
        </p:nvSpPr>
        <p:spPr>
          <a:xfrm>
            <a:off x="5486400" y="3108960"/>
            <a:ext cx="1218895" cy="292608"/>
          </a:xfrm>
          <a:prstGeom prst="rect">
            <a:avLst/>
          </a:prstGeom>
          <a:noFill/>
          <a:ln/>
        </p:spPr>
        <p:txBody>
          <a:bodyPr wrap="square" lIns="0" tIns="0" rIns="0" bIns="0" rtlCol="0" anchor="t"/>
          <a:lstStyle/>
          <a:p>
            <a:pPr algn="ctr" indent="0" marL="0">
              <a:buNone/>
            </a:pPr>
            <a:r>
              <a:rPr lang="en-US" sz="1300" b="1" dirty="0">
                <a:solidFill>
                  <a:schemeClr val="tx2"/>
                </a:solidFill>
              </a:rPr>
              <a:t>~3 yrs</a:t>
            </a:r>
            <a:endParaRPr lang="en-US" sz="1300" dirty="0"/>
          </a:p>
        </p:txBody>
      </p:sp>
      <p:sp>
        <p:nvSpPr>
          <p:cNvPr id="15" name="s5-text-11"/>
          <p:cNvSpPr txBox="1"/>
          <p:nvPr/>
        </p:nvSpPr>
        <p:spPr>
          <a:xfrm>
            <a:off x="5486400" y="3602736"/>
            <a:ext cx="1218895" cy="274320"/>
          </a:xfrm>
          <a:prstGeom prst="rect">
            <a:avLst/>
          </a:prstGeom>
          <a:noFill/>
          <a:ln/>
        </p:spPr>
        <p:txBody>
          <a:bodyPr wrap="square" lIns="0" tIns="0" rIns="0" bIns="0" rtlCol="0" anchor="t"/>
          <a:lstStyle/>
          <a:p>
            <a:pPr algn="ctr" indent="0" marL="0">
              <a:buNone/>
            </a:pPr>
            <a:r>
              <a:rPr lang="en-US" sz="1050" dirty="0">
                <a:solidFill>
                  <a:schemeClr val="accent5"/>
                </a:solidFill>
              </a:rPr>
              <a:t>investigation</a:t>
            </a:r>
            <a:endParaRPr lang="en-US" sz="1050" dirty="0"/>
          </a:p>
        </p:txBody>
      </p:sp>
      <p:sp>
        <p:nvSpPr>
          <p:cNvPr id="16" name="s5-line-12"/>
          <p:cNvSpPr/>
          <p:nvPr/>
        </p:nvSpPr>
        <p:spPr>
          <a:xfrm>
            <a:off x="1051560" y="3264408"/>
            <a:ext cx="0" cy="228600"/>
          </a:xfrm>
          <a:prstGeom prst="line">
            <a:avLst/>
          </a:prstGeom>
          <a:noFill/>
          <a:ln w="15875">
            <a:solidFill>
              <a:schemeClr val="tx2"/>
            </a:solidFill>
            <a:prstDash val="solid"/>
          </a:ln>
        </p:spPr>
      </p:sp>
      <p:sp>
        <p:nvSpPr>
          <p:cNvPr id="17" name="s5-box-13"/>
          <p:cNvSpPr/>
          <p:nvPr/>
        </p:nvSpPr>
        <p:spPr>
          <a:xfrm>
            <a:off x="502920" y="2075688"/>
            <a:ext cx="2331720" cy="1188720"/>
          </a:xfrm>
          <a:prstGeom prst="rect">
            <a:avLst/>
          </a:prstGeom>
          <a:solidFill>
            <a:schemeClr val="bg1"/>
          </a:solidFill>
          <a:ln w="12700">
            <a:solidFill>
              <a:schemeClr val="accent6"/>
            </a:solidFill>
            <a:prstDash val="solid"/>
          </a:ln>
        </p:spPr>
      </p:sp>
      <p:sp>
        <p:nvSpPr>
          <p:cNvPr id="18" name="s5-text-14"/>
          <p:cNvSpPr txBox="1"/>
          <p:nvPr/>
        </p:nvSpPr>
        <p:spPr>
          <a:xfrm>
            <a:off x="612648" y="214884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22 Jun 2022</a:t>
            </a:r>
            <a:endParaRPr lang="en-US" sz="1200" dirty="0"/>
          </a:p>
          <a:p>
            <a:pPr indent="0" marL="0">
              <a:spcAft>
                <a:spcPts val="300"/>
              </a:spcAft>
              <a:buNone/>
            </a:pPr>
            <a:r>
              <a:rPr lang="en-US" sz="1200" dirty="0">
                <a:solidFill>
                  <a:schemeClr val="tx1"/>
                </a:solidFill>
              </a:rPr>
              <a:t>Manipulation of TSR begins</a:t>
            </a:r>
            <a:endParaRPr lang="en-US" sz="1200" dirty="0"/>
          </a:p>
        </p:txBody>
      </p:sp>
      <p:sp>
        <p:nvSpPr>
          <p:cNvPr id="19" name="s5-node-15"/>
          <p:cNvSpPr/>
          <p:nvPr/>
        </p:nvSpPr>
        <p:spPr>
          <a:xfrm>
            <a:off x="941832" y="3383280"/>
            <a:ext cx="219456" cy="219456"/>
          </a:xfrm>
          <a:prstGeom prst="ellipse">
            <a:avLst/>
          </a:prstGeom>
          <a:solidFill>
            <a:schemeClr val="tx2"/>
          </a:solidFill>
          <a:ln w="19050">
            <a:solidFill>
              <a:schemeClr val="bg1"/>
            </a:solidFill>
            <a:prstDash val="solid"/>
          </a:ln>
        </p:spPr>
      </p:sp>
      <p:sp>
        <p:nvSpPr>
          <p:cNvPr id="20" name="s5-line-16"/>
          <p:cNvSpPr/>
          <p:nvPr/>
        </p:nvSpPr>
        <p:spPr>
          <a:xfrm>
            <a:off x="2331720" y="3493008"/>
            <a:ext cx="0" cy="228600"/>
          </a:xfrm>
          <a:prstGeom prst="line">
            <a:avLst/>
          </a:prstGeom>
          <a:noFill/>
          <a:ln w="15875">
            <a:solidFill>
              <a:schemeClr val="tx2"/>
            </a:solidFill>
            <a:prstDash val="solid"/>
          </a:ln>
        </p:spPr>
      </p:sp>
      <p:sp>
        <p:nvSpPr>
          <p:cNvPr id="21" name="s5-box-17"/>
          <p:cNvSpPr/>
          <p:nvPr/>
        </p:nvSpPr>
        <p:spPr>
          <a:xfrm>
            <a:off x="502920" y="3721608"/>
            <a:ext cx="2331720" cy="1188720"/>
          </a:xfrm>
          <a:prstGeom prst="rect">
            <a:avLst/>
          </a:prstGeom>
          <a:solidFill>
            <a:schemeClr val="bg1"/>
          </a:solidFill>
          <a:ln w="12700">
            <a:solidFill>
              <a:schemeClr val="accent6"/>
            </a:solidFill>
            <a:prstDash val="solid"/>
          </a:ln>
        </p:spPr>
      </p:sp>
      <p:sp>
        <p:nvSpPr>
          <p:cNvPr id="22" name="s5-text-18"/>
          <p:cNvSpPr txBox="1"/>
          <p:nvPr/>
        </p:nvSpPr>
        <p:spPr>
          <a:xfrm>
            <a:off x="612648" y="379476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30 Jun 2022</a:t>
            </a:r>
            <a:endParaRPr lang="en-US" sz="1200" dirty="0"/>
          </a:p>
          <a:p>
            <a:pPr indent="0" marL="0">
              <a:spcAft>
                <a:spcPts val="300"/>
              </a:spcAft>
              <a:buNone/>
            </a:pPr>
            <a:r>
              <a:rPr lang="en-US" sz="1200" dirty="0">
                <a:solidFill>
                  <a:schemeClr val="tx1"/>
                </a:solidFill>
              </a:rPr>
              <a:t>Q2/2022 quarter-end: SABUY values its TSR shares</a:t>
            </a:r>
            <a:endParaRPr lang="en-US" sz="1200" dirty="0"/>
          </a:p>
        </p:txBody>
      </p:sp>
      <p:sp>
        <p:nvSpPr>
          <p:cNvPr id="23" name="s5-node-19"/>
          <p:cNvSpPr/>
          <p:nvPr/>
        </p:nvSpPr>
        <p:spPr>
          <a:xfrm>
            <a:off x="2221992" y="3383280"/>
            <a:ext cx="219456" cy="219456"/>
          </a:xfrm>
          <a:prstGeom prst="ellipse">
            <a:avLst/>
          </a:prstGeom>
          <a:solidFill>
            <a:schemeClr val="tx2"/>
          </a:solidFill>
          <a:ln w="19050">
            <a:solidFill>
              <a:schemeClr val="bg1"/>
            </a:solidFill>
            <a:prstDash val="solid"/>
          </a:ln>
        </p:spPr>
      </p:sp>
      <p:sp>
        <p:nvSpPr>
          <p:cNvPr id="24" name="s5-line-20"/>
          <p:cNvSpPr/>
          <p:nvPr/>
        </p:nvSpPr>
        <p:spPr>
          <a:xfrm>
            <a:off x="3611880" y="3264408"/>
            <a:ext cx="0" cy="228600"/>
          </a:xfrm>
          <a:prstGeom prst="line">
            <a:avLst/>
          </a:prstGeom>
          <a:noFill/>
          <a:ln w="15875">
            <a:solidFill>
              <a:schemeClr val="tx2"/>
            </a:solidFill>
            <a:prstDash val="solid"/>
          </a:ln>
        </p:spPr>
      </p:sp>
      <p:sp>
        <p:nvSpPr>
          <p:cNvPr id="25" name="s5-box-21"/>
          <p:cNvSpPr/>
          <p:nvPr/>
        </p:nvSpPr>
        <p:spPr>
          <a:xfrm>
            <a:off x="3017520" y="2075688"/>
            <a:ext cx="2331720" cy="1188720"/>
          </a:xfrm>
          <a:prstGeom prst="rect">
            <a:avLst/>
          </a:prstGeom>
          <a:solidFill>
            <a:schemeClr val="bg1"/>
          </a:solidFill>
          <a:ln w="12700">
            <a:solidFill>
              <a:schemeClr val="accent6"/>
            </a:solidFill>
            <a:prstDash val="solid"/>
          </a:ln>
        </p:spPr>
      </p:sp>
      <p:sp>
        <p:nvSpPr>
          <p:cNvPr id="26" name="s5-text-22"/>
          <p:cNvSpPr txBox="1"/>
          <p:nvPr/>
        </p:nvSpPr>
        <p:spPr>
          <a:xfrm>
            <a:off x="3127248" y="214884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31 Aug 2022</a:t>
            </a:r>
            <a:endParaRPr lang="en-US" sz="1200" dirty="0"/>
          </a:p>
          <a:p>
            <a:pPr indent="0" marL="0">
              <a:spcAft>
                <a:spcPts val="300"/>
              </a:spcAft>
              <a:buNone/>
            </a:pPr>
            <a:r>
              <a:rPr lang="en-US" sz="1200" dirty="0">
                <a:solidFill>
                  <a:schemeClr val="tx1"/>
                </a:solidFill>
              </a:rPr>
              <a:t>Conduct ends after 47 trading days</a:t>
            </a:r>
            <a:endParaRPr lang="en-US" sz="1200" dirty="0"/>
          </a:p>
        </p:txBody>
      </p:sp>
      <p:sp>
        <p:nvSpPr>
          <p:cNvPr id="27" name="s5-node-23"/>
          <p:cNvSpPr/>
          <p:nvPr/>
        </p:nvSpPr>
        <p:spPr>
          <a:xfrm>
            <a:off x="3502152" y="3383280"/>
            <a:ext cx="219456" cy="219456"/>
          </a:xfrm>
          <a:prstGeom prst="ellipse">
            <a:avLst/>
          </a:prstGeom>
          <a:solidFill>
            <a:schemeClr val="tx2"/>
          </a:solidFill>
          <a:ln w="19050">
            <a:solidFill>
              <a:schemeClr val="bg1"/>
            </a:solidFill>
            <a:prstDash val="solid"/>
          </a:ln>
        </p:spPr>
      </p:sp>
      <p:sp>
        <p:nvSpPr>
          <p:cNvPr id="28" name="s5-line-24"/>
          <p:cNvSpPr/>
          <p:nvPr/>
        </p:nvSpPr>
        <p:spPr>
          <a:xfrm>
            <a:off x="4892040" y="3493008"/>
            <a:ext cx="0" cy="228600"/>
          </a:xfrm>
          <a:prstGeom prst="line">
            <a:avLst/>
          </a:prstGeom>
          <a:noFill/>
          <a:ln w="15875">
            <a:solidFill>
              <a:schemeClr val="tx2"/>
            </a:solidFill>
            <a:prstDash val="solid"/>
          </a:ln>
        </p:spPr>
      </p:sp>
      <p:sp>
        <p:nvSpPr>
          <p:cNvPr id="29" name="s5-box-25"/>
          <p:cNvSpPr/>
          <p:nvPr/>
        </p:nvSpPr>
        <p:spPr>
          <a:xfrm>
            <a:off x="3017520" y="3721608"/>
            <a:ext cx="2331720" cy="1188720"/>
          </a:xfrm>
          <a:prstGeom prst="rect">
            <a:avLst/>
          </a:prstGeom>
          <a:solidFill>
            <a:schemeClr val="bg1"/>
          </a:solidFill>
          <a:ln w="12700">
            <a:solidFill>
              <a:schemeClr val="accent6"/>
            </a:solidFill>
            <a:prstDash val="solid"/>
          </a:ln>
        </p:spPr>
      </p:sp>
      <p:sp>
        <p:nvSpPr>
          <p:cNvPr id="30" name="s5-text-26"/>
          <p:cNvSpPr txBox="1"/>
          <p:nvPr/>
        </p:nvSpPr>
        <p:spPr>
          <a:xfrm>
            <a:off x="3127248" y="379476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Oct 2022</a:t>
            </a:r>
            <a:endParaRPr lang="en-US" sz="1200" dirty="0"/>
          </a:p>
          <a:p>
            <a:pPr indent="0" marL="0">
              <a:spcAft>
                <a:spcPts val="300"/>
              </a:spcAft>
              <a:buNone/>
            </a:pPr>
            <a:r>
              <a:rPr lang="en-US" sz="1200" dirty="0">
                <a:solidFill>
                  <a:schemeClr val="tx1"/>
                </a:solidFill>
              </a:rPr>
              <a:t>SET refers the case to the SEC</a:t>
            </a:r>
            <a:endParaRPr lang="en-US" sz="1200" dirty="0"/>
          </a:p>
        </p:txBody>
      </p:sp>
      <p:sp>
        <p:nvSpPr>
          <p:cNvPr id="31" name="s5-node-27"/>
          <p:cNvSpPr/>
          <p:nvPr/>
        </p:nvSpPr>
        <p:spPr>
          <a:xfrm>
            <a:off x="4782312" y="3383280"/>
            <a:ext cx="219456" cy="219456"/>
          </a:xfrm>
          <a:prstGeom prst="ellipse">
            <a:avLst/>
          </a:prstGeom>
          <a:solidFill>
            <a:schemeClr val="tx2"/>
          </a:solidFill>
          <a:ln w="19050">
            <a:solidFill>
              <a:schemeClr val="bg1"/>
            </a:solidFill>
            <a:prstDash val="solid"/>
          </a:ln>
        </p:spPr>
      </p:sp>
      <p:sp>
        <p:nvSpPr>
          <p:cNvPr id="32" name="s5-line-28"/>
          <p:cNvSpPr/>
          <p:nvPr/>
        </p:nvSpPr>
        <p:spPr>
          <a:xfrm>
            <a:off x="7391095" y="3264408"/>
            <a:ext cx="0" cy="228600"/>
          </a:xfrm>
          <a:prstGeom prst="line">
            <a:avLst/>
          </a:prstGeom>
          <a:noFill/>
          <a:ln w="15875">
            <a:solidFill>
              <a:schemeClr val="tx2"/>
            </a:solidFill>
            <a:prstDash val="solid"/>
          </a:ln>
        </p:spPr>
      </p:sp>
      <p:sp>
        <p:nvSpPr>
          <p:cNvPr id="33" name="s5-box-29"/>
          <p:cNvSpPr/>
          <p:nvPr/>
        </p:nvSpPr>
        <p:spPr>
          <a:xfrm>
            <a:off x="6842455" y="2075688"/>
            <a:ext cx="2331720" cy="1188720"/>
          </a:xfrm>
          <a:prstGeom prst="rect">
            <a:avLst/>
          </a:prstGeom>
          <a:solidFill>
            <a:schemeClr val="bg1"/>
          </a:solidFill>
          <a:ln w="12700">
            <a:solidFill>
              <a:schemeClr val="accent6"/>
            </a:solidFill>
            <a:prstDash val="solid"/>
          </a:ln>
        </p:spPr>
      </p:sp>
      <p:sp>
        <p:nvSpPr>
          <p:cNvPr id="34" name="s5-text-30"/>
          <p:cNvSpPr txBox="1"/>
          <p:nvPr/>
        </p:nvSpPr>
        <p:spPr>
          <a:xfrm>
            <a:off x="6952183" y="214884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23 Jan 2026</a:t>
            </a:r>
            <a:endParaRPr lang="en-US" sz="1200" dirty="0"/>
          </a:p>
          <a:p>
            <a:pPr indent="0" marL="0">
              <a:spcAft>
                <a:spcPts val="300"/>
              </a:spcAft>
              <a:buNone/>
            </a:pPr>
            <a:r>
              <a:rPr lang="en-US" sz="1200" dirty="0">
                <a:solidFill>
                  <a:schemeClr val="tx1"/>
                </a:solidFill>
              </a:rPr>
              <a:t>CSC civil sanction: THB 32.3M, 6-month trading ban, 12-month director ban</a:t>
            </a:r>
            <a:endParaRPr lang="en-US" sz="1200" dirty="0"/>
          </a:p>
        </p:txBody>
      </p:sp>
      <p:sp>
        <p:nvSpPr>
          <p:cNvPr id="35" name="s5-node-31"/>
          <p:cNvSpPr/>
          <p:nvPr/>
        </p:nvSpPr>
        <p:spPr>
          <a:xfrm>
            <a:off x="7281367" y="3383280"/>
            <a:ext cx="219456" cy="219456"/>
          </a:xfrm>
          <a:prstGeom prst="ellipse">
            <a:avLst/>
          </a:prstGeom>
          <a:solidFill>
            <a:schemeClr val="tx2"/>
          </a:solidFill>
          <a:ln w="19050">
            <a:solidFill>
              <a:schemeClr val="bg1"/>
            </a:solidFill>
            <a:prstDash val="solid"/>
          </a:ln>
        </p:spPr>
      </p:sp>
      <p:sp>
        <p:nvSpPr>
          <p:cNvPr id="36" name="s5-line-32"/>
          <p:cNvSpPr/>
          <p:nvPr/>
        </p:nvSpPr>
        <p:spPr>
          <a:xfrm>
            <a:off x="9265615" y="3493008"/>
            <a:ext cx="0" cy="228600"/>
          </a:xfrm>
          <a:prstGeom prst="line">
            <a:avLst/>
          </a:prstGeom>
          <a:noFill/>
          <a:ln w="15875">
            <a:solidFill>
              <a:schemeClr val="tx2"/>
            </a:solidFill>
            <a:prstDash val="solid"/>
          </a:ln>
        </p:spPr>
      </p:sp>
      <p:sp>
        <p:nvSpPr>
          <p:cNvPr id="37" name="s5-box-33"/>
          <p:cNvSpPr/>
          <p:nvPr/>
        </p:nvSpPr>
        <p:spPr>
          <a:xfrm>
            <a:off x="8099755" y="3721608"/>
            <a:ext cx="2331720" cy="1188720"/>
          </a:xfrm>
          <a:prstGeom prst="rect">
            <a:avLst/>
          </a:prstGeom>
          <a:solidFill>
            <a:schemeClr val="bg1"/>
          </a:solidFill>
          <a:ln w="12700">
            <a:solidFill>
              <a:schemeClr val="accent6"/>
            </a:solidFill>
            <a:prstDash val="solid"/>
          </a:ln>
        </p:spPr>
      </p:sp>
      <p:sp>
        <p:nvSpPr>
          <p:cNvPr id="38" name="s5-text-34"/>
          <p:cNvSpPr txBox="1"/>
          <p:nvPr/>
        </p:nvSpPr>
        <p:spPr>
          <a:xfrm>
            <a:off x="8209483" y="379476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26 Mar 2026</a:t>
            </a:r>
            <a:endParaRPr lang="en-US" sz="1200" dirty="0"/>
          </a:p>
          <a:p>
            <a:pPr indent="0" marL="0">
              <a:spcAft>
                <a:spcPts val="300"/>
              </a:spcAft>
              <a:buNone/>
            </a:pPr>
            <a:r>
              <a:rPr lang="en-US" sz="1200" dirty="0">
                <a:solidFill>
                  <a:schemeClr val="tx1"/>
                </a:solidFill>
              </a:rPr>
              <a:t>Related MSC case sent to court (THB 332.3M)</a:t>
            </a:r>
            <a:endParaRPr lang="en-US" sz="1200" dirty="0"/>
          </a:p>
        </p:txBody>
      </p:sp>
      <p:sp>
        <p:nvSpPr>
          <p:cNvPr id="39" name="s5-node-35"/>
          <p:cNvSpPr/>
          <p:nvPr/>
        </p:nvSpPr>
        <p:spPr>
          <a:xfrm>
            <a:off x="9155887" y="3383280"/>
            <a:ext cx="219456" cy="219456"/>
          </a:xfrm>
          <a:prstGeom prst="ellipse">
            <a:avLst/>
          </a:prstGeom>
          <a:solidFill>
            <a:schemeClr val="tx2"/>
          </a:solidFill>
          <a:ln w="19050">
            <a:solidFill>
              <a:schemeClr val="bg1"/>
            </a:solidFill>
            <a:prstDash val="solid"/>
          </a:ln>
        </p:spPr>
      </p:sp>
      <p:sp>
        <p:nvSpPr>
          <p:cNvPr id="40" name="s5-line-36"/>
          <p:cNvSpPr/>
          <p:nvPr/>
        </p:nvSpPr>
        <p:spPr>
          <a:xfrm>
            <a:off x="11140135" y="3264408"/>
            <a:ext cx="0" cy="228600"/>
          </a:xfrm>
          <a:prstGeom prst="line">
            <a:avLst/>
          </a:prstGeom>
          <a:noFill/>
          <a:ln w="15875">
            <a:solidFill>
              <a:schemeClr val="tx2"/>
            </a:solidFill>
            <a:prstDash val="solid"/>
          </a:ln>
        </p:spPr>
      </p:sp>
      <p:sp>
        <p:nvSpPr>
          <p:cNvPr id="41" name="s5-box-37"/>
          <p:cNvSpPr/>
          <p:nvPr/>
        </p:nvSpPr>
        <p:spPr>
          <a:xfrm>
            <a:off x="9357055" y="2075688"/>
            <a:ext cx="2331720" cy="1188720"/>
          </a:xfrm>
          <a:prstGeom prst="rect">
            <a:avLst/>
          </a:prstGeom>
          <a:solidFill>
            <a:srgbClr val="FFF3DC"/>
          </a:solidFill>
          <a:ln w="12700">
            <a:solidFill>
              <a:schemeClr val="accent4"/>
            </a:solidFill>
            <a:prstDash val="solid"/>
          </a:ln>
        </p:spPr>
      </p:sp>
      <p:sp>
        <p:nvSpPr>
          <p:cNvPr id="42" name="s5-text-38"/>
          <p:cNvSpPr txBox="1"/>
          <p:nvPr/>
        </p:nvSpPr>
        <p:spPr>
          <a:xfrm>
            <a:off x="9466783" y="2148840"/>
            <a:ext cx="2112264" cy="1042416"/>
          </a:xfrm>
          <a:prstGeom prst="rect">
            <a:avLst/>
          </a:prstGeom>
          <a:noFill/>
          <a:ln/>
        </p:spPr>
        <p:txBody>
          <a:bodyPr wrap="square" lIns="0" tIns="0" rIns="0" bIns="0" rtlCol="0" anchor="t"/>
          <a:lstStyle/>
          <a:p>
            <a:pPr indent="0" marL="0">
              <a:spcAft>
                <a:spcPts val="300"/>
              </a:spcAft>
              <a:buNone/>
            </a:pPr>
            <a:r>
              <a:rPr lang="en-US" sz="1250" b="1" dirty="0">
                <a:solidFill>
                  <a:schemeClr val="tx2"/>
                </a:solidFill>
              </a:rPr>
              <a:t>11 May 2026</a:t>
            </a:r>
            <a:endParaRPr lang="en-US" sz="1200" dirty="0"/>
          </a:p>
          <a:p>
            <a:pPr indent="0" marL="0">
              <a:spcAft>
                <a:spcPts val="300"/>
              </a:spcAft>
              <a:buNone/>
            </a:pPr>
            <a:r>
              <a:rPr lang="en-US" sz="1200" dirty="0">
                <a:solidFill>
                  <a:schemeClr val="tx1"/>
                </a:solidFill>
              </a:rPr>
              <a:t>She refuses; SEC asks the prosecutor to sue for THB 43.0M + interest; AMLO notified</a:t>
            </a:r>
            <a:endParaRPr lang="en-US" sz="1200" dirty="0"/>
          </a:p>
        </p:txBody>
      </p:sp>
      <p:sp>
        <p:nvSpPr>
          <p:cNvPr id="43" name="s5-node-39"/>
          <p:cNvSpPr/>
          <p:nvPr/>
        </p:nvSpPr>
        <p:spPr>
          <a:xfrm>
            <a:off x="11030407" y="3383280"/>
            <a:ext cx="219456" cy="219456"/>
          </a:xfrm>
          <a:prstGeom prst="ellipse">
            <a:avLst/>
          </a:prstGeom>
          <a:solidFill>
            <a:schemeClr val="accent4"/>
          </a:solidFill>
          <a:ln w="19050">
            <a:solidFill>
              <a:schemeClr val="bg1"/>
            </a:solidFill>
            <a:prstDash val="solid"/>
          </a:ln>
        </p:spPr>
      </p:sp>
      <p:sp>
        <p:nvSpPr>
          <p:cNvPr id="44" name="s5-box-40"/>
          <p:cNvSpPr/>
          <p:nvPr/>
        </p:nvSpPr>
        <p:spPr>
          <a:xfrm>
            <a:off x="365760" y="5330952"/>
            <a:ext cx="11460175" cy="795528"/>
          </a:xfrm>
          <a:prstGeom prst="rect">
            <a:avLst/>
          </a:prstGeom>
          <a:solidFill>
            <a:srgbClr val="FFF3DC"/>
          </a:solidFill>
          <a:ln w="12700">
            <a:solidFill>
              <a:schemeClr val="accent4"/>
            </a:solidFill>
            <a:prstDash val="solid"/>
          </a:ln>
        </p:spPr>
      </p:sp>
      <p:sp>
        <p:nvSpPr>
          <p:cNvPr id="45" name="s5-text-41"/>
          <p:cNvSpPr txBox="1"/>
          <p:nvPr/>
        </p:nvSpPr>
        <p:spPr>
          <a:xfrm>
            <a:off x="594360" y="5330952"/>
            <a:ext cx="11002975" cy="795528"/>
          </a:xfrm>
          <a:prstGeom prst="rect">
            <a:avLst/>
          </a:prstGeom>
          <a:noFill/>
          <a:ln/>
        </p:spPr>
        <p:txBody>
          <a:bodyPr wrap="square" lIns="0" tIns="0" rIns="0" bIns="0" rtlCol="0" anchor="ctr"/>
          <a:lstStyle/>
          <a:p>
            <a:pPr indent="0" marL="0">
              <a:spcAft>
                <a:spcPts val="300"/>
              </a:spcAft>
              <a:buNone/>
            </a:pPr>
            <a:r>
              <a:rPr lang="en-US" sz="1200" b="1" dirty="0">
                <a:solidFill>
                  <a:schemeClr val="accent4"/>
                </a:solidFill>
              </a:rPr>
              <a:t>Status: no court judgment reported as of October 2026.</a:t>
            </a:r>
            <a:endParaRPr lang="en-US" sz="1200" dirty="0"/>
          </a:p>
          <a:p>
            <a:pPr indent="0" marL="0">
              <a:spcAft>
                <a:spcPts val="300"/>
              </a:spcAft>
              <a:buNone/>
            </a:pPr>
            <a:r>
              <a:rPr lang="en-US" sz="1200" dirty="0">
                <a:solidFill>
                  <a:schemeClr val="tx1"/>
                </a:solidFill>
              </a:rPr>
              <a:t>All facts are as found by the SEC and the CSC. About three years passed between the SET referral (Oct 2022) and the CSC decision (Jan 2026).</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News: Who Are the Stakeholders?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(24 Jan &amp; 11 May 2026); Thansettakij (11 May 2026); Securities and Exchange Act s.317/3</a:t>
            </a:r>
            <a:endParaRPr lang="en-US" sz="1050" dirty="0"/>
          </a:p>
        </p:txBody>
      </p:sp>
      <p:graphicFrame>
        <p:nvGraphicFramePr>
          <p:cNvPr id="7" name="s6-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463040"/>
                <a:gridCol w="2880360"/>
                <a:gridCol w="3429000"/>
                <a:gridCol w="3687775"/>
              </a:tblGrid>
              <a:tr h="365760">
                <a:tc>
                  <a:txBody>
                    <a:bodyPr/>
                    <a:lstStyle/>
                    <a:p>
                      <a:pPr algn="ctr" indent="0" marL="0">
                        <a:buNone/>
                      </a:pPr>
                      <a:r>
                        <a:rPr lang="en-US" sz="1150" b="1" dirty="0">
                          <a:solidFill>
                            <a:schemeClr val="bg1"/>
                          </a:solidFill>
                        </a:rPr>
                        <a:t>Group</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Stakeholder</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Role in the case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Interest / impact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457200">
                <a:tc rowSpan="2">
                  <a:txBody>
                    <a:bodyPr/>
                    <a:lstStyle/>
                    <a:p>
                      <a:pPr algn="ctr" indent="0" marL="0">
                        <a:buNone/>
                      </a:pPr>
                      <a:r>
                        <a:rPr lang="en-US" sz="1150" b="1" dirty="0">
                          <a:solidFill>
                            <a:schemeClr val="bg1"/>
                          </a:solidFill>
                        </a:rPr>
                        <a:t>Wrongdoer side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indent="0" marL="0">
                        <a:buNone/>
                      </a:pPr>
                      <a:r>
                        <a:rPr lang="en-US" sz="1150" b="1" dirty="0">
                          <a:solidFill>
                            <a:schemeClr val="tx2"/>
                          </a:solidFill>
                        </a:rPr>
                        <a:t>นางสาวภรัณยา รุจนพรพจี</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Alleged offender; placed the orders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Civil sanctions; possible criminal penalties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vMerge="1">
                  <a:tcPr/>
                </a:tc>
                <a:tc>
                  <a:txBody>
                    <a:bodyPr/>
                    <a:lstStyle/>
                    <a:p>
                      <a:pPr indent="0" marL="0">
                        <a:buNone/>
                      </a:pPr>
                      <a:r>
                        <a:rPr lang="en-US" sz="1150" b="1" dirty="0">
                          <a:solidFill>
                            <a:schemeClr val="tx2"/>
                          </a:solidFill>
                        </a:rPr>
                        <a:t>SABUY (Sabuy Technology PCL)</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Beneficiary; holds TSR as an investment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Fair-value gain in its Q2/2022 profit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57200">
                <a:tc rowSpan="2">
                  <a:txBody>
                    <a:bodyPr/>
                    <a:lstStyle/>
                    <a:p>
                      <a:pPr algn="ctr" indent="0" marL="0">
                        <a:buNone/>
                      </a:pPr>
                      <a:r>
                        <a:rPr lang="en-US" sz="1150" b="1" dirty="0">
                          <a:solidFill>
                            <a:schemeClr val="bg1"/>
                          </a:solidFill>
                        </a:rPr>
                        <a:t>Market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indent="0" marL="0">
                        <a:buNone/>
                      </a:pPr>
                      <a:r>
                        <a:rPr lang="en-US" sz="1150" b="1" dirty="0">
                          <a:solidFill>
                            <a:schemeClr val="tx2"/>
                          </a:solidFill>
                        </a:rPr>
                        <a:t>TSR (company) and its shareholders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The stock whose price was created</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Distorted price and trading volume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vMerge="1">
                  <a:tcPr/>
                </a:tc>
                <a:tc>
                  <a:txBody>
                    <a:bodyPr/>
                    <a:lstStyle/>
                    <a:p>
                      <a:pPr indent="0" marL="0">
                        <a:buNone/>
                      </a:pPr>
                      <a:r>
                        <a:rPr lang="en-US" sz="1150" b="1" dirty="0">
                          <a:solidFill>
                            <a:schemeClr val="tx2"/>
                          </a:solidFill>
                        </a:rPr>
                        <a:t>Other investors trading TSR</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Misled about price and volume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Had to bid higher than they should have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57200">
                <a:tc rowSpan="5">
                  <a:txBody>
                    <a:bodyPr/>
                    <a:lstStyle/>
                    <a:p>
                      <a:pPr algn="ctr" indent="0" marL="0">
                        <a:buNone/>
                      </a:pPr>
                      <a:r>
                        <a:rPr lang="en-US" sz="1150" b="1" dirty="0">
                          <a:solidFill>
                            <a:schemeClr val="bg1"/>
                          </a:solidFill>
                        </a:rPr>
                        <a:t>Authorities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indent="0" marL="0">
                        <a:buNone/>
                      </a:pPr>
                      <a:r>
                        <a:rPr lang="en-US" sz="1150" b="1" dirty="0">
                          <a:solidFill>
                            <a:schemeClr val="tx2"/>
                          </a:solidFill>
                        </a:rPr>
                        <a:t>Stock Exchange of Thailand (SET)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Market operator; detected the trades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Referred the case to the SEC (Oct 2022)</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vMerge="1">
                  <a:tcPr/>
                </a:tc>
                <a:tc>
                  <a:txBody>
                    <a:bodyPr/>
                    <a:lstStyle/>
                    <a:p>
                      <a:pPr indent="0" marL="0">
                        <a:buNone/>
                      </a:pPr>
                      <a:r>
                        <a:rPr lang="en-US" sz="1150" b="1" dirty="0">
                          <a:solidFill>
                            <a:schemeClr val="tx2"/>
                          </a:solidFill>
                        </a:rPr>
                        <a:t>SEC Office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Regulator; investigates and enforces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Proposed sanctions; asked for a lawsuit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57200">
                <a:tc vMerge="1">
                  <a:tcPr/>
                </a:tc>
                <a:tc>
                  <a:txBody>
                    <a:bodyPr/>
                    <a:lstStyle/>
                    <a:p>
                      <a:pPr indent="0" marL="0">
                        <a:buNone/>
                      </a:pPr>
                      <a:r>
                        <a:rPr lang="en-US" sz="1150" b="1" dirty="0">
                          <a:solidFill>
                            <a:schemeClr val="tx2"/>
                          </a:solidFill>
                        </a:rPr>
                        <a:t>Civil Sanction Committee (CSC)</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Chaired by the Attorney-General (s.317/3)</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Set THB 32.3M and the bans (Jan 2026)</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vMerge="1">
                  <a:tcPr/>
                </a:tc>
                <a:tc>
                  <a:txBody>
                    <a:bodyPr/>
                    <a:lstStyle/>
                    <a:p>
                      <a:pPr indent="0" marL="0">
                        <a:buNone/>
                      </a:pPr>
                      <a:r>
                        <a:rPr lang="en-US" sz="1150" b="1" dirty="0">
                          <a:solidFill>
                            <a:schemeClr val="tx2"/>
                          </a:solidFill>
                        </a:rPr>
                        <a:t>Public prosecutor and Civil Court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Bring and decide the civil case (s.317/8)</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Claim of THB 43.0M + interest (May 2026)</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57200">
                <a:tc vMerge="1">
                  <a:tcPr/>
                </a:tc>
                <a:tc>
                  <a:txBody>
                    <a:bodyPr/>
                    <a:lstStyle/>
                    <a:p>
                      <a:pPr indent="0" marL="0">
                        <a:buNone/>
                      </a:pPr>
                      <a:r>
                        <a:rPr lang="en-US" sz="1150" b="1" dirty="0">
                          <a:solidFill>
                            <a:schemeClr val="tx2"/>
                          </a:solidFill>
                        </a:rPr>
                        <a:t>AMLO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Anti-money laundering review</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Predicate offence; may trace funds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Facts: Statement of Facts (F1–F10)</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(24 Jan &amp; 11 May 2026); Mitihoon (23 Jan 2026); Thansettakij (23 Jan &amp; 11 May 2026)</a:t>
            </a:r>
            <a:endParaRPr lang="en-US" sz="1050" dirty="0"/>
          </a:p>
        </p:txBody>
      </p:sp>
      <p:sp>
        <p:nvSpPr>
          <p:cNvPr id="5" name="s7-subbar-1"/>
          <p:cNvSpPr/>
          <p:nvPr/>
        </p:nvSpPr>
        <p:spPr>
          <a:xfrm>
            <a:off x="365760" y="1353312"/>
            <a:ext cx="5661508" cy="347472"/>
          </a:xfrm>
          <a:prstGeom prst="rect">
            <a:avLst/>
          </a:prstGeom>
          <a:solidFill>
            <a:schemeClr val="tx2"/>
          </a:solidFill>
          <a:ln/>
        </p:spPr>
      </p:sp>
      <p:sp>
        <p:nvSpPr>
          <p:cNvPr id="6" name="s7-subbar-text-2"/>
          <p:cNvSpPr txBox="1"/>
          <p:nvPr/>
        </p:nvSpPr>
        <p:spPr>
          <a:xfrm>
            <a:off x="365760" y="1353312"/>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The Conduct (2022)</a:t>
            </a:r>
            <a:endParaRPr lang="en-US" sz="1400" dirty="0"/>
          </a:p>
        </p:txBody>
      </p:sp>
      <p:sp>
        <p:nvSpPr>
          <p:cNvPr id="7" name="s7-subbar-3"/>
          <p:cNvSpPr/>
          <p:nvPr/>
        </p:nvSpPr>
        <p:spPr>
          <a:xfrm>
            <a:off x="6164428" y="1353312"/>
            <a:ext cx="5661508" cy="347472"/>
          </a:xfrm>
          <a:prstGeom prst="rect">
            <a:avLst/>
          </a:prstGeom>
          <a:solidFill>
            <a:schemeClr val="tx2"/>
          </a:solidFill>
          <a:ln/>
        </p:spPr>
      </p:sp>
      <p:sp>
        <p:nvSpPr>
          <p:cNvPr id="8" name="s7-subbar-text-4"/>
          <p:cNvSpPr txBox="1"/>
          <p:nvPr/>
        </p:nvSpPr>
        <p:spPr>
          <a:xfrm>
            <a:off x="6164428" y="1353312"/>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The Enforcement (2022–2026)</a:t>
            </a:r>
            <a:endParaRPr lang="en-US" sz="1400" dirty="0"/>
          </a:p>
        </p:txBody>
      </p:sp>
      <p:sp>
        <p:nvSpPr>
          <p:cNvPr id="9" name="s7-box-5"/>
          <p:cNvSpPr/>
          <p:nvPr/>
        </p:nvSpPr>
        <p:spPr>
          <a:xfrm>
            <a:off x="365760" y="1792224"/>
            <a:ext cx="566928" cy="669036"/>
          </a:xfrm>
          <a:prstGeom prst="rect">
            <a:avLst/>
          </a:prstGeom>
          <a:solidFill>
            <a:schemeClr val="tx2"/>
          </a:solidFill>
          <a:ln/>
        </p:spPr>
      </p:sp>
      <p:sp>
        <p:nvSpPr>
          <p:cNvPr id="10" name="s7-text-6"/>
          <p:cNvSpPr txBox="1"/>
          <p:nvPr/>
        </p:nvSpPr>
        <p:spPr>
          <a:xfrm>
            <a:off x="365760" y="1792224"/>
            <a:ext cx="566928" cy="669036"/>
          </a:xfrm>
          <a:prstGeom prst="rect">
            <a:avLst/>
          </a:prstGeom>
          <a:noFill/>
          <a:ln/>
        </p:spPr>
        <p:txBody>
          <a:bodyPr wrap="square" lIns="0" tIns="0" rIns="0" bIns="0" rtlCol="0" anchor="ctr"/>
          <a:lstStyle/>
          <a:p>
            <a:pPr algn="ctr" indent="0" marL="0">
              <a:buNone/>
            </a:pPr>
            <a:r>
              <a:rPr lang="en-US" sz="1200" b="1" dirty="0">
                <a:solidFill>
                  <a:schemeClr val="bg1"/>
                </a:solidFill>
              </a:rPr>
              <a:t>F1</a:t>
            </a:r>
            <a:endParaRPr lang="en-US" sz="1200" dirty="0"/>
          </a:p>
        </p:txBody>
      </p:sp>
      <p:sp>
        <p:nvSpPr>
          <p:cNvPr id="11" name="s7-box-7"/>
          <p:cNvSpPr/>
          <p:nvPr/>
        </p:nvSpPr>
        <p:spPr>
          <a:xfrm>
            <a:off x="987552" y="1792224"/>
            <a:ext cx="5039716" cy="669036"/>
          </a:xfrm>
          <a:prstGeom prst="rect">
            <a:avLst/>
          </a:prstGeom>
          <a:solidFill>
            <a:schemeClr val="bg2"/>
          </a:solidFill>
          <a:ln/>
        </p:spPr>
      </p:sp>
      <p:sp>
        <p:nvSpPr>
          <p:cNvPr id="12" name="s7-text-8"/>
          <p:cNvSpPr txBox="1"/>
          <p:nvPr/>
        </p:nvSpPr>
        <p:spPr>
          <a:xfrm>
            <a:off x="1143000" y="1792224"/>
            <a:ext cx="4747108" cy="669036"/>
          </a:xfrm>
          <a:prstGeom prst="rect">
            <a:avLst/>
          </a:prstGeom>
          <a:noFill/>
          <a:ln/>
        </p:spPr>
        <p:txBody>
          <a:bodyPr wrap="square" lIns="0" tIns="0" rIns="0" bIns="0" rtlCol="0" anchor="ctr"/>
          <a:lstStyle/>
          <a:p>
            <a:pPr indent="0" marL="0">
              <a:buNone/>
            </a:pPr>
            <a:r>
              <a:rPr lang="en-US" sz="1200" dirty="0">
                <a:solidFill>
                  <a:schemeClr val="tx1"/>
                </a:solidFill>
              </a:rPr>
              <a:t>นางสาวภรัณยา รุจนพรพจี is an individual investor and a major shareholder of SABUY.</a:t>
            </a:r>
            <a:endParaRPr lang="en-US" sz="1200" dirty="0"/>
          </a:p>
        </p:txBody>
      </p:sp>
      <p:sp>
        <p:nvSpPr>
          <p:cNvPr id="13" name="s7-box-9"/>
          <p:cNvSpPr/>
          <p:nvPr/>
        </p:nvSpPr>
        <p:spPr>
          <a:xfrm>
            <a:off x="365760" y="2525268"/>
            <a:ext cx="566928" cy="669036"/>
          </a:xfrm>
          <a:prstGeom prst="rect">
            <a:avLst/>
          </a:prstGeom>
          <a:solidFill>
            <a:schemeClr val="tx2"/>
          </a:solidFill>
          <a:ln/>
        </p:spPr>
      </p:sp>
      <p:sp>
        <p:nvSpPr>
          <p:cNvPr id="14" name="s7-text-10"/>
          <p:cNvSpPr txBox="1"/>
          <p:nvPr/>
        </p:nvSpPr>
        <p:spPr>
          <a:xfrm>
            <a:off x="365760" y="2525268"/>
            <a:ext cx="566928" cy="669036"/>
          </a:xfrm>
          <a:prstGeom prst="rect">
            <a:avLst/>
          </a:prstGeom>
          <a:noFill/>
          <a:ln/>
        </p:spPr>
        <p:txBody>
          <a:bodyPr wrap="square" lIns="0" tIns="0" rIns="0" bIns="0" rtlCol="0" anchor="ctr"/>
          <a:lstStyle/>
          <a:p>
            <a:pPr algn="ctr" indent="0" marL="0">
              <a:buNone/>
            </a:pPr>
            <a:r>
              <a:rPr lang="en-US" sz="1200" b="1" dirty="0">
                <a:solidFill>
                  <a:schemeClr val="bg1"/>
                </a:solidFill>
              </a:rPr>
              <a:t>F2</a:t>
            </a:r>
            <a:endParaRPr lang="en-US" sz="1200" dirty="0"/>
          </a:p>
        </p:txBody>
      </p:sp>
      <p:sp>
        <p:nvSpPr>
          <p:cNvPr id="15" name="s7-box-11"/>
          <p:cNvSpPr/>
          <p:nvPr/>
        </p:nvSpPr>
        <p:spPr>
          <a:xfrm>
            <a:off x="987552" y="2525268"/>
            <a:ext cx="5039716" cy="669036"/>
          </a:xfrm>
          <a:prstGeom prst="rect">
            <a:avLst/>
          </a:prstGeom>
          <a:solidFill>
            <a:schemeClr val="bg2"/>
          </a:solidFill>
          <a:ln/>
        </p:spPr>
      </p:sp>
      <p:sp>
        <p:nvSpPr>
          <p:cNvPr id="16" name="s7-text-12"/>
          <p:cNvSpPr txBox="1"/>
          <p:nvPr/>
        </p:nvSpPr>
        <p:spPr>
          <a:xfrm>
            <a:off x="1143000" y="2525268"/>
            <a:ext cx="4747108" cy="669036"/>
          </a:xfrm>
          <a:prstGeom prst="rect">
            <a:avLst/>
          </a:prstGeom>
          <a:noFill/>
          <a:ln/>
        </p:spPr>
        <p:txBody>
          <a:bodyPr wrap="square" lIns="0" tIns="0" rIns="0" bIns="0" rtlCol="0" anchor="ctr"/>
          <a:lstStyle/>
          <a:p>
            <a:pPr indent="0" marL="0">
              <a:buNone/>
            </a:pPr>
            <a:r>
              <a:rPr lang="en-US" sz="1200" dirty="0">
                <a:solidFill>
                  <a:schemeClr val="tx1"/>
                </a:solidFill>
              </a:rPr>
              <a:t>TSR is listed on the SET. SABUY held TSR shares as an investment measured at fair value.</a:t>
            </a:r>
            <a:endParaRPr lang="en-US" sz="1200" dirty="0"/>
          </a:p>
        </p:txBody>
      </p:sp>
      <p:sp>
        <p:nvSpPr>
          <p:cNvPr id="17" name="s7-box-13"/>
          <p:cNvSpPr/>
          <p:nvPr/>
        </p:nvSpPr>
        <p:spPr>
          <a:xfrm>
            <a:off x="365760" y="3258312"/>
            <a:ext cx="566928" cy="669036"/>
          </a:xfrm>
          <a:prstGeom prst="rect">
            <a:avLst/>
          </a:prstGeom>
          <a:solidFill>
            <a:schemeClr val="tx2"/>
          </a:solidFill>
          <a:ln/>
        </p:spPr>
      </p:sp>
      <p:sp>
        <p:nvSpPr>
          <p:cNvPr id="18" name="s7-text-14"/>
          <p:cNvSpPr txBox="1"/>
          <p:nvPr/>
        </p:nvSpPr>
        <p:spPr>
          <a:xfrm>
            <a:off x="365760" y="3258312"/>
            <a:ext cx="566928" cy="669036"/>
          </a:xfrm>
          <a:prstGeom prst="rect">
            <a:avLst/>
          </a:prstGeom>
          <a:noFill/>
          <a:ln/>
        </p:spPr>
        <p:txBody>
          <a:bodyPr wrap="square" lIns="0" tIns="0" rIns="0" bIns="0" rtlCol="0" anchor="ctr"/>
          <a:lstStyle/>
          <a:p>
            <a:pPr algn="ctr" indent="0" marL="0">
              <a:buNone/>
            </a:pPr>
            <a:r>
              <a:rPr lang="en-US" sz="1200" b="1" dirty="0">
                <a:solidFill>
                  <a:schemeClr val="bg1"/>
                </a:solidFill>
              </a:rPr>
              <a:t>F3</a:t>
            </a:r>
            <a:endParaRPr lang="en-US" sz="1200" dirty="0"/>
          </a:p>
        </p:txBody>
      </p:sp>
      <p:sp>
        <p:nvSpPr>
          <p:cNvPr id="19" name="s7-box-15"/>
          <p:cNvSpPr/>
          <p:nvPr/>
        </p:nvSpPr>
        <p:spPr>
          <a:xfrm>
            <a:off x="987552" y="3258312"/>
            <a:ext cx="5039716" cy="669036"/>
          </a:xfrm>
          <a:prstGeom prst="rect">
            <a:avLst/>
          </a:prstGeom>
          <a:solidFill>
            <a:schemeClr val="bg2"/>
          </a:solidFill>
          <a:ln/>
        </p:spPr>
      </p:sp>
      <p:sp>
        <p:nvSpPr>
          <p:cNvPr id="20" name="s7-text-16"/>
          <p:cNvSpPr txBox="1"/>
          <p:nvPr/>
        </p:nvSpPr>
        <p:spPr>
          <a:xfrm>
            <a:off x="1143000" y="3258312"/>
            <a:ext cx="4747108" cy="669036"/>
          </a:xfrm>
          <a:prstGeom prst="rect">
            <a:avLst/>
          </a:prstGeom>
          <a:noFill/>
          <a:ln/>
        </p:spPr>
        <p:txBody>
          <a:bodyPr wrap="square" lIns="0" tIns="0" rIns="0" bIns="0" rtlCol="0" anchor="ctr"/>
          <a:lstStyle/>
          <a:p>
            <a:pPr indent="0" marL="0">
              <a:buNone/>
            </a:pPr>
            <a:r>
              <a:rPr lang="en-US" sz="1200" dirty="0">
                <a:solidFill>
                  <a:schemeClr val="tx1"/>
                </a:solidFill>
              </a:rPr>
              <a:t>From 22 Jun to 31 Aug 2022 (47 trading days), she hit the offers to push the price up and swept the sell orders continuously.</a:t>
            </a:r>
            <a:endParaRPr lang="en-US" sz="1200" dirty="0"/>
          </a:p>
        </p:txBody>
      </p:sp>
      <p:sp>
        <p:nvSpPr>
          <p:cNvPr id="21" name="s7-box-17"/>
          <p:cNvSpPr/>
          <p:nvPr/>
        </p:nvSpPr>
        <p:spPr>
          <a:xfrm>
            <a:off x="365760" y="3991356"/>
            <a:ext cx="566928" cy="669036"/>
          </a:xfrm>
          <a:prstGeom prst="rect">
            <a:avLst/>
          </a:prstGeom>
          <a:solidFill>
            <a:schemeClr val="tx2"/>
          </a:solidFill>
          <a:ln/>
        </p:spPr>
      </p:sp>
      <p:sp>
        <p:nvSpPr>
          <p:cNvPr id="22" name="s7-text-18"/>
          <p:cNvSpPr txBox="1"/>
          <p:nvPr/>
        </p:nvSpPr>
        <p:spPr>
          <a:xfrm>
            <a:off x="365760" y="3991356"/>
            <a:ext cx="566928" cy="669036"/>
          </a:xfrm>
          <a:prstGeom prst="rect">
            <a:avLst/>
          </a:prstGeom>
          <a:noFill/>
          <a:ln/>
        </p:spPr>
        <p:txBody>
          <a:bodyPr wrap="square" lIns="0" tIns="0" rIns="0" bIns="0" rtlCol="0" anchor="ctr"/>
          <a:lstStyle/>
          <a:p>
            <a:pPr algn="ctr" indent="0" marL="0">
              <a:buNone/>
            </a:pPr>
            <a:r>
              <a:rPr lang="en-US" sz="1200" b="1" dirty="0">
                <a:solidFill>
                  <a:schemeClr val="bg1"/>
                </a:solidFill>
              </a:rPr>
              <a:t>F4</a:t>
            </a:r>
            <a:endParaRPr lang="en-US" sz="1200" dirty="0"/>
          </a:p>
        </p:txBody>
      </p:sp>
      <p:sp>
        <p:nvSpPr>
          <p:cNvPr id="23" name="s7-box-19"/>
          <p:cNvSpPr/>
          <p:nvPr/>
        </p:nvSpPr>
        <p:spPr>
          <a:xfrm>
            <a:off x="987552" y="3991356"/>
            <a:ext cx="5039716" cy="669036"/>
          </a:xfrm>
          <a:prstGeom prst="rect">
            <a:avLst/>
          </a:prstGeom>
          <a:solidFill>
            <a:schemeClr val="bg2"/>
          </a:solidFill>
          <a:ln/>
        </p:spPr>
      </p:sp>
      <p:sp>
        <p:nvSpPr>
          <p:cNvPr id="24" name="s7-text-20"/>
          <p:cNvSpPr txBox="1"/>
          <p:nvPr/>
        </p:nvSpPr>
        <p:spPr>
          <a:xfrm>
            <a:off x="1143000" y="3991356"/>
            <a:ext cx="4747108" cy="669036"/>
          </a:xfrm>
          <a:prstGeom prst="rect">
            <a:avLst/>
          </a:prstGeom>
          <a:noFill/>
          <a:ln/>
        </p:spPr>
        <p:txBody>
          <a:bodyPr wrap="square" lIns="0" tIns="0" rIns="0" bIns="0" rtlCol="0" anchor="ctr"/>
          <a:lstStyle/>
          <a:p>
            <a:pPr indent="0" marL="0">
              <a:buNone/>
            </a:pPr>
            <a:r>
              <a:rPr lang="en-US" sz="1200" dirty="0">
                <a:solidFill>
                  <a:schemeClr val="tx1"/>
                </a:solidFill>
              </a:rPr>
              <a:t>She held large buy orders at bid price levels 1 and 2; other investors were obstructed, had to bid higher, and the price rose.</a:t>
            </a:r>
            <a:endParaRPr lang="en-US" sz="1200" dirty="0"/>
          </a:p>
        </p:txBody>
      </p:sp>
      <p:sp>
        <p:nvSpPr>
          <p:cNvPr id="25" name="s7-box-21"/>
          <p:cNvSpPr/>
          <p:nvPr/>
        </p:nvSpPr>
        <p:spPr>
          <a:xfrm>
            <a:off x="365760" y="4724400"/>
            <a:ext cx="566928" cy="669036"/>
          </a:xfrm>
          <a:prstGeom prst="rect">
            <a:avLst/>
          </a:prstGeom>
          <a:solidFill>
            <a:schemeClr val="tx2"/>
          </a:solidFill>
          <a:ln/>
        </p:spPr>
      </p:sp>
      <p:sp>
        <p:nvSpPr>
          <p:cNvPr id="26" name="s7-text-22"/>
          <p:cNvSpPr txBox="1"/>
          <p:nvPr/>
        </p:nvSpPr>
        <p:spPr>
          <a:xfrm>
            <a:off x="365760" y="4724400"/>
            <a:ext cx="566928" cy="669036"/>
          </a:xfrm>
          <a:prstGeom prst="rect">
            <a:avLst/>
          </a:prstGeom>
          <a:noFill/>
          <a:ln/>
        </p:spPr>
        <p:txBody>
          <a:bodyPr wrap="square" lIns="0" tIns="0" rIns="0" bIns="0" rtlCol="0" anchor="ctr"/>
          <a:lstStyle/>
          <a:p>
            <a:pPr algn="ctr" indent="0" marL="0">
              <a:buNone/>
            </a:pPr>
            <a:r>
              <a:rPr lang="en-US" sz="1200" b="1" dirty="0">
                <a:solidFill>
                  <a:schemeClr val="bg1"/>
                </a:solidFill>
              </a:rPr>
              <a:t>F5</a:t>
            </a:r>
            <a:endParaRPr lang="en-US" sz="1200" dirty="0"/>
          </a:p>
        </p:txBody>
      </p:sp>
      <p:sp>
        <p:nvSpPr>
          <p:cNvPr id="27" name="s7-box-23"/>
          <p:cNvSpPr/>
          <p:nvPr/>
        </p:nvSpPr>
        <p:spPr>
          <a:xfrm>
            <a:off x="987552" y="4724400"/>
            <a:ext cx="5039716" cy="669036"/>
          </a:xfrm>
          <a:prstGeom prst="rect">
            <a:avLst/>
          </a:prstGeom>
          <a:solidFill>
            <a:schemeClr val="bg2"/>
          </a:solidFill>
          <a:ln/>
        </p:spPr>
      </p:sp>
      <p:sp>
        <p:nvSpPr>
          <p:cNvPr id="28" name="s7-text-24"/>
          <p:cNvSpPr txBox="1"/>
          <p:nvPr/>
        </p:nvSpPr>
        <p:spPr>
          <a:xfrm>
            <a:off x="1143000" y="4724400"/>
            <a:ext cx="4747108" cy="669036"/>
          </a:xfrm>
          <a:prstGeom prst="rect">
            <a:avLst/>
          </a:prstGeom>
          <a:noFill/>
          <a:ln/>
        </p:spPr>
        <p:txBody>
          <a:bodyPr wrap="square" lIns="0" tIns="0" rIns="0" bIns="0" rtlCol="0" anchor="ctr"/>
          <a:lstStyle/>
          <a:p>
            <a:pPr indent="0" marL="0">
              <a:buNone/>
            </a:pPr>
            <a:r>
              <a:rPr lang="en-US" sz="1200" dirty="0">
                <a:solidFill>
                  <a:schemeClr val="tx1"/>
                </a:solidFill>
              </a:rPr>
              <a:t>Per the SEC, her aims were a fair-value gain for SABUY at the end of Q2/2022 and a profit from the price spread.</a:t>
            </a:r>
            <a:endParaRPr lang="en-US" sz="1200" dirty="0"/>
          </a:p>
        </p:txBody>
      </p:sp>
      <p:sp>
        <p:nvSpPr>
          <p:cNvPr id="29" name="s7-box-25"/>
          <p:cNvSpPr/>
          <p:nvPr/>
        </p:nvSpPr>
        <p:spPr>
          <a:xfrm>
            <a:off x="365760" y="5457444"/>
            <a:ext cx="566928" cy="669036"/>
          </a:xfrm>
          <a:prstGeom prst="rect">
            <a:avLst/>
          </a:prstGeom>
          <a:solidFill>
            <a:schemeClr val="tx2"/>
          </a:solidFill>
          <a:ln/>
        </p:spPr>
      </p:sp>
      <p:sp>
        <p:nvSpPr>
          <p:cNvPr id="30" name="s7-text-26"/>
          <p:cNvSpPr txBox="1"/>
          <p:nvPr/>
        </p:nvSpPr>
        <p:spPr>
          <a:xfrm>
            <a:off x="365760" y="5457444"/>
            <a:ext cx="566928" cy="669036"/>
          </a:xfrm>
          <a:prstGeom prst="rect">
            <a:avLst/>
          </a:prstGeom>
          <a:noFill/>
          <a:ln/>
        </p:spPr>
        <p:txBody>
          <a:bodyPr wrap="square" lIns="0" tIns="0" rIns="0" bIns="0" rtlCol="0" anchor="ctr"/>
          <a:lstStyle/>
          <a:p>
            <a:pPr algn="ctr" indent="0" marL="0">
              <a:buNone/>
            </a:pPr>
            <a:r>
              <a:rPr lang="en-US" sz="1200" b="1" dirty="0">
                <a:solidFill>
                  <a:schemeClr val="bg1"/>
                </a:solidFill>
              </a:rPr>
              <a:t>F6</a:t>
            </a:r>
            <a:endParaRPr lang="en-US" sz="1200" dirty="0"/>
          </a:p>
        </p:txBody>
      </p:sp>
      <p:sp>
        <p:nvSpPr>
          <p:cNvPr id="31" name="s7-box-27"/>
          <p:cNvSpPr/>
          <p:nvPr/>
        </p:nvSpPr>
        <p:spPr>
          <a:xfrm>
            <a:off x="987552" y="5457444"/>
            <a:ext cx="5039716" cy="669036"/>
          </a:xfrm>
          <a:prstGeom prst="rect">
            <a:avLst/>
          </a:prstGeom>
          <a:solidFill>
            <a:schemeClr val="bg2"/>
          </a:solidFill>
          <a:ln/>
        </p:spPr>
      </p:sp>
      <p:sp>
        <p:nvSpPr>
          <p:cNvPr id="32" name="s7-text-28"/>
          <p:cNvSpPr txBox="1"/>
          <p:nvPr/>
        </p:nvSpPr>
        <p:spPr>
          <a:xfrm>
            <a:off x="1143000" y="5457444"/>
            <a:ext cx="4747108" cy="669036"/>
          </a:xfrm>
          <a:prstGeom prst="rect">
            <a:avLst/>
          </a:prstGeom>
          <a:noFill/>
          <a:ln/>
        </p:spPr>
        <p:txBody>
          <a:bodyPr wrap="square" lIns="0" tIns="0" rIns="0" bIns="0" rtlCol="0" anchor="ctr"/>
          <a:lstStyle/>
          <a:p>
            <a:pPr indent="0" marL="0">
              <a:buNone/>
            </a:pPr>
            <a:r>
              <a:rPr lang="en-US" sz="1200" dirty="0">
                <a:solidFill>
                  <a:schemeClr val="tx1"/>
                </a:solidFill>
              </a:rPr>
              <a:t>The SEC found the conduct misled the public about TSR’s price and trading volume.</a:t>
            </a:r>
            <a:endParaRPr lang="en-US" sz="1200" dirty="0"/>
          </a:p>
        </p:txBody>
      </p:sp>
      <p:sp>
        <p:nvSpPr>
          <p:cNvPr id="33" name="s7-box-29"/>
          <p:cNvSpPr/>
          <p:nvPr/>
        </p:nvSpPr>
        <p:spPr>
          <a:xfrm>
            <a:off x="6164428" y="1792224"/>
            <a:ext cx="566928" cy="1035558"/>
          </a:xfrm>
          <a:prstGeom prst="rect">
            <a:avLst/>
          </a:prstGeom>
          <a:solidFill>
            <a:schemeClr val="tx2"/>
          </a:solidFill>
          <a:ln/>
        </p:spPr>
      </p:sp>
      <p:sp>
        <p:nvSpPr>
          <p:cNvPr id="34" name="s7-text-30"/>
          <p:cNvSpPr txBox="1"/>
          <p:nvPr/>
        </p:nvSpPr>
        <p:spPr>
          <a:xfrm>
            <a:off x="6164428" y="1792224"/>
            <a:ext cx="566928" cy="1035558"/>
          </a:xfrm>
          <a:prstGeom prst="rect">
            <a:avLst/>
          </a:prstGeom>
          <a:noFill/>
          <a:ln/>
        </p:spPr>
        <p:txBody>
          <a:bodyPr wrap="square" lIns="0" tIns="0" rIns="0" bIns="0" rtlCol="0" anchor="ctr"/>
          <a:lstStyle/>
          <a:p>
            <a:pPr algn="ctr" indent="0" marL="0">
              <a:buNone/>
            </a:pPr>
            <a:r>
              <a:rPr lang="en-US" sz="1200" b="1" dirty="0">
                <a:solidFill>
                  <a:schemeClr val="bg1"/>
                </a:solidFill>
              </a:rPr>
              <a:t>F7</a:t>
            </a:r>
            <a:endParaRPr lang="en-US" sz="1200" dirty="0"/>
          </a:p>
        </p:txBody>
      </p:sp>
      <p:sp>
        <p:nvSpPr>
          <p:cNvPr id="35" name="s7-box-31"/>
          <p:cNvSpPr/>
          <p:nvPr/>
        </p:nvSpPr>
        <p:spPr>
          <a:xfrm>
            <a:off x="6786220" y="1792224"/>
            <a:ext cx="5039716" cy="1035558"/>
          </a:xfrm>
          <a:prstGeom prst="rect">
            <a:avLst/>
          </a:prstGeom>
          <a:solidFill>
            <a:schemeClr val="bg2"/>
          </a:solidFill>
          <a:ln/>
        </p:spPr>
      </p:sp>
      <p:sp>
        <p:nvSpPr>
          <p:cNvPr id="36" name="s7-text-32"/>
          <p:cNvSpPr txBox="1"/>
          <p:nvPr/>
        </p:nvSpPr>
        <p:spPr>
          <a:xfrm>
            <a:off x="6941668" y="1792224"/>
            <a:ext cx="4747108" cy="1035558"/>
          </a:xfrm>
          <a:prstGeom prst="rect">
            <a:avLst/>
          </a:prstGeom>
          <a:noFill/>
          <a:ln/>
        </p:spPr>
        <p:txBody>
          <a:bodyPr wrap="square" lIns="0" tIns="0" rIns="0" bIns="0" rtlCol="0" anchor="ctr"/>
          <a:lstStyle/>
          <a:p>
            <a:pPr indent="0" marL="0">
              <a:buNone/>
            </a:pPr>
            <a:r>
              <a:rPr lang="en-US" sz="1200" dirty="0">
                <a:solidFill>
                  <a:schemeClr val="tx1"/>
                </a:solidFill>
              </a:rPr>
              <a:t>The SET sent the information to the SEC in October 2022.</a:t>
            </a:r>
            <a:endParaRPr lang="en-US" sz="1200" dirty="0"/>
          </a:p>
        </p:txBody>
      </p:sp>
      <p:sp>
        <p:nvSpPr>
          <p:cNvPr id="37" name="s7-box-33"/>
          <p:cNvSpPr/>
          <p:nvPr/>
        </p:nvSpPr>
        <p:spPr>
          <a:xfrm>
            <a:off x="6164428" y="2891790"/>
            <a:ext cx="566928" cy="1035558"/>
          </a:xfrm>
          <a:prstGeom prst="rect">
            <a:avLst/>
          </a:prstGeom>
          <a:solidFill>
            <a:schemeClr val="tx2"/>
          </a:solidFill>
          <a:ln/>
        </p:spPr>
      </p:sp>
      <p:sp>
        <p:nvSpPr>
          <p:cNvPr id="38" name="s7-text-34"/>
          <p:cNvSpPr txBox="1"/>
          <p:nvPr/>
        </p:nvSpPr>
        <p:spPr>
          <a:xfrm>
            <a:off x="6164428" y="2891790"/>
            <a:ext cx="566928" cy="1035558"/>
          </a:xfrm>
          <a:prstGeom prst="rect">
            <a:avLst/>
          </a:prstGeom>
          <a:noFill/>
          <a:ln/>
        </p:spPr>
        <p:txBody>
          <a:bodyPr wrap="square" lIns="0" tIns="0" rIns="0" bIns="0" rtlCol="0" anchor="ctr"/>
          <a:lstStyle/>
          <a:p>
            <a:pPr algn="ctr" indent="0" marL="0">
              <a:buNone/>
            </a:pPr>
            <a:r>
              <a:rPr lang="en-US" sz="1200" b="1" dirty="0">
                <a:solidFill>
                  <a:schemeClr val="bg1"/>
                </a:solidFill>
              </a:rPr>
              <a:t>F8</a:t>
            </a:r>
            <a:endParaRPr lang="en-US" sz="1200" dirty="0"/>
          </a:p>
        </p:txBody>
      </p:sp>
      <p:sp>
        <p:nvSpPr>
          <p:cNvPr id="39" name="s7-box-35"/>
          <p:cNvSpPr/>
          <p:nvPr/>
        </p:nvSpPr>
        <p:spPr>
          <a:xfrm>
            <a:off x="6786220" y="2891790"/>
            <a:ext cx="5039716" cy="1035558"/>
          </a:xfrm>
          <a:prstGeom prst="rect">
            <a:avLst/>
          </a:prstGeom>
          <a:solidFill>
            <a:schemeClr val="bg2"/>
          </a:solidFill>
          <a:ln/>
        </p:spPr>
      </p:sp>
      <p:sp>
        <p:nvSpPr>
          <p:cNvPr id="40" name="s7-text-36"/>
          <p:cNvSpPr txBox="1"/>
          <p:nvPr/>
        </p:nvSpPr>
        <p:spPr>
          <a:xfrm>
            <a:off x="6941668" y="2891790"/>
            <a:ext cx="4747108" cy="1035558"/>
          </a:xfrm>
          <a:prstGeom prst="rect">
            <a:avLst/>
          </a:prstGeom>
          <a:noFill/>
          <a:ln/>
        </p:spPr>
        <p:txBody>
          <a:bodyPr wrap="square" lIns="0" tIns="0" rIns="0" bIns="0" rtlCol="0" anchor="ctr"/>
          <a:lstStyle/>
          <a:p>
            <a:pPr indent="0" marL="0">
              <a:buNone/>
            </a:pPr>
            <a:r>
              <a:rPr lang="en-US" sz="1200" dirty="0">
                <a:solidFill>
                  <a:schemeClr val="tx1"/>
                </a:solidFill>
              </a:rPr>
              <a:t>Announced 23 Jan 2026: the CSC imposed THB 32,327,329 (civil penalty + benefit + SEC costs), a 6-month trading ban and a 12-month director ban.</a:t>
            </a:r>
            <a:endParaRPr lang="en-US" sz="1200" dirty="0"/>
          </a:p>
        </p:txBody>
      </p:sp>
      <p:sp>
        <p:nvSpPr>
          <p:cNvPr id="41" name="s7-box-37"/>
          <p:cNvSpPr/>
          <p:nvPr/>
        </p:nvSpPr>
        <p:spPr>
          <a:xfrm>
            <a:off x="6164428" y="3991356"/>
            <a:ext cx="566928" cy="1035558"/>
          </a:xfrm>
          <a:prstGeom prst="rect">
            <a:avLst/>
          </a:prstGeom>
          <a:solidFill>
            <a:schemeClr val="tx2"/>
          </a:solidFill>
          <a:ln/>
        </p:spPr>
      </p:sp>
      <p:sp>
        <p:nvSpPr>
          <p:cNvPr id="42" name="s7-text-38"/>
          <p:cNvSpPr txBox="1"/>
          <p:nvPr/>
        </p:nvSpPr>
        <p:spPr>
          <a:xfrm>
            <a:off x="6164428" y="3991356"/>
            <a:ext cx="566928" cy="1035558"/>
          </a:xfrm>
          <a:prstGeom prst="rect">
            <a:avLst/>
          </a:prstGeom>
          <a:noFill/>
          <a:ln/>
        </p:spPr>
        <p:txBody>
          <a:bodyPr wrap="square" lIns="0" tIns="0" rIns="0" bIns="0" rtlCol="0" anchor="ctr"/>
          <a:lstStyle/>
          <a:p>
            <a:pPr algn="ctr" indent="0" marL="0">
              <a:buNone/>
            </a:pPr>
            <a:r>
              <a:rPr lang="en-US" sz="1200" b="1" dirty="0">
                <a:solidFill>
                  <a:schemeClr val="bg1"/>
                </a:solidFill>
              </a:rPr>
              <a:t>F9</a:t>
            </a:r>
            <a:endParaRPr lang="en-US" sz="1200" dirty="0"/>
          </a:p>
        </p:txBody>
      </p:sp>
      <p:sp>
        <p:nvSpPr>
          <p:cNvPr id="43" name="s7-box-39"/>
          <p:cNvSpPr/>
          <p:nvPr/>
        </p:nvSpPr>
        <p:spPr>
          <a:xfrm>
            <a:off x="6786220" y="3991356"/>
            <a:ext cx="5039716" cy="1035558"/>
          </a:xfrm>
          <a:prstGeom prst="rect">
            <a:avLst/>
          </a:prstGeom>
          <a:solidFill>
            <a:schemeClr val="bg2"/>
          </a:solidFill>
          <a:ln/>
        </p:spPr>
      </p:sp>
      <p:sp>
        <p:nvSpPr>
          <p:cNvPr id="44" name="s7-text-40"/>
          <p:cNvSpPr txBox="1"/>
          <p:nvPr/>
        </p:nvSpPr>
        <p:spPr>
          <a:xfrm>
            <a:off x="6941668" y="3991356"/>
            <a:ext cx="4747108" cy="1035558"/>
          </a:xfrm>
          <a:prstGeom prst="rect">
            <a:avLst/>
          </a:prstGeom>
          <a:noFill/>
          <a:ln/>
        </p:spPr>
        <p:txBody>
          <a:bodyPr wrap="square" lIns="0" tIns="0" rIns="0" bIns="0" rtlCol="0" anchor="ctr"/>
          <a:lstStyle/>
          <a:p>
            <a:pPr indent="0" marL="0">
              <a:buNone/>
            </a:pPr>
            <a:r>
              <a:rPr lang="en-US" sz="1200" dirty="0">
                <a:solidFill>
                  <a:schemeClr val="tx1"/>
                </a:solidFill>
              </a:rPr>
              <a:t>She did not consent. On 11 May 2026 the SEC asked the prosecutor to sue in the Civil Court for THB 43,018,879.32 + interest and maximum bans, and notified AMLO.</a:t>
            </a:r>
            <a:endParaRPr lang="en-US" sz="1200" dirty="0"/>
          </a:p>
        </p:txBody>
      </p:sp>
      <p:sp>
        <p:nvSpPr>
          <p:cNvPr id="45" name="s7-box-41"/>
          <p:cNvSpPr/>
          <p:nvPr/>
        </p:nvSpPr>
        <p:spPr>
          <a:xfrm>
            <a:off x="6164428" y="5090922"/>
            <a:ext cx="566928" cy="1035558"/>
          </a:xfrm>
          <a:prstGeom prst="rect">
            <a:avLst/>
          </a:prstGeom>
          <a:solidFill>
            <a:schemeClr val="accent5"/>
          </a:solidFill>
          <a:ln/>
        </p:spPr>
      </p:sp>
      <p:sp>
        <p:nvSpPr>
          <p:cNvPr id="46" name="s7-text-42"/>
          <p:cNvSpPr txBox="1"/>
          <p:nvPr/>
        </p:nvSpPr>
        <p:spPr>
          <a:xfrm>
            <a:off x="6164428" y="5090922"/>
            <a:ext cx="566928" cy="1035558"/>
          </a:xfrm>
          <a:prstGeom prst="rect">
            <a:avLst/>
          </a:prstGeom>
          <a:noFill/>
          <a:ln/>
        </p:spPr>
        <p:txBody>
          <a:bodyPr wrap="square" lIns="0" tIns="0" rIns="0" bIns="0" rtlCol="0" anchor="ctr"/>
          <a:lstStyle/>
          <a:p>
            <a:pPr algn="ctr" indent="0" marL="0">
              <a:buNone/>
            </a:pPr>
            <a:r>
              <a:rPr lang="en-US" sz="1200" b="1" dirty="0">
                <a:solidFill>
                  <a:schemeClr val="bg1"/>
                </a:solidFill>
              </a:rPr>
              <a:t>F10</a:t>
            </a:r>
            <a:endParaRPr lang="en-US" sz="1200" dirty="0"/>
          </a:p>
        </p:txBody>
      </p:sp>
      <p:sp>
        <p:nvSpPr>
          <p:cNvPr id="47" name="s7-box-43"/>
          <p:cNvSpPr/>
          <p:nvPr/>
        </p:nvSpPr>
        <p:spPr>
          <a:xfrm>
            <a:off x="6786220" y="5090922"/>
            <a:ext cx="5039716" cy="1035558"/>
          </a:xfrm>
          <a:prstGeom prst="rect">
            <a:avLst/>
          </a:prstGeom>
          <a:solidFill>
            <a:schemeClr val="bg2"/>
          </a:solidFill>
          <a:ln/>
        </p:spPr>
      </p:sp>
      <p:sp>
        <p:nvSpPr>
          <p:cNvPr id="48" name="s7-text-44"/>
          <p:cNvSpPr txBox="1"/>
          <p:nvPr/>
        </p:nvSpPr>
        <p:spPr>
          <a:xfrm>
            <a:off x="6941668" y="5090922"/>
            <a:ext cx="4747108" cy="1035558"/>
          </a:xfrm>
          <a:prstGeom prst="rect">
            <a:avLst/>
          </a:prstGeom>
          <a:noFill/>
          <a:ln/>
        </p:spPr>
        <p:txBody>
          <a:bodyPr wrap="square" lIns="0" tIns="0" rIns="0" bIns="0" rtlCol="0" anchor="ctr"/>
          <a:lstStyle/>
          <a:p>
            <a:pPr indent="0" marL="0">
              <a:buNone/>
            </a:pPr>
            <a:r>
              <a:rPr lang="en-US" sz="1200" dirty="0">
                <a:solidFill>
                  <a:schemeClr val="tx1"/>
                </a:solidFill>
              </a:rPr>
              <a:t>The news reports no pre-opening or pre-closing orders, false statements, inside information, use of others’ accounts, or system disruption.</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Facts: Inside the Order Book (F3, F4)</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illustration of the conduct described in Hoonsmart (24 Jan 2026)</a:t>
            </a:r>
            <a:endParaRPr lang="en-US" sz="1050" dirty="0"/>
          </a:p>
        </p:txBody>
      </p:sp>
      <p:sp>
        <p:nvSpPr>
          <p:cNvPr id="5" name="s8-subbar-1"/>
          <p:cNvSpPr/>
          <p:nvPr/>
        </p:nvSpPr>
        <p:spPr>
          <a:xfrm>
            <a:off x="365760" y="1353312"/>
            <a:ext cx="5486400" cy="347472"/>
          </a:xfrm>
          <a:prstGeom prst="rect">
            <a:avLst/>
          </a:prstGeom>
          <a:solidFill>
            <a:schemeClr val="tx2"/>
          </a:solidFill>
          <a:ln/>
        </p:spPr>
      </p:sp>
      <p:sp>
        <p:nvSpPr>
          <p:cNvPr id="6" name="s8-subbar-text-2"/>
          <p:cNvSpPr txBox="1"/>
          <p:nvPr/>
        </p:nvSpPr>
        <p:spPr>
          <a:xfrm>
            <a:off x="365760" y="1353312"/>
            <a:ext cx="5486400" cy="347472"/>
          </a:xfrm>
          <a:prstGeom prst="rect">
            <a:avLst/>
          </a:prstGeom>
          <a:noFill/>
          <a:ln/>
        </p:spPr>
        <p:txBody>
          <a:bodyPr wrap="square" lIns="0" tIns="0" rIns="0" bIns="0" rtlCol="0" anchor="ctr"/>
          <a:lstStyle/>
          <a:p>
            <a:pPr algn="ctr" indent="0" marL="0">
              <a:buNone/>
            </a:pPr>
            <a:r>
              <a:rPr lang="en-US" sz="1400" b="1" dirty="0">
                <a:solidFill>
                  <a:schemeClr val="bg1"/>
                </a:solidFill>
              </a:rPr>
              <a:t>Hypothetical Order Book</a:t>
            </a:r>
            <a:endParaRPr lang="en-US" sz="1400" dirty="0"/>
          </a:p>
        </p:txBody>
      </p:sp>
      <p:graphicFrame>
        <p:nvGraphicFramePr>
          <p:cNvPr id="9" name="s8-table-3"/>
          <p:cNvGraphicFramePr>
            <a:graphicFrameLocks noGrp="1"/>
          </p:cNvGraphicFramePr>
          <p:nvPr>
            <p:extLst>
              <p:ext uri="{D42A27DB-BD31-4B8C-83A1-F6EECF244321}">
                <p14:modId xmlns:p14="http://schemas.microsoft.com/office/powerpoint/2010/main" val="1579011935"/>
              </p:ext>
            </p:extLst>
          </p:nvPr>
        </p:nvGraphicFramePr>
        <p:xfrm>
          <a:off x="365760" y="1792224"/>
          <a:ext cx="5486400" cy="914400"/>
        </p:xfrm>
        <a:graphic>
          <a:graphicData uri="http://schemas.openxmlformats.org/drawingml/2006/table">
            <a:tbl>
              <a:tblPr/>
              <a:tblGrid>
                <a:gridCol w="1371600"/>
                <a:gridCol w="1371600"/>
                <a:gridCol w="1371600"/>
                <a:gridCol w="1371600"/>
              </a:tblGrid>
              <a:tr h="384048">
                <a:tc>
                  <a:txBody>
                    <a:bodyPr/>
                    <a:lstStyle/>
                    <a:p>
                      <a:pPr algn="ctr" indent="0" marL="0">
                        <a:buNone/>
                      </a:pPr>
                      <a:r>
                        <a:rPr lang="en-US" sz="1200" b="1" dirty="0">
                          <a:solidFill>
                            <a:schemeClr val="bg1"/>
                          </a:solidFill>
                        </a:rPr>
                        <a:t>Bid volume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Bid</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Offer</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Offer volume</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457200">
                <a:tc>
                  <a:txBody>
                    <a:bodyPr/>
                    <a:lstStyle/>
                    <a:p>
                      <a:pPr algn="ctr" indent="0" marL="0">
                        <a:buNone/>
                      </a:pPr>
                      <a:r>
                        <a:rPr lang="en-US" sz="1200" b="1" dirty="0">
                          <a:solidFill>
                            <a:schemeClr val="accent4"/>
                          </a:solidFill>
                        </a:rPr>
                        <a:t>2,500,000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algn="ctr" indent="0" marL="0">
                        <a:buNone/>
                      </a:pPr>
                      <a:r>
                        <a:rPr lang="en-US" sz="1200" b="1" dirty="0">
                          <a:solidFill>
                            <a:schemeClr val="accent4"/>
                          </a:solidFill>
                        </a:rPr>
                        <a:t>3.80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algn="ctr" indent="0" marL="0">
                        <a:buNone/>
                      </a:pPr>
                      <a:r>
                        <a:rPr lang="en-US" sz="1200" dirty="0">
                          <a:solidFill>
                            <a:schemeClr val="tx1"/>
                          </a:solidFill>
                        </a:rPr>
                        <a:t>3.82</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40,000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algn="ctr" indent="0" marL="0">
                        <a:buNone/>
                      </a:pPr>
                      <a:r>
                        <a:rPr lang="en-US" sz="1200" b="1" dirty="0">
                          <a:solidFill>
                            <a:schemeClr val="accent4"/>
                          </a:solidFill>
                        </a:rPr>
                        <a:t>1,800,000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algn="ctr" indent="0" marL="0">
                        <a:buNone/>
                      </a:pPr>
                      <a:r>
                        <a:rPr lang="en-US" sz="1200" b="1" dirty="0">
                          <a:solidFill>
                            <a:schemeClr val="accent4"/>
                          </a:solidFill>
                        </a:rPr>
                        <a:t>3.78</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c>
                  <a:txBody>
                    <a:bodyPr/>
                    <a:lstStyle/>
                    <a:p>
                      <a:pPr algn="ctr" indent="0" marL="0">
                        <a:buNone/>
                      </a:pPr>
                      <a:r>
                        <a:rPr lang="en-US" sz="1200" dirty="0">
                          <a:solidFill>
                            <a:schemeClr val="tx1"/>
                          </a:solidFill>
                        </a:rPr>
                        <a:t>3.84</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55,000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57200">
                <a:tc>
                  <a:txBody>
                    <a:bodyPr/>
                    <a:lstStyle/>
                    <a:p>
                      <a:pPr algn="ctr" indent="0" marL="0">
                        <a:buNone/>
                      </a:pPr>
                      <a:r>
                        <a:rPr lang="en-US" sz="1200" dirty="0">
                          <a:solidFill>
                            <a:schemeClr val="tx1"/>
                          </a:solidFill>
                        </a:rPr>
                        <a:t>60,000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3.76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3.86</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chemeClr val="tx1"/>
                          </a:solidFill>
                        </a:rPr>
                        <a:t>45,000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3.74</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3.88</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200" dirty="0">
                          <a:solidFill>
                            <a:schemeClr val="tx1"/>
                          </a:solidFill>
                        </a:rPr>
                        <a:t>70,000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457200">
                <a:tc>
                  <a:txBody>
                    <a:bodyPr/>
                    <a:lstStyle/>
                    <a:p>
                      <a:pPr algn="ctr" indent="0" marL="0">
                        <a:buNone/>
                      </a:pPr>
                      <a:r>
                        <a:rPr lang="en-US" sz="1200" dirty="0">
                          <a:solidFill>
                            <a:schemeClr val="tx1"/>
                          </a:solidFill>
                        </a:rPr>
                        <a:t>30,000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3.72</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3.90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25,000</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8" name="s8-box-4"/>
          <p:cNvSpPr/>
          <p:nvPr/>
        </p:nvSpPr>
        <p:spPr>
          <a:xfrm>
            <a:off x="365760" y="4599432"/>
            <a:ext cx="256032" cy="256032"/>
          </a:xfrm>
          <a:prstGeom prst="rect">
            <a:avLst/>
          </a:prstGeom>
          <a:solidFill>
            <a:srgbClr val="FFF3DC"/>
          </a:solidFill>
          <a:ln w="12700">
            <a:solidFill>
              <a:schemeClr val="accent4"/>
            </a:solidFill>
            <a:prstDash val="solid"/>
          </a:ln>
        </p:spPr>
      </p:sp>
      <p:sp>
        <p:nvSpPr>
          <p:cNvPr id="9" name="s8-text-5"/>
          <p:cNvSpPr txBox="1"/>
          <p:nvPr/>
        </p:nvSpPr>
        <p:spPr>
          <a:xfrm>
            <a:off x="749808" y="4572000"/>
            <a:ext cx="5102352" cy="310896"/>
          </a:xfrm>
          <a:prstGeom prst="rect">
            <a:avLst/>
          </a:prstGeom>
          <a:noFill/>
          <a:ln/>
        </p:spPr>
        <p:txBody>
          <a:bodyPr wrap="square" lIns="0" tIns="0" rIns="0" bIns="0" rtlCol="0" anchor="ctr"/>
          <a:lstStyle/>
          <a:p>
            <a:pPr indent="0" marL="0">
              <a:buNone/>
            </a:pPr>
            <a:r>
              <a:rPr lang="en-US" sz="1200" dirty="0">
                <a:solidFill>
                  <a:schemeClr val="tx1"/>
                </a:solidFill>
              </a:rPr>
              <a:t>Her large bid orders at levels 1 and 2 (F4)</a:t>
            </a:r>
            <a:endParaRPr lang="en-US" sz="1200" dirty="0"/>
          </a:p>
        </p:txBody>
      </p:sp>
      <p:sp>
        <p:nvSpPr>
          <p:cNvPr id="10" name="s8-box-6"/>
          <p:cNvSpPr/>
          <p:nvPr/>
        </p:nvSpPr>
        <p:spPr>
          <a:xfrm>
            <a:off x="365760" y="5010912"/>
            <a:ext cx="5486400" cy="1115568"/>
          </a:xfrm>
          <a:prstGeom prst="rect">
            <a:avLst/>
          </a:prstGeom>
          <a:solidFill>
            <a:schemeClr val="bg2"/>
          </a:solidFill>
          <a:ln/>
        </p:spPr>
      </p:sp>
      <p:sp>
        <p:nvSpPr>
          <p:cNvPr id="11" name="s8-text-7"/>
          <p:cNvSpPr txBox="1"/>
          <p:nvPr/>
        </p:nvSpPr>
        <p:spPr>
          <a:xfrm>
            <a:off x="548640" y="5010912"/>
            <a:ext cx="5120640" cy="1115568"/>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rPr>
              <a:t>Reading the board</a:t>
            </a:r>
            <a:endParaRPr lang="en-US" sz="1200" dirty="0"/>
          </a:p>
          <a:p>
            <a:pPr indent="0" marL="0">
              <a:spcAft>
                <a:spcPts val="300"/>
              </a:spcAft>
              <a:buNone/>
            </a:pPr>
            <a:r>
              <a:rPr lang="en-US" sz="1200" dirty="0">
                <a:solidFill>
                  <a:schemeClr val="tx1"/>
                </a:solidFill>
              </a:rPr>
              <a:t>Left = Bid (buyers’ orders) · Right = Offer (sellers’ orders).</a:t>
            </a:r>
            <a:endParaRPr lang="en-US" sz="1200" dirty="0"/>
          </a:p>
          <a:p>
            <a:pPr indent="0" marL="0">
              <a:spcAft>
                <a:spcPts val="300"/>
              </a:spcAft>
              <a:buNone/>
            </a:pPr>
            <a:r>
              <a:rPr lang="en-US" sz="1050" i="1" dirty="0">
                <a:solidFill>
                  <a:schemeClr val="accent5"/>
                </a:solidFill>
              </a:rPr>
              <a:t>Illustration only: the numbers are hypothetical, not actual TSR data.</a:t>
            </a:r>
            <a:endParaRPr lang="en-US" sz="1200" dirty="0"/>
          </a:p>
        </p:txBody>
      </p:sp>
      <p:sp>
        <p:nvSpPr>
          <p:cNvPr id="12" name="s8-subbar-8"/>
          <p:cNvSpPr/>
          <p:nvPr/>
        </p:nvSpPr>
        <p:spPr>
          <a:xfrm>
            <a:off x="5989320" y="1353312"/>
            <a:ext cx="5836615" cy="347472"/>
          </a:xfrm>
          <a:prstGeom prst="rect">
            <a:avLst/>
          </a:prstGeom>
          <a:solidFill>
            <a:schemeClr val="tx2"/>
          </a:solidFill>
          <a:ln/>
        </p:spPr>
      </p:sp>
      <p:sp>
        <p:nvSpPr>
          <p:cNvPr id="13" name="s8-subbar-text-9"/>
          <p:cNvSpPr txBox="1"/>
          <p:nvPr/>
        </p:nvSpPr>
        <p:spPr>
          <a:xfrm>
            <a:off x="5989320" y="1353312"/>
            <a:ext cx="5836615" cy="347472"/>
          </a:xfrm>
          <a:prstGeom prst="rect">
            <a:avLst/>
          </a:prstGeom>
          <a:noFill/>
          <a:ln/>
        </p:spPr>
        <p:txBody>
          <a:bodyPr wrap="square" lIns="0" tIns="0" rIns="0" bIns="0" rtlCol="0" anchor="ctr"/>
          <a:lstStyle/>
          <a:p>
            <a:pPr algn="ctr" indent="0" marL="0">
              <a:buNone/>
            </a:pPr>
            <a:r>
              <a:rPr lang="en-US" sz="1400" b="1" dirty="0">
                <a:solidFill>
                  <a:schemeClr val="bg1"/>
                </a:solidFill>
              </a:rPr>
              <a:t>How the Pattern Works</a:t>
            </a:r>
            <a:endParaRPr lang="en-US" sz="1400" dirty="0"/>
          </a:p>
        </p:txBody>
      </p:sp>
      <p:sp>
        <p:nvSpPr>
          <p:cNvPr id="14" name="s8-box-10"/>
          <p:cNvSpPr/>
          <p:nvPr/>
        </p:nvSpPr>
        <p:spPr>
          <a:xfrm>
            <a:off x="5989320" y="1792224"/>
            <a:ext cx="5836615" cy="1371600"/>
          </a:xfrm>
          <a:prstGeom prst="rect">
            <a:avLst/>
          </a:prstGeom>
          <a:solidFill>
            <a:schemeClr val="bg2"/>
          </a:solidFill>
          <a:ln/>
        </p:spPr>
      </p:sp>
      <p:sp>
        <p:nvSpPr>
          <p:cNvPr id="15" name="s8-num-11"/>
          <p:cNvSpPr/>
          <p:nvPr/>
        </p:nvSpPr>
        <p:spPr>
          <a:xfrm>
            <a:off x="6263640" y="2194560"/>
            <a:ext cx="566928" cy="566928"/>
          </a:xfrm>
          <a:prstGeom prst="ellipse">
            <a:avLst/>
          </a:prstGeom>
          <a:solidFill>
            <a:schemeClr val="tx2"/>
          </a:solidFill>
          <a:ln/>
        </p:spPr>
      </p:sp>
      <p:sp>
        <p:nvSpPr>
          <p:cNvPr id="16" name="s8-num-text-12"/>
          <p:cNvSpPr txBox="1"/>
          <p:nvPr/>
        </p:nvSpPr>
        <p:spPr>
          <a:xfrm>
            <a:off x="6263640" y="21945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7" name="s8-text-13"/>
          <p:cNvSpPr txBox="1"/>
          <p:nvPr/>
        </p:nvSpPr>
        <p:spPr>
          <a:xfrm>
            <a:off x="7086600" y="2020824"/>
            <a:ext cx="4510735" cy="292608"/>
          </a:xfrm>
          <a:prstGeom prst="rect">
            <a:avLst/>
          </a:prstGeom>
          <a:noFill/>
          <a:ln/>
        </p:spPr>
        <p:txBody>
          <a:bodyPr wrap="square" lIns="0" tIns="0" rIns="0" bIns="0" rtlCol="0" anchor="t"/>
          <a:lstStyle/>
          <a:p>
            <a:pPr indent="0" marL="0">
              <a:buNone/>
            </a:pPr>
            <a:r>
              <a:rPr lang="en-US" sz="1300" b="1" dirty="0">
                <a:solidFill>
                  <a:schemeClr val="tx2"/>
                </a:solidFill>
              </a:rPr>
              <a:t>Sweep (F3)</a:t>
            </a:r>
            <a:endParaRPr lang="en-US" sz="1300" dirty="0"/>
          </a:p>
        </p:txBody>
      </p:sp>
      <p:sp>
        <p:nvSpPr>
          <p:cNvPr id="18" name="s8-text-14"/>
          <p:cNvSpPr txBox="1"/>
          <p:nvPr/>
        </p:nvSpPr>
        <p:spPr>
          <a:xfrm>
            <a:off x="7086600" y="2359152"/>
            <a:ext cx="4510735" cy="640080"/>
          </a:xfrm>
          <a:prstGeom prst="rect">
            <a:avLst/>
          </a:prstGeom>
          <a:noFill/>
          <a:ln/>
        </p:spPr>
        <p:txBody>
          <a:bodyPr wrap="square" lIns="0" tIns="0" rIns="0" bIns="0" rtlCol="0" anchor="t"/>
          <a:lstStyle/>
          <a:p>
            <a:pPr indent="0" marL="0">
              <a:buNone/>
            </a:pPr>
            <a:r>
              <a:rPr lang="en-US" sz="1200" dirty="0">
                <a:solidFill>
                  <a:schemeClr val="tx1"/>
                </a:solidFill>
              </a:rPr>
              <a:t>She buys up every offer at 3.82, so the last traded price ticks up.</a:t>
            </a:r>
            <a:endParaRPr lang="en-US" sz="1200" dirty="0"/>
          </a:p>
        </p:txBody>
      </p:sp>
      <p:sp>
        <p:nvSpPr>
          <p:cNvPr id="19" name="s8-box-15"/>
          <p:cNvSpPr/>
          <p:nvPr/>
        </p:nvSpPr>
        <p:spPr>
          <a:xfrm>
            <a:off x="5989320" y="3273552"/>
            <a:ext cx="5836615" cy="1371600"/>
          </a:xfrm>
          <a:prstGeom prst="rect">
            <a:avLst/>
          </a:prstGeom>
          <a:solidFill>
            <a:schemeClr val="bg2"/>
          </a:solidFill>
          <a:ln/>
        </p:spPr>
      </p:sp>
      <p:sp>
        <p:nvSpPr>
          <p:cNvPr id="20" name="s8-num-16"/>
          <p:cNvSpPr/>
          <p:nvPr/>
        </p:nvSpPr>
        <p:spPr>
          <a:xfrm>
            <a:off x="6263640" y="3675888"/>
            <a:ext cx="566928" cy="566928"/>
          </a:xfrm>
          <a:prstGeom prst="ellipse">
            <a:avLst/>
          </a:prstGeom>
          <a:solidFill>
            <a:schemeClr val="tx2"/>
          </a:solidFill>
          <a:ln/>
        </p:spPr>
      </p:sp>
      <p:sp>
        <p:nvSpPr>
          <p:cNvPr id="21" name="s8-num-text-17"/>
          <p:cNvSpPr txBox="1"/>
          <p:nvPr/>
        </p:nvSpPr>
        <p:spPr>
          <a:xfrm>
            <a:off x="6263640" y="3675888"/>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2" name="s8-text-18"/>
          <p:cNvSpPr txBox="1"/>
          <p:nvPr/>
        </p:nvSpPr>
        <p:spPr>
          <a:xfrm>
            <a:off x="7086600" y="3502152"/>
            <a:ext cx="4510735" cy="292608"/>
          </a:xfrm>
          <a:prstGeom prst="rect">
            <a:avLst/>
          </a:prstGeom>
          <a:noFill/>
          <a:ln/>
        </p:spPr>
        <p:txBody>
          <a:bodyPr wrap="square" lIns="0" tIns="0" rIns="0" bIns="0" rtlCol="0" anchor="t"/>
          <a:lstStyle/>
          <a:p>
            <a:pPr indent="0" marL="0">
              <a:buNone/>
            </a:pPr>
            <a:r>
              <a:rPr lang="en-US" sz="1300" b="1" dirty="0">
                <a:solidFill>
                  <a:schemeClr val="tx2"/>
                </a:solidFill>
              </a:rPr>
              <a:t>Wall (F4)</a:t>
            </a:r>
            <a:endParaRPr lang="en-US" sz="1300" dirty="0"/>
          </a:p>
        </p:txBody>
      </p:sp>
      <p:sp>
        <p:nvSpPr>
          <p:cNvPr id="23" name="s8-text-19"/>
          <p:cNvSpPr txBox="1"/>
          <p:nvPr/>
        </p:nvSpPr>
        <p:spPr>
          <a:xfrm>
            <a:off x="7086600" y="3840480"/>
            <a:ext cx="4510735" cy="640080"/>
          </a:xfrm>
          <a:prstGeom prst="rect">
            <a:avLst/>
          </a:prstGeom>
          <a:noFill/>
          <a:ln/>
        </p:spPr>
        <p:txBody>
          <a:bodyPr wrap="square" lIns="0" tIns="0" rIns="0" bIns="0" rtlCol="0" anchor="t"/>
          <a:lstStyle/>
          <a:p>
            <a:pPr indent="0" marL="0">
              <a:buNone/>
            </a:pPr>
            <a:r>
              <a:rPr lang="en-US" sz="1200" dirty="0">
                <a:solidFill>
                  <a:schemeClr val="tx1"/>
                </a:solidFill>
              </a:rPr>
              <a:t>She parks huge bids at 3.80 and 3.78; the board shows ‘strong demand’.</a:t>
            </a:r>
            <a:endParaRPr lang="en-US" sz="1200" dirty="0"/>
          </a:p>
        </p:txBody>
      </p:sp>
      <p:sp>
        <p:nvSpPr>
          <p:cNvPr id="24" name="s8-box-20"/>
          <p:cNvSpPr/>
          <p:nvPr/>
        </p:nvSpPr>
        <p:spPr>
          <a:xfrm>
            <a:off x="5989320" y="4754880"/>
            <a:ext cx="5836615" cy="1371600"/>
          </a:xfrm>
          <a:prstGeom prst="rect">
            <a:avLst/>
          </a:prstGeom>
          <a:solidFill>
            <a:schemeClr val="bg2"/>
          </a:solidFill>
          <a:ln/>
        </p:spPr>
      </p:sp>
      <p:sp>
        <p:nvSpPr>
          <p:cNvPr id="25" name="s8-num-21"/>
          <p:cNvSpPr/>
          <p:nvPr/>
        </p:nvSpPr>
        <p:spPr>
          <a:xfrm>
            <a:off x="6263640" y="5157216"/>
            <a:ext cx="566928" cy="566928"/>
          </a:xfrm>
          <a:prstGeom prst="ellipse">
            <a:avLst/>
          </a:prstGeom>
          <a:solidFill>
            <a:schemeClr val="tx2"/>
          </a:solidFill>
          <a:ln/>
        </p:spPr>
      </p:sp>
      <p:sp>
        <p:nvSpPr>
          <p:cNvPr id="26" name="s8-num-text-22"/>
          <p:cNvSpPr txBox="1"/>
          <p:nvPr/>
        </p:nvSpPr>
        <p:spPr>
          <a:xfrm>
            <a:off x="6263640" y="5157216"/>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7" name="s8-text-23"/>
          <p:cNvSpPr txBox="1"/>
          <p:nvPr/>
        </p:nvSpPr>
        <p:spPr>
          <a:xfrm>
            <a:off x="7086600" y="4983480"/>
            <a:ext cx="4510735" cy="292608"/>
          </a:xfrm>
          <a:prstGeom prst="rect">
            <a:avLst/>
          </a:prstGeom>
          <a:noFill/>
          <a:ln/>
        </p:spPr>
        <p:txBody>
          <a:bodyPr wrap="square" lIns="0" tIns="0" rIns="0" bIns="0" rtlCol="0" anchor="t"/>
          <a:lstStyle/>
          <a:p>
            <a:pPr indent="0" marL="0">
              <a:buNone/>
            </a:pPr>
            <a:r>
              <a:rPr lang="en-US" sz="1300" b="1" dirty="0">
                <a:solidFill>
                  <a:schemeClr val="tx2"/>
                </a:solidFill>
              </a:rPr>
              <a:t>Squeeze (F4)</a:t>
            </a:r>
            <a:endParaRPr lang="en-US" sz="1300" dirty="0"/>
          </a:p>
        </p:txBody>
      </p:sp>
      <p:sp>
        <p:nvSpPr>
          <p:cNvPr id="28" name="s8-text-24"/>
          <p:cNvSpPr txBox="1"/>
          <p:nvPr/>
        </p:nvSpPr>
        <p:spPr>
          <a:xfrm>
            <a:off x="7086600" y="5321808"/>
            <a:ext cx="4510735" cy="640080"/>
          </a:xfrm>
          <a:prstGeom prst="rect">
            <a:avLst/>
          </a:prstGeom>
          <a:noFill/>
          <a:ln/>
        </p:spPr>
        <p:txBody>
          <a:bodyPr wrap="square" lIns="0" tIns="0" rIns="0" bIns="0" rtlCol="0" anchor="t"/>
          <a:lstStyle/>
          <a:p>
            <a:pPr indent="0" marL="0">
              <a:buNone/>
            </a:pPr>
            <a:r>
              <a:rPr lang="en-US" sz="1200" dirty="0">
                <a:solidFill>
                  <a:schemeClr val="tx1"/>
                </a:solidFill>
              </a:rPr>
              <a:t>Real buyers cannot get filled at the bid, so they pay the offer or higher. Repeat.</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Facts: The Motive — Why Push TSR Up? (F5)</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(24 Jan 2026); Mitihoon (23 Jan 2026); Securities and Exchange Act s.244/3(2)</a:t>
            </a:r>
            <a:endParaRPr lang="en-US" sz="1050" dirty="0"/>
          </a:p>
        </p:txBody>
      </p:sp>
      <p:sp>
        <p:nvSpPr>
          <p:cNvPr id="5" name="s9-subbar-1"/>
          <p:cNvSpPr/>
          <p:nvPr/>
        </p:nvSpPr>
        <p:spPr>
          <a:xfrm>
            <a:off x="365760" y="1353312"/>
            <a:ext cx="11460175" cy="347472"/>
          </a:xfrm>
          <a:prstGeom prst="rect">
            <a:avLst/>
          </a:prstGeom>
          <a:solidFill>
            <a:schemeClr val="tx2"/>
          </a:solidFill>
          <a:ln/>
        </p:spPr>
      </p:sp>
      <p:sp>
        <p:nvSpPr>
          <p:cNvPr id="6" name="s9-subbar-text-2"/>
          <p:cNvSpPr txBox="1"/>
          <p:nvPr/>
        </p:nvSpPr>
        <p:spPr>
          <a:xfrm>
            <a:off x="365760" y="135331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Motive 1 · Make SABUY’s Profit Look Better</a:t>
            </a:r>
            <a:endParaRPr lang="en-US" sz="1400" dirty="0"/>
          </a:p>
        </p:txBody>
      </p:sp>
      <p:sp>
        <p:nvSpPr>
          <p:cNvPr id="7" name="s9-box-3"/>
          <p:cNvSpPr/>
          <p:nvPr/>
        </p:nvSpPr>
        <p:spPr>
          <a:xfrm>
            <a:off x="365760" y="1792224"/>
            <a:ext cx="2522144" cy="1371600"/>
          </a:xfrm>
          <a:prstGeom prst="rect">
            <a:avLst/>
          </a:prstGeom>
          <a:solidFill>
            <a:schemeClr val="bg2"/>
          </a:solidFill>
          <a:ln/>
        </p:spPr>
      </p:sp>
      <p:sp>
        <p:nvSpPr>
          <p:cNvPr id="8" name="s9-text-4"/>
          <p:cNvSpPr txBox="1"/>
          <p:nvPr/>
        </p:nvSpPr>
        <p:spPr>
          <a:xfrm>
            <a:off x="548640" y="1975104"/>
            <a:ext cx="2156384" cy="548640"/>
          </a:xfrm>
          <a:prstGeom prst="rect">
            <a:avLst/>
          </a:prstGeom>
          <a:noFill/>
          <a:ln/>
        </p:spPr>
        <p:txBody>
          <a:bodyPr wrap="square" lIns="0" tIns="0" rIns="0" bIns="0" rtlCol="0" anchor="ctr"/>
          <a:lstStyle/>
          <a:p>
            <a:pPr indent="0" marL="0">
              <a:buNone/>
            </a:pPr>
            <a:r>
              <a:rPr lang="en-US" sz="1300" b="1" dirty="0">
                <a:solidFill>
                  <a:schemeClr val="tx2"/>
                </a:solidFill>
              </a:rPr>
              <a:t>Push TSR’s price up</a:t>
            </a:r>
            <a:endParaRPr lang="en-US" sz="1300" dirty="0"/>
          </a:p>
        </p:txBody>
      </p:sp>
      <p:sp>
        <p:nvSpPr>
          <p:cNvPr id="9" name="s9-text-5"/>
          <p:cNvSpPr txBox="1"/>
          <p:nvPr/>
        </p:nvSpPr>
        <p:spPr>
          <a:xfrm>
            <a:off x="548640" y="2569464"/>
            <a:ext cx="2156384" cy="457200"/>
          </a:xfrm>
          <a:prstGeom prst="rect">
            <a:avLst/>
          </a:prstGeom>
          <a:noFill/>
          <a:ln/>
        </p:spPr>
        <p:txBody>
          <a:bodyPr wrap="square" lIns="0" tIns="0" rIns="0" bIns="0" rtlCol="0" anchor="t"/>
          <a:lstStyle/>
          <a:p>
            <a:pPr indent="0" marL="0">
              <a:buNone/>
            </a:pPr>
            <a:r>
              <a:rPr lang="en-US" sz="1200" dirty="0">
                <a:solidFill>
                  <a:schemeClr val="tx1"/>
                </a:solidFill>
              </a:rPr>
              <a:t>Buy-side pressure from 22 Jun 2022</a:t>
            </a:r>
            <a:endParaRPr lang="en-US" sz="1200" dirty="0"/>
          </a:p>
        </p:txBody>
      </p:sp>
      <p:sp>
        <p:nvSpPr>
          <p:cNvPr id="10" name="s9-arrow-6"/>
          <p:cNvSpPr/>
          <p:nvPr/>
        </p:nvSpPr>
        <p:spPr>
          <a:xfrm>
            <a:off x="2970200" y="2313432"/>
            <a:ext cx="292608" cy="329184"/>
          </a:xfrm>
          <a:prstGeom prst="rightArrow">
            <a:avLst/>
          </a:prstGeom>
          <a:solidFill>
            <a:schemeClr val="tx2"/>
          </a:solidFill>
          <a:ln/>
        </p:spPr>
      </p:sp>
      <p:sp>
        <p:nvSpPr>
          <p:cNvPr id="11" name="s9-box-7"/>
          <p:cNvSpPr/>
          <p:nvPr/>
        </p:nvSpPr>
        <p:spPr>
          <a:xfrm>
            <a:off x="3345104" y="1792224"/>
            <a:ext cx="2522144" cy="1371600"/>
          </a:xfrm>
          <a:prstGeom prst="rect">
            <a:avLst/>
          </a:prstGeom>
          <a:solidFill>
            <a:schemeClr val="bg2"/>
          </a:solidFill>
          <a:ln/>
        </p:spPr>
      </p:sp>
      <p:sp>
        <p:nvSpPr>
          <p:cNvPr id="12" name="s9-text-8"/>
          <p:cNvSpPr txBox="1"/>
          <p:nvPr/>
        </p:nvSpPr>
        <p:spPr>
          <a:xfrm>
            <a:off x="3527984" y="1975104"/>
            <a:ext cx="2156384" cy="548640"/>
          </a:xfrm>
          <a:prstGeom prst="rect">
            <a:avLst/>
          </a:prstGeom>
          <a:noFill/>
          <a:ln/>
        </p:spPr>
        <p:txBody>
          <a:bodyPr wrap="square" lIns="0" tIns="0" rIns="0" bIns="0" rtlCol="0" anchor="ctr"/>
          <a:lstStyle/>
          <a:p>
            <a:pPr indent="0" marL="0">
              <a:buNone/>
            </a:pPr>
            <a:r>
              <a:rPr lang="en-US" sz="1300" b="1" dirty="0">
                <a:solidFill>
                  <a:schemeClr val="tx2"/>
                </a:solidFill>
              </a:rPr>
              <a:t>Quarter-end: 30 Jun 2022</a:t>
            </a:r>
            <a:endParaRPr lang="en-US" sz="1300" dirty="0"/>
          </a:p>
        </p:txBody>
      </p:sp>
      <p:sp>
        <p:nvSpPr>
          <p:cNvPr id="13" name="s9-text-9"/>
          <p:cNvSpPr txBox="1"/>
          <p:nvPr/>
        </p:nvSpPr>
        <p:spPr>
          <a:xfrm>
            <a:off x="3527984" y="2569464"/>
            <a:ext cx="2156384" cy="457200"/>
          </a:xfrm>
          <a:prstGeom prst="rect">
            <a:avLst/>
          </a:prstGeom>
          <a:noFill/>
          <a:ln/>
        </p:spPr>
        <p:txBody>
          <a:bodyPr wrap="square" lIns="0" tIns="0" rIns="0" bIns="0" rtlCol="0" anchor="t"/>
          <a:lstStyle/>
          <a:p>
            <a:pPr indent="0" marL="0">
              <a:buNone/>
            </a:pPr>
            <a:r>
              <a:rPr lang="en-US" sz="1200" dirty="0">
                <a:solidFill>
                  <a:schemeClr val="tx1"/>
                </a:solidFill>
              </a:rPr>
              <a:t>Q2/2022 closes 8 days later</a:t>
            </a:r>
            <a:endParaRPr lang="en-US" sz="1200" dirty="0"/>
          </a:p>
        </p:txBody>
      </p:sp>
      <p:sp>
        <p:nvSpPr>
          <p:cNvPr id="14" name="s9-arrow-10"/>
          <p:cNvSpPr/>
          <p:nvPr/>
        </p:nvSpPr>
        <p:spPr>
          <a:xfrm>
            <a:off x="5949544" y="2313432"/>
            <a:ext cx="292608" cy="329184"/>
          </a:xfrm>
          <a:prstGeom prst="rightArrow">
            <a:avLst/>
          </a:prstGeom>
          <a:solidFill>
            <a:schemeClr val="tx2"/>
          </a:solidFill>
          <a:ln/>
        </p:spPr>
      </p:sp>
      <p:sp>
        <p:nvSpPr>
          <p:cNvPr id="15" name="s9-box-11"/>
          <p:cNvSpPr/>
          <p:nvPr/>
        </p:nvSpPr>
        <p:spPr>
          <a:xfrm>
            <a:off x="6324448" y="1792224"/>
            <a:ext cx="2522144" cy="1371600"/>
          </a:xfrm>
          <a:prstGeom prst="rect">
            <a:avLst/>
          </a:prstGeom>
          <a:solidFill>
            <a:schemeClr val="bg2"/>
          </a:solidFill>
          <a:ln/>
        </p:spPr>
      </p:sp>
      <p:sp>
        <p:nvSpPr>
          <p:cNvPr id="16" name="s9-text-12"/>
          <p:cNvSpPr txBox="1"/>
          <p:nvPr/>
        </p:nvSpPr>
        <p:spPr>
          <a:xfrm>
            <a:off x="6507328" y="1975104"/>
            <a:ext cx="2156384" cy="548640"/>
          </a:xfrm>
          <a:prstGeom prst="rect">
            <a:avLst/>
          </a:prstGeom>
          <a:noFill/>
          <a:ln/>
        </p:spPr>
        <p:txBody>
          <a:bodyPr wrap="square" lIns="0" tIns="0" rIns="0" bIns="0" rtlCol="0" anchor="ctr"/>
          <a:lstStyle/>
          <a:p>
            <a:pPr indent="0" marL="0">
              <a:buNone/>
            </a:pPr>
            <a:r>
              <a:rPr lang="en-US" sz="1300" b="1" dirty="0">
                <a:solidFill>
                  <a:schemeClr val="tx2"/>
                </a:solidFill>
              </a:rPr>
              <a:t>SABUY re-measures TSR</a:t>
            </a:r>
            <a:endParaRPr lang="en-US" sz="1300" dirty="0"/>
          </a:p>
        </p:txBody>
      </p:sp>
      <p:sp>
        <p:nvSpPr>
          <p:cNvPr id="17" name="s9-text-13"/>
          <p:cNvSpPr txBox="1"/>
          <p:nvPr/>
        </p:nvSpPr>
        <p:spPr>
          <a:xfrm>
            <a:off x="6507328" y="2569464"/>
            <a:ext cx="2156384" cy="457200"/>
          </a:xfrm>
          <a:prstGeom prst="rect">
            <a:avLst/>
          </a:prstGeom>
          <a:noFill/>
          <a:ln/>
        </p:spPr>
        <p:txBody>
          <a:bodyPr wrap="square" lIns="0" tIns="0" rIns="0" bIns="0" rtlCol="0" anchor="t"/>
          <a:lstStyle/>
          <a:p>
            <a:pPr indent="0" marL="0">
              <a:buNone/>
            </a:pPr>
            <a:r>
              <a:rPr lang="en-US" sz="1200" dirty="0">
                <a:solidFill>
                  <a:schemeClr val="tx1"/>
                </a:solidFill>
              </a:rPr>
              <a:t>Investment carried at fair value</a:t>
            </a:r>
            <a:endParaRPr lang="en-US" sz="1200" dirty="0"/>
          </a:p>
        </p:txBody>
      </p:sp>
      <p:sp>
        <p:nvSpPr>
          <p:cNvPr id="18" name="s9-arrow-14"/>
          <p:cNvSpPr/>
          <p:nvPr/>
        </p:nvSpPr>
        <p:spPr>
          <a:xfrm>
            <a:off x="8928887" y="2313432"/>
            <a:ext cx="292608" cy="329184"/>
          </a:xfrm>
          <a:prstGeom prst="rightArrow">
            <a:avLst/>
          </a:prstGeom>
          <a:solidFill>
            <a:schemeClr val="tx2"/>
          </a:solidFill>
          <a:ln/>
        </p:spPr>
      </p:sp>
      <p:sp>
        <p:nvSpPr>
          <p:cNvPr id="19" name="s9-box-15"/>
          <p:cNvSpPr/>
          <p:nvPr/>
        </p:nvSpPr>
        <p:spPr>
          <a:xfrm>
            <a:off x="9303791" y="1792224"/>
            <a:ext cx="2522144" cy="1371600"/>
          </a:xfrm>
          <a:prstGeom prst="rect">
            <a:avLst/>
          </a:prstGeom>
          <a:solidFill>
            <a:srgbClr val="FFF3DC"/>
          </a:solidFill>
          <a:ln w="12700">
            <a:solidFill>
              <a:schemeClr val="accent4"/>
            </a:solidFill>
            <a:prstDash val="solid"/>
          </a:ln>
        </p:spPr>
      </p:sp>
      <p:sp>
        <p:nvSpPr>
          <p:cNvPr id="20" name="s9-text-16"/>
          <p:cNvSpPr txBox="1"/>
          <p:nvPr/>
        </p:nvSpPr>
        <p:spPr>
          <a:xfrm>
            <a:off x="9486671" y="1975104"/>
            <a:ext cx="2156384" cy="548640"/>
          </a:xfrm>
          <a:prstGeom prst="rect">
            <a:avLst/>
          </a:prstGeom>
          <a:noFill/>
          <a:ln/>
        </p:spPr>
        <p:txBody>
          <a:bodyPr wrap="square" lIns="0" tIns="0" rIns="0" bIns="0" rtlCol="0" anchor="ctr"/>
          <a:lstStyle/>
          <a:p>
            <a:pPr indent="0" marL="0">
              <a:buNone/>
            </a:pPr>
            <a:r>
              <a:rPr lang="en-US" sz="1300" b="1" dirty="0">
                <a:solidFill>
                  <a:schemeClr val="tx2"/>
                </a:solidFill>
              </a:rPr>
              <a:t>Paper gain in Q2 profit</a:t>
            </a:r>
            <a:endParaRPr lang="en-US" sz="1300" dirty="0"/>
          </a:p>
        </p:txBody>
      </p:sp>
      <p:sp>
        <p:nvSpPr>
          <p:cNvPr id="21" name="s9-text-17"/>
          <p:cNvSpPr txBox="1"/>
          <p:nvPr/>
        </p:nvSpPr>
        <p:spPr>
          <a:xfrm>
            <a:off x="9486671" y="2569464"/>
            <a:ext cx="2156384" cy="457200"/>
          </a:xfrm>
          <a:prstGeom prst="rect">
            <a:avLst/>
          </a:prstGeom>
          <a:noFill/>
          <a:ln/>
        </p:spPr>
        <p:txBody>
          <a:bodyPr wrap="square" lIns="0" tIns="0" rIns="0" bIns="0" rtlCol="0" anchor="t"/>
          <a:lstStyle/>
          <a:p>
            <a:pPr indent="0" marL="0">
              <a:buNone/>
            </a:pPr>
            <a:r>
              <a:rPr lang="en-US" sz="1200" dirty="0">
                <a:solidFill>
                  <a:schemeClr val="tx1"/>
                </a:solidFill>
              </a:rPr>
              <a:t>Earnings look better, nothing sold</a:t>
            </a:r>
            <a:endParaRPr lang="en-US" sz="1200" dirty="0"/>
          </a:p>
        </p:txBody>
      </p:sp>
      <p:sp>
        <p:nvSpPr>
          <p:cNvPr id="22" name="s9-subbar-18"/>
          <p:cNvSpPr/>
          <p:nvPr/>
        </p:nvSpPr>
        <p:spPr>
          <a:xfrm>
            <a:off x="365760" y="3346704"/>
            <a:ext cx="5661508" cy="347472"/>
          </a:xfrm>
          <a:prstGeom prst="rect">
            <a:avLst/>
          </a:prstGeom>
          <a:solidFill>
            <a:schemeClr val="tx2"/>
          </a:solidFill>
          <a:ln/>
        </p:spPr>
      </p:sp>
      <p:sp>
        <p:nvSpPr>
          <p:cNvPr id="23" name="s9-subbar-text-19"/>
          <p:cNvSpPr txBox="1"/>
          <p:nvPr/>
        </p:nvSpPr>
        <p:spPr>
          <a:xfrm>
            <a:off x="365760" y="3346704"/>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Motive 2 · Trading Profit</a:t>
            </a:r>
            <a:endParaRPr lang="en-US" sz="1400" dirty="0"/>
          </a:p>
        </p:txBody>
      </p:sp>
      <p:sp>
        <p:nvSpPr>
          <p:cNvPr id="24" name="s9-subbar-20"/>
          <p:cNvSpPr/>
          <p:nvPr/>
        </p:nvSpPr>
        <p:spPr>
          <a:xfrm>
            <a:off x="6164428" y="3346704"/>
            <a:ext cx="5661508" cy="347472"/>
          </a:xfrm>
          <a:prstGeom prst="rect">
            <a:avLst/>
          </a:prstGeom>
          <a:solidFill>
            <a:schemeClr val="tx2"/>
          </a:solidFill>
          <a:ln/>
        </p:spPr>
      </p:sp>
      <p:sp>
        <p:nvSpPr>
          <p:cNvPr id="25" name="s9-subbar-text-21"/>
          <p:cNvSpPr txBox="1"/>
          <p:nvPr/>
        </p:nvSpPr>
        <p:spPr>
          <a:xfrm>
            <a:off x="6164428" y="3346704"/>
            <a:ext cx="5661508" cy="347472"/>
          </a:xfrm>
          <a:prstGeom prst="rect">
            <a:avLst/>
          </a:prstGeom>
          <a:noFill/>
          <a:ln/>
        </p:spPr>
        <p:txBody>
          <a:bodyPr wrap="square" lIns="0" tIns="0" rIns="0" bIns="0" rtlCol="0" anchor="ctr"/>
          <a:lstStyle/>
          <a:p>
            <a:pPr algn="ctr" indent="0" marL="0">
              <a:buNone/>
            </a:pPr>
            <a:r>
              <a:rPr lang="en-US" sz="1400" b="1" dirty="0">
                <a:solidFill>
                  <a:schemeClr val="bg1"/>
                </a:solidFill>
              </a:rPr>
              <a:t>Why It Matters in Law</a:t>
            </a:r>
            <a:endParaRPr lang="en-US" sz="1400" dirty="0"/>
          </a:p>
        </p:txBody>
      </p:sp>
      <p:sp>
        <p:nvSpPr>
          <p:cNvPr id="26" name="s9-box-22"/>
          <p:cNvSpPr/>
          <p:nvPr/>
        </p:nvSpPr>
        <p:spPr>
          <a:xfrm>
            <a:off x="365760" y="3785616"/>
            <a:ext cx="5661508" cy="2340864"/>
          </a:xfrm>
          <a:prstGeom prst="rect">
            <a:avLst/>
          </a:prstGeom>
          <a:solidFill>
            <a:schemeClr val="bg2"/>
          </a:solidFill>
          <a:ln/>
        </p:spPr>
      </p:sp>
      <p:sp>
        <p:nvSpPr>
          <p:cNvPr id="27" name="s9-text-23"/>
          <p:cNvSpPr txBox="1"/>
          <p:nvPr/>
        </p:nvSpPr>
        <p:spPr>
          <a:xfrm>
            <a:off x="594360" y="4151376"/>
            <a:ext cx="5204308" cy="411480"/>
          </a:xfrm>
          <a:prstGeom prst="rect">
            <a:avLst/>
          </a:prstGeom>
          <a:noFill/>
          <a:ln/>
        </p:spPr>
        <p:txBody>
          <a:bodyPr wrap="square" lIns="0" tIns="0" rIns="0" bIns="0" rtlCol="0" anchor="t"/>
          <a:lstStyle/>
          <a:p>
            <a:pPr indent="0" marL="0">
              <a:buNone/>
            </a:pPr>
            <a:r>
              <a:rPr lang="en-US" sz="1200" dirty="0">
                <a:solidFill>
                  <a:schemeClr val="tx1"/>
                </a:solidFill>
              </a:rPr>
              <a:t>Profit from the price spread: buy low, lift the price, then sell higher.</a:t>
            </a:r>
            <a:endParaRPr lang="en-US" sz="1200" dirty="0"/>
          </a:p>
        </p:txBody>
      </p:sp>
      <p:sp>
        <p:nvSpPr>
          <p:cNvPr id="28" name="s9-box-24"/>
          <p:cNvSpPr/>
          <p:nvPr/>
        </p:nvSpPr>
        <p:spPr>
          <a:xfrm>
            <a:off x="594360" y="4837176"/>
            <a:ext cx="1463040" cy="731520"/>
          </a:xfrm>
          <a:prstGeom prst="rect">
            <a:avLst/>
          </a:prstGeom>
          <a:solidFill>
            <a:schemeClr val="accent2"/>
          </a:solidFill>
          <a:ln/>
        </p:spPr>
      </p:sp>
      <p:sp>
        <p:nvSpPr>
          <p:cNvPr id="29" name="s9-text-25"/>
          <p:cNvSpPr txBox="1"/>
          <p:nvPr/>
        </p:nvSpPr>
        <p:spPr>
          <a:xfrm>
            <a:off x="594360" y="4837176"/>
            <a:ext cx="1463040" cy="731520"/>
          </a:xfrm>
          <a:prstGeom prst="rect">
            <a:avLst/>
          </a:prstGeom>
          <a:noFill/>
          <a:ln/>
        </p:spPr>
        <p:txBody>
          <a:bodyPr wrap="square" lIns="0" tIns="0" rIns="0" bIns="0" rtlCol="0" anchor="ctr"/>
          <a:lstStyle/>
          <a:p>
            <a:pPr algn="ctr" indent="0" marL="0">
              <a:buNone/>
            </a:pPr>
            <a:r>
              <a:rPr lang="en-US" sz="1200" b="1" dirty="0">
                <a:solidFill>
                  <a:schemeClr val="tx2"/>
                </a:solidFill>
              </a:rPr>
              <a:t>Buy low</a:t>
            </a:r>
            <a:endParaRPr lang="en-US" sz="1200" dirty="0"/>
          </a:p>
        </p:txBody>
      </p:sp>
      <p:sp>
        <p:nvSpPr>
          <p:cNvPr id="30" name="s9-arrow-26"/>
          <p:cNvSpPr/>
          <p:nvPr/>
        </p:nvSpPr>
        <p:spPr>
          <a:xfrm>
            <a:off x="2124037" y="5065776"/>
            <a:ext cx="274320" cy="274320"/>
          </a:xfrm>
          <a:prstGeom prst="rightArrow">
            <a:avLst/>
          </a:prstGeom>
          <a:solidFill>
            <a:schemeClr val="tx2"/>
          </a:solidFill>
          <a:ln/>
        </p:spPr>
      </p:sp>
      <p:sp>
        <p:nvSpPr>
          <p:cNvPr id="31" name="s9-box-27"/>
          <p:cNvSpPr/>
          <p:nvPr/>
        </p:nvSpPr>
        <p:spPr>
          <a:xfrm>
            <a:off x="2464994" y="4837176"/>
            <a:ext cx="1463040" cy="731520"/>
          </a:xfrm>
          <a:prstGeom prst="rect">
            <a:avLst/>
          </a:prstGeom>
          <a:solidFill>
            <a:schemeClr val="accent2"/>
          </a:solidFill>
          <a:ln/>
        </p:spPr>
      </p:sp>
      <p:sp>
        <p:nvSpPr>
          <p:cNvPr id="32" name="s9-text-28"/>
          <p:cNvSpPr txBox="1"/>
          <p:nvPr/>
        </p:nvSpPr>
        <p:spPr>
          <a:xfrm>
            <a:off x="2464994" y="4837176"/>
            <a:ext cx="1463040" cy="731520"/>
          </a:xfrm>
          <a:prstGeom prst="rect">
            <a:avLst/>
          </a:prstGeom>
          <a:noFill/>
          <a:ln/>
        </p:spPr>
        <p:txBody>
          <a:bodyPr wrap="square" lIns="0" tIns="0" rIns="0" bIns="0" rtlCol="0" anchor="ctr"/>
          <a:lstStyle/>
          <a:p>
            <a:pPr algn="ctr" indent="0" marL="0">
              <a:buNone/>
            </a:pPr>
            <a:r>
              <a:rPr lang="en-US" sz="1200" b="1" dirty="0">
                <a:solidFill>
                  <a:schemeClr val="tx2"/>
                </a:solidFill>
              </a:rPr>
              <a:t>Lift the price</a:t>
            </a:r>
            <a:endParaRPr lang="en-US" sz="1200" dirty="0"/>
          </a:p>
        </p:txBody>
      </p:sp>
      <p:sp>
        <p:nvSpPr>
          <p:cNvPr id="33" name="s9-arrow-29"/>
          <p:cNvSpPr/>
          <p:nvPr/>
        </p:nvSpPr>
        <p:spPr>
          <a:xfrm>
            <a:off x="3994671" y="5065776"/>
            <a:ext cx="274320" cy="274320"/>
          </a:xfrm>
          <a:prstGeom prst="rightArrow">
            <a:avLst/>
          </a:prstGeom>
          <a:solidFill>
            <a:schemeClr val="tx2"/>
          </a:solidFill>
          <a:ln/>
        </p:spPr>
      </p:sp>
      <p:sp>
        <p:nvSpPr>
          <p:cNvPr id="34" name="s9-box-30"/>
          <p:cNvSpPr/>
          <p:nvPr/>
        </p:nvSpPr>
        <p:spPr>
          <a:xfrm>
            <a:off x="4335628" y="4837176"/>
            <a:ext cx="1463040" cy="731520"/>
          </a:xfrm>
          <a:prstGeom prst="rect">
            <a:avLst/>
          </a:prstGeom>
          <a:solidFill>
            <a:schemeClr val="accent2"/>
          </a:solidFill>
          <a:ln/>
        </p:spPr>
      </p:sp>
      <p:sp>
        <p:nvSpPr>
          <p:cNvPr id="35" name="s9-text-31"/>
          <p:cNvSpPr txBox="1"/>
          <p:nvPr/>
        </p:nvSpPr>
        <p:spPr>
          <a:xfrm>
            <a:off x="4335628" y="4837176"/>
            <a:ext cx="1463040" cy="731520"/>
          </a:xfrm>
          <a:prstGeom prst="rect">
            <a:avLst/>
          </a:prstGeom>
          <a:noFill/>
          <a:ln/>
        </p:spPr>
        <p:txBody>
          <a:bodyPr wrap="square" lIns="0" tIns="0" rIns="0" bIns="0" rtlCol="0" anchor="ctr"/>
          <a:lstStyle/>
          <a:p>
            <a:pPr algn="ctr" indent="0" marL="0">
              <a:buNone/>
            </a:pPr>
            <a:r>
              <a:rPr lang="en-US" sz="1200" b="1" dirty="0">
                <a:solidFill>
                  <a:schemeClr val="tx2"/>
                </a:solidFill>
              </a:rPr>
              <a:t>Sell higher</a:t>
            </a:r>
            <a:endParaRPr lang="en-US" sz="1200" dirty="0"/>
          </a:p>
        </p:txBody>
      </p:sp>
      <p:sp>
        <p:nvSpPr>
          <p:cNvPr id="36" name="s9-box-32"/>
          <p:cNvSpPr/>
          <p:nvPr/>
        </p:nvSpPr>
        <p:spPr>
          <a:xfrm>
            <a:off x="6164428" y="3785616"/>
            <a:ext cx="5661508" cy="2340864"/>
          </a:xfrm>
          <a:prstGeom prst="rect">
            <a:avLst/>
          </a:prstGeom>
          <a:solidFill>
            <a:srgbClr val="E6F2E7"/>
          </a:solidFill>
          <a:ln w="12700">
            <a:solidFill>
              <a:schemeClr val="accent3"/>
            </a:solidFill>
            <a:prstDash val="solid"/>
          </a:ln>
        </p:spPr>
      </p:sp>
      <p:sp>
        <p:nvSpPr>
          <p:cNvPr id="37" name="s9-text-33"/>
          <p:cNvSpPr txBox="1"/>
          <p:nvPr/>
        </p:nvSpPr>
        <p:spPr>
          <a:xfrm>
            <a:off x="6393028" y="3785616"/>
            <a:ext cx="5204308" cy="2340864"/>
          </a:xfrm>
          <a:prstGeom prst="rect">
            <a:avLst/>
          </a:prstGeom>
          <a:noFill/>
          <a:ln/>
        </p:spPr>
        <p:txBody>
          <a:bodyPr wrap="square" lIns="0" tIns="0" rIns="0" bIns="0" rtlCol="0" anchor="ctr"/>
          <a:lstStyle/>
          <a:p>
            <a:pPr indent="0" marL="0">
              <a:spcAft>
                <a:spcPts val="600"/>
              </a:spcAft>
              <a:buNone/>
            </a:pPr>
            <a:r>
              <a:rPr lang="en-US" sz="1300" b="1" dirty="0">
                <a:solidFill>
                  <a:schemeClr val="accent3"/>
                </a:solidFill>
              </a:rPr>
              <a:t>Motive is evidence of intent</a:t>
            </a:r>
            <a:endParaRPr lang="en-US" sz="1200" dirty="0"/>
          </a:p>
          <a:p>
            <a:pPr indent="0" marL="0">
              <a:spcAft>
                <a:spcPts val="600"/>
              </a:spcAft>
              <a:buNone/>
            </a:pPr>
            <a:r>
              <a:rPr lang="en-US" sz="1200" dirty="0">
                <a:solidFill>
                  <a:schemeClr val="tx1"/>
                </a:solidFill>
              </a:rPr>
              <a:t>A clear motive is evidence of the intent required by Section 244/3(2), used in Rule 2.</a:t>
            </a:r>
            <a:endParaRPr lang="en-US" sz="1200" dirty="0"/>
          </a:p>
          <a:p>
            <a:pPr indent="0" marL="0">
              <a:spcAft>
                <a:spcPts val="600"/>
              </a:spcAft>
              <a:buNone/>
            </a:pPr>
            <a:r>
              <a:rPr lang="en-US" sz="1200" i="1" dirty="0">
                <a:solidFill>
                  <a:schemeClr val="accent5"/>
                </a:solidFill>
              </a:rPr>
              <a:t>“… on a continued basis with an intent to cause the price or the volume of such securities trading to be inconsistent with the normal market condition.”</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 Law Checklist 1: Scope, s.244/3 and s.244/4</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ss.238, 244/3, 244/4 (pp.80–82)</a:t>
            </a:r>
            <a:endParaRPr lang="en-US" sz="1050" dirty="0"/>
          </a:p>
        </p:txBody>
      </p:sp>
      <p:graphicFrame>
        <p:nvGraphicFramePr>
          <p:cNvPr id="11" name="s10-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143000"/>
                <a:gridCol w="4663440"/>
                <a:gridCol w="3749040"/>
                <a:gridCol w="1904695"/>
              </a:tblGrid>
              <a:tr h="365760">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says (bullet point)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Aligned?</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603504">
                <a:tc>
                  <a:txBody>
                    <a:bodyPr/>
                    <a:lstStyle/>
                    <a:p>
                      <a:pPr algn="ctr" indent="0" marL="0">
                        <a:buNone/>
                      </a:pPr>
                      <a:r>
                        <a:rPr lang="en-US" sz="1150" b="1" dirty="0">
                          <a:solidFill>
                            <a:schemeClr val="tx2"/>
                          </a:solidFill>
                        </a:rPr>
                        <a:t>s.238</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“shall apply to listed securities and securities traded in the over-the-counter center”</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TSR is listed on the SET (F2)</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3"/>
                          </a:solidFill>
                        </a:rPr>
                        <a:t>✓ In scope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r h="603504">
                <a:tc>
                  <a:txBody>
                    <a:bodyPr/>
                    <a:lstStyle/>
                    <a:p>
                      <a:pPr algn="ctr" indent="0" marL="0">
                        <a:buNone/>
                      </a:pPr>
                      <a:r>
                        <a:rPr lang="en-US" sz="1150" b="1" dirty="0">
                          <a:solidFill>
                            <a:schemeClr val="tx2"/>
                          </a:solidFill>
                        </a:rPr>
                        <a:t>s.244/3(1)</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“placing a trading order or trading securities in such a way that misleads other persons regarding the price or volume …”</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Hit offers, held large bids; the public was misled (F3, F4, F6)</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150" b="1" dirty="0">
                          <a:solidFill>
                            <a:schemeClr val="accent3"/>
                          </a:solidFill>
                        </a:rPr>
                        <a:t>✓ Yes → violates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r h="603504">
                <a:tc>
                  <a:txBody>
                    <a:bodyPr/>
                    <a:lstStyle/>
                    <a:p>
                      <a:pPr algn="ctr" indent="0" marL="0">
                        <a:buNone/>
                      </a:pPr>
                      <a:r>
                        <a:rPr lang="en-US" sz="1150" b="1" dirty="0">
                          <a:solidFill>
                            <a:schemeClr val="tx2"/>
                          </a:solidFill>
                        </a:rPr>
                        <a:t>s.244/3(2)</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 on a continued basis with an intent to cause the price or the volume … to be inconsistent with the normal market condition”</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47 trading days in a row; motive for SABUY and a spread (F3, F5)</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3"/>
                          </a:solidFill>
                        </a:rPr>
                        <a:t>✓ Yes → violates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r h="603504">
                <a:tc>
                  <a:txBody>
                    <a:bodyPr/>
                    <a:lstStyle/>
                    <a:p>
                      <a:pPr algn="ctr" indent="0" marL="0">
                        <a:buNone/>
                      </a:pPr>
                      <a:r>
                        <a:rPr lang="en-US" sz="1150" b="1" dirty="0">
                          <a:solidFill>
                            <a:schemeClr val="tx2"/>
                          </a:solidFill>
                        </a:rPr>
                        <a:t>s.244/4(1)</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Exception: “trading of securities for price stabilization under the underwriting agreement …”</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No underwriting or price stabilisation</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150" b="1" dirty="0">
                          <a:solidFill>
                            <a:schemeClr val="accent5"/>
                          </a:solidFill>
                        </a:rPr>
                        <a:t>✗ No → no defence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603504">
                <a:tc>
                  <a:txBody>
                    <a:bodyPr/>
                    <a:lstStyle/>
                    <a:p>
                      <a:pPr algn="ctr" indent="0" marL="0">
                        <a:buNone/>
                      </a:pPr>
                      <a:r>
                        <a:rPr lang="en-US" sz="1150" b="1" dirty="0">
                          <a:solidFill>
                            <a:schemeClr val="tx2"/>
                          </a:solidFill>
                        </a:rPr>
                        <a:t>s.244/4(2)</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Exception: “repurchasing of shares or selling of the repurchased shares in the share repurchase project …”</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She is not the issuer; no buyback</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5"/>
                          </a:solidFill>
                        </a:rPr>
                        <a:t>✗ No → no defence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603504">
                <a:tc>
                  <a:txBody>
                    <a:bodyPr/>
                    <a:lstStyle/>
                    <a:p>
                      <a:pPr algn="ctr" indent="0" marL="0">
                        <a:buNone/>
                      </a:pPr>
                      <a:r>
                        <a:rPr lang="en-US" sz="1150" b="1" dirty="0">
                          <a:solidFill>
                            <a:schemeClr val="tx2"/>
                          </a:solidFill>
                        </a:rPr>
                        <a:t>s.244/4(3)</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Exception: “purchasing or selling of securities in accordance with the … notification of the SEC”</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No SEC-permitted trading reported</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150" b="1" dirty="0">
                          <a:solidFill>
                            <a:schemeClr val="accent5"/>
                          </a:solidFill>
                        </a:rPr>
                        <a:t>✗ No → no defence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bl>
          </a:graphicData>
        </a:graphic>
      </p:graphicFrame>
      <p:sp>
        <p:nvSpPr>
          <p:cNvPr id="6" name="s10-box-2"/>
          <p:cNvSpPr/>
          <p:nvPr/>
        </p:nvSpPr>
        <p:spPr>
          <a:xfrm>
            <a:off x="365760" y="5413248"/>
            <a:ext cx="11460175" cy="713232"/>
          </a:xfrm>
          <a:prstGeom prst="rect">
            <a:avLst/>
          </a:prstGeom>
          <a:solidFill>
            <a:srgbClr val="E6F2E7"/>
          </a:solidFill>
          <a:ln w="12700">
            <a:solidFill>
              <a:schemeClr val="accent3"/>
            </a:solidFill>
            <a:prstDash val="solid"/>
          </a:ln>
        </p:spPr>
      </p:sp>
      <p:sp>
        <p:nvSpPr>
          <p:cNvPr id="7" name="s10-text-3"/>
          <p:cNvSpPr txBox="1"/>
          <p:nvPr/>
        </p:nvSpPr>
        <p:spPr>
          <a:xfrm>
            <a:off x="594360" y="5413248"/>
            <a:ext cx="11002975" cy="713232"/>
          </a:xfrm>
          <a:prstGeom prst="rect">
            <a:avLst/>
          </a:prstGeom>
          <a:noFill/>
          <a:ln/>
        </p:spPr>
        <p:txBody>
          <a:bodyPr wrap="square" lIns="0" tIns="0" rIns="0" bIns="0" rtlCol="0" anchor="ctr"/>
          <a:lstStyle/>
          <a:p>
            <a:pPr indent="0" marL="0">
              <a:buNone/>
            </a:pPr>
            <a:r>
              <a:rPr lang="en-US" sz="1200" b="1" dirty="0">
                <a:solidFill>
                  <a:schemeClr val="accent3"/>
                </a:solidFill>
              </a:rPr>
              <a:t>Result: </a:t>
            </a:r>
            <a:pPr indent="0" marL="0">
              <a:buNone/>
            </a:pPr>
            <a:r>
              <a:rPr lang="en-US" sz="1200" dirty="0">
                <a:solidFill>
                  <a:schemeClr val="tx1"/>
                </a:solidFill>
              </a:rPr>
              <a:t>the facts are aligned with s.244/3(1) and (2), and no exception in s.244/4 applies, so she violates s.244/3.</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 Law Checklist 2: Presumptions, s.244/5 (1)–(5)</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s.244/5 (p.83); news sources Jan–May 2026</a:t>
            </a:r>
            <a:endParaRPr lang="en-US" sz="1050" dirty="0"/>
          </a:p>
        </p:txBody>
      </p:sp>
      <p:graphicFrame>
        <p:nvGraphicFramePr>
          <p:cNvPr id="12" name="s11-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143000"/>
                <a:gridCol w="4937760"/>
                <a:gridCol w="3474720"/>
                <a:gridCol w="1904695"/>
              </a:tblGrid>
              <a:tr h="365760">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says (bullet point)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Aligned?</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676656">
                <a:tc>
                  <a:txBody>
                    <a:bodyPr/>
                    <a:lstStyle/>
                    <a:p>
                      <a:pPr algn="ctr" indent="0" marL="0">
                        <a:buNone/>
                      </a:pPr>
                      <a:r>
                        <a:rPr lang="en-US" sz="1150" b="1" dirty="0">
                          <a:solidFill>
                            <a:schemeClr val="tx2"/>
                          </a:solidFill>
                        </a:rPr>
                        <a:t>s.244/5(1)</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“purchasing or selling securities in such a way that does not involve a change of beneficial ownership”</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trades without a change of owner reported</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5"/>
                          </a:solidFill>
                        </a:rPr>
                        <a:t>✗ No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676656">
                <a:tc>
                  <a:txBody>
                    <a:bodyPr/>
                    <a:lstStyle/>
                    <a:p>
                      <a:pPr algn="ctr" indent="0" marL="0">
                        <a:buNone/>
                      </a:pPr>
                      <a:r>
                        <a:rPr lang="en-US" sz="1150" b="1" dirty="0">
                          <a:solidFill>
                            <a:schemeClr val="tx2"/>
                          </a:solidFill>
                        </a:rPr>
                        <a:t>s.244/5(2)</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“placing a … purchasing order while being aware that oneself or an associate has made an order to sell … at a similar amount and a similar price …”</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No matching sell orders by her or an associate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150" b="1" dirty="0">
                          <a:solidFill>
                            <a:schemeClr val="accent5"/>
                          </a:solidFill>
                        </a:rPr>
                        <a:t>✗ No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676656">
                <a:tc>
                  <a:txBody>
                    <a:bodyPr/>
                    <a:lstStyle/>
                    <a:p>
                      <a:pPr algn="ctr" indent="0" marL="0">
                        <a:buNone/>
                      </a:pPr>
                      <a:r>
                        <a:rPr lang="en-US" sz="1150" b="1" dirty="0">
                          <a:solidFill>
                            <a:schemeClr val="tx2"/>
                          </a:solidFill>
                        </a:rPr>
                        <a:t>s.244/5(3)</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“placing a … selling order while being aware that oneself or an associate has made an order to buy … at a similar amount and a similar price …”</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matching buy orders by her or an associate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5"/>
                          </a:solidFill>
                        </a:rPr>
                        <a:t>✗ No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676656">
                <a:tc>
                  <a:txBody>
                    <a:bodyPr/>
                    <a:lstStyle/>
                    <a:p>
                      <a:pPr algn="ctr" indent="0" marL="0">
                        <a:buNone/>
                      </a:pPr>
                      <a:r>
                        <a:rPr lang="en-US" sz="1150" b="1" dirty="0">
                          <a:solidFill>
                            <a:schemeClr val="tx2"/>
                          </a:solidFill>
                        </a:rPr>
                        <a:t>s.244/5(4)</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“placing, modifying, or cancelling … during the pre-opening or pre-closing period … to cause the opening or closing price … to be higher or lower …”</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Cited by the SEC, but no news gives facts on pre-open or pre-close orders (F10)</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150" b="1" dirty="0">
                          <a:solidFill>
                            <a:schemeClr val="accent4"/>
                          </a:solidFill>
                        </a:rPr>
                        <a:t>✗ Not used: no facts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3DC"/>
                    </a:solidFill>
                  </a:tcPr>
                </a:tc>
              </a:tr>
              <a:tr h="786384">
                <a:tc>
                  <a:txBody>
                    <a:bodyPr/>
                    <a:lstStyle/>
                    <a:p>
                      <a:pPr algn="ctr" indent="0" marL="0">
                        <a:buNone/>
                      </a:pPr>
                      <a:r>
                        <a:rPr lang="en-US" sz="1150" b="1" dirty="0">
                          <a:solidFill>
                            <a:schemeClr val="tx2"/>
                          </a:solidFill>
                        </a:rPr>
                        <a:t>s.244/5(5)</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“placing, modifying, or cancelling … in such a way that obstructs securities trading of other persons, which causes other persons to place a trading order at a higher or lower price …”</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Large bids at levels 1–2 obstructed others, who had to bid higher (F4)</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3"/>
                          </a:solidFill>
                        </a:rPr>
                        <a:t>✓ Yes → presumed</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bl>
          </a:graphicData>
        </a:graphic>
      </p:graphicFrame>
      <p:sp>
        <p:nvSpPr>
          <p:cNvPr id="6" name="s11-box-2"/>
          <p:cNvSpPr/>
          <p:nvPr/>
        </p:nvSpPr>
        <p:spPr>
          <a:xfrm>
            <a:off x="365760" y="5413248"/>
            <a:ext cx="11460175" cy="713232"/>
          </a:xfrm>
          <a:prstGeom prst="rect">
            <a:avLst/>
          </a:prstGeom>
          <a:solidFill>
            <a:srgbClr val="E6F2E7"/>
          </a:solidFill>
          <a:ln w="12700">
            <a:solidFill>
              <a:schemeClr val="accent3"/>
            </a:solidFill>
            <a:prstDash val="solid"/>
          </a:ln>
        </p:spPr>
      </p:sp>
      <p:sp>
        <p:nvSpPr>
          <p:cNvPr id="7" name="s11-text-3"/>
          <p:cNvSpPr txBox="1"/>
          <p:nvPr/>
        </p:nvSpPr>
        <p:spPr>
          <a:xfrm>
            <a:off x="594360" y="5413248"/>
            <a:ext cx="11002975" cy="713232"/>
          </a:xfrm>
          <a:prstGeom prst="rect">
            <a:avLst/>
          </a:prstGeom>
          <a:noFill/>
          <a:ln/>
        </p:spPr>
        <p:txBody>
          <a:bodyPr wrap="square" lIns="0" tIns="0" rIns="0" bIns="0" rtlCol="0" anchor="ctr"/>
          <a:lstStyle/>
          <a:p>
            <a:pPr indent="0" marL="0">
              <a:buNone/>
            </a:pPr>
            <a:r>
              <a:rPr lang="en-US" sz="1200" b="1" dirty="0">
                <a:solidFill>
                  <a:schemeClr val="accent3"/>
                </a:solidFill>
              </a:rPr>
              <a:t>Result: </a:t>
            </a:r>
            <a:pPr indent="0" marL="0">
              <a:buNone/>
            </a:pPr>
            <a:r>
              <a:rPr lang="en-US" sz="1200" dirty="0">
                <a:solidFill>
                  <a:schemeClr val="tx1"/>
                </a:solidFill>
              </a:rPr>
              <a:t>presumption (5) applies, so the law presumes the ‘misleading’ element of s.244/3(1) and the ‘abnormal price’ element of s.244/3(2).</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 Law Checklist 3: Other Offences, ss.240–244/2</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ss.240–244/2 (pp.80–82)</a:t>
            </a:r>
            <a:endParaRPr lang="en-US" sz="1050" dirty="0"/>
          </a:p>
        </p:txBody>
      </p:sp>
      <p:graphicFrame>
        <p:nvGraphicFramePr>
          <p:cNvPr id="13" name="s12-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234440"/>
                <a:gridCol w="4846320"/>
                <a:gridCol w="3474720"/>
                <a:gridCol w="1904695"/>
              </a:tblGrid>
              <a:tr h="365760">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says (bullet point)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Aligned?</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548640">
                <a:tc>
                  <a:txBody>
                    <a:bodyPr/>
                    <a:lstStyle/>
                    <a:p>
                      <a:pPr algn="ctr" indent="0" marL="0">
                        <a:buNone/>
                      </a:pPr>
                      <a:r>
                        <a:rPr lang="en-US" sz="1150" b="1" dirty="0">
                          <a:solidFill>
                            <a:schemeClr val="tx2"/>
                          </a:solidFill>
                        </a:rPr>
                        <a:t>s.240</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“inform, disseminate, or certify any statement or information that is false or materially misleading …”</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false statement or information was spread (F10)</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5"/>
                          </a:solidFill>
                        </a:rPr>
                        <a:t>✗ No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548640">
                <a:tc>
                  <a:txBody>
                    <a:bodyPr/>
                    <a:lstStyle/>
                    <a:p>
                      <a:pPr algn="ctr" indent="0" marL="0">
                        <a:buNone/>
                      </a:pPr>
                      <a:r>
                        <a:rPr lang="en-US" sz="1150" b="1" dirty="0">
                          <a:solidFill>
                            <a:schemeClr val="tx2"/>
                          </a:solidFill>
                        </a:rPr>
                        <a:t>s.241</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“analyse or forecast … by using information known to be false or incomplete … to the public”</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No analysis or forecast was published (F10)</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150" b="1" dirty="0">
                          <a:solidFill>
                            <a:schemeClr val="accent5"/>
                          </a:solidFill>
                        </a:rPr>
                        <a:t>✗ No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548640">
                <a:tc>
                  <a:txBody>
                    <a:bodyPr/>
                    <a:lstStyle/>
                    <a:p>
                      <a:pPr algn="ctr" indent="0" marL="0">
                        <a:buNone/>
                      </a:pPr>
                      <a:r>
                        <a:rPr lang="en-US" sz="1150" b="1" dirty="0">
                          <a:solidFill>
                            <a:schemeClr val="tx2"/>
                          </a:solidFill>
                        </a:rPr>
                        <a:t>s.242(1)</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A person who knows inside information shall not “purchase or sell securities …”</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inside information is alleged (F10)</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5"/>
                          </a:solidFill>
                        </a:rPr>
                        <a:t>✗ No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548640">
                <a:tc>
                  <a:txBody>
                    <a:bodyPr/>
                    <a:lstStyle/>
                    <a:p>
                      <a:pPr algn="ctr" indent="0" marL="0">
                        <a:buNone/>
                      </a:pPr>
                      <a:r>
                        <a:rPr lang="en-US" sz="1150" b="1" dirty="0">
                          <a:solidFill>
                            <a:schemeClr val="tx2"/>
                          </a:solidFill>
                        </a:rPr>
                        <a:t>s.242(2)</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 shall not “disclose inside information to other persons …”</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No disclosure of inside information (F10)</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150" b="1" dirty="0">
                          <a:solidFill>
                            <a:schemeClr val="accent5"/>
                          </a:solidFill>
                        </a:rPr>
                        <a:t>✗ No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548640">
                <a:tc>
                  <a:txBody>
                    <a:bodyPr/>
                    <a:lstStyle/>
                    <a:p>
                      <a:pPr algn="ctr" indent="0" marL="0">
                        <a:buNone/>
                      </a:pPr>
                      <a:r>
                        <a:rPr lang="en-US" sz="1150" b="1" dirty="0">
                          <a:solidFill>
                            <a:schemeClr val="tx2"/>
                          </a:solidFill>
                        </a:rPr>
                        <a:t>ss.243–244</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Presume who has “known or possessed the inside information under Section 242”</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 needed: s.242 is not in issue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5"/>
                          </a:solidFill>
                        </a:rPr>
                        <a:t>– Not needed</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548640">
                <a:tc>
                  <a:txBody>
                    <a:bodyPr/>
                    <a:lstStyle/>
                    <a:p>
                      <a:pPr algn="ctr" indent="0" marL="0">
                        <a:buNone/>
                      </a:pPr>
                      <a:r>
                        <a:rPr lang="en-US" sz="1150" b="1" dirty="0">
                          <a:solidFill>
                            <a:schemeClr val="tx2"/>
                          </a:solidFill>
                        </a:rPr>
                        <a:t>s.244/1</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A securities brokerage company or its staff must not trade ahead of a client’s order</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She is not a securities company or its staff (F1)</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150" b="1" dirty="0">
                          <a:solidFill>
                            <a:schemeClr val="accent5"/>
                          </a:solidFill>
                        </a:rPr>
                        <a:t>✗ No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548640">
                <a:tc>
                  <a:txBody>
                    <a:bodyPr/>
                    <a:lstStyle/>
                    <a:p>
                      <a:pPr algn="ctr" indent="0" marL="0">
                        <a:buNone/>
                      </a:pPr>
                      <a:r>
                        <a:rPr lang="en-US" sz="1150" b="1" dirty="0">
                          <a:solidFill>
                            <a:schemeClr val="tx2"/>
                          </a:solidFill>
                        </a:rPr>
                        <a:t>s.244/2</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s.244/1 also applies to fund-management companies and their staff</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She is not a fund manager (F1)</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5"/>
                          </a:solidFill>
                        </a:rPr>
                        <a:t>✗ No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bl>
          </a:graphicData>
        </a:graphic>
      </p:graphicFrame>
      <p:sp>
        <p:nvSpPr>
          <p:cNvPr id="6" name="s12-box-2"/>
          <p:cNvSpPr/>
          <p:nvPr/>
        </p:nvSpPr>
        <p:spPr>
          <a:xfrm>
            <a:off x="365760" y="5669280"/>
            <a:ext cx="11460175" cy="457200"/>
          </a:xfrm>
          <a:prstGeom prst="rect">
            <a:avLst/>
          </a:prstGeom>
          <a:solidFill>
            <a:schemeClr val="bg2"/>
          </a:solidFill>
          <a:ln w="12700">
            <a:solidFill>
              <a:schemeClr val="accent6"/>
            </a:solidFill>
            <a:prstDash val="solid"/>
          </a:ln>
        </p:spPr>
      </p:sp>
      <p:sp>
        <p:nvSpPr>
          <p:cNvPr id="7" name="s12-text-3"/>
          <p:cNvSpPr txBox="1"/>
          <p:nvPr/>
        </p:nvSpPr>
        <p:spPr>
          <a:xfrm>
            <a:off x="594360" y="5669280"/>
            <a:ext cx="11002975" cy="457200"/>
          </a:xfrm>
          <a:prstGeom prst="rect">
            <a:avLst/>
          </a:prstGeom>
          <a:noFill/>
          <a:ln/>
        </p:spPr>
        <p:txBody>
          <a:bodyPr wrap="square" lIns="0" tIns="0" rIns="0" bIns="0" rtlCol="0" anchor="ctr"/>
          <a:lstStyle/>
          <a:p>
            <a:pPr indent="0" marL="0">
              <a:buNone/>
            </a:pPr>
            <a:r>
              <a:rPr lang="en-US" sz="1200" b="1" dirty="0">
                <a:solidFill>
                  <a:schemeClr val="tx2"/>
                </a:solidFill>
              </a:rPr>
              <a:t>Result: </a:t>
            </a:r>
            <a:pPr indent="0" marL="0">
              <a:buNone/>
            </a:pPr>
            <a:r>
              <a:rPr lang="en-US" sz="1200" dirty="0">
                <a:solidFill>
                  <a:schemeClr val="tx1"/>
                </a:solidFill>
              </a:rPr>
              <a:t>none of these bullet points is aligned, so ss.240, 241, 242, 244/1 and 244/2 are not violated.</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 Law Checklist 4: s.244/6 (1)–(7) and s.244/7</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ss.244/6, 244/7 (pp.83–84)</a:t>
            </a:r>
            <a:endParaRPr lang="en-US" sz="1050" dirty="0"/>
          </a:p>
        </p:txBody>
      </p:sp>
      <p:graphicFrame>
        <p:nvGraphicFramePr>
          <p:cNvPr id="14" name="s13-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188720"/>
                <a:gridCol w="5943600"/>
                <a:gridCol w="2743200"/>
                <a:gridCol w="1584655"/>
              </a:tblGrid>
              <a:tr h="365760">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says (bullet point)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Aligned?</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438912">
                <a:tc>
                  <a:txBody>
                    <a:bodyPr/>
                    <a:lstStyle/>
                    <a:p>
                      <a:pPr algn="ctr" indent="0" marL="0">
                        <a:buNone/>
                      </a:pPr>
                      <a:r>
                        <a:rPr lang="en-US" sz="1150" b="1" dirty="0">
                          <a:solidFill>
                            <a:schemeClr val="tx2"/>
                          </a:solidFill>
                        </a:rPr>
                        <a:t>s.244/6(1)</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“opening a joint bank account for making a payment or receiving a payment related to … securities trading”</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rowSpan="7">
                  <a:txBody>
                    <a:bodyPr/>
                    <a:lstStyle/>
                    <a:p>
                      <a:pPr indent="0" marL="0">
                        <a:buNone/>
                      </a:pPr>
                      <a:r>
                        <a:rPr lang="en-US" sz="1150" dirty="0">
                          <a:solidFill>
                            <a:schemeClr val="tx1"/>
                          </a:solidFill>
                        </a:rPr>
                        <a:t>She placed the orders herself. No shared accounts, payments, collateral or transfers with other persons are reported (F3, F10).</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rowSpan="7">
                  <a:txBody>
                    <a:bodyPr/>
                    <a:lstStyle/>
                    <a:p>
                      <a:pPr algn="ctr" indent="0" marL="0">
                        <a:buNone/>
                      </a:pPr>
                      <a:r>
                        <a:rPr lang="en-US" sz="1150" b="1" dirty="0">
                          <a:solidFill>
                            <a:schemeClr val="accent5"/>
                          </a:solidFill>
                        </a:rPr>
                        <a:t>✗ No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r h="438912">
                <a:tc>
                  <a:txBody>
                    <a:bodyPr/>
                    <a:lstStyle/>
                    <a:p>
                      <a:pPr algn="ctr" indent="0" marL="0">
                        <a:buNone/>
                      </a:pPr>
                      <a:r>
                        <a:rPr lang="en-US" sz="1150" b="1" dirty="0">
                          <a:solidFill>
                            <a:schemeClr val="tx2"/>
                          </a:solidFill>
                        </a:rPr>
                        <a:t>s.244/6(2)</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“allowing any person to seek benefits by using one’s own bank account …”</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vMerge="1">
                  <a:tcPr/>
                </a:tc>
                <a:tc vMerge="1">
                  <a:tcPr/>
                </a:tc>
              </a:tr>
              <a:tr h="438912">
                <a:tc>
                  <a:txBody>
                    <a:bodyPr/>
                    <a:lstStyle/>
                    <a:p>
                      <a:pPr algn="ctr" indent="0" marL="0">
                        <a:buNone/>
                      </a:pPr>
                      <a:r>
                        <a:rPr lang="en-US" sz="1150" b="1" dirty="0">
                          <a:solidFill>
                            <a:schemeClr val="tx2"/>
                          </a:solidFill>
                        </a:rPr>
                        <a:t>s.244/6(3)</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“allowing any person to use one’s own securities trading account”</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vMerge="1">
                  <a:tcPr/>
                </a:tc>
                <a:tc vMerge="1">
                  <a:tcPr/>
                </a:tc>
              </a:tr>
              <a:tr h="438912">
                <a:tc>
                  <a:txBody>
                    <a:bodyPr/>
                    <a:lstStyle/>
                    <a:p>
                      <a:pPr algn="ctr" indent="0" marL="0">
                        <a:buNone/>
                      </a:pPr>
                      <a:r>
                        <a:rPr lang="en-US" sz="1150" b="1" dirty="0">
                          <a:solidFill>
                            <a:schemeClr val="tx2"/>
                          </a:solidFill>
                        </a:rPr>
                        <a:t>s.244/6(4)</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“making a payment or receiving a payment for a securities trading for any person”</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vMerge="1">
                  <a:tcPr/>
                </a:tc>
                <a:tc vMerge="1">
                  <a:tcPr/>
                </a:tc>
              </a:tr>
              <a:tr h="438912">
                <a:tc>
                  <a:txBody>
                    <a:bodyPr/>
                    <a:lstStyle/>
                    <a:p>
                      <a:pPr algn="ctr" indent="0" marL="0">
                        <a:buNone/>
                      </a:pPr>
                      <a:r>
                        <a:rPr lang="en-US" sz="1150" b="1" dirty="0">
                          <a:solidFill>
                            <a:schemeClr val="tx2"/>
                          </a:solidFill>
                        </a:rPr>
                        <a:t>s.244/6(5)</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“placing money or other assets as collateral for securities trading of any person”</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vMerge="1">
                  <a:tcPr/>
                </a:tc>
                <a:tc vMerge="1">
                  <a:tcPr/>
                </a:tc>
              </a:tr>
              <a:tr h="438912">
                <a:tc>
                  <a:txBody>
                    <a:bodyPr/>
                    <a:lstStyle/>
                    <a:p>
                      <a:pPr algn="ctr" indent="0" marL="0">
                        <a:buNone/>
                      </a:pPr>
                      <a:r>
                        <a:rPr lang="en-US" sz="1150" b="1" dirty="0">
                          <a:solidFill>
                            <a:schemeClr val="tx2"/>
                          </a:solidFill>
                        </a:rPr>
                        <a:t>s.244/6(6)</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“allowing any person to receive benefits or oversee payments … of one’s own securities trading”</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vMerge="1">
                  <a:tcPr/>
                </a:tc>
                <a:tc vMerge="1">
                  <a:tcPr/>
                </a:tc>
              </a:tr>
              <a:tr h="438912">
                <a:tc>
                  <a:txBody>
                    <a:bodyPr/>
                    <a:lstStyle/>
                    <a:p>
                      <a:pPr algn="ctr" indent="0" marL="0">
                        <a:buNone/>
                      </a:pPr>
                      <a:r>
                        <a:rPr lang="en-US" sz="1150" b="1" dirty="0">
                          <a:solidFill>
                            <a:schemeClr val="tx2"/>
                          </a:solidFill>
                        </a:rPr>
                        <a:t>s.244/6(7)</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i="1" dirty="0">
                          <a:solidFill>
                            <a:schemeClr val="tx1"/>
                          </a:solidFill>
                        </a:rPr>
                        <a:t>“transferring or receiving a transfer of securities between each other”</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vMerge="1">
                  <a:tcPr/>
                </a:tc>
                <a:tc vMerge="1">
                  <a:tcPr/>
                </a:tc>
              </a:tr>
              <a:tr h="438912">
                <a:tc>
                  <a:txBody>
                    <a:bodyPr/>
                    <a:lstStyle/>
                    <a:p>
                      <a:pPr algn="ctr" indent="0" marL="0">
                        <a:buNone/>
                      </a:pPr>
                      <a:r>
                        <a:rPr lang="en-US" sz="1150" b="1" dirty="0">
                          <a:solidFill>
                            <a:schemeClr val="tx2"/>
                          </a:solidFill>
                        </a:rPr>
                        <a:t>s.244/7</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i="1" dirty="0">
                          <a:solidFill>
                            <a:schemeClr val="tx1"/>
                          </a:solidFill>
                        </a:rPr>
                        <a:t>Orders that “cause the securities trading system to delay or discontinue”</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150" dirty="0">
                          <a:solidFill>
                            <a:schemeClr val="tx1"/>
                          </a:solidFill>
                        </a:rPr>
                        <a:t>No delay or halt of the trading system (F10)</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algn="ctr" indent="0" marL="0">
                        <a:buNone/>
                      </a:pPr>
                      <a:r>
                        <a:rPr lang="en-US" sz="1150" b="1" dirty="0">
                          <a:solidFill>
                            <a:schemeClr val="accent5"/>
                          </a:solidFill>
                        </a:rPr>
                        <a:t>✗ No</a:t>
                      </a:r>
                      <a:endParaRPr lang="en-US" sz="115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EFF2"/>
                    </a:solidFill>
                  </a:tcPr>
                </a:tc>
              </a:tr>
            </a:tbl>
          </a:graphicData>
        </a:graphic>
      </p:graphicFrame>
      <p:sp>
        <p:nvSpPr>
          <p:cNvPr id="6" name="s13-box-2"/>
          <p:cNvSpPr/>
          <p:nvPr/>
        </p:nvSpPr>
        <p:spPr>
          <a:xfrm>
            <a:off x="365760" y="5577840"/>
            <a:ext cx="11460175" cy="548640"/>
          </a:xfrm>
          <a:prstGeom prst="rect">
            <a:avLst/>
          </a:prstGeom>
          <a:solidFill>
            <a:srgbClr val="E6F2E7"/>
          </a:solidFill>
          <a:ln w="12700">
            <a:solidFill>
              <a:schemeClr val="accent3"/>
            </a:solidFill>
            <a:prstDash val="solid"/>
          </a:ln>
        </p:spPr>
      </p:sp>
      <p:sp>
        <p:nvSpPr>
          <p:cNvPr id="7" name="s13-text-3"/>
          <p:cNvSpPr txBox="1"/>
          <p:nvPr/>
        </p:nvSpPr>
        <p:spPr>
          <a:xfrm>
            <a:off x="594360" y="5577840"/>
            <a:ext cx="11002975" cy="548640"/>
          </a:xfrm>
          <a:prstGeom prst="rect">
            <a:avLst/>
          </a:prstGeom>
          <a:noFill/>
          <a:ln/>
        </p:spPr>
        <p:txBody>
          <a:bodyPr wrap="square" lIns="0" tIns="0" rIns="0" bIns="0" rtlCol="0" anchor="ctr"/>
          <a:lstStyle/>
          <a:p>
            <a:pPr indent="0" marL="0">
              <a:buNone/>
            </a:pPr>
            <a:r>
              <a:rPr lang="en-US" sz="1200" b="1" dirty="0">
                <a:solidFill>
                  <a:schemeClr val="accent3"/>
                </a:solidFill>
              </a:rPr>
              <a:t>Overall result of Checklists 1–4: </a:t>
            </a:r>
            <a:pPr indent="0" marL="0">
              <a:buNone/>
            </a:pPr>
            <a:r>
              <a:rPr lang="en-US" sz="1200" dirty="0">
                <a:solidFill>
                  <a:schemeClr val="tx1"/>
                </a:solidFill>
              </a:rPr>
              <a:t>the facts are aligned only with s.244/3(1) and (2), supported by presumption s.244/5(5).</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Question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Format: “A guide to answer a legal question (2026)”: Facts → Question → Answer (Law/Rule, Analysis, Conclusion)</a:t>
            </a:r>
            <a:endParaRPr lang="en-US" sz="1050" dirty="0"/>
          </a:p>
        </p:txBody>
      </p:sp>
      <p:sp>
        <p:nvSpPr>
          <p:cNvPr id="5" name="s14-box-1"/>
          <p:cNvSpPr/>
          <p:nvPr/>
        </p:nvSpPr>
        <p:spPr>
          <a:xfrm>
            <a:off x="365760" y="1353312"/>
            <a:ext cx="11460175" cy="2103120"/>
          </a:xfrm>
          <a:prstGeom prst="rect">
            <a:avLst/>
          </a:prstGeom>
          <a:solidFill>
            <a:schemeClr val="bg2"/>
          </a:solidFill>
          <a:ln/>
        </p:spPr>
      </p:sp>
      <p:sp>
        <p:nvSpPr>
          <p:cNvPr id="6" name="s14-text-2"/>
          <p:cNvSpPr txBox="1"/>
          <p:nvPr/>
        </p:nvSpPr>
        <p:spPr>
          <a:xfrm>
            <a:off x="640080" y="1536192"/>
            <a:ext cx="2743200" cy="274320"/>
          </a:xfrm>
          <a:prstGeom prst="rect">
            <a:avLst/>
          </a:prstGeom>
          <a:noFill/>
          <a:ln/>
        </p:spPr>
        <p:txBody>
          <a:bodyPr wrap="square" lIns="0" tIns="0" rIns="0" bIns="0" rtlCol="0" anchor="t"/>
          <a:lstStyle/>
          <a:p>
            <a:pPr indent="0" marL="0">
              <a:buNone/>
            </a:pPr>
            <a:r>
              <a:rPr lang="en-US" sz="1200" b="1" dirty="0">
                <a:solidFill>
                  <a:schemeClr val="accent5"/>
                </a:solidFill>
              </a:rPr>
              <a:t>QUESTION</a:t>
            </a:r>
            <a:endParaRPr lang="en-US" sz="1200" dirty="0"/>
          </a:p>
        </p:txBody>
      </p:sp>
      <p:sp>
        <p:nvSpPr>
          <p:cNvPr id="7" name="s14-text-3"/>
          <p:cNvSpPr txBox="1"/>
          <p:nvPr/>
        </p:nvSpPr>
        <p:spPr>
          <a:xfrm>
            <a:off x="640080" y="1856232"/>
            <a:ext cx="10911535" cy="1417320"/>
          </a:xfrm>
          <a:prstGeom prst="rect">
            <a:avLst/>
          </a:prstGeom>
          <a:noFill/>
          <a:ln/>
        </p:spPr>
        <p:txBody>
          <a:bodyPr wrap="square" lIns="0" tIns="0" rIns="0" bIns="0" rtlCol="0" anchor="ctr"/>
          <a:lstStyle/>
          <a:p>
            <a:pPr indent="0" marL="0">
              <a:buNone/>
            </a:pPr>
            <a:r>
              <a:rPr lang="en-US" sz="2000" b="1" dirty="0">
                <a:solidFill>
                  <a:schemeClr val="tx2"/>
                </a:solidFill>
              </a:rPr>
              <a:t>Has นางสาวภรัณยา รุจนพรพจี committed unfair securities trading under the Securities and Exchange Act B.E. 2535, and what sanctions may be imposed on her?</a:t>
            </a:r>
            <a:endParaRPr lang="en-US" sz="2000" dirty="0"/>
          </a:p>
        </p:txBody>
      </p:sp>
      <p:sp>
        <p:nvSpPr>
          <p:cNvPr id="8" name="s14-subbar-4"/>
          <p:cNvSpPr/>
          <p:nvPr/>
        </p:nvSpPr>
        <p:spPr>
          <a:xfrm>
            <a:off x="365760" y="3593592"/>
            <a:ext cx="11460175" cy="347472"/>
          </a:xfrm>
          <a:prstGeom prst="rect">
            <a:avLst/>
          </a:prstGeom>
          <a:solidFill>
            <a:schemeClr val="tx2"/>
          </a:solidFill>
          <a:ln/>
        </p:spPr>
      </p:sp>
      <p:sp>
        <p:nvSpPr>
          <p:cNvPr id="9" name="s14-subbar-text-5"/>
          <p:cNvSpPr txBox="1"/>
          <p:nvPr/>
        </p:nvSpPr>
        <p:spPr>
          <a:xfrm>
            <a:off x="365760" y="359359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How We Answer It: Each Rule Follows Law/Rule → Analysis → Conclusion</a:t>
            </a:r>
            <a:endParaRPr lang="en-US" sz="1400" dirty="0"/>
          </a:p>
        </p:txBody>
      </p:sp>
      <p:sp>
        <p:nvSpPr>
          <p:cNvPr id="10" name="s14-box-6"/>
          <p:cNvSpPr/>
          <p:nvPr/>
        </p:nvSpPr>
        <p:spPr>
          <a:xfrm>
            <a:off x="365760" y="4032504"/>
            <a:ext cx="2762174" cy="2093976"/>
          </a:xfrm>
          <a:prstGeom prst="rect">
            <a:avLst/>
          </a:prstGeom>
          <a:solidFill>
            <a:schemeClr val="bg2"/>
          </a:solidFill>
          <a:ln/>
        </p:spPr>
      </p:sp>
      <p:sp>
        <p:nvSpPr>
          <p:cNvPr id="11" name="s14-text-7"/>
          <p:cNvSpPr txBox="1"/>
          <p:nvPr/>
        </p:nvSpPr>
        <p:spPr>
          <a:xfrm>
            <a:off x="594360" y="4169664"/>
            <a:ext cx="2304974" cy="1408176"/>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Rule 1</a:t>
            </a:r>
            <a:endParaRPr lang="en-US" sz="1200" dirty="0"/>
          </a:p>
          <a:p>
            <a:pPr indent="0" marL="0">
              <a:spcAft>
                <a:spcPts val="400"/>
              </a:spcAft>
              <a:buNone/>
            </a:pPr>
            <a:r>
              <a:rPr lang="en-US" sz="1200" b="1" dirty="0">
                <a:solidFill>
                  <a:schemeClr val="tx2"/>
                </a:solidFill>
              </a:rPr>
              <a:t>s.244/3(1) + s.244/5(5)</a:t>
            </a:r>
            <a:endParaRPr lang="en-US" sz="1200" dirty="0"/>
          </a:p>
          <a:p>
            <a:pPr indent="0" marL="0">
              <a:spcAft>
                <a:spcPts val="400"/>
              </a:spcAft>
              <a:buNone/>
            </a:pPr>
            <a:r>
              <a:rPr lang="en-US" sz="1200" dirty="0">
                <a:solidFill>
                  <a:schemeClr val="tx1"/>
                </a:solidFill>
              </a:rPr>
              <a:t>Misleading other persons</a:t>
            </a:r>
            <a:endParaRPr lang="en-US" sz="1200" dirty="0"/>
          </a:p>
        </p:txBody>
      </p:sp>
      <p:sp>
        <p:nvSpPr>
          <p:cNvPr id="12" name="s14-text-8"/>
          <p:cNvSpPr txBox="1"/>
          <p:nvPr/>
        </p:nvSpPr>
        <p:spPr>
          <a:xfrm>
            <a:off x="594360" y="5623560"/>
            <a:ext cx="2304974" cy="365760"/>
          </a:xfrm>
          <a:prstGeom prst="rect">
            <a:avLst/>
          </a:prstGeom>
          <a:noFill/>
          <a:ln/>
        </p:spPr>
        <p:txBody>
          <a:bodyPr wrap="square" lIns="0" tIns="0" rIns="0" bIns="0" rtlCol="0" anchor="ctr"/>
          <a:lstStyle/>
          <a:p>
            <a:pPr indent="0" marL="0">
              <a:buNone/>
            </a:pPr>
            <a:r>
              <a:rPr lang="en-US" sz="1050" i="1" dirty="0">
                <a:solidFill>
                  <a:schemeClr val="accent5"/>
                </a:solidFill>
              </a:rPr>
              <a:t>Law/Rule → Analysis → Conclusion</a:t>
            </a:r>
            <a:endParaRPr lang="en-US" sz="1050" dirty="0"/>
          </a:p>
        </p:txBody>
      </p:sp>
      <p:sp>
        <p:nvSpPr>
          <p:cNvPr id="13" name="s14-box-9"/>
          <p:cNvSpPr/>
          <p:nvPr/>
        </p:nvSpPr>
        <p:spPr>
          <a:xfrm>
            <a:off x="3265094" y="4032504"/>
            <a:ext cx="2762174" cy="2093976"/>
          </a:xfrm>
          <a:prstGeom prst="rect">
            <a:avLst/>
          </a:prstGeom>
          <a:solidFill>
            <a:schemeClr val="bg2"/>
          </a:solidFill>
          <a:ln/>
        </p:spPr>
      </p:sp>
      <p:sp>
        <p:nvSpPr>
          <p:cNvPr id="14" name="s14-text-10"/>
          <p:cNvSpPr txBox="1"/>
          <p:nvPr/>
        </p:nvSpPr>
        <p:spPr>
          <a:xfrm>
            <a:off x="3493694" y="4169664"/>
            <a:ext cx="2304974" cy="1408176"/>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Rule 2</a:t>
            </a:r>
            <a:endParaRPr lang="en-US" sz="1200" dirty="0"/>
          </a:p>
          <a:p>
            <a:pPr indent="0" marL="0">
              <a:spcAft>
                <a:spcPts val="400"/>
              </a:spcAft>
              <a:buNone/>
            </a:pPr>
            <a:r>
              <a:rPr lang="en-US" sz="1200" b="1" dirty="0">
                <a:solidFill>
                  <a:schemeClr val="tx2"/>
                </a:solidFill>
              </a:rPr>
              <a:t>s.244/3(2) + s.244/5(5)</a:t>
            </a:r>
            <a:endParaRPr lang="en-US" sz="1200" dirty="0"/>
          </a:p>
          <a:p>
            <a:pPr indent="0" marL="0">
              <a:spcAft>
                <a:spcPts val="400"/>
              </a:spcAft>
              <a:buNone/>
            </a:pPr>
            <a:r>
              <a:rPr lang="en-US" sz="1200" dirty="0">
                <a:solidFill>
                  <a:schemeClr val="tx1"/>
                </a:solidFill>
              </a:rPr>
              <a:t>Continuous trading with intent</a:t>
            </a:r>
            <a:endParaRPr lang="en-US" sz="1200" dirty="0"/>
          </a:p>
        </p:txBody>
      </p:sp>
      <p:sp>
        <p:nvSpPr>
          <p:cNvPr id="15" name="s14-text-11"/>
          <p:cNvSpPr txBox="1"/>
          <p:nvPr/>
        </p:nvSpPr>
        <p:spPr>
          <a:xfrm>
            <a:off x="3493694" y="5623560"/>
            <a:ext cx="2304974" cy="365760"/>
          </a:xfrm>
          <a:prstGeom prst="rect">
            <a:avLst/>
          </a:prstGeom>
          <a:noFill/>
          <a:ln/>
        </p:spPr>
        <p:txBody>
          <a:bodyPr wrap="square" lIns="0" tIns="0" rIns="0" bIns="0" rtlCol="0" anchor="ctr"/>
          <a:lstStyle/>
          <a:p>
            <a:pPr indent="0" marL="0">
              <a:buNone/>
            </a:pPr>
            <a:r>
              <a:rPr lang="en-US" sz="1050" i="1" dirty="0">
                <a:solidFill>
                  <a:schemeClr val="accent5"/>
                </a:solidFill>
              </a:rPr>
              <a:t>Law/Rule → Analysis → Conclusion</a:t>
            </a:r>
            <a:endParaRPr lang="en-US" sz="1050" dirty="0"/>
          </a:p>
        </p:txBody>
      </p:sp>
      <p:sp>
        <p:nvSpPr>
          <p:cNvPr id="16" name="s14-box-12"/>
          <p:cNvSpPr/>
          <p:nvPr/>
        </p:nvSpPr>
        <p:spPr>
          <a:xfrm>
            <a:off x="6164428" y="4032504"/>
            <a:ext cx="2762174" cy="2093976"/>
          </a:xfrm>
          <a:prstGeom prst="rect">
            <a:avLst/>
          </a:prstGeom>
          <a:solidFill>
            <a:schemeClr val="accent2"/>
          </a:solidFill>
          <a:ln/>
        </p:spPr>
      </p:sp>
      <p:sp>
        <p:nvSpPr>
          <p:cNvPr id="17" name="s14-text-13"/>
          <p:cNvSpPr txBox="1"/>
          <p:nvPr/>
        </p:nvSpPr>
        <p:spPr>
          <a:xfrm>
            <a:off x="6393028" y="4169664"/>
            <a:ext cx="2304974" cy="1408176"/>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Rule 3</a:t>
            </a:r>
            <a:endParaRPr lang="en-US" sz="1200" dirty="0"/>
          </a:p>
          <a:p>
            <a:pPr indent="0" marL="0">
              <a:spcAft>
                <a:spcPts val="400"/>
              </a:spcAft>
              <a:buNone/>
            </a:pPr>
            <a:r>
              <a:rPr lang="en-US" sz="1200" b="1" dirty="0">
                <a:solidFill>
                  <a:schemeClr val="tx2"/>
                </a:solidFill>
              </a:rPr>
              <a:t>ss.296, 296/1, 296/2, 297/1</a:t>
            </a:r>
            <a:endParaRPr lang="en-US" sz="1200" dirty="0"/>
          </a:p>
          <a:p>
            <a:pPr indent="0" marL="0">
              <a:spcAft>
                <a:spcPts val="400"/>
              </a:spcAft>
              <a:buNone/>
            </a:pPr>
            <a:r>
              <a:rPr lang="en-US" sz="1200" dirty="0">
                <a:solidFill>
                  <a:schemeClr val="tx1"/>
                </a:solidFill>
              </a:rPr>
              <a:t>Criminal penalties</a:t>
            </a:r>
            <a:endParaRPr lang="en-US" sz="1200" dirty="0"/>
          </a:p>
        </p:txBody>
      </p:sp>
      <p:sp>
        <p:nvSpPr>
          <p:cNvPr id="18" name="s14-text-14"/>
          <p:cNvSpPr txBox="1"/>
          <p:nvPr/>
        </p:nvSpPr>
        <p:spPr>
          <a:xfrm>
            <a:off x="6393028" y="5623560"/>
            <a:ext cx="2304974" cy="365760"/>
          </a:xfrm>
          <a:prstGeom prst="rect">
            <a:avLst/>
          </a:prstGeom>
          <a:noFill/>
          <a:ln/>
        </p:spPr>
        <p:txBody>
          <a:bodyPr wrap="square" lIns="0" tIns="0" rIns="0" bIns="0" rtlCol="0" anchor="ctr"/>
          <a:lstStyle/>
          <a:p>
            <a:pPr indent="0" marL="0">
              <a:buNone/>
            </a:pPr>
            <a:r>
              <a:rPr lang="en-US" sz="1050" i="1" dirty="0">
                <a:solidFill>
                  <a:schemeClr val="accent5"/>
                </a:solidFill>
              </a:rPr>
              <a:t>Law/Rule → Analysis → Conclusion</a:t>
            </a:r>
            <a:endParaRPr lang="en-US" sz="1050" dirty="0"/>
          </a:p>
        </p:txBody>
      </p:sp>
      <p:sp>
        <p:nvSpPr>
          <p:cNvPr id="19" name="s14-box-15"/>
          <p:cNvSpPr/>
          <p:nvPr/>
        </p:nvSpPr>
        <p:spPr>
          <a:xfrm>
            <a:off x="9063761" y="4032504"/>
            <a:ext cx="2762174" cy="2093976"/>
          </a:xfrm>
          <a:prstGeom prst="rect">
            <a:avLst/>
          </a:prstGeom>
          <a:solidFill>
            <a:schemeClr val="accent2"/>
          </a:solidFill>
          <a:ln/>
        </p:spPr>
      </p:sp>
      <p:sp>
        <p:nvSpPr>
          <p:cNvPr id="20" name="s14-text-16"/>
          <p:cNvSpPr txBox="1"/>
          <p:nvPr/>
        </p:nvSpPr>
        <p:spPr>
          <a:xfrm>
            <a:off x="9292361" y="4169664"/>
            <a:ext cx="2304974" cy="1408176"/>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Rule 4</a:t>
            </a:r>
            <a:endParaRPr lang="en-US" sz="1200" dirty="0"/>
          </a:p>
          <a:p>
            <a:pPr indent="0" marL="0">
              <a:spcAft>
                <a:spcPts val="400"/>
              </a:spcAft>
              <a:buNone/>
            </a:pPr>
            <a:r>
              <a:rPr lang="en-US" sz="1200" b="1" dirty="0">
                <a:solidFill>
                  <a:schemeClr val="tx2"/>
                </a:solidFill>
              </a:rPr>
              <a:t>ss.317/1–317/8</a:t>
            </a:r>
            <a:endParaRPr lang="en-US" sz="1200" dirty="0"/>
          </a:p>
          <a:p>
            <a:pPr indent="0" marL="0">
              <a:spcAft>
                <a:spcPts val="400"/>
              </a:spcAft>
              <a:buNone/>
            </a:pPr>
            <a:r>
              <a:rPr lang="en-US" sz="1200" dirty="0">
                <a:solidFill>
                  <a:schemeClr val="tx1"/>
                </a:solidFill>
              </a:rPr>
              <a:t>Civil sanctions (the route used)</a:t>
            </a:r>
            <a:endParaRPr lang="en-US" sz="1200" dirty="0"/>
          </a:p>
        </p:txBody>
      </p:sp>
      <p:sp>
        <p:nvSpPr>
          <p:cNvPr id="21" name="s14-text-17"/>
          <p:cNvSpPr txBox="1"/>
          <p:nvPr/>
        </p:nvSpPr>
        <p:spPr>
          <a:xfrm>
            <a:off x="9292361" y="5623560"/>
            <a:ext cx="2304974" cy="365760"/>
          </a:xfrm>
          <a:prstGeom prst="rect">
            <a:avLst/>
          </a:prstGeom>
          <a:noFill/>
          <a:ln/>
        </p:spPr>
        <p:txBody>
          <a:bodyPr wrap="square" lIns="0" tIns="0" rIns="0" bIns="0" rtlCol="0" anchor="ctr"/>
          <a:lstStyle/>
          <a:p>
            <a:pPr indent="0" marL="0">
              <a:buNone/>
            </a:pPr>
            <a:r>
              <a:rPr lang="en-US" sz="1050" i="1" dirty="0">
                <a:solidFill>
                  <a:schemeClr val="accent5"/>
                </a:solidFill>
              </a:rPr>
              <a:t>Law/Rule → Analysis → Conclusion</a:t>
            </a:r>
            <a:endParaRPr lang="en-US" sz="10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The Law: What We Use, Why, and What Was Violated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Chapter 8 Division 1; ss.296–297/1; ss.317/1–317/8</a:t>
            </a:r>
            <a:endParaRPr lang="en-US" sz="1050" dirty="0"/>
          </a:p>
        </p:txBody>
      </p:sp>
      <p:graphicFrame>
        <p:nvGraphicFramePr>
          <p:cNvPr id="16" name="s15-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2377440"/>
                <a:gridCol w="2651760"/>
                <a:gridCol w="3657600"/>
                <a:gridCol w="2773375"/>
              </a:tblGrid>
              <a:tr h="384048">
                <a:tc>
                  <a:txBody>
                    <a:bodyPr/>
                    <a:lstStyle/>
                    <a:p>
                      <a:pPr algn="ctr" indent="0" marL="0">
                        <a:buNone/>
                      </a:pPr>
                      <a:r>
                        <a:rPr lang="en-US" sz="1200" b="1" dirty="0">
                          <a:solidFill>
                            <a:schemeClr val="bg1"/>
                          </a:solidFill>
                        </a:rPr>
                        <a:t>Law</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Sections</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Why we use it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Result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chemeClr val="tx2"/>
                    </a:solidFill>
                  </a:tcPr>
                </a:tc>
              </a:tr>
              <a:tr h="777240">
                <a:tc>
                  <a:txBody>
                    <a:bodyPr/>
                    <a:lstStyle/>
                    <a:p>
                      <a:pPr indent="0" marL="0">
                        <a:buNone/>
                      </a:pPr>
                      <a:r>
                        <a:rPr lang="en-US" sz="1200" b="1" dirty="0">
                          <a:solidFill>
                            <a:schemeClr val="tx2"/>
                          </a:solidFill>
                        </a:rPr>
                        <a:t>Unfair securities trading offences</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ss.238–244/7 (Chapter 8, Division 1)</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TSR is a listed security (s.238), and the conduct is placing trading orders</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l" indent="0" marL="0">
                        <a:buNone/>
                      </a:pPr>
                      <a:r>
                        <a:rPr lang="en-US" sz="1200" b="1" dirty="0">
                          <a:solidFill>
                            <a:schemeClr val="accent3"/>
                          </a:solidFill>
                        </a:rPr>
                        <a:t>Violated: s.244/3(1)(2) with s.244/5(5)</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6F2E7"/>
                    </a:solidFill>
                  </a:tcPr>
                </a:tc>
              </a:tr>
              <a:tr h="777240">
                <a:tc>
                  <a:txBody>
                    <a:bodyPr/>
                    <a:lstStyle/>
                    <a:p>
                      <a:pPr indent="0" marL="0">
                        <a:buNone/>
                      </a:pPr>
                      <a:r>
                        <a:rPr lang="en-US" sz="1200" b="1" dirty="0">
                          <a:solidFill>
                            <a:schemeClr val="tx2"/>
                          </a:solidFill>
                        </a:rPr>
                        <a:t>Criminal penalties</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ss.296, 296/1, 296/2, 297/1</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dirty="0">
                          <a:solidFill>
                            <a:schemeClr val="tx1"/>
                          </a:solidFill>
                        </a:rPr>
                        <a:t>They set the punishment for s.244/3(1) and (2)</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c>
                  <a:txBody>
                    <a:bodyPr/>
                    <a:lstStyle/>
                    <a:p>
                      <a:pPr indent="0" marL="0">
                        <a:buNone/>
                      </a:pPr>
                      <a:r>
                        <a:rPr lang="en-US" sz="1200" b="1" dirty="0">
                          <a:solidFill>
                            <a:schemeClr val="tx2"/>
                          </a:solidFill>
                        </a:rPr>
                        <a:t>Apply if she is prosecuted (Rule 3)</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5F7FA"/>
                    </a:solidFill>
                  </a:tcPr>
                </a:tc>
              </a:tr>
              <a:tr h="777240">
                <a:tc>
                  <a:txBody>
                    <a:bodyPr/>
                    <a:lstStyle/>
                    <a:p>
                      <a:pPr indent="0" marL="0">
                        <a:buNone/>
                      </a:pPr>
                      <a:r>
                        <a:rPr lang="en-US" sz="1200" b="1" dirty="0">
                          <a:solidFill>
                            <a:schemeClr val="tx2"/>
                          </a:solidFill>
                        </a:rPr>
                        <a:t>Civil sanctions</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ss.317/1–317/8</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route the SEC actually used: the CSC, then the Civil Court</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b="1" dirty="0">
                          <a:solidFill>
                            <a:schemeClr val="tx2"/>
                          </a:solidFill>
                        </a:rPr>
                        <a:t>Apply: she refused, so the SEC sued (Rule 4)</a:t>
                      </a:r>
                      <a:endParaRPr lang="en-US" sz="1200" dirty="0"/>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6" name="s15-box-2"/>
          <p:cNvSpPr/>
          <p:nvPr/>
        </p:nvSpPr>
        <p:spPr>
          <a:xfrm>
            <a:off x="365760" y="4315968"/>
            <a:ext cx="6400800" cy="1810512"/>
          </a:xfrm>
          <a:prstGeom prst="rect">
            <a:avLst/>
          </a:prstGeom>
          <a:solidFill>
            <a:srgbClr val="E6F2E7"/>
          </a:solidFill>
          <a:ln w="12700">
            <a:solidFill>
              <a:schemeClr val="accent3"/>
            </a:solidFill>
            <a:prstDash val="solid"/>
          </a:ln>
        </p:spPr>
      </p:sp>
      <p:sp>
        <p:nvSpPr>
          <p:cNvPr id="7" name="s15-text-3"/>
          <p:cNvSpPr txBox="1"/>
          <p:nvPr/>
        </p:nvSpPr>
        <p:spPr>
          <a:xfrm>
            <a:off x="594360" y="4315968"/>
            <a:ext cx="5943600" cy="1810512"/>
          </a:xfrm>
          <a:prstGeom prst="rect">
            <a:avLst/>
          </a:prstGeom>
          <a:noFill/>
          <a:ln/>
        </p:spPr>
        <p:txBody>
          <a:bodyPr wrap="square" lIns="0" tIns="0" rIns="0" bIns="0" rtlCol="0" anchor="ctr"/>
          <a:lstStyle/>
          <a:p>
            <a:pPr indent="0" marL="0">
              <a:spcAft>
                <a:spcPts val="400"/>
              </a:spcAft>
              <a:buNone/>
            </a:pPr>
            <a:r>
              <a:rPr lang="en-US" sz="1300" b="1" dirty="0">
                <a:solidFill>
                  <a:schemeClr val="accent3"/>
                </a:solidFill>
              </a:rPr>
              <a:t>Which law was violated</a:t>
            </a:r>
            <a:endParaRPr lang="en-US" sz="1200" dirty="0"/>
          </a:p>
          <a:p>
            <a:pPr indent="0" marL="0">
              <a:spcAft>
                <a:spcPts val="400"/>
              </a:spcAft>
              <a:buNone/>
            </a:pPr>
            <a:r>
              <a:rPr lang="en-US" sz="1200" dirty="0">
                <a:solidFill>
                  <a:schemeClr val="tx1"/>
                </a:solidFill>
              </a:rPr>
              <a:t>Section 244/3(1) and (2) of the Securities and Exchange Act B.E. 2535, supported by the presumption in Section 244/5(5). No exception in Section 244/4 applies.</a:t>
            </a:r>
            <a:endParaRPr lang="en-US" sz="1200" dirty="0"/>
          </a:p>
        </p:txBody>
      </p:sp>
      <p:sp>
        <p:nvSpPr>
          <p:cNvPr id="8" name="s15-box-4"/>
          <p:cNvSpPr/>
          <p:nvPr/>
        </p:nvSpPr>
        <p:spPr>
          <a:xfrm>
            <a:off x="6903720" y="4315968"/>
            <a:ext cx="4922215" cy="836676"/>
          </a:xfrm>
          <a:prstGeom prst="rect">
            <a:avLst/>
          </a:prstGeom>
          <a:solidFill>
            <a:srgbClr val="FFF3DC"/>
          </a:solidFill>
          <a:ln w="12700">
            <a:solidFill>
              <a:schemeClr val="accent4"/>
            </a:solidFill>
            <a:prstDash val="solid"/>
          </a:ln>
        </p:spPr>
      </p:sp>
      <p:sp>
        <p:nvSpPr>
          <p:cNvPr id="9" name="s15-text-5"/>
          <p:cNvSpPr txBox="1"/>
          <p:nvPr/>
        </p:nvSpPr>
        <p:spPr>
          <a:xfrm>
            <a:off x="7086600" y="4315968"/>
            <a:ext cx="4556455" cy="836676"/>
          </a:xfrm>
          <a:prstGeom prst="rect">
            <a:avLst/>
          </a:prstGeom>
          <a:noFill/>
          <a:ln/>
        </p:spPr>
        <p:txBody>
          <a:bodyPr wrap="square" lIns="0" tIns="0" rIns="0" bIns="0" rtlCol="0" anchor="ctr"/>
          <a:lstStyle/>
          <a:p>
            <a:pPr indent="0" marL="0">
              <a:buNone/>
            </a:pPr>
            <a:r>
              <a:rPr lang="en-US" sz="1200" b="1" dirty="0">
                <a:solidFill>
                  <a:schemeClr val="accent4"/>
                </a:solidFill>
              </a:rPr>
              <a:t>Cited but not used: </a:t>
            </a:r>
            <a:pPr indent="0" marL="0">
              <a:buNone/>
            </a:pPr>
            <a:r>
              <a:rPr lang="en-US" sz="1200" dirty="0">
                <a:solidFill>
                  <a:schemeClr val="tx1"/>
                </a:solidFill>
              </a:rPr>
              <a:t>s.244/5(4); no facts on pre-open or pre-close orders.</a:t>
            </a:r>
            <a:endParaRPr lang="en-US" sz="1200" dirty="0"/>
          </a:p>
        </p:txBody>
      </p:sp>
      <p:sp>
        <p:nvSpPr>
          <p:cNvPr id="10" name="s15-box-6"/>
          <p:cNvSpPr/>
          <p:nvPr/>
        </p:nvSpPr>
        <p:spPr>
          <a:xfrm>
            <a:off x="6903720" y="5289804"/>
            <a:ext cx="4922215" cy="836676"/>
          </a:xfrm>
          <a:prstGeom prst="rect">
            <a:avLst/>
          </a:prstGeom>
          <a:solidFill>
            <a:schemeClr val="bg2"/>
          </a:solidFill>
          <a:ln/>
        </p:spPr>
      </p:sp>
      <p:sp>
        <p:nvSpPr>
          <p:cNvPr id="11" name="s15-text-7"/>
          <p:cNvSpPr txBox="1"/>
          <p:nvPr/>
        </p:nvSpPr>
        <p:spPr>
          <a:xfrm>
            <a:off x="7086600" y="5289804"/>
            <a:ext cx="4556455" cy="836676"/>
          </a:xfrm>
          <a:prstGeom prst="rect">
            <a:avLst/>
          </a:prstGeom>
          <a:noFill/>
          <a:ln/>
        </p:spPr>
        <p:txBody>
          <a:bodyPr wrap="square" lIns="0" tIns="0" rIns="0" bIns="0" rtlCol="0" anchor="ctr"/>
          <a:lstStyle/>
          <a:p>
            <a:pPr indent="0" marL="0">
              <a:buNone/>
            </a:pPr>
            <a:r>
              <a:rPr lang="en-US" sz="1200" b="1" dirty="0">
                <a:solidFill>
                  <a:schemeClr val="tx2"/>
                </a:solidFill>
              </a:rPr>
              <a:t>Not violated: </a:t>
            </a:r>
            <a:pPr indent="0" marL="0">
              <a:buNone/>
            </a:pPr>
            <a:r>
              <a:rPr lang="en-US" sz="1200" dirty="0">
                <a:solidFill>
                  <a:schemeClr val="tx1"/>
                </a:solidFill>
              </a:rPr>
              <a:t>ss.240, 241, 242, 244/1, 244/2, 244/7 (Checklists 3–4).</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1 · Section 244/3(1): Law/Rule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ss.238, 244/3(1), 244/5(5) (pp.80–83)</a:t>
            </a:r>
            <a:endParaRPr lang="en-US" sz="1050" dirty="0"/>
          </a:p>
        </p:txBody>
      </p:sp>
      <p:sp>
        <p:nvSpPr>
          <p:cNvPr id="5" name="s16-subbar-1"/>
          <p:cNvSpPr/>
          <p:nvPr/>
        </p:nvSpPr>
        <p:spPr>
          <a:xfrm>
            <a:off x="365760" y="1353312"/>
            <a:ext cx="7863840" cy="347472"/>
          </a:xfrm>
          <a:prstGeom prst="rect">
            <a:avLst/>
          </a:prstGeom>
          <a:solidFill>
            <a:schemeClr val="tx2"/>
          </a:solidFill>
          <a:ln/>
        </p:spPr>
      </p:sp>
      <p:sp>
        <p:nvSpPr>
          <p:cNvPr id="6" name="s16-subbar-text-2"/>
          <p:cNvSpPr txBox="1"/>
          <p:nvPr/>
        </p:nvSpPr>
        <p:spPr>
          <a:xfrm>
            <a:off x="365760" y="1353312"/>
            <a:ext cx="786384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16-box-3"/>
          <p:cNvSpPr/>
          <p:nvPr/>
        </p:nvSpPr>
        <p:spPr>
          <a:xfrm>
            <a:off x="365760" y="1792224"/>
            <a:ext cx="7863840" cy="4334256"/>
          </a:xfrm>
          <a:prstGeom prst="rect">
            <a:avLst/>
          </a:prstGeom>
          <a:solidFill>
            <a:schemeClr val="bg2"/>
          </a:solidFill>
          <a:ln/>
        </p:spPr>
      </p:sp>
      <p:sp>
        <p:nvSpPr>
          <p:cNvPr id="8" name="s16-text-4"/>
          <p:cNvSpPr txBox="1"/>
          <p:nvPr/>
        </p:nvSpPr>
        <p:spPr>
          <a:xfrm>
            <a:off x="594360" y="1929384"/>
            <a:ext cx="7406640" cy="4087368"/>
          </a:xfrm>
          <a:prstGeom prst="rect">
            <a:avLst/>
          </a:prstGeom>
          <a:noFill/>
          <a:ln/>
        </p:spPr>
        <p:txBody>
          <a:bodyPr wrap="square" lIns="0" tIns="0" rIns="0" bIns="0" rtlCol="0" anchor="t"/>
          <a:lstStyle/>
          <a:p>
            <a:pPr indent="0" marL="0">
              <a:spcAft>
                <a:spcPts val="900"/>
              </a:spcAft>
              <a:buNone/>
            </a:pPr>
            <a:r>
              <a:rPr lang="en-US" sz="1300" b="1" dirty="0">
                <a:solidFill>
                  <a:schemeClr val="tx2"/>
                </a:solidFill>
              </a:rPr>
              <a:t>Under the Securities and Exchange Act B.E. 2535 Section 244/3(1)</a:t>
            </a:r>
            <a:endParaRPr lang="en-US" sz="1200" dirty="0"/>
          </a:p>
          <a:p>
            <a:pPr indent="0" marL="0">
              <a:spcAft>
                <a:spcPts val="900"/>
              </a:spcAft>
              <a:buNone/>
            </a:pPr>
            <a:r>
              <a:rPr lang="en-US" sz="1200" dirty="0">
                <a:solidFill>
                  <a:schemeClr val="tx1"/>
                </a:solidFill>
              </a:rPr>
              <a:t>No person shall take any of the following actions:</a:t>
            </a:r>
            <a:endParaRPr lang="en-US" sz="1200" dirty="0"/>
          </a:p>
          <a:p>
            <a:pPr lvl="1" indent="0" marL="0">
              <a:spcAft>
                <a:spcPts val="900"/>
              </a:spcAft>
              <a:buNone/>
            </a:pPr>
            <a:r>
              <a:rPr lang="en-US" sz="1200" dirty="0">
                <a:solidFill>
                  <a:schemeClr val="tx1"/>
                </a:solidFill>
              </a:rPr>
              <a:t>(1) placing a trading order or trading securities in such a way that misleads other persons regarding the price or volume of the securities trading;</a:t>
            </a:r>
            <a:endParaRPr lang="en-US" sz="1200" dirty="0"/>
          </a:p>
          <a:p>
            <a:pPr indent="0" marL="0">
              <a:spcAft>
                <a:spcPts val="900"/>
              </a:spcAft>
              <a:buNone/>
            </a:pPr>
            <a:r>
              <a:rPr lang="en-US" sz="1300" b="1" dirty="0">
                <a:solidFill>
                  <a:schemeClr val="tx2"/>
                </a:solidFill>
              </a:rPr>
              <a:t>Section 244/5(5) — presumption</a:t>
            </a:r>
            <a:endParaRPr lang="en-US" sz="1200" dirty="0"/>
          </a:p>
          <a:p>
            <a:pPr indent="0" marL="0">
              <a:spcAft>
                <a:spcPts val="900"/>
              </a:spcAft>
              <a:buNone/>
            </a:pPr>
            <a:r>
              <a:rPr lang="en-US" sz="1200" dirty="0">
                <a:solidFill>
                  <a:schemeClr val="tx1"/>
                </a:solidFill>
              </a:rPr>
              <a:t>Any of the following acts shall be presumed to be an act that has caused other persons to have a misunderstanding of the price or volume of the securities trading under Section 244/3 (1) …:</a:t>
            </a:r>
            <a:endParaRPr lang="en-US" sz="1200" dirty="0"/>
          </a:p>
          <a:p>
            <a:pPr lvl="1" indent="0" marL="0">
              <a:spcAft>
                <a:spcPts val="900"/>
              </a:spcAft>
              <a:buNone/>
            </a:pPr>
            <a:r>
              <a:rPr lang="en-US" sz="1200" dirty="0">
                <a:solidFill>
                  <a:schemeClr val="tx1"/>
                </a:solidFill>
              </a:rPr>
              <a:t>(5) placing, modifying, or cancelling a securities trading order in such a way that obstructs securities trading of other persons, which causes other persons to place a trading order at a higher or lower price than it should have been.</a:t>
            </a:r>
            <a:endParaRPr lang="en-US" sz="1200" dirty="0"/>
          </a:p>
          <a:p>
            <a:pPr indent="0" marL="0">
              <a:spcAft>
                <a:spcPts val="900"/>
              </a:spcAft>
              <a:buNone/>
            </a:pPr>
            <a:r>
              <a:rPr lang="en-US" sz="1300" b="1" dirty="0">
                <a:solidFill>
                  <a:schemeClr val="tx2"/>
                </a:solidFill>
              </a:rPr>
              <a:t>Section 238 — scope</a:t>
            </a:r>
            <a:endParaRPr lang="en-US" sz="1200" dirty="0"/>
          </a:p>
          <a:p>
            <a:pPr lvl="1" indent="0" marL="0">
              <a:spcAft>
                <a:spcPts val="900"/>
              </a:spcAft>
              <a:buNone/>
            </a:pPr>
            <a:r>
              <a:rPr lang="en-US" sz="1200" dirty="0">
                <a:solidFill>
                  <a:schemeClr val="tx1"/>
                </a:solidFill>
              </a:rPr>
              <a:t>The provisions under this Division shall apply to listed securities and securities traded in the over-the-counter center.</a:t>
            </a:r>
            <a:endParaRPr lang="en-US" sz="1200" dirty="0"/>
          </a:p>
        </p:txBody>
      </p:sp>
      <p:sp>
        <p:nvSpPr>
          <p:cNvPr id="9" name="s16-subbar-5"/>
          <p:cNvSpPr/>
          <p:nvPr/>
        </p:nvSpPr>
        <p:spPr>
          <a:xfrm>
            <a:off x="8366760" y="1353312"/>
            <a:ext cx="3459175" cy="347472"/>
          </a:xfrm>
          <a:prstGeom prst="rect">
            <a:avLst/>
          </a:prstGeom>
          <a:solidFill>
            <a:schemeClr val="tx2"/>
          </a:solidFill>
          <a:ln/>
        </p:spPr>
      </p:sp>
      <p:sp>
        <p:nvSpPr>
          <p:cNvPr id="10" name="s16-subbar-text-6"/>
          <p:cNvSpPr txBox="1"/>
          <p:nvPr/>
        </p:nvSpPr>
        <p:spPr>
          <a:xfrm>
            <a:off x="8366760" y="1353312"/>
            <a:ext cx="345917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sp>
        <p:nvSpPr>
          <p:cNvPr id="11" name="s16-box-7"/>
          <p:cNvSpPr/>
          <p:nvPr/>
        </p:nvSpPr>
        <p:spPr>
          <a:xfrm>
            <a:off x="8366760" y="1792224"/>
            <a:ext cx="3459175" cy="1014984"/>
          </a:xfrm>
          <a:prstGeom prst="rect">
            <a:avLst/>
          </a:prstGeom>
          <a:solidFill>
            <a:schemeClr val="bg2"/>
          </a:solidFill>
          <a:ln/>
        </p:spPr>
      </p:sp>
      <p:sp>
        <p:nvSpPr>
          <p:cNvPr id="12" name="s16-num-8"/>
          <p:cNvSpPr/>
          <p:nvPr/>
        </p:nvSpPr>
        <p:spPr>
          <a:xfrm>
            <a:off x="8549640" y="2093976"/>
            <a:ext cx="411480" cy="411480"/>
          </a:xfrm>
          <a:prstGeom prst="ellipse">
            <a:avLst/>
          </a:prstGeom>
          <a:solidFill>
            <a:schemeClr val="tx2"/>
          </a:solidFill>
          <a:ln/>
        </p:spPr>
      </p:sp>
      <p:sp>
        <p:nvSpPr>
          <p:cNvPr id="13" name="s16-num-text-9"/>
          <p:cNvSpPr txBox="1"/>
          <p:nvPr/>
        </p:nvSpPr>
        <p:spPr>
          <a:xfrm>
            <a:off x="8549640" y="2093976"/>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4" name="s16-text-10"/>
          <p:cNvSpPr txBox="1"/>
          <p:nvPr/>
        </p:nvSpPr>
        <p:spPr>
          <a:xfrm>
            <a:off x="9098280" y="1792224"/>
            <a:ext cx="2590495" cy="1014984"/>
          </a:xfrm>
          <a:prstGeom prst="rect">
            <a:avLst/>
          </a:prstGeom>
          <a:noFill/>
          <a:ln/>
        </p:spPr>
        <p:txBody>
          <a:bodyPr wrap="square" lIns="0" tIns="0" rIns="0" bIns="0" rtlCol="0" anchor="ctr"/>
          <a:lstStyle/>
          <a:p>
            <a:pPr indent="0" marL="0">
              <a:buNone/>
            </a:pPr>
            <a:r>
              <a:rPr lang="en-US" sz="1200" dirty="0">
                <a:solidFill>
                  <a:schemeClr val="tx1"/>
                </a:solidFill>
              </a:rPr>
              <a:t>Any person</a:t>
            </a:r>
            <a:endParaRPr lang="en-US" sz="1200" dirty="0"/>
          </a:p>
        </p:txBody>
      </p:sp>
      <p:sp>
        <p:nvSpPr>
          <p:cNvPr id="15" name="s16-box-11"/>
          <p:cNvSpPr/>
          <p:nvPr/>
        </p:nvSpPr>
        <p:spPr>
          <a:xfrm>
            <a:off x="8366760" y="2898648"/>
            <a:ext cx="3459175" cy="1014984"/>
          </a:xfrm>
          <a:prstGeom prst="rect">
            <a:avLst/>
          </a:prstGeom>
          <a:solidFill>
            <a:schemeClr val="bg2"/>
          </a:solidFill>
          <a:ln/>
        </p:spPr>
      </p:sp>
      <p:sp>
        <p:nvSpPr>
          <p:cNvPr id="16" name="s16-num-12"/>
          <p:cNvSpPr/>
          <p:nvPr/>
        </p:nvSpPr>
        <p:spPr>
          <a:xfrm>
            <a:off x="8549640" y="3200400"/>
            <a:ext cx="411480" cy="411480"/>
          </a:xfrm>
          <a:prstGeom prst="ellipse">
            <a:avLst/>
          </a:prstGeom>
          <a:solidFill>
            <a:schemeClr val="tx2"/>
          </a:solidFill>
          <a:ln/>
        </p:spPr>
      </p:sp>
      <p:sp>
        <p:nvSpPr>
          <p:cNvPr id="17" name="s16-num-text-13"/>
          <p:cNvSpPr txBox="1"/>
          <p:nvPr/>
        </p:nvSpPr>
        <p:spPr>
          <a:xfrm>
            <a:off x="8549640" y="320040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8" name="s16-text-14"/>
          <p:cNvSpPr txBox="1"/>
          <p:nvPr/>
        </p:nvSpPr>
        <p:spPr>
          <a:xfrm>
            <a:off x="9098280" y="2898648"/>
            <a:ext cx="2590495" cy="1014984"/>
          </a:xfrm>
          <a:prstGeom prst="rect">
            <a:avLst/>
          </a:prstGeom>
          <a:noFill/>
          <a:ln/>
        </p:spPr>
        <p:txBody>
          <a:bodyPr wrap="square" lIns="0" tIns="0" rIns="0" bIns="0" rtlCol="0" anchor="ctr"/>
          <a:lstStyle/>
          <a:p>
            <a:pPr indent="0" marL="0">
              <a:buNone/>
            </a:pPr>
            <a:r>
              <a:rPr lang="en-US" sz="1200" dirty="0">
                <a:solidFill>
                  <a:schemeClr val="tx1"/>
                </a:solidFill>
              </a:rPr>
              <a:t>Listed securities (s.238)</a:t>
            </a:r>
            <a:endParaRPr lang="en-US" sz="1200" dirty="0"/>
          </a:p>
        </p:txBody>
      </p:sp>
      <p:sp>
        <p:nvSpPr>
          <p:cNvPr id="19" name="s16-box-15"/>
          <p:cNvSpPr/>
          <p:nvPr/>
        </p:nvSpPr>
        <p:spPr>
          <a:xfrm>
            <a:off x="8366760" y="4005072"/>
            <a:ext cx="3459175" cy="1014984"/>
          </a:xfrm>
          <a:prstGeom prst="rect">
            <a:avLst/>
          </a:prstGeom>
          <a:solidFill>
            <a:schemeClr val="bg2"/>
          </a:solidFill>
          <a:ln/>
        </p:spPr>
      </p:sp>
      <p:sp>
        <p:nvSpPr>
          <p:cNvPr id="20" name="s16-num-16"/>
          <p:cNvSpPr/>
          <p:nvPr/>
        </p:nvSpPr>
        <p:spPr>
          <a:xfrm>
            <a:off x="8549640" y="4306824"/>
            <a:ext cx="411480" cy="411480"/>
          </a:xfrm>
          <a:prstGeom prst="ellipse">
            <a:avLst/>
          </a:prstGeom>
          <a:solidFill>
            <a:schemeClr val="tx2"/>
          </a:solidFill>
          <a:ln/>
        </p:spPr>
      </p:sp>
      <p:sp>
        <p:nvSpPr>
          <p:cNvPr id="21" name="s16-num-text-17"/>
          <p:cNvSpPr txBox="1"/>
          <p:nvPr/>
        </p:nvSpPr>
        <p:spPr>
          <a:xfrm>
            <a:off x="8549640" y="4306824"/>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2" name="s16-text-18"/>
          <p:cNvSpPr txBox="1"/>
          <p:nvPr/>
        </p:nvSpPr>
        <p:spPr>
          <a:xfrm>
            <a:off x="9098280" y="4005072"/>
            <a:ext cx="2590495" cy="1014984"/>
          </a:xfrm>
          <a:prstGeom prst="rect">
            <a:avLst/>
          </a:prstGeom>
          <a:noFill/>
          <a:ln/>
        </p:spPr>
        <p:txBody>
          <a:bodyPr wrap="square" lIns="0" tIns="0" rIns="0" bIns="0" rtlCol="0" anchor="ctr"/>
          <a:lstStyle/>
          <a:p>
            <a:pPr indent="0" marL="0">
              <a:buNone/>
            </a:pPr>
            <a:r>
              <a:rPr lang="en-US" sz="1200" dirty="0">
                <a:solidFill>
                  <a:schemeClr val="tx1"/>
                </a:solidFill>
              </a:rPr>
              <a:t>Placing a trading order or trading securities</a:t>
            </a:r>
            <a:endParaRPr lang="en-US" sz="1200" dirty="0"/>
          </a:p>
        </p:txBody>
      </p:sp>
      <p:sp>
        <p:nvSpPr>
          <p:cNvPr id="23" name="s16-box-19"/>
          <p:cNvSpPr/>
          <p:nvPr/>
        </p:nvSpPr>
        <p:spPr>
          <a:xfrm>
            <a:off x="8366760" y="5111496"/>
            <a:ext cx="3459175" cy="1014984"/>
          </a:xfrm>
          <a:prstGeom prst="rect">
            <a:avLst/>
          </a:prstGeom>
          <a:solidFill>
            <a:schemeClr val="bg2"/>
          </a:solidFill>
          <a:ln/>
        </p:spPr>
      </p:sp>
      <p:sp>
        <p:nvSpPr>
          <p:cNvPr id="24" name="s16-num-20"/>
          <p:cNvSpPr/>
          <p:nvPr/>
        </p:nvSpPr>
        <p:spPr>
          <a:xfrm>
            <a:off x="8549640" y="5413248"/>
            <a:ext cx="411480" cy="411480"/>
          </a:xfrm>
          <a:prstGeom prst="ellipse">
            <a:avLst/>
          </a:prstGeom>
          <a:solidFill>
            <a:schemeClr val="tx2"/>
          </a:solidFill>
          <a:ln/>
        </p:spPr>
      </p:sp>
      <p:sp>
        <p:nvSpPr>
          <p:cNvPr id="25" name="s16-num-text-21"/>
          <p:cNvSpPr txBox="1"/>
          <p:nvPr/>
        </p:nvSpPr>
        <p:spPr>
          <a:xfrm>
            <a:off x="8549640" y="5413248"/>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6" name="s16-text-22"/>
          <p:cNvSpPr txBox="1"/>
          <p:nvPr/>
        </p:nvSpPr>
        <p:spPr>
          <a:xfrm>
            <a:off x="9098280" y="5111496"/>
            <a:ext cx="2590495" cy="1014984"/>
          </a:xfrm>
          <a:prstGeom prst="rect">
            <a:avLst/>
          </a:prstGeom>
          <a:noFill/>
          <a:ln/>
        </p:spPr>
        <p:txBody>
          <a:bodyPr wrap="square" lIns="0" tIns="0" rIns="0" bIns="0" rtlCol="0" anchor="ctr"/>
          <a:lstStyle/>
          <a:p>
            <a:pPr indent="0" marL="0">
              <a:buNone/>
            </a:pPr>
            <a:r>
              <a:rPr lang="en-US" sz="1200" dirty="0">
                <a:solidFill>
                  <a:schemeClr val="tx1"/>
                </a:solidFill>
              </a:rPr>
              <a:t>Misleads other persons regarding price or volume (presumed by s.244/5(5))</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1 · Section 244/3(1):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F1–F6; Securities and Exchange Act ss.238, 244/3(1), 244/4, 244/5(5)</a:t>
            </a:r>
            <a:endParaRPr lang="en-US" sz="1050" dirty="0"/>
          </a:p>
        </p:txBody>
      </p:sp>
      <p:sp>
        <p:nvSpPr>
          <p:cNvPr id="5" name="s17-subbar-1"/>
          <p:cNvSpPr/>
          <p:nvPr/>
        </p:nvSpPr>
        <p:spPr>
          <a:xfrm>
            <a:off x="365760" y="1353312"/>
            <a:ext cx="8138160" cy="347472"/>
          </a:xfrm>
          <a:prstGeom prst="rect">
            <a:avLst/>
          </a:prstGeom>
          <a:solidFill>
            <a:schemeClr val="tx2"/>
          </a:solidFill>
          <a:ln/>
        </p:spPr>
      </p:sp>
      <p:sp>
        <p:nvSpPr>
          <p:cNvPr id="6" name="s17-subbar-text-2"/>
          <p:cNvSpPr txBox="1"/>
          <p:nvPr/>
        </p:nvSpPr>
        <p:spPr>
          <a:xfrm>
            <a:off x="365760" y="1353312"/>
            <a:ext cx="81381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17-box-3"/>
          <p:cNvSpPr/>
          <p:nvPr/>
        </p:nvSpPr>
        <p:spPr>
          <a:xfrm>
            <a:off x="365760" y="1792224"/>
            <a:ext cx="8138160" cy="2944368"/>
          </a:xfrm>
          <a:prstGeom prst="rect">
            <a:avLst/>
          </a:prstGeom>
          <a:solidFill>
            <a:schemeClr val="bg2"/>
          </a:solidFill>
          <a:ln/>
        </p:spPr>
      </p:sp>
      <p:sp>
        <p:nvSpPr>
          <p:cNvPr id="8" name="s17-text-4"/>
          <p:cNvSpPr txBox="1"/>
          <p:nvPr/>
        </p:nvSpPr>
        <p:spPr>
          <a:xfrm>
            <a:off x="594360" y="1883664"/>
            <a:ext cx="7680960" cy="2761488"/>
          </a:xfrm>
          <a:prstGeom prst="rect">
            <a:avLst/>
          </a:prstGeom>
          <a:noFill/>
          <a:ln/>
        </p:spPr>
        <p:txBody>
          <a:bodyPr wrap="square" lIns="0" tIns="0" rIns="0" bIns="0" rtlCol="0" anchor="ctr"/>
          <a:lstStyle/>
          <a:p>
            <a:pPr indent="0" marL="0">
              <a:spcAft>
                <a:spcPts val="800"/>
              </a:spcAft>
              <a:buNone/>
            </a:pPr>
            <a:r>
              <a:rPr lang="en-US" sz="1200" b="1" dirty="0">
                <a:solidFill>
                  <a:schemeClr val="tx2"/>
                </a:solidFill>
              </a:rPr>
              <a:t>From the facts, </a:t>
            </a:r>
            <a:pPr indent="0" marL="0">
              <a:spcAft>
                <a:spcPts val="800"/>
              </a:spcAft>
              <a:buNone/>
            </a:pPr>
            <a:r>
              <a:rPr lang="en-US" sz="1200" dirty="0">
                <a:solidFill>
                  <a:schemeClr val="tx1"/>
                </a:solidFill>
              </a:rPr>
              <a:t>นางสาวภรัณยา hit the offers and held large bids in TSR shares from 22 June to 31 August 2022 (F3, F4). Under Section 244/3(1):</a:t>
            </a:r>
            <a:endParaRPr lang="en-US" sz="1200" dirty="0"/>
          </a:p>
          <a:p>
            <a:pPr indent="0" marL="0">
              <a:spcAft>
                <a:spcPts val="800"/>
              </a:spcAft>
              <a:buNone/>
            </a:pPr>
            <a:r>
              <a:rPr lang="en-US" sz="1200" b="1" dirty="0">
                <a:solidFill>
                  <a:schemeClr val="tx2"/>
                </a:solidFill>
              </a:rPr>
              <a:t>First, </a:t>
            </a:r>
            <a:pPr indent="0" marL="0">
              <a:spcAft>
                <a:spcPts val="800"/>
              </a:spcAft>
              <a:buNone/>
            </a:pPr>
            <a:r>
              <a:rPr lang="en-US" sz="1200" dirty="0">
                <a:solidFill>
                  <a:schemeClr val="tx1"/>
                </a:solidFill>
              </a:rPr>
              <a:t>she is “any person” under the Section, as she is an individual investor (F1).</a:t>
            </a:r>
            <a:endParaRPr lang="en-US" sz="1200" dirty="0"/>
          </a:p>
          <a:p>
            <a:pPr indent="0" marL="0">
              <a:spcAft>
                <a:spcPts val="800"/>
              </a:spcAft>
              <a:buNone/>
            </a:pPr>
            <a:r>
              <a:rPr lang="en-US" sz="1200" b="1" dirty="0">
                <a:solidFill>
                  <a:schemeClr val="tx2"/>
                </a:solidFill>
              </a:rPr>
              <a:t>Second, </a:t>
            </a:r>
            <a:pPr indent="0" marL="0">
              <a:spcAft>
                <a:spcPts val="800"/>
              </a:spcAft>
              <a:buNone/>
            </a:pPr>
            <a:r>
              <a:rPr lang="en-US" sz="1200" dirty="0">
                <a:solidFill>
                  <a:schemeClr val="tx1"/>
                </a:solidFill>
              </a:rPr>
              <a:t>TSR shares are listed on the SET, so this Division applies under Section 238 (F2).</a:t>
            </a:r>
            <a:endParaRPr lang="en-US" sz="1200" dirty="0"/>
          </a:p>
          <a:p>
            <a:pPr indent="0" marL="0">
              <a:spcAft>
                <a:spcPts val="800"/>
              </a:spcAft>
              <a:buNone/>
            </a:pPr>
            <a:r>
              <a:rPr lang="en-US" sz="1200" b="1" dirty="0">
                <a:solidFill>
                  <a:schemeClr val="tx2"/>
                </a:solidFill>
              </a:rPr>
              <a:t>Third, </a:t>
            </a:r>
            <a:pPr indent="0" marL="0">
              <a:spcAft>
                <a:spcPts val="800"/>
              </a:spcAft>
              <a:buNone/>
            </a:pPr>
            <a:r>
              <a:rPr lang="en-US" sz="1200" dirty="0">
                <a:solidFill>
                  <a:schemeClr val="tx1"/>
                </a:solidFill>
              </a:rPr>
              <a:t>she placed trading orders and traded the securities by hitting the offers and sweeping the sell orders (F3).</a:t>
            </a:r>
            <a:endParaRPr lang="en-US" sz="1200" dirty="0"/>
          </a:p>
          <a:p>
            <a:pPr indent="0" marL="0">
              <a:spcAft>
                <a:spcPts val="800"/>
              </a:spcAft>
              <a:buNone/>
            </a:pPr>
            <a:r>
              <a:rPr lang="en-US" sz="1200" b="1" dirty="0">
                <a:solidFill>
                  <a:schemeClr val="tx2"/>
                </a:solidFill>
              </a:rPr>
              <a:t>Fourth, </a:t>
            </a:r>
            <a:pPr indent="0" marL="0">
              <a:spcAft>
                <a:spcPts val="800"/>
              </a:spcAft>
              <a:buNone/>
            </a:pPr>
            <a:r>
              <a:rPr lang="en-US" sz="1200" dirty="0">
                <a:solidFill>
                  <a:schemeClr val="tx1"/>
                </a:solidFill>
              </a:rPr>
              <a:t>her large bids obstructed other investors, who had to bid higher (F4). This matches Section 244/5(5), so the law presumes that other persons were misled about the price or volume; the SEC also found that the public was misled (F6). No exception in Section 244/4 applies.</a:t>
            </a:r>
            <a:endParaRPr lang="en-US" sz="1200" dirty="0"/>
          </a:p>
        </p:txBody>
      </p:sp>
      <p:sp>
        <p:nvSpPr>
          <p:cNvPr id="9" name="s17-subbar-5"/>
          <p:cNvSpPr/>
          <p:nvPr/>
        </p:nvSpPr>
        <p:spPr>
          <a:xfrm>
            <a:off x="8641080" y="1353312"/>
            <a:ext cx="3184855" cy="347472"/>
          </a:xfrm>
          <a:prstGeom prst="rect">
            <a:avLst/>
          </a:prstGeom>
          <a:solidFill>
            <a:schemeClr val="tx2"/>
          </a:solidFill>
          <a:ln/>
        </p:spPr>
      </p:sp>
      <p:sp>
        <p:nvSpPr>
          <p:cNvPr id="10" name="s17-subbar-text-6"/>
          <p:cNvSpPr txBox="1"/>
          <p:nvPr/>
        </p:nvSpPr>
        <p:spPr>
          <a:xfrm>
            <a:off x="8641080" y="1353312"/>
            <a:ext cx="31848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sp>
        <p:nvSpPr>
          <p:cNvPr id="11" name="s17-box-7"/>
          <p:cNvSpPr/>
          <p:nvPr/>
        </p:nvSpPr>
        <p:spPr>
          <a:xfrm>
            <a:off x="8641080" y="1792224"/>
            <a:ext cx="3184855" cy="1014984"/>
          </a:xfrm>
          <a:prstGeom prst="rect">
            <a:avLst/>
          </a:prstGeom>
          <a:solidFill>
            <a:srgbClr val="E6F2E7"/>
          </a:solidFill>
          <a:ln w="12700">
            <a:solidFill>
              <a:schemeClr val="accent3"/>
            </a:solidFill>
            <a:prstDash val="solid"/>
          </a:ln>
        </p:spPr>
      </p:sp>
      <p:sp>
        <p:nvSpPr>
          <p:cNvPr id="12" name="s17-num-8"/>
          <p:cNvSpPr/>
          <p:nvPr/>
        </p:nvSpPr>
        <p:spPr>
          <a:xfrm>
            <a:off x="8778240" y="2116836"/>
            <a:ext cx="365760" cy="365760"/>
          </a:xfrm>
          <a:prstGeom prst="ellipse">
            <a:avLst/>
          </a:prstGeom>
          <a:solidFill>
            <a:schemeClr val="accent3"/>
          </a:solidFill>
          <a:ln/>
        </p:spPr>
      </p:sp>
      <p:sp>
        <p:nvSpPr>
          <p:cNvPr id="13" name="s17-num-text-9"/>
          <p:cNvSpPr txBox="1"/>
          <p:nvPr/>
        </p:nvSpPr>
        <p:spPr>
          <a:xfrm>
            <a:off x="8778240" y="2116836"/>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4" name="s17-text-10"/>
          <p:cNvSpPr txBox="1"/>
          <p:nvPr/>
        </p:nvSpPr>
        <p:spPr>
          <a:xfrm>
            <a:off x="9262872" y="1792224"/>
            <a:ext cx="2453335" cy="1014984"/>
          </a:xfrm>
          <a:prstGeom prst="rect">
            <a:avLst/>
          </a:prstGeom>
          <a:noFill/>
          <a:ln/>
        </p:spPr>
        <p:txBody>
          <a:bodyPr wrap="square" lIns="0" tIns="0" rIns="0" bIns="0" rtlCol="0" anchor="ctr"/>
          <a:lstStyle/>
          <a:p>
            <a:pPr indent="0" marL="0">
              <a:buNone/>
            </a:pPr>
            <a:r>
              <a:rPr lang="en-US" sz="1200" b="1" dirty="0">
                <a:solidFill>
                  <a:schemeClr val="tx2"/>
                </a:solidFill>
              </a:rPr>
              <a:t>Any person</a:t>
            </a:r>
            <a:endParaRPr lang="en-US" sz="1200" dirty="0"/>
          </a:p>
          <a:p>
            <a:pPr indent="0" marL="0">
              <a:buNone/>
            </a:pPr>
            <a:r>
              <a:rPr lang="en-US" sz="1100" dirty="0">
                <a:solidFill>
                  <a:schemeClr val="accent3"/>
                </a:solidFill>
              </a:rPr>
              <a:t>✓ Met · F1</a:t>
            </a:r>
            <a:endParaRPr lang="en-US" sz="1200" dirty="0"/>
          </a:p>
        </p:txBody>
      </p:sp>
      <p:sp>
        <p:nvSpPr>
          <p:cNvPr id="15" name="s17-box-11"/>
          <p:cNvSpPr/>
          <p:nvPr/>
        </p:nvSpPr>
        <p:spPr>
          <a:xfrm>
            <a:off x="8641080" y="2898648"/>
            <a:ext cx="3184855" cy="1014984"/>
          </a:xfrm>
          <a:prstGeom prst="rect">
            <a:avLst/>
          </a:prstGeom>
          <a:solidFill>
            <a:srgbClr val="E6F2E7"/>
          </a:solidFill>
          <a:ln w="12700">
            <a:solidFill>
              <a:schemeClr val="accent3"/>
            </a:solidFill>
            <a:prstDash val="solid"/>
          </a:ln>
        </p:spPr>
      </p:sp>
      <p:sp>
        <p:nvSpPr>
          <p:cNvPr id="16" name="s17-num-12"/>
          <p:cNvSpPr/>
          <p:nvPr/>
        </p:nvSpPr>
        <p:spPr>
          <a:xfrm>
            <a:off x="8778240" y="3223260"/>
            <a:ext cx="365760" cy="365760"/>
          </a:xfrm>
          <a:prstGeom prst="ellipse">
            <a:avLst/>
          </a:prstGeom>
          <a:solidFill>
            <a:schemeClr val="accent3"/>
          </a:solidFill>
          <a:ln/>
        </p:spPr>
      </p:sp>
      <p:sp>
        <p:nvSpPr>
          <p:cNvPr id="17" name="s17-num-text-13"/>
          <p:cNvSpPr txBox="1"/>
          <p:nvPr/>
        </p:nvSpPr>
        <p:spPr>
          <a:xfrm>
            <a:off x="8778240" y="3223260"/>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8" name="s17-text-14"/>
          <p:cNvSpPr txBox="1"/>
          <p:nvPr/>
        </p:nvSpPr>
        <p:spPr>
          <a:xfrm>
            <a:off x="9262872" y="2898648"/>
            <a:ext cx="2453335" cy="1014984"/>
          </a:xfrm>
          <a:prstGeom prst="rect">
            <a:avLst/>
          </a:prstGeom>
          <a:noFill/>
          <a:ln/>
        </p:spPr>
        <p:txBody>
          <a:bodyPr wrap="square" lIns="0" tIns="0" rIns="0" bIns="0" rtlCol="0" anchor="ctr"/>
          <a:lstStyle/>
          <a:p>
            <a:pPr indent="0" marL="0">
              <a:buNone/>
            </a:pPr>
            <a:r>
              <a:rPr lang="en-US" sz="1200" b="1" dirty="0">
                <a:solidFill>
                  <a:schemeClr val="tx2"/>
                </a:solidFill>
              </a:rPr>
              <a:t>Listed securities</a:t>
            </a:r>
            <a:endParaRPr lang="en-US" sz="1200" dirty="0"/>
          </a:p>
          <a:p>
            <a:pPr indent="0" marL="0">
              <a:buNone/>
            </a:pPr>
            <a:r>
              <a:rPr lang="en-US" sz="1100" dirty="0">
                <a:solidFill>
                  <a:schemeClr val="accent3"/>
                </a:solidFill>
              </a:rPr>
              <a:t>✓ Met · F2</a:t>
            </a:r>
            <a:endParaRPr lang="en-US" sz="1200" dirty="0"/>
          </a:p>
        </p:txBody>
      </p:sp>
      <p:sp>
        <p:nvSpPr>
          <p:cNvPr id="19" name="s17-box-15"/>
          <p:cNvSpPr/>
          <p:nvPr/>
        </p:nvSpPr>
        <p:spPr>
          <a:xfrm>
            <a:off x="8641080" y="4005072"/>
            <a:ext cx="3184855" cy="1014984"/>
          </a:xfrm>
          <a:prstGeom prst="rect">
            <a:avLst/>
          </a:prstGeom>
          <a:solidFill>
            <a:srgbClr val="E6F2E7"/>
          </a:solidFill>
          <a:ln w="12700">
            <a:solidFill>
              <a:schemeClr val="accent3"/>
            </a:solidFill>
            <a:prstDash val="solid"/>
          </a:ln>
        </p:spPr>
      </p:sp>
      <p:sp>
        <p:nvSpPr>
          <p:cNvPr id="20" name="s17-num-16"/>
          <p:cNvSpPr/>
          <p:nvPr/>
        </p:nvSpPr>
        <p:spPr>
          <a:xfrm>
            <a:off x="8778240" y="4329684"/>
            <a:ext cx="365760" cy="365760"/>
          </a:xfrm>
          <a:prstGeom prst="ellipse">
            <a:avLst/>
          </a:prstGeom>
          <a:solidFill>
            <a:schemeClr val="accent3"/>
          </a:solidFill>
          <a:ln/>
        </p:spPr>
      </p:sp>
      <p:sp>
        <p:nvSpPr>
          <p:cNvPr id="21" name="s17-num-text-17"/>
          <p:cNvSpPr txBox="1"/>
          <p:nvPr/>
        </p:nvSpPr>
        <p:spPr>
          <a:xfrm>
            <a:off x="8778240" y="4329684"/>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2" name="s17-text-18"/>
          <p:cNvSpPr txBox="1"/>
          <p:nvPr/>
        </p:nvSpPr>
        <p:spPr>
          <a:xfrm>
            <a:off x="9262872" y="4005072"/>
            <a:ext cx="2453335" cy="1014984"/>
          </a:xfrm>
          <a:prstGeom prst="rect">
            <a:avLst/>
          </a:prstGeom>
          <a:noFill/>
          <a:ln/>
        </p:spPr>
        <p:txBody>
          <a:bodyPr wrap="square" lIns="0" tIns="0" rIns="0" bIns="0" rtlCol="0" anchor="ctr"/>
          <a:lstStyle/>
          <a:p>
            <a:pPr indent="0" marL="0">
              <a:buNone/>
            </a:pPr>
            <a:r>
              <a:rPr lang="en-US" sz="1200" b="1" dirty="0">
                <a:solidFill>
                  <a:schemeClr val="tx2"/>
                </a:solidFill>
              </a:rPr>
              <a:t>Orders / trading</a:t>
            </a:r>
            <a:endParaRPr lang="en-US" sz="1200" dirty="0"/>
          </a:p>
          <a:p>
            <a:pPr indent="0" marL="0">
              <a:buNone/>
            </a:pPr>
            <a:r>
              <a:rPr lang="en-US" sz="1100" dirty="0">
                <a:solidFill>
                  <a:schemeClr val="accent3"/>
                </a:solidFill>
              </a:rPr>
              <a:t>✓ Met · F3, F4</a:t>
            </a:r>
            <a:endParaRPr lang="en-US" sz="1200" dirty="0"/>
          </a:p>
        </p:txBody>
      </p:sp>
      <p:sp>
        <p:nvSpPr>
          <p:cNvPr id="23" name="s17-box-19"/>
          <p:cNvSpPr/>
          <p:nvPr/>
        </p:nvSpPr>
        <p:spPr>
          <a:xfrm>
            <a:off x="8641080" y="5111496"/>
            <a:ext cx="3184855" cy="1014984"/>
          </a:xfrm>
          <a:prstGeom prst="rect">
            <a:avLst/>
          </a:prstGeom>
          <a:solidFill>
            <a:srgbClr val="E6F2E7"/>
          </a:solidFill>
          <a:ln w="12700">
            <a:solidFill>
              <a:schemeClr val="accent3"/>
            </a:solidFill>
            <a:prstDash val="solid"/>
          </a:ln>
        </p:spPr>
      </p:sp>
      <p:sp>
        <p:nvSpPr>
          <p:cNvPr id="24" name="s17-num-20"/>
          <p:cNvSpPr/>
          <p:nvPr/>
        </p:nvSpPr>
        <p:spPr>
          <a:xfrm>
            <a:off x="8778240" y="5436108"/>
            <a:ext cx="365760" cy="365760"/>
          </a:xfrm>
          <a:prstGeom prst="ellipse">
            <a:avLst/>
          </a:prstGeom>
          <a:solidFill>
            <a:schemeClr val="accent3"/>
          </a:solidFill>
          <a:ln/>
        </p:spPr>
      </p:sp>
      <p:sp>
        <p:nvSpPr>
          <p:cNvPr id="25" name="s17-num-text-21"/>
          <p:cNvSpPr txBox="1"/>
          <p:nvPr/>
        </p:nvSpPr>
        <p:spPr>
          <a:xfrm>
            <a:off x="8778240" y="543610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6" name="s17-text-22"/>
          <p:cNvSpPr txBox="1"/>
          <p:nvPr/>
        </p:nvSpPr>
        <p:spPr>
          <a:xfrm>
            <a:off x="9262872" y="5111496"/>
            <a:ext cx="2453335" cy="1014984"/>
          </a:xfrm>
          <a:prstGeom prst="rect">
            <a:avLst/>
          </a:prstGeom>
          <a:noFill/>
          <a:ln/>
        </p:spPr>
        <p:txBody>
          <a:bodyPr wrap="square" lIns="0" tIns="0" rIns="0" bIns="0" rtlCol="0" anchor="ctr"/>
          <a:lstStyle/>
          <a:p>
            <a:pPr indent="0" marL="0">
              <a:buNone/>
            </a:pPr>
            <a:r>
              <a:rPr lang="en-US" sz="1200" b="1" dirty="0">
                <a:solidFill>
                  <a:schemeClr val="tx2"/>
                </a:solidFill>
              </a:rPr>
              <a:t>Misleads others</a:t>
            </a:r>
            <a:endParaRPr lang="en-US" sz="1200" dirty="0"/>
          </a:p>
          <a:p>
            <a:pPr indent="0" marL="0">
              <a:buNone/>
            </a:pPr>
            <a:r>
              <a:rPr lang="en-US" sz="1100" dirty="0">
                <a:solidFill>
                  <a:schemeClr val="accent3"/>
                </a:solidFill>
              </a:rPr>
              <a:t>✓ Met · F4, F6 + s.244/5(5)</a:t>
            </a:r>
            <a:endParaRPr lang="en-US" sz="1200" dirty="0"/>
          </a:p>
        </p:txBody>
      </p:sp>
      <p:sp>
        <p:nvSpPr>
          <p:cNvPr id="27" name="s17-box-23"/>
          <p:cNvSpPr/>
          <p:nvPr/>
        </p:nvSpPr>
        <p:spPr>
          <a:xfrm>
            <a:off x="365760" y="4846320"/>
            <a:ext cx="8138160" cy="1280160"/>
          </a:xfrm>
          <a:prstGeom prst="rect">
            <a:avLst/>
          </a:prstGeom>
          <a:solidFill>
            <a:srgbClr val="E6F2E7"/>
          </a:solidFill>
          <a:ln w="12700">
            <a:solidFill>
              <a:schemeClr val="accent3"/>
            </a:solidFill>
            <a:prstDash val="solid"/>
          </a:ln>
        </p:spPr>
      </p:sp>
      <p:sp>
        <p:nvSpPr>
          <p:cNvPr id="28" name="s17-text-24"/>
          <p:cNvSpPr txBox="1"/>
          <p:nvPr/>
        </p:nvSpPr>
        <p:spPr>
          <a:xfrm>
            <a:off x="594360" y="4846320"/>
            <a:ext cx="7680960" cy="1280160"/>
          </a:xfrm>
          <a:prstGeom prst="rect">
            <a:avLst/>
          </a:prstGeom>
          <a:noFill/>
          <a:ln/>
        </p:spPr>
        <p:txBody>
          <a:bodyPr wrap="square" lIns="0" tIns="0" rIns="0" bIns="0" rtlCol="0" anchor="ctr"/>
          <a:lstStyle/>
          <a:p>
            <a:pPr indent="0" marL="0">
              <a:spcAft>
                <a:spcPts val="300"/>
              </a:spcAft>
              <a:buNone/>
            </a:pPr>
            <a:r>
              <a:rPr lang="en-US" sz="1300" b="1" dirty="0">
                <a:solidFill>
                  <a:schemeClr val="accent3"/>
                </a:solidFill>
              </a:rPr>
              <a:t>3. Conclusion</a:t>
            </a:r>
            <a:endParaRPr lang="en-US" sz="1200" dirty="0"/>
          </a:p>
          <a:p>
            <a:pPr indent="0" marL="0">
              <a:spcAft>
                <a:spcPts val="300"/>
              </a:spcAft>
              <a:buNone/>
            </a:pPr>
            <a:r>
              <a:rPr lang="en-US" sz="1200" dirty="0">
                <a:solidFill>
                  <a:schemeClr val="tx1"/>
                </a:solidFill>
              </a:rPr>
              <a:t>In conclusion, นางสาวภรัณยา’s conduct violates Section 244/3(1), supported by the presumption in Section 244/5(5).</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2 · Section 244/3(2): Law/Rule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ss.244/3(2), 244/5(4)(5) (pp.82–83)</a:t>
            </a:r>
            <a:endParaRPr lang="en-US" sz="1050" dirty="0"/>
          </a:p>
        </p:txBody>
      </p:sp>
      <p:sp>
        <p:nvSpPr>
          <p:cNvPr id="5" name="s18-subbar-1"/>
          <p:cNvSpPr/>
          <p:nvPr/>
        </p:nvSpPr>
        <p:spPr>
          <a:xfrm>
            <a:off x="365760" y="1353312"/>
            <a:ext cx="7863840" cy="347472"/>
          </a:xfrm>
          <a:prstGeom prst="rect">
            <a:avLst/>
          </a:prstGeom>
          <a:solidFill>
            <a:schemeClr val="tx2"/>
          </a:solidFill>
          <a:ln/>
        </p:spPr>
      </p:sp>
      <p:sp>
        <p:nvSpPr>
          <p:cNvPr id="6" name="s18-subbar-text-2"/>
          <p:cNvSpPr txBox="1"/>
          <p:nvPr/>
        </p:nvSpPr>
        <p:spPr>
          <a:xfrm>
            <a:off x="365760" y="1353312"/>
            <a:ext cx="786384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18-box-3"/>
          <p:cNvSpPr/>
          <p:nvPr/>
        </p:nvSpPr>
        <p:spPr>
          <a:xfrm>
            <a:off x="365760" y="1792224"/>
            <a:ext cx="7863840" cy="4334256"/>
          </a:xfrm>
          <a:prstGeom prst="rect">
            <a:avLst/>
          </a:prstGeom>
          <a:solidFill>
            <a:schemeClr val="bg2"/>
          </a:solidFill>
          <a:ln/>
        </p:spPr>
      </p:sp>
      <p:sp>
        <p:nvSpPr>
          <p:cNvPr id="8" name="s18-text-4"/>
          <p:cNvSpPr txBox="1"/>
          <p:nvPr/>
        </p:nvSpPr>
        <p:spPr>
          <a:xfrm>
            <a:off x="594360" y="1929384"/>
            <a:ext cx="7406640" cy="3145536"/>
          </a:xfrm>
          <a:prstGeom prst="rect">
            <a:avLst/>
          </a:prstGeom>
          <a:noFill/>
          <a:ln/>
        </p:spPr>
        <p:txBody>
          <a:bodyPr wrap="square" lIns="0" tIns="0" rIns="0" bIns="0" rtlCol="0" anchor="t"/>
          <a:lstStyle/>
          <a:p>
            <a:pPr indent="0" marL="0">
              <a:spcAft>
                <a:spcPts val="900"/>
              </a:spcAft>
              <a:buNone/>
            </a:pPr>
            <a:r>
              <a:rPr lang="en-US" sz="1300" b="1" dirty="0">
                <a:solidFill>
                  <a:schemeClr val="tx2"/>
                </a:solidFill>
              </a:rPr>
              <a:t>Under the Securities and Exchange Act B.E. 2535 Section 244/3(2)</a:t>
            </a:r>
            <a:endParaRPr lang="en-US" sz="1200" dirty="0"/>
          </a:p>
          <a:p>
            <a:pPr indent="0" marL="0">
              <a:spcAft>
                <a:spcPts val="900"/>
              </a:spcAft>
              <a:buNone/>
            </a:pPr>
            <a:r>
              <a:rPr lang="en-US" sz="1200" dirty="0">
                <a:solidFill>
                  <a:schemeClr val="tx1"/>
                </a:solidFill>
              </a:rPr>
              <a:t>No person shall take any of the following actions: …</a:t>
            </a:r>
            <a:endParaRPr lang="en-US" sz="1200" dirty="0"/>
          </a:p>
          <a:p>
            <a:pPr lvl="1" indent="0" marL="0">
              <a:spcAft>
                <a:spcPts val="900"/>
              </a:spcAft>
              <a:buNone/>
            </a:pPr>
            <a:r>
              <a:rPr lang="en-US" sz="1200" dirty="0">
                <a:solidFill>
                  <a:schemeClr val="tx1"/>
                </a:solidFill>
              </a:rPr>
              <a:t>(2) placing a securities trading order or trading securities on a continued basis with an intent to cause the price or the volume of such securities trading to be inconsistent with the normal market condition.</a:t>
            </a:r>
            <a:endParaRPr lang="en-US" sz="1200" dirty="0"/>
          </a:p>
          <a:p>
            <a:pPr indent="0" marL="0">
              <a:spcAft>
                <a:spcPts val="900"/>
              </a:spcAft>
              <a:buNone/>
            </a:pPr>
            <a:r>
              <a:rPr lang="en-US" sz="1300" b="1" dirty="0">
                <a:solidFill>
                  <a:schemeClr val="tx2"/>
                </a:solidFill>
              </a:rPr>
              <a:t>Section 244/5(5) — presumption</a:t>
            </a:r>
            <a:endParaRPr lang="en-US" sz="1200" dirty="0"/>
          </a:p>
          <a:p>
            <a:pPr indent="0" marL="0">
              <a:spcAft>
                <a:spcPts val="900"/>
              </a:spcAft>
              <a:buNone/>
            </a:pPr>
            <a:r>
              <a:rPr lang="en-US" sz="1200" dirty="0">
                <a:solidFill>
                  <a:schemeClr val="tx1"/>
                </a:solidFill>
              </a:rPr>
              <a:t>Any of the following acts shall be presumed to be … an act that has caused the price or volume of such securities trading to be inconsistent with the normal market condition under Section 244/3 (2), as the case may be: …</a:t>
            </a:r>
            <a:endParaRPr lang="en-US" sz="1200" dirty="0"/>
          </a:p>
          <a:p>
            <a:pPr lvl="1" indent="0" marL="0">
              <a:spcAft>
                <a:spcPts val="900"/>
              </a:spcAft>
              <a:buNone/>
            </a:pPr>
            <a:r>
              <a:rPr lang="en-US" sz="1200" dirty="0">
                <a:solidFill>
                  <a:schemeClr val="tx1"/>
                </a:solidFill>
              </a:rPr>
              <a:t>(5) placing, modifying, or cancelling a securities trading order in such a way that obstructs securities trading of other persons, which causes other persons to place a trading order at a higher or lower price than it should have been.</a:t>
            </a:r>
            <a:endParaRPr lang="en-US" sz="1200" dirty="0"/>
          </a:p>
        </p:txBody>
      </p:sp>
      <p:sp>
        <p:nvSpPr>
          <p:cNvPr id="9" name="s18-box-5"/>
          <p:cNvSpPr/>
          <p:nvPr/>
        </p:nvSpPr>
        <p:spPr>
          <a:xfrm>
            <a:off x="594360" y="5138928"/>
            <a:ext cx="7406640" cy="841248"/>
          </a:xfrm>
          <a:prstGeom prst="rect">
            <a:avLst/>
          </a:prstGeom>
          <a:solidFill>
            <a:srgbClr val="FFF3DC"/>
          </a:solidFill>
          <a:ln w="12700">
            <a:solidFill>
              <a:schemeClr val="accent4"/>
            </a:solidFill>
            <a:prstDash val="solid"/>
          </a:ln>
        </p:spPr>
      </p:sp>
      <p:sp>
        <p:nvSpPr>
          <p:cNvPr id="10" name="s18-text-6"/>
          <p:cNvSpPr txBox="1"/>
          <p:nvPr/>
        </p:nvSpPr>
        <p:spPr>
          <a:xfrm>
            <a:off x="731520" y="5138928"/>
            <a:ext cx="7132320" cy="841248"/>
          </a:xfrm>
          <a:prstGeom prst="rect">
            <a:avLst/>
          </a:prstGeom>
          <a:noFill/>
          <a:ln/>
        </p:spPr>
        <p:txBody>
          <a:bodyPr wrap="square" lIns="0" tIns="0" rIns="0" bIns="0" rtlCol="0" anchor="ctr"/>
          <a:lstStyle/>
          <a:p>
            <a:pPr indent="0" marL="0">
              <a:buNone/>
            </a:pPr>
            <a:r>
              <a:rPr lang="en-US" sz="1200" b="1" dirty="0">
                <a:solidFill>
                  <a:schemeClr val="accent4"/>
                </a:solidFill>
              </a:rPr>
              <a:t>Not used: </a:t>
            </a:r>
            <a:pPr indent="0" marL="0">
              <a:buNone/>
            </a:pPr>
            <a:r>
              <a:rPr lang="en-US" sz="1200" dirty="0">
                <a:solidFill>
                  <a:schemeClr val="tx1"/>
                </a:solidFill>
              </a:rPr>
              <a:t>Section 244/5(4) (pre-opening / pre-closing orders) was cited by the SEC, but no news report gives facts about such orders (F10).</a:t>
            </a:r>
            <a:endParaRPr lang="en-US" sz="1200" dirty="0"/>
          </a:p>
        </p:txBody>
      </p:sp>
      <p:sp>
        <p:nvSpPr>
          <p:cNvPr id="11" name="s18-subbar-7"/>
          <p:cNvSpPr/>
          <p:nvPr/>
        </p:nvSpPr>
        <p:spPr>
          <a:xfrm>
            <a:off x="8366760" y="1353312"/>
            <a:ext cx="3459175" cy="347472"/>
          </a:xfrm>
          <a:prstGeom prst="rect">
            <a:avLst/>
          </a:prstGeom>
          <a:solidFill>
            <a:schemeClr val="tx2"/>
          </a:solidFill>
          <a:ln/>
        </p:spPr>
      </p:sp>
      <p:sp>
        <p:nvSpPr>
          <p:cNvPr id="12" name="s18-subbar-text-8"/>
          <p:cNvSpPr txBox="1"/>
          <p:nvPr/>
        </p:nvSpPr>
        <p:spPr>
          <a:xfrm>
            <a:off x="8366760" y="1353312"/>
            <a:ext cx="345917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sp>
        <p:nvSpPr>
          <p:cNvPr id="13" name="s18-box-9"/>
          <p:cNvSpPr/>
          <p:nvPr/>
        </p:nvSpPr>
        <p:spPr>
          <a:xfrm>
            <a:off x="8366760" y="1792224"/>
            <a:ext cx="3459175" cy="1383792"/>
          </a:xfrm>
          <a:prstGeom prst="rect">
            <a:avLst/>
          </a:prstGeom>
          <a:solidFill>
            <a:schemeClr val="bg2"/>
          </a:solidFill>
          <a:ln/>
        </p:spPr>
      </p:sp>
      <p:sp>
        <p:nvSpPr>
          <p:cNvPr id="14" name="s18-num-10"/>
          <p:cNvSpPr/>
          <p:nvPr/>
        </p:nvSpPr>
        <p:spPr>
          <a:xfrm>
            <a:off x="8549640" y="2278380"/>
            <a:ext cx="411480" cy="411480"/>
          </a:xfrm>
          <a:prstGeom prst="ellipse">
            <a:avLst/>
          </a:prstGeom>
          <a:solidFill>
            <a:schemeClr val="tx2"/>
          </a:solidFill>
          <a:ln/>
        </p:spPr>
      </p:sp>
      <p:sp>
        <p:nvSpPr>
          <p:cNvPr id="15" name="s18-num-text-11"/>
          <p:cNvSpPr txBox="1"/>
          <p:nvPr/>
        </p:nvSpPr>
        <p:spPr>
          <a:xfrm>
            <a:off x="8549640" y="227838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6" name="s18-text-12"/>
          <p:cNvSpPr txBox="1"/>
          <p:nvPr/>
        </p:nvSpPr>
        <p:spPr>
          <a:xfrm>
            <a:off x="9098280" y="1792224"/>
            <a:ext cx="2590495" cy="1383792"/>
          </a:xfrm>
          <a:prstGeom prst="rect">
            <a:avLst/>
          </a:prstGeom>
          <a:noFill/>
          <a:ln/>
        </p:spPr>
        <p:txBody>
          <a:bodyPr wrap="square" lIns="0" tIns="0" rIns="0" bIns="0" rtlCol="0" anchor="ctr"/>
          <a:lstStyle/>
          <a:p>
            <a:pPr indent="0" marL="0">
              <a:buNone/>
            </a:pPr>
            <a:r>
              <a:rPr lang="en-US" sz="1200" dirty="0">
                <a:solidFill>
                  <a:schemeClr val="tx1"/>
                </a:solidFill>
              </a:rPr>
              <a:t>Placing a trading order or trading securities</a:t>
            </a:r>
            <a:endParaRPr lang="en-US" sz="1200" dirty="0"/>
          </a:p>
        </p:txBody>
      </p:sp>
      <p:sp>
        <p:nvSpPr>
          <p:cNvPr id="17" name="s18-box-13"/>
          <p:cNvSpPr/>
          <p:nvPr/>
        </p:nvSpPr>
        <p:spPr>
          <a:xfrm>
            <a:off x="8366760" y="3267456"/>
            <a:ext cx="3459175" cy="1383792"/>
          </a:xfrm>
          <a:prstGeom prst="rect">
            <a:avLst/>
          </a:prstGeom>
          <a:solidFill>
            <a:schemeClr val="bg2"/>
          </a:solidFill>
          <a:ln/>
        </p:spPr>
      </p:sp>
      <p:sp>
        <p:nvSpPr>
          <p:cNvPr id="18" name="s18-num-14"/>
          <p:cNvSpPr/>
          <p:nvPr/>
        </p:nvSpPr>
        <p:spPr>
          <a:xfrm>
            <a:off x="8549640" y="3753612"/>
            <a:ext cx="411480" cy="411480"/>
          </a:xfrm>
          <a:prstGeom prst="ellipse">
            <a:avLst/>
          </a:prstGeom>
          <a:solidFill>
            <a:schemeClr val="tx2"/>
          </a:solidFill>
          <a:ln/>
        </p:spPr>
      </p:sp>
      <p:sp>
        <p:nvSpPr>
          <p:cNvPr id="19" name="s18-num-text-15"/>
          <p:cNvSpPr txBox="1"/>
          <p:nvPr/>
        </p:nvSpPr>
        <p:spPr>
          <a:xfrm>
            <a:off x="8549640" y="3753612"/>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0" name="s18-text-16"/>
          <p:cNvSpPr txBox="1"/>
          <p:nvPr/>
        </p:nvSpPr>
        <p:spPr>
          <a:xfrm>
            <a:off x="9098280" y="3267456"/>
            <a:ext cx="2590495" cy="1383792"/>
          </a:xfrm>
          <a:prstGeom prst="rect">
            <a:avLst/>
          </a:prstGeom>
          <a:noFill/>
          <a:ln/>
        </p:spPr>
        <p:txBody>
          <a:bodyPr wrap="square" lIns="0" tIns="0" rIns="0" bIns="0" rtlCol="0" anchor="ctr"/>
          <a:lstStyle/>
          <a:p>
            <a:pPr indent="0" marL="0">
              <a:buNone/>
            </a:pPr>
            <a:r>
              <a:rPr lang="en-US" sz="1200" dirty="0">
                <a:solidFill>
                  <a:schemeClr val="tx1"/>
                </a:solidFill>
              </a:rPr>
              <a:t>On a continued basis</a:t>
            </a:r>
            <a:endParaRPr lang="en-US" sz="1200" dirty="0"/>
          </a:p>
        </p:txBody>
      </p:sp>
      <p:sp>
        <p:nvSpPr>
          <p:cNvPr id="21" name="s18-box-17"/>
          <p:cNvSpPr/>
          <p:nvPr/>
        </p:nvSpPr>
        <p:spPr>
          <a:xfrm>
            <a:off x="8366760" y="4742688"/>
            <a:ext cx="3459175" cy="1383792"/>
          </a:xfrm>
          <a:prstGeom prst="rect">
            <a:avLst/>
          </a:prstGeom>
          <a:solidFill>
            <a:schemeClr val="bg2"/>
          </a:solidFill>
          <a:ln/>
        </p:spPr>
      </p:sp>
      <p:sp>
        <p:nvSpPr>
          <p:cNvPr id="22" name="s18-num-18"/>
          <p:cNvSpPr/>
          <p:nvPr/>
        </p:nvSpPr>
        <p:spPr>
          <a:xfrm>
            <a:off x="8549640" y="5228844"/>
            <a:ext cx="411480" cy="411480"/>
          </a:xfrm>
          <a:prstGeom prst="ellipse">
            <a:avLst/>
          </a:prstGeom>
          <a:solidFill>
            <a:schemeClr val="tx2"/>
          </a:solidFill>
          <a:ln/>
        </p:spPr>
      </p:sp>
      <p:sp>
        <p:nvSpPr>
          <p:cNvPr id="23" name="s18-num-text-19"/>
          <p:cNvSpPr txBox="1"/>
          <p:nvPr/>
        </p:nvSpPr>
        <p:spPr>
          <a:xfrm>
            <a:off x="8549640" y="5228844"/>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4" name="s18-text-20"/>
          <p:cNvSpPr txBox="1"/>
          <p:nvPr/>
        </p:nvSpPr>
        <p:spPr>
          <a:xfrm>
            <a:off x="9098280" y="4742688"/>
            <a:ext cx="2590495" cy="1383792"/>
          </a:xfrm>
          <a:prstGeom prst="rect">
            <a:avLst/>
          </a:prstGeom>
          <a:noFill/>
          <a:ln/>
        </p:spPr>
        <p:txBody>
          <a:bodyPr wrap="square" lIns="0" tIns="0" rIns="0" bIns="0" rtlCol="0" anchor="ctr"/>
          <a:lstStyle/>
          <a:p>
            <a:pPr indent="0" marL="0">
              <a:buNone/>
            </a:pPr>
            <a:r>
              <a:rPr lang="en-US" sz="1200" dirty="0">
                <a:solidFill>
                  <a:schemeClr val="tx1"/>
                </a:solidFill>
              </a:rPr>
              <a:t>With intent to make price or volume inconsistent with the normal market condition</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2 · Section 244/3(2):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F1–F5, F10; Securities and Exchange Act ss.244/3(2), 244/5(4)(5), 296/1</a:t>
            </a:r>
            <a:endParaRPr lang="en-US" sz="1050" dirty="0"/>
          </a:p>
        </p:txBody>
      </p:sp>
      <p:sp>
        <p:nvSpPr>
          <p:cNvPr id="5" name="s19-subbar-1"/>
          <p:cNvSpPr/>
          <p:nvPr/>
        </p:nvSpPr>
        <p:spPr>
          <a:xfrm>
            <a:off x="365760" y="1353312"/>
            <a:ext cx="8138160" cy="347472"/>
          </a:xfrm>
          <a:prstGeom prst="rect">
            <a:avLst/>
          </a:prstGeom>
          <a:solidFill>
            <a:schemeClr val="tx2"/>
          </a:solidFill>
          <a:ln/>
        </p:spPr>
      </p:sp>
      <p:sp>
        <p:nvSpPr>
          <p:cNvPr id="6" name="s19-subbar-text-2"/>
          <p:cNvSpPr txBox="1"/>
          <p:nvPr/>
        </p:nvSpPr>
        <p:spPr>
          <a:xfrm>
            <a:off x="365760" y="1353312"/>
            <a:ext cx="81381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19-box-3"/>
          <p:cNvSpPr/>
          <p:nvPr/>
        </p:nvSpPr>
        <p:spPr>
          <a:xfrm>
            <a:off x="365760" y="1792224"/>
            <a:ext cx="8138160" cy="2944368"/>
          </a:xfrm>
          <a:prstGeom prst="rect">
            <a:avLst/>
          </a:prstGeom>
          <a:solidFill>
            <a:schemeClr val="bg2"/>
          </a:solidFill>
          <a:ln/>
        </p:spPr>
      </p:sp>
      <p:sp>
        <p:nvSpPr>
          <p:cNvPr id="8" name="s19-text-4"/>
          <p:cNvSpPr txBox="1"/>
          <p:nvPr/>
        </p:nvSpPr>
        <p:spPr>
          <a:xfrm>
            <a:off x="594360" y="1883664"/>
            <a:ext cx="7680960" cy="2761488"/>
          </a:xfrm>
          <a:prstGeom prst="rect">
            <a:avLst/>
          </a:prstGeom>
          <a:noFill/>
          <a:ln/>
        </p:spPr>
        <p:txBody>
          <a:bodyPr wrap="square" lIns="0" tIns="0" rIns="0" bIns="0" rtlCol="0" anchor="ctr"/>
          <a:lstStyle/>
          <a:p>
            <a:pPr indent="0" marL="0">
              <a:spcAft>
                <a:spcPts val="800"/>
              </a:spcAft>
              <a:buNone/>
            </a:pPr>
            <a:r>
              <a:rPr lang="en-US" sz="1200" b="1" dirty="0">
                <a:solidFill>
                  <a:schemeClr val="tx2"/>
                </a:solidFill>
              </a:rPr>
              <a:t>From the facts, </a:t>
            </a:r>
            <a:pPr indent="0" marL="0">
              <a:spcAft>
                <a:spcPts val="800"/>
              </a:spcAft>
              <a:buNone/>
            </a:pPr>
            <a:r>
              <a:rPr lang="en-US" sz="1200" dirty="0">
                <a:solidFill>
                  <a:schemeClr val="tx1"/>
                </a:solidFill>
              </a:rPr>
              <a:t>นางสาวภรัณยา, a major shareholder of SABUY, kept placing buy orders in TSR shares for 47 trading days while SABUY held TSR at fair value (F1–F4). Under Section 244/3(2):</a:t>
            </a:r>
            <a:endParaRPr lang="en-US" sz="1200" dirty="0"/>
          </a:p>
          <a:p>
            <a:pPr indent="0" marL="0">
              <a:spcAft>
                <a:spcPts val="800"/>
              </a:spcAft>
              <a:buNone/>
            </a:pPr>
            <a:r>
              <a:rPr lang="en-US" sz="1200" b="1" dirty="0">
                <a:solidFill>
                  <a:schemeClr val="tx2"/>
                </a:solidFill>
              </a:rPr>
              <a:t>First, </a:t>
            </a:r>
            <a:pPr indent="0" marL="0">
              <a:spcAft>
                <a:spcPts val="800"/>
              </a:spcAft>
              <a:buNone/>
            </a:pPr>
            <a:r>
              <a:rPr lang="en-US" sz="1200" dirty="0">
                <a:solidFill>
                  <a:schemeClr val="tx1"/>
                </a:solidFill>
              </a:rPr>
              <a:t>she placed securities trading orders and traded TSR shares (F3, F4).</a:t>
            </a:r>
            <a:endParaRPr lang="en-US" sz="1200" dirty="0"/>
          </a:p>
          <a:p>
            <a:pPr indent="0" marL="0">
              <a:spcAft>
                <a:spcPts val="800"/>
              </a:spcAft>
              <a:buNone/>
            </a:pPr>
            <a:r>
              <a:rPr lang="en-US" sz="1200" b="1" dirty="0">
                <a:solidFill>
                  <a:schemeClr val="tx2"/>
                </a:solidFill>
              </a:rPr>
              <a:t>Second, </a:t>
            </a:r>
            <a:pPr indent="0" marL="0">
              <a:spcAft>
                <a:spcPts val="800"/>
              </a:spcAft>
              <a:buNone/>
            </a:pPr>
            <a:r>
              <a:rPr lang="en-US" sz="1200" dirty="0">
                <a:solidFill>
                  <a:schemeClr val="tx1"/>
                </a:solidFill>
              </a:rPr>
              <a:t>she did so on a continued basis: day after day for 47 trading days, not as a single order (F3).</a:t>
            </a:r>
            <a:endParaRPr lang="en-US" sz="1200" dirty="0"/>
          </a:p>
          <a:p>
            <a:pPr indent="0" marL="0">
              <a:spcAft>
                <a:spcPts val="800"/>
              </a:spcAft>
              <a:buNone/>
            </a:pPr>
            <a:r>
              <a:rPr lang="en-US" sz="1200" b="1" dirty="0">
                <a:solidFill>
                  <a:schemeClr val="tx2"/>
                </a:solidFill>
              </a:rPr>
              <a:t>Third, </a:t>
            </a:r>
            <a:pPr indent="0" marL="0">
              <a:spcAft>
                <a:spcPts val="800"/>
              </a:spcAft>
              <a:buNone/>
            </a:pPr>
            <a:r>
              <a:rPr lang="en-US" sz="1200" dirty="0">
                <a:solidFill>
                  <a:schemeClr val="tx1"/>
                </a:solidFill>
              </a:rPr>
              <a:t>she had the intent required: the SEC found she wanted SABUY to record a fair-value gain at the end of Q2/2022 and to profit from the price spread (F5). Her bids also obstructed others (F4), so Section 244/5(5) presumes the price was inconsistent with the normal market condition.</a:t>
            </a:r>
            <a:endParaRPr lang="en-US" sz="1200" dirty="0"/>
          </a:p>
          <a:p>
            <a:pPr indent="0" marL="0">
              <a:spcAft>
                <a:spcPts val="800"/>
              </a:spcAft>
              <a:buNone/>
            </a:pPr>
            <a:r>
              <a:rPr lang="en-US" sz="1200" b="1" dirty="0">
                <a:solidFill>
                  <a:schemeClr val="tx2"/>
                </a:solidFill>
              </a:rPr>
              <a:t>However, </a:t>
            </a:r>
            <a:pPr indent="0" marL="0">
              <a:spcAft>
                <a:spcPts val="800"/>
              </a:spcAft>
              <a:buNone/>
            </a:pPr>
            <a:r>
              <a:rPr lang="en-US" sz="1200" dirty="0">
                <a:solidFill>
                  <a:schemeClr val="tx1"/>
                </a:solidFill>
              </a:rPr>
              <a:t>we do not rely on Section 244/5(4), because the news gives no facts about pre-opening or pre-closing orders (F10).</a:t>
            </a:r>
            <a:endParaRPr lang="en-US" sz="1200" dirty="0"/>
          </a:p>
        </p:txBody>
      </p:sp>
      <p:sp>
        <p:nvSpPr>
          <p:cNvPr id="9" name="s19-subbar-5"/>
          <p:cNvSpPr/>
          <p:nvPr/>
        </p:nvSpPr>
        <p:spPr>
          <a:xfrm>
            <a:off x="8641080" y="1353312"/>
            <a:ext cx="3184855" cy="347472"/>
          </a:xfrm>
          <a:prstGeom prst="rect">
            <a:avLst/>
          </a:prstGeom>
          <a:solidFill>
            <a:schemeClr val="tx2"/>
          </a:solidFill>
          <a:ln/>
        </p:spPr>
      </p:sp>
      <p:sp>
        <p:nvSpPr>
          <p:cNvPr id="10" name="s19-subbar-text-6"/>
          <p:cNvSpPr txBox="1"/>
          <p:nvPr/>
        </p:nvSpPr>
        <p:spPr>
          <a:xfrm>
            <a:off x="8641080" y="1353312"/>
            <a:ext cx="31848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sp>
        <p:nvSpPr>
          <p:cNvPr id="11" name="s19-box-7"/>
          <p:cNvSpPr/>
          <p:nvPr/>
        </p:nvSpPr>
        <p:spPr>
          <a:xfrm>
            <a:off x="8641080" y="1792224"/>
            <a:ext cx="3184855" cy="1014984"/>
          </a:xfrm>
          <a:prstGeom prst="rect">
            <a:avLst/>
          </a:prstGeom>
          <a:solidFill>
            <a:srgbClr val="E6F2E7"/>
          </a:solidFill>
          <a:ln w="12700">
            <a:solidFill>
              <a:schemeClr val="accent3"/>
            </a:solidFill>
            <a:prstDash val="solid"/>
          </a:ln>
        </p:spPr>
      </p:sp>
      <p:sp>
        <p:nvSpPr>
          <p:cNvPr id="12" name="s19-num-8"/>
          <p:cNvSpPr/>
          <p:nvPr/>
        </p:nvSpPr>
        <p:spPr>
          <a:xfrm>
            <a:off x="8778240" y="2116836"/>
            <a:ext cx="365760" cy="365760"/>
          </a:xfrm>
          <a:prstGeom prst="ellipse">
            <a:avLst/>
          </a:prstGeom>
          <a:solidFill>
            <a:schemeClr val="accent3"/>
          </a:solidFill>
          <a:ln/>
        </p:spPr>
      </p:sp>
      <p:sp>
        <p:nvSpPr>
          <p:cNvPr id="13" name="s19-num-text-9"/>
          <p:cNvSpPr txBox="1"/>
          <p:nvPr/>
        </p:nvSpPr>
        <p:spPr>
          <a:xfrm>
            <a:off x="8778240" y="2116836"/>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4" name="s19-text-10"/>
          <p:cNvSpPr txBox="1"/>
          <p:nvPr/>
        </p:nvSpPr>
        <p:spPr>
          <a:xfrm>
            <a:off x="9262872" y="1792224"/>
            <a:ext cx="2453335" cy="1014984"/>
          </a:xfrm>
          <a:prstGeom prst="rect">
            <a:avLst/>
          </a:prstGeom>
          <a:noFill/>
          <a:ln/>
        </p:spPr>
        <p:txBody>
          <a:bodyPr wrap="square" lIns="0" tIns="0" rIns="0" bIns="0" rtlCol="0" anchor="ctr"/>
          <a:lstStyle/>
          <a:p>
            <a:pPr indent="0" marL="0">
              <a:buNone/>
            </a:pPr>
            <a:r>
              <a:rPr lang="en-US" sz="1200" b="1" dirty="0">
                <a:solidFill>
                  <a:schemeClr val="tx2"/>
                </a:solidFill>
              </a:rPr>
              <a:t>Orders / trading</a:t>
            </a:r>
            <a:endParaRPr lang="en-US" sz="1200" dirty="0"/>
          </a:p>
          <a:p>
            <a:pPr indent="0" marL="0">
              <a:buNone/>
            </a:pPr>
            <a:r>
              <a:rPr lang="en-US" sz="1100" dirty="0">
                <a:solidFill>
                  <a:schemeClr val="accent3"/>
                </a:solidFill>
              </a:rPr>
              <a:t>✓ Met · F3, F4</a:t>
            </a:r>
            <a:endParaRPr lang="en-US" sz="1200" dirty="0"/>
          </a:p>
        </p:txBody>
      </p:sp>
      <p:sp>
        <p:nvSpPr>
          <p:cNvPr id="15" name="s19-box-11"/>
          <p:cNvSpPr/>
          <p:nvPr/>
        </p:nvSpPr>
        <p:spPr>
          <a:xfrm>
            <a:off x="8641080" y="2898648"/>
            <a:ext cx="3184855" cy="1014984"/>
          </a:xfrm>
          <a:prstGeom prst="rect">
            <a:avLst/>
          </a:prstGeom>
          <a:solidFill>
            <a:srgbClr val="E6F2E7"/>
          </a:solidFill>
          <a:ln w="12700">
            <a:solidFill>
              <a:schemeClr val="accent3"/>
            </a:solidFill>
            <a:prstDash val="solid"/>
          </a:ln>
        </p:spPr>
      </p:sp>
      <p:sp>
        <p:nvSpPr>
          <p:cNvPr id="16" name="s19-num-12"/>
          <p:cNvSpPr/>
          <p:nvPr/>
        </p:nvSpPr>
        <p:spPr>
          <a:xfrm>
            <a:off x="8778240" y="3223260"/>
            <a:ext cx="365760" cy="365760"/>
          </a:xfrm>
          <a:prstGeom prst="ellipse">
            <a:avLst/>
          </a:prstGeom>
          <a:solidFill>
            <a:schemeClr val="accent3"/>
          </a:solidFill>
          <a:ln/>
        </p:spPr>
      </p:sp>
      <p:sp>
        <p:nvSpPr>
          <p:cNvPr id="17" name="s19-num-text-13"/>
          <p:cNvSpPr txBox="1"/>
          <p:nvPr/>
        </p:nvSpPr>
        <p:spPr>
          <a:xfrm>
            <a:off x="8778240" y="3223260"/>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8" name="s19-text-14"/>
          <p:cNvSpPr txBox="1"/>
          <p:nvPr/>
        </p:nvSpPr>
        <p:spPr>
          <a:xfrm>
            <a:off x="9262872" y="2898648"/>
            <a:ext cx="2453335" cy="1014984"/>
          </a:xfrm>
          <a:prstGeom prst="rect">
            <a:avLst/>
          </a:prstGeom>
          <a:noFill/>
          <a:ln/>
        </p:spPr>
        <p:txBody>
          <a:bodyPr wrap="square" lIns="0" tIns="0" rIns="0" bIns="0" rtlCol="0" anchor="ctr"/>
          <a:lstStyle/>
          <a:p>
            <a:pPr indent="0" marL="0">
              <a:buNone/>
            </a:pPr>
            <a:r>
              <a:rPr lang="en-US" sz="1200" b="1" dirty="0">
                <a:solidFill>
                  <a:schemeClr val="tx2"/>
                </a:solidFill>
              </a:rPr>
              <a:t>Continued basis</a:t>
            </a:r>
            <a:endParaRPr lang="en-US" sz="1200" dirty="0"/>
          </a:p>
          <a:p>
            <a:pPr indent="0" marL="0">
              <a:buNone/>
            </a:pPr>
            <a:r>
              <a:rPr lang="en-US" sz="1100" dirty="0">
                <a:solidFill>
                  <a:schemeClr val="accent3"/>
                </a:solidFill>
              </a:rPr>
              <a:t>✓ Met · F3 (47 days)</a:t>
            </a:r>
            <a:endParaRPr lang="en-US" sz="1200" dirty="0"/>
          </a:p>
        </p:txBody>
      </p:sp>
      <p:sp>
        <p:nvSpPr>
          <p:cNvPr id="19" name="s19-box-15"/>
          <p:cNvSpPr/>
          <p:nvPr/>
        </p:nvSpPr>
        <p:spPr>
          <a:xfrm>
            <a:off x="8641080" y="4005072"/>
            <a:ext cx="3184855" cy="1014984"/>
          </a:xfrm>
          <a:prstGeom prst="rect">
            <a:avLst/>
          </a:prstGeom>
          <a:solidFill>
            <a:srgbClr val="E6F2E7"/>
          </a:solidFill>
          <a:ln w="12700">
            <a:solidFill>
              <a:schemeClr val="accent3"/>
            </a:solidFill>
            <a:prstDash val="solid"/>
          </a:ln>
        </p:spPr>
      </p:sp>
      <p:sp>
        <p:nvSpPr>
          <p:cNvPr id="20" name="s19-num-16"/>
          <p:cNvSpPr/>
          <p:nvPr/>
        </p:nvSpPr>
        <p:spPr>
          <a:xfrm>
            <a:off x="8778240" y="4329684"/>
            <a:ext cx="365760" cy="365760"/>
          </a:xfrm>
          <a:prstGeom prst="ellipse">
            <a:avLst/>
          </a:prstGeom>
          <a:solidFill>
            <a:schemeClr val="accent3"/>
          </a:solidFill>
          <a:ln/>
        </p:spPr>
      </p:sp>
      <p:sp>
        <p:nvSpPr>
          <p:cNvPr id="21" name="s19-num-text-17"/>
          <p:cNvSpPr txBox="1"/>
          <p:nvPr/>
        </p:nvSpPr>
        <p:spPr>
          <a:xfrm>
            <a:off x="8778240" y="4329684"/>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2" name="s19-text-18"/>
          <p:cNvSpPr txBox="1"/>
          <p:nvPr/>
        </p:nvSpPr>
        <p:spPr>
          <a:xfrm>
            <a:off x="9262872" y="4005072"/>
            <a:ext cx="2453335" cy="1014984"/>
          </a:xfrm>
          <a:prstGeom prst="rect">
            <a:avLst/>
          </a:prstGeom>
          <a:noFill/>
          <a:ln/>
        </p:spPr>
        <p:txBody>
          <a:bodyPr wrap="square" lIns="0" tIns="0" rIns="0" bIns="0" rtlCol="0" anchor="ctr"/>
          <a:lstStyle/>
          <a:p>
            <a:pPr indent="0" marL="0">
              <a:buNone/>
            </a:pPr>
            <a:r>
              <a:rPr lang="en-US" sz="1200" b="1" dirty="0">
                <a:solidFill>
                  <a:schemeClr val="tx2"/>
                </a:solidFill>
              </a:rPr>
              <a:t>Intent: abnormal price</a:t>
            </a:r>
            <a:endParaRPr lang="en-US" sz="1200" dirty="0"/>
          </a:p>
          <a:p>
            <a:pPr indent="0" marL="0">
              <a:buNone/>
            </a:pPr>
            <a:r>
              <a:rPr lang="en-US" sz="1100" dirty="0">
                <a:solidFill>
                  <a:schemeClr val="accent3"/>
                </a:solidFill>
              </a:rPr>
              <a:t>✓ Met · F5 + s.244/5(5)</a:t>
            </a:r>
            <a:endParaRPr lang="en-US" sz="1200" dirty="0"/>
          </a:p>
        </p:txBody>
      </p:sp>
      <p:sp>
        <p:nvSpPr>
          <p:cNvPr id="23" name="s19-box-19"/>
          <p:cNvSpPr/>
          <p:nvPr/>
        </p:nvSpPr>
        <p:spPr>
          <a:xfrm>
            <a:off x="8641080" y="5111496"/>
            <a:ext cx="3184855" cy="1014984"/>
          </a:xfrm>
          <a:prstGeom prst="rect">
            <a:avLst/>
          </a:prstGeom>
          <a:solidFill>
            <a:schemeClr val="bg2"/>
          </a:solidFill>
          <a:ln w="12700">
            <a:solidFill>
              <a:schemeClr val="accent6"/>
            </a:solidFill>
            <a:prstDash val="solid"/>
          </a:ln>
        </p:spPr>
      </p:sp>
      <p:sp>
        <p:nvSpPr>
          <p:cNvPr id="24" name="s19-num-20"/>
          <p:cNvSpPr/>
          <p:nvPr/>
        </p:nvSpPr>
        <p:spPr>
          <a:xfrm>
            <a:off x="8778240" y="5436108"/>
            <a:ext cx="365760" cy="365760"/>
          </a:xfrm>
          <a:prstGeom prst="ellipse">
            <a:avLst/>
          </a:prstGeom>
          <a:solidFill>
            <a:schemeClr val="accent5"/>
          </a:solidFill>
          <a:ln/>
        </p:spPr>
      </p:sp>
      <p:sp>
        <p:nvSpPr>
          <p:cNvPr id="25" name="s19-num-text-21"/>
          <p:cNvSpPr txBox="1"/>
          <p:nvPr/>
        </p:nvSpPr>
        <p:spPr>
          <a:xfrm>
            <a:off x="8778240" y="543610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6" name="s19-text-22"/>
          <p:cNvSpPr txBox="1"/>
          <p:nvPr/>
        </p:nvSpPr>
        <p:spPr>
          <a:xfrm>
            <a:off x="9262872" y="5111496"/>
            <a:ext cx="2453335" cy="1014984"/>
          </a:xfrm>
          <a:prstGeom prst="rect">
            <a:avLst/>
          </a:prstGeom>
          <a:noFill/>
          <a:ln/>
        </p:spPr>
        <p:txBody>
          <a:bodyPr wrap="square" lIns="0" tIns="0" rIns="0" bIns="0" rtlCol="0" anchor="ctr"/>
          <a:lstStyle/>
          <a:p>
            <a:pPr indent="0" marL="0">
              <a:buNone/>
            </a:pPr>
            <a:r>
              <a:rPr lang="en-US" sz="1200" b="1" dirty="0">
                <a:solidFill>
                  <a:schemeClr val="tx2"/>
                </a:solidFill>
              </a:rPr>
              <a:t>s.244/5(4) not used</a:t>
            </a:r>
            <a:endParaRPr lang="en-US" sz="1200" dirty="0"/>
          </a:p>
          <a:p>
            <a:pPr indent="0" marL="0">
              <a:buNone/>
            </a:pPr>
            <a:r>
              <a:rPr lang="en-US" sz="1100" dirty="0">
                <a:solidFill>
                  <a:schemeClr val="accent5"/>
                </a:solidFill>
              </a:rPr>
              <a:t>No facts (F10)</a:t>
            </a:r>
            <a:endParaRPr lang="en-US" sz="1200" dirty="0"/>
          </a:p>
        </p:txBody>
      </p:sp>
      <p:sp>
        <p:nvSpPr>
          <p:cNvPr id="27" name="s19-box-23"/>
          <p:cNvSpPr/>
          <p:nvPr/>
        </p:nvSpPr>
        <p:spPr>
          <a:xfrm>
            <a:off x="365760" y="4846320"/>
            <a:ext cx="8138160" cy="1280160"/>
          </a:xfrm>
          <a:prstGeom prst="rect">
            <a:avLst/>
          </a:prstGeom>
          <a:solidFill>
            <a:srgbClr val="E6F2E7"/>
          </a:solidFill>
          <a:ln w="12700">
            <a:solidFill>
              <a:schemeClr val="accent3"/>
            </a:solidFill>
            <a:prstDash val="solid"/>
          </a:ln>
        </p:spPr>
      </p:sp>
      <p:sp>
        <p:nvSpPr>
          <p:cNvPr id="28" name="s19-text-24"/>
          <p:cNvSpPr txBox="1"/>
          <p:nvPr/>
        </p:nvSpPr>
        <p:spPr>
          <a:xfrm>
            <a:off x="594360" y="4846320"/>
            <a:ext cx="7680960" cy="1280160"/>
          </a:xfrm>
          <a:prstGeom prst="rect">
            <a:avLst/>
          </a:prstGeom>
          <a:noFill/>
          <a:ln/>
        </p:spPr>
        <p:txBody>
          <a:bodyPr wrap="square" lIns="0" tIns="0" rIns="0" bIns="0" rtlCol="0" anchor="ctr"/>
          <a:lstStyle/>
          <a:p>
            <a:pPr indent="0" marL="0">
              <a:spcAft>
                <a:spcPts val="300"/>
              </a:spcAft>
              <a:buNone/>
            </a:pPr>
            <a:r>
              <a:rPr lang="en-US" sz="1300" b="1" dirty="0">
                <a:solidFill>
                  <a:schemeClr val="accent3"/>
                </a:solidFill>
              </a:rPr>
              <a:t>3. Conclusion</a:t>
            </a:r>
            <a:endParaRPr lang="en-US" sz="1200" dirty="0"/>
          </a:p>
          <a:p>
            <a:pPr indent="0" marL="0">
              <a:spcAft>
                <a:spcPts val="300"/>
              </a:spcAft>
              <a:buNone/>
            </a:pPr>
            <a:r>
              <a:rPr lang="en-US" sz="1200" dirty="0">
                <a:solidFill>
                  <a:schemeClr val="tx1"/>
                </a:solidFill>
              </a:rPr>
              <a:t>In conclusion, นางสาวภรัณยา’s conduct also violates Section 244/3(2), which carries the heavier penalty in Section 296/1.</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3 · Criminal Penalties: Law/Rule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ss.296, 296/1, 296/2, 297/1 (pp.97–98)</a:t>
            </a:r>
            <a:endParaRPr lang="en-US" sz="1050" dirty="0"/>
          </a:p>
        </p:txBody>
      </p:sp>
      <p:sp>
        <p:nvSpPr>
          <p:cNvPr id="5" name="s20-subbar-1"/>
          <p:cNvSpPr/>
          <p:nvPr/>
        </p:nvSpPr>
        <p:spPr>
          <a:xfrm>
            <a:off x="365760" y="1353312"/>
            <a:ext cx="3728618" cy="347472"/>
          </a:xfrm>
          <a:prstGeom prst="rect">
            <a:avLst/>
          </a:prstGeom>
          <a:solidFill>
            <a:schemeClr val="tx2"/>
          </a:solidFill>
          <a:ln/>
        </p:spPr>
      </p:sp>
      <p:sp>
        <p:nvSpPr>
          <p:cNvPr id="6" name="s20-subbar-text-2"/>
          <p:cNvSpPr txBox="1"/>
          <p:nvPr/>
        </p:nvSpPr>
        <p:spPr>
          <a:xfrm>
            <a:off x="365760" y="1353312"/>
            <a:ext cx="3728618"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 · Section 296</a:t>
            </a:r>
            <a:endParaRPr lang="en-US" sz="1400" dirty="0"/>
          </a:p>
        </p:txBody>
      </p:sp>
      <p:sp>
        <p:nvSpPr>
          <p:cNvPr id="7" name="s20-box-3"/>
          <p:cNvSpPr/>
          <p:nvPr/>
        </p:nvSpPr>
        <p:spPr>
          <a:xfrm>
            <a:off x="365760" y="1792224"/>
            <a:ext cx="3728618" cy="2395728"/>
          </a:xfrm>
          <a:prstGeom prst="rect">
            <a:avLst/>
          </a:prstGeom>
          <a:solidFill>
            <a:schemeClr val="bg2"/>
          </a:solidFill>
          <a:ln/>
        </p:spPr>
      </p:sp>
      <p:sp>
        <p:nvSpPr>
          <p:cNvPr id="8" name="s20-text-4"/>
          <p:cNvSpPr txBox="1"/>
          <p:nvPr/>
        </p:nvSpPr>
        <p:spPr>
          <a:xfrm>
            <a:off x="548640" y="1901952"/>
            <a:ext cx="3362858" cy="2176272"/>
          </a:xfrm>
          <a:prstGeom prst="rect">
            <a:avLst/>
          </a:prstGeom>
          <a:noFill/>
          <a:ln/>
        </p:spPr>
        <p:txBody>
          <a:bodyPr wrap="square" lIns="0" tIns="0" rIns="0" bIns="0" rtlCol="0" anchor="ctr"/>
          <a:lstStyle/>
          <a:p>
            <a:pPr indent="0" marL="0">
              <a:buNone/>
            </a:pPr>
            <a:r>
              <a:rPr lang="en-US" sz="1200" dirty="0">
                <a:solidFill>
                  <a:schemeClr val="tx1"/>
                </a:solidFill>
              </a:rPr>
              <a:t>Any person who contravenes Section 240, Section 241, Section 242, Section 244/1, Section 244/2 or Section 244/3 (1) shall be liable to imprisonment for a term not exceeding two years or a fine from five hundred thousand baht to two million baht, or both.</a:t>
            </a:r>
            <a:endParaRPr lang="en-US" sz="1200" dirty="0"/>
          </a:p>
        </p:txBody>
      </p:sp>
      <p:sp>
        <p:nvSpPr>
          <p:cNvPr id="9" name="s20-subbar-5"/>
          <p:cNvSpPr/>
          <p:nvPr/>
        </p:nvSpPr>
        <p:spPr>
          <a:xfrm>
            <a:off x="4231538" y="1353312"/>
            <a:ext cx="3728618" cy="347472"/>
          </a:xfrm>
          <a:prstGeom prst="rect">
            <a:avLst/>
          </a:prstGeom>
          <a:solidFill>
            <a:schemeClr val="tx2"/>
          </a:solidFill>
          <a:ln/>
        </p:spPr>
      </p:sp>
      <p:sp>
        <p:nvSpPr>
          <p:cNvPr id="10" name="s20-subbar-text-6"/>
          <p:cNvSpPr txBox="1"/>
          <p:nvPr/>
        </p:nvSpPr>
        <p:spPr>
          <a:xfrm>
            <a:off x="4231538" y="1353312"/>
            <a:ext cx="3728618"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 · Section 296/1</a:t>
            </a:r>
            <a:endParaRPr lang="en-US" sz="1400" dirty="0"/>
          </a:p>
        </p:txBody>
      </p:sp>
      <p:sp>
        <p:nvSpPr>
          <p:cNvPr id="11" name="s20-box-7"/>
          <p:cNvSpPr/>
          <p:nvPr/>
        </p:nvSpPr>
        <p:spPr>
          <a:xfrm>
            <a:off x="4231538" y="1792224"/>
            <a:ext cx="3728618" cy="2395728"/>
          </a:xfrm>
          <a:prstGeom prst="rect">
            <a:avLst/>
          </a:prstGeom>
          <a:solidFill>
            <a:srgbClr val="FFF3DC"/>
          </a:solidFill>
          <a:ln w="12700">
            <a:solidFill>
              <a:schemeClr val="accent4"/>
            </a:solidFill>
            <a:prstDash val="solid"/>
          </a:ln>
        </p:spPr>
      </p:sp>
      <p:sp>
        <p:nvSpPr>
          <p:cNvPr id="12" name="s20-text-8"/>
          <p:cNvSpPr txBox="1"/>
          <p:nvPr/>
        </p:nvSpPr>
        <p:spPr>
          <a:xfrm>
            <a:off x="4414418" y="1901952"/>
            <a:ext cx="3362858" cy="2176272"/>
          </a:xfrm>
          <a:prstGeom prst="rect">
            <a:avLst/>
          </a:prstGeom>
          <a:noFill/>
          <a:ln/>
        </p:spPr>
        <p:txBody>
          <a:bodyPr wrap="square" lIns="0" tIns="0" rIns="0" bIns="0" rtlCol="0" anchor="ctr"/>
          <a:lstStyle/>
          <a:p>
            <a:pPr indent="0" marL="0">
              <a:buNone/>
            </a:pPr>
            <a:r>
              <a:rPr lang="en-US" sz="1200" dirty="0">
                <a:solidFill>
                  <a:schemeClr val="tx1"/>
                </a:solidFill>
              </a:rPr>
              <a:t>Any person who contravenes Section 244/3 (2) or Section 244/7 shall be liable to imprisonment for a term not exceeding five years or a fine from one million baht to five million baht, or both.</a:t>
            </a:r>
            <a:endParaRPr lang="en-US" sz="1200" dirty="0"/>
          </a:p>
        </p:txBody>
      </p:sp>
      <p:sp>
        <p:nvSpPr>
          <p:cNvPr id="13" name="s20-subbar-9"/>
          <p:cNvSpPr/>
          <p:nvPr/>
        </p:nvSpPr>
        <p:spPr>
          <a:xfrm>
            <a:off x="8097317" y="1353312"/>
            <a:ext cx="3728618" cy="347472"/>
          </a:xfrm>
          <a:prstGeom prst="rect">
            <a:avLst/>
          </a:prstGeom>
          <a:solidFill>
            <a:schemeClr val="tx2"/>
          </a:solidFill>
          <a:ln/>
        </p:spPr>
      </p:sp>
      <p:sp>
        <p:nvSpPr>
          <p:cNvPr id="14" name="s20-subbar-text-10"/>
          <p:cNvSpPr txBox="1"/>
          <p:nvPr/>
        </p:nvSpPr>
        <p:spPr>
          <a:xfrm>
            <a:off x="8097317" y="1353312"/>
            <a:ext cx="3728618"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 · Section 296/2</a:t>
            </a:r>
            <a:endParaRPr lang="en-US" sz="1400" dirty="0"/>
          </a:p>
        </p:txBody>
      </p:sp>
      <p:sp>
        <p:nvSpPr>
          <p:cNvPr id="15" name="s20-box-11"/>
          <p:cNvSpPr/>
          <p:nvPr/>
        </p:nvSpPr>
        <p:spPr>
          <a:xfrm>
            <a:off x="8097317" y="1792224"/>
            <a:ext cx="3728618" cy="2395728"/>
          </a:xfrm>
          <a:prstGeom prst="rect">
            <a:avLst/>
          </a:prstGeom>
          <a:solidFill>
            <a:schemeClr val="bg2"/>
          </a:solidFill>
          <a:ln/>
        </p:spPr>
      </p:sp>
      <p:sp>
        <p:nvSpPr>
          <p:cNvPr id="16" name="s20-text-12"/>
          <p:cNvSpPr txBox="1"/>
          <p:nvPr/>
        </p:nvSpPr>
        <p:spPr>
          <a:xfrm>
            <a:off x="8280197" y="1901952"/>
            <a:ext cx="3362858" cy="2176272"/>
          </a:xfrm>
          <a:prstGeom prst="rect">
            <a:avLst/>
          </a:prstGeom>
          <a:noFill/>
          <a:ln/>
        </p:spPr>
        <p:txBody>
          <a:bodyPr wrap="square" lIns="0" tIns="0" rIns="0" bIns="0" rtlCol="0" anchor="ctr"/>
          <a:lstStyle/>
          <a:p>
            <a:pPr indent="0" marL="0">
              <a:buNone/>
            </a:pPr>
            <a:r>
              <a:rPr lang="en-US" sz="1200" dirty="0">
                <a:solidFill>
                  <a:schemeClr val="tx1"/>
                </a:solidFill>
              </a:rPr>
              <a:t>… if the offender has received or should have received a benefit from such offence, a fine not exceeding two times the benefit shall be imposed and in any case such fine shall not be less than the minimum amount as specified under Section 296 or Section 296/1 …</a:t>
            </a:r>
            <a:endParaRPr lang="en-US" sz="1200" dirty="0"/>
          </a:p>
        </p:txBody>
      </p:sp>
      <p:sp>
        <p:nvSpPr>
          <p:cNvPr id="17" name="s20-subbar-13"/>
          <p:cNvSpPr/>
          <p:nvPr/>
        </p:nvSpPr>
        <p:spPr>
          <a:xfrm>
            <a:off x="365760" y="4325112"/>
            <a:ext cx="11460175" cy="347472"/>
          </a:xfrm>
          <a:prstGeom prst="rect">
            <a:avLst/>
          </a:prstGeom>
          <a:solidFill>
            <a:schemeClr val="tx2"/>
          </a:solidFill>
          <a:ln/>
        </p:spPr>
      </p:sp>
      <p:sp>
        <p:nvSpPr>
          <p:cNvPr id="18" name="s20-subbar-text-14"/>
          <p:cNvSpPr txBox="1"/>
          <p:nvPr/>
        </p:nvSpPr>
        <p:spPr>
          <a:xfrm>
            <a:off x="365760" y="432511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 · Section 297/1 (court orders on conviction)</a:t>
            </a:r>
            <a:endParaRPr lang="en-US" sz="1400" dirty="0"/>
          </a:p>
        </p:txBody>
      </p:sp>
      <p:sp>
        <p:nvSpPr>
          <p:cNvPr id="19" name="s20-box-15"/>
          <p:cNvSpPr/>
          <p:nvPr/>
        </p:nvSpPr>
        <p:spPr>
          <a:xfrm>
            <a:off x="365760" y="4764024"/>
            <a:ext cx="11460175" cy="1362456"/>
          </a:xfrm>
          <a:prstGeom prst="rect">
            <a:avLst/>
          </a:prstGeom>
          <a:solidFill>
            <a:schemeClr val="bg2"/>
          </a:solidFill>
          <a:ln/>
        </p:spPr>
      </p:sp>
      <p:sp>
        <p:nvSpPr>
          <p:cNvPr id="20" name="s20-text-16"/>
          <p:cNvSpPr txBox="1"/>
          <p:nvPr/>
        </p:nvSpPr>
        <p:spPr>
          <a:xfrm>
            <a:off x="594360" y="4837176"/>
            <a:ext cx="11002975" cy="1216152"/>
          </a:xfrm>
          <a:prstGeom prst="rect">
            <a:avLst/>
          </a:prstGeom>
          <a:noFill/>
          <a:ln/>
        </p:spPr>
        <p:txBody>
          <a:bodyPr wrap="square" lIns="0" tIns="0" rIns="0" bIns="0" rtlCol="0" anchor="ctr"/>
          <a:lstStyle/>
          <a:p>
            <a:pPr indent="0" marL="0">
              <a:buNone/>
            </a:pPr>
            <a:r>
              <a:rPr lang="en-US" sz="1200" dirty="0">
                <a:solidFill>
                  <a:schemeClr val="tx1"/>
                </a:solidFill>
              </a:rPr>
              <a:t>In cases where a court views that a defendant has committed an offence under … Section 296, Section 296/1 …, the court shall order the offender …: (1) to pay a compensation at an equal amount to the benefit received or should have been received …; (2) to be suspended from trading in securities … which shall not exceed five years …; (3) to be barred from serving as a director or executive … which shall not exceed ten years …; (4) to reimburse the investigative expenses incurred by the SEC Office.</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3 · Criminal Penalties: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Rules 1–2; Facts F5, F8; Securities and Exchange Act ss.296, 296/1, 296/2, 297/1, 317/8</a:t>
            </a:r>
            <a:endParaRPr lang="en-US" sz="1050" dirty="0"/>
          </a:p>
        </p:txBody>
      </p:sp>
      <p:sp>
        <p:nvSpPr>
          <p:cNvPr id="5" name="s21-subbar-1"/>
          <p:cNvSpPr/>
          <p:nvPr/>
        </p:nvSpPr>
        <p:spPr>
          <a:xfrm>
            <a:off x="365760" y="1353312"/>
            <a:ext cx="8138160" cy="347472"/>
          </a:xfrm>
          <a:prstGeom prst="rect">
            <a:avLst/>
          </a:prstGeom>
          <a:solidFill>
            <a:schemeClr val="tx2"/>
          </a:solidFill>
          <a:ln/>
        </p:spPr>
      </p:sp>
      <p:sp>
        <p:nvSpPr>
          <p:cNvPr id="6" name="s21-subbar-text-2"/>
          <p:cNvSpPr txBox="1"/>
          <p:nvPr/>
        </p:nvSpPr>
        <p:spPr>
          <a:xfrm>
            <a:off x="365760" y="1353312"/>
            <a:ext cx="81381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21-box-3"/>
          <p:cNvSpPr/>
          <p:nvPr/>
        </p:nvSpPr>
        <p:spPr>
          <a:xfrm>
            <a:off x="365760" y="1792224"/>
            <a:ext cx="8138160" cy="2944368"/>
          </a:xfrm>
          <a:prstGeom prst="rect">
            <a:avLst/>
          </a:prstGeom>
          <a:solidFill>
            <a:schemeClr val="bg2"/>
          </a:solidFill>
          <a:ln/>
        </p:spPr>
      </p:sp>
      <p:sp>
        <p:nvSpPr>
          <p:cNvPr id="8" name="s21-text-4"/>
          <p:cNvSpPr txBox="1"/>
          <p:nvPr/>
        </p:nvSpPr>
        <p:spPr>
          <a:xfrm>
            <a:off x="594360" y="1883664"/>
            <a:ext cx="7680960" cy="2761488"/>
          </a:xfrm>
          <a:prstGeom prst="rect">
            <a:avLst/>
          </a:prstGeom>
          <a:noFill/>
          <a:ln/>
        </p:spPr>
        <p:txBody>
          <a:bodyPr wrap="square" lIns="0" tIns="0" rIns="0" bIns="0" rtlCol="0" anchor="ctr"/>
          <a:lstStyle/>
          <a:p>
            <a:pPr indent="0" marL="0">
              <a:spcAft>
                <a:spcPts val="800"/>
              </a:spcAft>
              <a:buNone/>
            </a:pPr>
            <a:r>
              <a:rPr lang="en-US" sz="1200" b="1" dirty="0">
                <a:solidFill>
                  <a:schemeClr val="tx2"/>
                </a:solidFill>
              </a:rPr>
              <a:t>From the facts, </a:t>
            </a:r>
            <a:pPr indent="0" marL="0">
              <a:spcAft>
                <a:spcPts val="800"/>
              </a:spcAft>
              <a:buNone/>
            </a:pPr>
            <a:r>
              <a:rPr lang="en-US" sz="1200" dirty="0">
                <a:solidFill>
                  <a:schemeClr val="tx1"/>
                </a:solidFill>
              </a:rPr>
              <a:t>Rules 1 and 2 show that นางสาวภรัณยา violated Section 244/3(1) and (2), and the CSC ordered her to pay compensation equal to the benefit she received or should have received (F8). If she is prosecuted:</a:t>
            </a:r>
            <a:endParaRPr lang="en-US" sz="1200" dirty="0"/>
          </a:p>
          <a:p>
            <a:pPr indent="0" marL="0">
              <a:spcAft>
                <a:spcPts val="800"/>
              </a:spcAft>
              <a:buNone/>
            </a:pPr>
            <a:r>
              <a:rPr lang="en-US" sz="1200" b="1" dirty="0">
                <a:solidFill>
                  <a:schemeClr val="tx2"/>
                </a:solidFill>
              </a:rPr>
              <a:t>First, </a:t>
            </a:r>
            <a:pPr indent="0" marL="0">
              <a:spcAft>
                <a:spcPts val="800"/>
              </a:spcAft>
              <a:buNone/>
            </a:pPr>
            <a:r>
              <a:rPr lang="en-US" sz="1200" dirty="0">
                <a:solidFill>
                  <a:schemeClr val="tx1"/>
                </a:solidFill>
              </a:rPr>
              <a:t>for Section 244/3(1), Section 296 applies: imprisonment of up to two years, or a fine of THB 0.5–2 million, or both.</a:t>
            </a:r>
            <a:endParaRPr lang="en-US" sz="1200" dirty="0"/>
          </a:p>
          <a:p>
            <a:pPr indent="0" marL="0">
              <a:spcAft>
                <a:spcPts val="800"/>
              </a:spcAft>
              <a:buNone/>
            </a:pPr>
            <a:r>
              <a:rPr lang="en-US" sz="1200" b="1" dirty="0">
                <a:solidFill>
                  <a:schemeClr val="tx2"/>
                </a:solidFill>
              </a:rPr>
              <a:t>Second, </a:t>
            </a:r>
            <a:pPr indent="0" marL="0">
              <a:spcAft>
                <a:spcPts val="800"/>
              </a:spcAft>
              <a:buNone/>
            </a:pPr>
            <a:r>
              <a:rPr lang="en-US" sz="1200" dirty="0">
                <a:solidFill>
                  <a:schemeClr val="tx1"/>
                </a:solidFill>
              </a:rPr>
              <a:t>for Section 244/3(2), the heavier Section 296/1 applies: imprisonment of up to five years, or a fine of THB 1–5 million, or both.</a:t>
            </a:r>
            <a:endParaRPr lang="en-US" sz="1200" dirty="0"/>
          </a:p>
          <a:p>
            <a:pPr indent="0" marL="0">
              <a:spcAft>
                <a:spcPts val="800"/>
              </a:spcAft>
              <a:buNone/>
            </a:pPr>
            <a:r>
              <a:rPr lang="en-US" sz="1200" b="1" dirty="0">
                <a:solidFill>
                  <a:schemeClr val="tx2"/>
                </a:solidFill>
              </a:rPr>
              <a:t>Third, </a:t>
            </a:r>
            <a:pPr indent="0" marL="0">
              <a:spcAft>
                <a:spcPts val="800"/>
              </a:spcAft>
              <a:buNone/>
            </a:pPr>
            <a:r>
              <a:rPr lang="en-US" sz="1200" dirty="0">
                <a:solidFill>
                  <a:schemeClr val="tx1"/>
                </a:solidFill>
              </a:rPr>
              <a:t>because she received or should have received a benefit (F5, F8), Section 296/2 sets the fine at up to two times the benefit, but not below the Section 296 or 296/1 minimum.</a:t>
            </a:r>
            <a:endParaRPr lang="en-US" sz="1200" dirty="0"/>
          </a:p>
          <a:p>
            <a:pPr indent="0" marL="0">
              <a:spcAft>
                <a:spcPts val="800"/>
              </a:spcAft>
              <a:buNone/>
            </a:pPr>
            <a:r>
              <a:rPr lang="en-US" sz="1200" b="1" dirty="0">
                <a:solidFill>
                  <a:schemeClr val="tx2"/>
                </a:solidFill>
              </a:rPr>
              <a:t>In addition, </a:t>
            </a:r>
            <a:pPr indent="0" marL="0">
              <a:spcAft>
                <a:spcPts val="800"/>
              </a:spcAft>
              <a:buNone/>
            </a:pPr>
            <a:r>
              <a:rPr lang="en-US" sz="1200" dirty="0">
                <a:solidFill>
                  <a:schemeClr val="tx1"/>
                </a:solidFill>
              </a:rPr>
              <a:t>on conviction the court may order under Section 297/1 compensation equal to the benefit, a trading ban of up to 5 years, a director ban of up to 10 years, and reimbursement of SEC costs.</a:t>
            </a:r>
            <a:endParaRPr lang="en-US" sz="1200" dirty="0"/>
          </a:p>
        </p:txBody>
      </p:sp>
      <p:sp>
        <p:nvSpPr>
          <p:cNvPr id="9" name="s21-subbar-5"/>
          <p:cNvSpPr/>
          <p:nvPr/>
        </p:nvSpPr>
        <p:spPr>
          <a:xfrm>
            <a:off x="8641080" y="1353312"/>
            <a:ext cx="3184855" cy="347472"/>
          </a:xfrm>
          <a:prstGeom prst="rect">
            <a:avLst/>
          </a:prstGeom>
          <a:solidFill>
            <a:schemeClr val="tx2"/>
          </a:solidFill>
          <a:ln/>
        </p:spPr>
      </p:sp>
      <p:sp>
        <p:nvSpPr>
          <p:cNvPr id="10" name="s21-subbar-text-6"/>
          <p:cNvSpPr txBox="1"/>
          <p:nvPr/>
        </p:nvSpPr>
        <p:spPr>
          <a:xfrm>
            <a:off x="8641080" y="1353312"/>
            <a:ext cx="3184855" cy="347472"/>
          </a:xfrm>
          <a:prstGeom prst="rect">
            <a:avLst/>
          </a:prstGeom>
          <a:noFill/>
          <a:ln/>
        </p:spPr>
        <p:txBody>
          <a:bodyPr wrap="square" lIns="0" tIns="0" rIns="0" bIns="0" rtlCol="0" anchor="ctr"/>
          <a:lstStyle/>
          <a:p>
            <a:pPr algn="ctr" indent="0" marL="0">
              <a:buNone/>
            </a:pPr>
            <a:r>
              <a:rPr lang="en-US" sz="1400" b="1" dirty="0">
                <a:solidFill>
                  <a:schemeClr val="bg1"/>
                </a:solidFill>
              </a:rPr>
              <a:t>Penalty Exposure</a:t>
            </a:r>
            <a:endParaRPr lang="en-US" sz="1400" dirty="0"/>
          </a:p>
        </p:txBody>
      </p:sp>
      <p:sp>
        <p:nvSpPr>
          <p:cNvPr id="11" name="s21-chip-7"/>
          <p:cNvSpPr/>
          <p:nvPr/>
        </p:nvSpPr>
        <p:spPr>
          <a:xfrm>
            <a:off x="8641080" y="1792224"/>
            <a:ext cx="3184855" cy="1014984"/>
          </a:xfrm>
          <a:prstGeom prst="rect">
            <a:avLst/>
          </a:prstGeom>
          <a:solidFill>
            <a:schemeClr val="accent2"/>
          </a:solidFill>
          <a:ln/>
        </p:spPr>
      </p:sp>
      <p:sp>
        <p:nvSpPr>
          <p:cNvPr id="12" name="s21-chip-text-8"/>
          <p:cNvSpPr txBox="1"/>
          <p:nvPr/>
        </p:nvSpPr>
        <p:spPr>
          <a:xfrm>
            <a:off x="8641080" y="1792224"/>
            <a:ext cx="3184855" cy="1014984"/>
          </a:xfrm>
          <a:prstGeom prst="rect">
            <a:avLst/>
          </a:prstGeom>
          <a:noFill/>
          <a:ln/>
        </p:spPr>
        <p:txBody>
          <a:bodyPr wrap="square" lIns="50800" tIns="50800" rIns="50800" bIns="50800" rtlCol="0" anchor="ctr"/>
          <a:lstStyle/>
          <a:p>
            <a:pPr algn="ctr" indent="0" marL="0">
              <a:buNone/>
            </a:pPr>
            <a:r>
              <a:rPr lang="en-US" sz="1200" dirty="0">
                <a:solidFill>
                  <a:schemeClr val="tx1"/>
                </a:solidFill>
              </a:rPr>
              <a:t>s.296 · for (1)</a:t>
            </a:r>
            <a:endParaRPr lang="en-US" sz="1200" dirty="0"/>
          </a:p>
          <a:p>
            <a:pPr algn="ctr" indent="0" marL="0">
              <a:buNone/>
            </a:pPr>
            <a:r>
              <a:rPr lang="en-US" sz="1200" b="1" dirty="0">
                <a:solidFill>
                  <a:schemeClr val="tx2"/>
                </a:solidFill>
              </a:rPr>
              <a:t>≤ 2 yrs · THB 0.5–2M</a:t>
            </a:r>
            <a:endParaRPr lang="en-US" sz="1200" dirty="0"/>
          </a:p>
        </p:txBody>
      </p:sp>
      <p:sp>
        <p:nvSpPr>
          <p:cNvPr id="13" name="s21-chip-9"/>
          <p:cNvSpPr/>
          <p:nvPr/>
        </p:nvSpPr>
        <p:spPr>
          <a:xfrm>
            <a:off x="8641080" y="2898648"/>
            <a:ext cx="3184855" cy="1014984"/>
          </a:xfrm>
          <a:prstGeom prst="rect">
            <a:avLst/>
          </a:prstGeom>
          <a:solidFill>
            <a:srgbClr val="FFF3DC"/>
          </a:solidFill>
          <a:ln w="12700">
            <a:solidFill>
              <a:schemeClr val="accent4"/>
            </a:solidFill>
            <a:prstDash val="solid"/>
          </a:ln>
        </p:spPr>
      </p:sp>
      <p:sp>
        <p:nvSpPr>
          <p:cNvPr id="14" name="s21-chip-text-10"/>
          <p:cNvSpPr txBox="1"/>
          <p:nvPr/>
        </p:nvSpPr>
        <p:spPr>
          <a:xfrm>
            <a:off x="8641080" y="2898648"/>
            <a:ext cx="3184855" cy="1014984"/>
          </a:xfrm>
          <a:prstGeom prst="rect">
            <a:avLst/>
          </a:prstGeom>
          <a:noFill/>
          <a:ln/>
        </p:spPr>
        <p:txBody>
          <a:bodyPr wrap="square" lIns="50800" tIns="50800" rIns="50800" bIns="50800" rtlCol="0" anchor="ctr"/>
          <a:lstStyle/>
          <a:p>
            <a:pPr algn="ctr" indent="0" marL="0">
              <a:buNone/>
            </a:pPr>
            <a:r>
              <a:rPr lang="en-US" sz="1200" dirty="0">
                <a:solidFill>
                  <a:schemeClr val="accent4"/>
                </a:solidFill>
              </a:rPr>
              <a:t>s.296/1 · for (2)</a:t>
            </a:r>
            <a:endParaRPr lang="en-US" sz="1200" dirty="0"/>
          </a:p>
          <a:p>
            <a:pPr algn="ctr" indent="0" marL="0">
              <a:buNone/>
            </a:pPr>
            <a:r>
              <a:rPr lang="en-US" sz="1200" b="1" dirty="0">
                <a:solidFill>
                  <a:schemeClr val="tx2"/>
                </a:solidFill>
              </a:rPr>
              <a:t>≤ 5 yrs · THB 1–5M</a:t>
            </a:r>
            <a:endParaRPr lang="en-US" sz="1200" dirty="0"/>
          </a:p>
        </p:txBody>
      </p:sp>
      <p:sp>
        <p:nvSpPr>
          <p:cNvPr id="15" name="s21-chip-11"/>
          <p:cNvSpPr/>
          <p:nvPr/>
        </p:nvSpPr>
        <p:spPr>
          <a:xfrm>
            <a:off x="8641080" y="4005072"/>
            <a:ext cx="3184855" cy="1014984"/>
          </a:xfrm>
          <a:prstGeom prst="rect">
            <a:avLst/>
          </a:prstGeom>
          <a:solidFill>
            <a:schemeClr val="accent2"/>
          </a:solidFill>
          <a:ln/>
        </p:spPr>
      </p:sp>
      <p:sp>
        <p:nvSpPr>
          <p:cNvPr id="16" name="s21-chip-text-12"/>
          <p:cNvSpPr txBox="1"/>
          <p:nvPr/>
        </p:nvSpPr>
        <p:spPr>
          <a:xfrm>
            <a:off x="8641080" y="4005072"/>
            <a:ext cx="3184855" cy="1014984"/>
          </a:xfrm>
          <a:prstGeom prst="rect">
            <a:avLst/>
          </a:prstGeom>
          <a:noFill/>
          <a:ln/>
        </p:spPr>
        <p:txBody>
          <a:bodyPr wrap="square" lIns="50800" tIns="50800" rIns="50800" bIns="50800" rtlCol="0" anchor="ctr"/>
          <a:lstStyle/>
          <a:p>
            <a:pPr algn="ctr" indent="0" marL="0">
              <a:buNone/>
            </a:pPr>
            <a:r>
              <a:rPr lang="en-US" sz="1200" dirty="0">
                <a:solidFill>
                  <a:schemeClr val="tx1"/>
                </a:solidFill>
              </a:rPr>
              <a:t>s.296/2 · benefit</a:t>
            </a:r>
            <a:endParaRPr lang="en-US" sz="1200" dirty="0"/>
          </a:p>
          <a:p>
            <a:pPr algn="ctr" indent="0" marL="0">
              <a:buNone/>
            </a:pPr>
            <a:r>
              <a:rPr lang="en-US" sz="1200" b="1" dirty="0">
                <a:solidFill>
                  <a:schemeClr val="tx2"/>
                </a:solidFill>
              </a:rPr>
              <a:t>Fine ≤ 2× the benefit</a:t>
            </a:r>
            <a:endParaRPr lang="en-US" sz="1200" dirty="0"/>
          </a:p>
        </p:txBody>
      </p:sp>
      <p:sp>
        <p:nvSpPr>
          <p:cNvPr id="17" name="s21-chip-13"/>
          <p:cNvSpPr/>
          <p:nvPr/>
        </p:nvSpPr>
        <p:spPr>
          <a:xfrm>
            <a:off x="8641080" y="5111496"/>
            <a:ext cx="3184855" cy="1014984"/>
          </a:xfrm>
          <a:prstGeom prst="rect">
            <a:avLst/>
          </a:prstGeom>
          <a:solidFill>
            <a:schemeClr val="accent2"/>
          </a:solidFill>
          <a:ln/>
        </p:spPr>
      </p:sp>
      <p:sp>
        <p:nvSpPr>
          <p:cNvPr id="18" name="s21-chip-text-14"/>
          <p:cNvSpPr txBox="1"/>
          <p:nvPr/>
        </p:nvSpPr>
        <p:spPr>
          <a:xfrm>
            <a:off x="8641080" y="5111496"/>
            <a:ext cx="3184855" cy="1014984"/>
          </a:xfrm>
          <a:prstGeom prst="rect">
            <a:avLst/>
          </a:prstGeom>
          <a:noFill/>
          <a:ln/>
        </p:spPr>
        <p:txBody>
          <a:bodyPr wrap="square" lIns="50800" tIns="50800" rIns="50800" bIns="50800" rtlCol="0" anchor="ctr"/>
          <a:lstStyle/>
          <a:p>
            <a:pPr algn="ctr" indent="0" marL="0">
              <a:buNone/>
            </a:pPr>
            <a:r>
              <a:rPr lang="en-US" sz="1200" dirty="0">
                <a:solidFill>
                  <a:schemeClr val="tx1"/>
                </a:solidFill>
              </a:rPr>
              <a:t>s.297/1 · court orders</a:t>
            </a:r>
            <a:endParaRPr lang="en-US" sz="1200" dirty="0"/>
          </a:p>
          <a:p>
            <a:pPr algn="ctr" indent="0" marL="0">
              <a:buNone/>
            </a:pPr>
            <a:r>
              <a:rPr lang="en-US" sz="1200" b="1" dirty="0">
                <a:solidFill>
                  <a:schemeClr val="tx2"/>
                </a:solidFill>
              </a:rPr>
              <a:t>Bans ≤ 5 / 10 yrs</a:t>
            </a:r>
            <a:endParaRPr lang="en-US" sz="1200" dirty="0"/>
          </a:p>
        </p:txBody>
      </p:sp>
      <p:sp>
        <p:nvSpPr>
          <p:cNvPr id="19" name="s21-box-15"/>
          <p:cNvSpPr/>
          <p:nvPr/>
        </p:nvSpPr>
        <p:spPr>
          <a:xfrm>
            <a:off x="365760" y="4846320"/>
            <a:ext cx="8138160" cy="1280160"/>
          </a:xfrm>
          <a:prstGeom prst="rect">
            <a:avLst/>
          </a:prstGeom>
          <a:solidFill>
            <a:srgbClr val="E6F2E7"/>
          </a:solidFill>
          <a:ln w="12700">
            <a:solidFill>
              <a:schemeClr val="accent3"/>
            </a:solidFill>
            <a:prstDash val="solid"/>
          </a:ln>
        </p:spPr>
      </p:sp>
      <p:sp>
        <p:nvSpPr>
          <p:cNvPr id="20" name="s21-text-16"/>
          <p:cNvSpPr txBox="1"/>
          <p:nvPr/>
        </p:nvSpPr>
        <p:spPr>
          <a:xfrm>
            <a:off x="594360" y="4846320"/>
            <a:ext cx="7680960" cy="1280160"/>
          </a:xfrm>
          <a:prstGeom prst="rect">
            <a:avLst/>
          </a:prstGeom>
          <a:noFill/>
          <a:ln/>
        </p:spPr>
        <p:txBody>
          <a:bodyPr wrap="square" lIns="0" tIns="0" rIns="0" bIns="0" rtlCol="0" anchor="ctr"/>
          <a:lstStyle/>
          <a:p>
            <a:pPr indent="0" marL="0">
              <a:spcAft>
                <a:spcPts val="300"/>
              </a:spcAft>
              <a:buNone/>
            </a:pPr>
            <a:r>
              <a:rPr lang="en-US" sz="1300" b="1" dirty="0">
                <a:solidFill>
                  <a:schemeClr val="accent3"/>
                </a:solidFill>
              </a:rPr>
              <a:t>3. Conclusion</a:t>
            </a:r>
            <a:endParaRPr lang="en-US" sz="1200" dirty="0"/>
          </a:p>
          <a:p>
            <a:pPr indent="0" marL="0">
              <a:spcAft>
                <a:spcPts val="300"/>
              </a:spcAft>
              <a:buNone/>
            </a:pPr>
            <a:r>
              <a:rPr lang="en-US" sz="1200" dirty="0">
                <a:solidFill>
                  <a:schemeClr val="tx1"/>
                </a:solidFill>
              </a:rPr>
              <a:t>In conclusion, she faces up to five years’ imprisonment and a fine of up to two times the benefit (at least THB 1 million), unless the criminal right ends through the civil route in Rule 4.</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4 · Civil Sanctions: Law/Rule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ss.317/1, 317/4, 317/5, 317/7, 317/8 (pp.102–104)</a:t>
            </a:r>
            <a:endParaRPr lang="en-US" sz="1050" dirty="0"/>
          </a:p>
        </p:txBody>
      </p:sp>
      <p:sp>
        <p:nvSpPr>
          <p:cNvPr id="5" name="s22-subbar-1"/>
          <p:cNvSpPr/>
          <p:nvPr/>
        </p:nvSpPr>
        <p:spPr>
          <a:xfrm>
            <a:off x="365760" y="1353312"/>
            <a:ext cx="4937760" cy="347472"/>
          </a:xfrm>
          <a:prstGeom prst="rect">
            <a:avLst/>
          </a:prstGeom>
          <a:solidFill>
            <a:schemeClr val="tx2"/>
          </a:solidFill>
          <a:ln/>
        </p:spPr>
      </p:sp>
      <p:sp>
        <p:nvSpPr>
          <p:cNvPr id="6" name="s22-subbar-text-2"/>
          <p:cNvSpPr txBox="1"/>
          <p:nvPr/>
        </p:nvSpPr>
        <p:spPr>
          <a:xfrm>
            <a:off x="365760" y="1353312"/>
            <a:ext cx="4937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 · Section 317/1(1)</a:t>
            </a:r>
            <a:endParaRPr lang="en-US" sz="1400" dirty="0"/>
          </a:p>
        </p:txBody>
      </p:sp>
      <p:sp>
        <p:nvSpPr>
          <p:cNvPr id="7" name="s22-box-3"/>
          <p:cNvSpPr/>
          <p:nvPr/>
        </p:nvSpPr>
        <p:spPr>
          <a:xfrm>
            <a:off x="365760" y="1792224"/>
            <a:ext cx="4937760" cy="1600200"/>
          </a:xfrm>
          <a:prstGeom prst="rect">
            <a:avLst/>
          </a:prstGeom>
          <a:solidFill>
            <a:schemeClr val="bg2"/>
          </a:solidFill>
          <a:ln/>
        </p:spPr>
      </p:sp>
      <p:sp>
        <p:nvSpPr>
          <p:cNvPr id="8" name="s22-text-4"/>
          <p:cNvSpPr txBox="1"/>
          <p:nvPr/>
        </p:nvSpPr>
        <p:spPr>
          <a:xfrm>
            <a:off x="548640" y="1865376"/>
            <a:ext cx="4572000" cy="1453896"/>
          </a:xfrm>
          <a:prstGeom prst="rect">
            <a:avLst/>
          </a:prstGeom>
          <a:noFill/>
          <a:ln/>
        </p:spPr>
        <p:txBody>
          <a:bodyPr wrap="square" lIns="0" tIns="0" rIns="0" bIns="0" rtlCol="0" anchor="ctr"/>
          <a:lstStyle/>
          <a:p>
            <a:pPr indent="0" marL="0">
              <a:spcAft>
                <a:spcPts val="200"/>
              </a:spcAft>
              <a:buNone/>
            </a:pPr>
            <a:r>
              <a:rPr lang="en-US" sz="1200" dirty="0">
                <a:solidFill>
                  <a:schemeClr val="tx1"/>
                </a:solidFill>
              </a:rPr>
              <a:t>The following offences shall be deemed the offences whereby civil sanctions may be imposed on the offenders: (1) committing unfair securities trading practice, which is an offence under Section 296 or Section 296/1;</a:t>
            </a:r>
            <a:endParaRPr lang="en-US" sz="1200" dirty="0"/>
          </a:p>
        </p:txBody>
      </p:sp>
      <p:sp>
        <p:nvSpPr>
          <p:cNvPr id="9" name="s22-subbar-5"/>
          <p:cNvSpPr/>
          <p:nvPr/>
        </p:nvSpPr>
        <p:spPr>
          <a:xfrm>
            <a:off x="5440680" y="1353312"/>
            <a:ext cx="6385255" cy="347472"/>
          </a:xfrm>
          <a:prstGeom prst="rect">
            <a:avLst/>
          </a:prstGeom>
          <a:solidFill>
            <a:schemeClr val="tx2"/>
          </a:solidFill>
          <a:ln/>
        </p:spPr>
      </p:sp>
      <p:sp>
        <p:nvSpPr>
          <p:cNvPr id="10" name="s22-subbar-text-6"/>
          <p:cNvSpPr txBox="1"/>
          <p:nvPr/>
        </p:nvSpPr>
        <p:spPr>
          <a:xfrm>
            <a:off x="5440680" y="1353312"/>
            <a:ext cx="6385255"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 · Section 317/4</a:t>
            </a:r>
            <a:endParaRPr lang="en-US" sz="1400" dirty="0"/>
          </a:p>
        </p:txBody>
      </p:sp>
      <p:sp>
        <p:nvSpPr>
          <p:cNvPr id="11" name="s22-box-7"/>
          <p:cNvSpPr/>
          <p:nvPr/>
        </p:nvSpPr>
        <p:spPr>
          <a:xfrm>
            <a:off x="5440680" y="1792224"/>
            <a:ext cx="6385255" cy="1600200"/>
          </a:xfrm>
          <a:prstGeom prst="rect">
            <a:avLst/>
          </a:prstGeom>
          <a:solidFill>
            <a:schemeClr val="bg2"/>
          </a:solidFill>
          <a:ln/>
        </p:spPr>
      </p:sp>
      <p:sp>
        <p:nvSpPr>
          <p:cNvPr id="12" name="s22-text-8"/>
          <p:cNvSpPr txBox="1"/>
          <p:nvPr/>
        </p:nvSpPr>
        <p:spPr>
          <a:xfrm>
            <a:off x="5623560" y="1865376"/>
            <a:ext cx="6019495" cy="1453896"/>
          </a:xfrm>
          <a:prstGeom prst="rect">
            <a:avLst/>
          </a:prstGeom>
          <a:noFill/>
          <a:ln/>
        </p:spPr>
        <p:txBody>
          <a:bodyPr wrap="square" lIns="0" tIns="0" rIns="0" bIns="0" rtlCol="0" anchor="ctr"/>
          <a:lstStyle/>
          <a:p>
            <a:pPr indent="0" marL="0">
              <a:spcAft>
                <a:spcPts val="200"/>
              </a:spcAft>
              <a:buNone/>
            </a:pPr>
            <a:r>
              <a:rPr lang="en-US" sz="1200" dirty="0">
                <a:solidFill>
                  <a:schemeClr val="tx1"/>
                </a:solidFill>
              </a:rPr>
              <a:t>Civil sanctions shall be: (1) a civil penalty under Section 317/5; (2) a compensation at an equal amount to the benefit received or should have been received …; (3) a suspension of trading … not exceeding five years; (4) a bar from serving as a director or executive … not exceeding ten years; (5) a reimbursement of investigative expenses incurred by the SEC Office.</a:t>
            </a:r>
            <a:endParaRPr lang="en-US" sz="1200" dirty="0"/>
          </a:p>
        </p:txBody>
      </p:sp>
      <p:sp>
        <p:nvSpPr>
          <p:cNvPr id="13" name="s22-subbar-9"/>
          <p:cNvSpPr/>
          <p:nvPr/>
        </p:nvSpPr>
        <p:spPr>
          <a:xfrm>
            <a:off x="365760" y="3529584"/>
            <a:ext cx="4937760" cy="347472"/>
          </a:xfrm>
          <a:prstGeom prst="rect">
            <a:avLst/>
          </a:prstGeom>
          <a:solidFill>
            <a:schemeClr val="tx2"/>
          </a:solidFill>
          <a:ln/>
        </p:spPr>
      </p:sp>
      <p:sp>
        <p:nvSpPr>
          <p:cNvPr id="14" name="s22-subbar-text-10"/>
          <p:cNvSpPr txBox="1"/>
          <p:nvPr/>
        </p:nvSpPr>
        <p:spPr>
          <a:xfrm>
            <a:off x="365760" y="3529584"/>
            <a:ext cx="4937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 · Section 317/5(1)</a:t>
            </a:r>
            <a:endParaRPr lang="en-US" sz="1400" dirty="0"/>
          </a:p>
        </p:txBody>
      </p:sp>
      <p:sp>
        <p:nvSpPr>
          <p:cNvPr id="15" name="s22-box-11"/>
          <p:cNvSpPr/>
          <p:nvPr/>
        </p:nvSpPr>
        <p:spPr>
          <a:xfrm>
            <a:off x="365760" y="3968496"/>
            <a:ext cx="4937760" cy="2157984"/>
          </a:xfrm>
          <a:prstGeom prst="rect">
            <a:avLst/>
          </a:prstGeom>
          <a:solidFill>
            <a:schemeClr val="bg2"/>
          </a:solidFill>
          <a:ln/>
        </p:spPr>
      </p:sp>
      <p:sp>
        <p:nvSpPr>
          <p:cNvPr id="16" name="s22-text-12"/>
          <p:cNvSpPr txBox="1"/>
          <p:nvPr/>
        </p:nvSpPr>
        <p:spPr>
          <a:xfrm>
            <a:off x="548640" y="4041648"/>
            <a:ext cx="4572000" cy="2011680"/>
          </a:xfrm>
          <a:prstGeom prst="rect">
            <a:avLst/>
          </a:prstGeom>
          <a:noFill/>
          <a:ln/>
        </p:spPr>
        <p:txBody>
          <a:bodyPr wrap="square" lIns="0" tIns="0" rIns="0" bIns="0" rtlCol="0" anchor="ctr"/>
          <a:lstStyle/>
          <a:p>
            <a:pPr indent="0" marL="0">
              <a:spcAft>
                <a:spcPts val="200"/>
              </a:spcAft>
              <a:buNone/>
            </a:pPr>
            <a:r>
              <a:rPr lang="en-US" sz="1200" dirty="0">
                <a:solidFill>
                  <a:schemeClr val="tx1"/>
                </a:solidFill>
              </a:rPr>
              <a:t>… a civil penalty shall be imposed at an amount not exceeding two times the benefit that such person received or should have received from committing such offence, but not less than five hundred thousand baht, and in cases where the benefit is incalculable, … from five hundred thousand baht to two million baht;</a:t>
            </a:r>
            <a:endParaRPr lang="en-US" sz="1200" dirty="0"/>
          </a:p>
        </p:txBody>
      </p:sp>
      <p:sp>
        <p:nvSpPr>
          <p:cNvPr id="17" name="s22-subbar-13"/>
          <p:cNvSpPr/>
          <p:nvPr/>
        </p:nvSpPr>
        <p:spPr>
          <a:xfrm>
            <a:off x="5440680" y="3529584"/>
            <a:ext cx="6385255" cy="347472"/>
          </a:xfrm>
          <a:prstGeom prst="rect">
            <a:avLst/>
          </a:prstGeom>
          <a:solidFill>
            <a:schemeClr val="tx2"/>
          </a:solidFill>
          <a:ln/>
        </p:spPr>
      </p:sp>
      <p:sp>
        <p:nvSpPr>
          <p:cNvPr id="18" name="s22-subbar-text-14"/>
          <p:cNvSpPr txBox="1"/>
          <p:nvPr/>
        </p:nvSpPr>
        <p:spPr>
          <a:xfrm>
            <a:off x="5440680" y="3529584"/>
            <a:ext cx="6385255"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 · Sections 317/7 and 317/8</a:t>
            </a:r>
            <a:endParaRPr lang="en-US" sz="1400" dirty="0"/>
          </a:p>
        </p:txBody>
      </p:sp>
      <p:sp>
        <p:nvSpPr>
          <p:cNvPr id="19" name="s22-box-15"/>
          <p:cNvSpPr/>
          <p:nvPr/>
        </p:nvSpPr>
        <p:spPr>
          <a:xfrm>
            <a:off x="5440680" y="3968496"/>
            <a:ext cx="6385255" cy="2157984"/>
          </a:xfrm>
          <a:prstGeom prst="rect">
            <a:avLst/>
          </a:prstGeom>
          <a:solidFill>
            <a:schemeClr val="bg2"/>
          </a:solidFill>
          <a:ln/>
        </p:spPr>
      </p:sp>
      <p:sp>
        <p:nvSpPr>
          <p:cNvPr id="20" name="s22-text-16"/>
          <p:cNvSpPr txBox="1"/>
          <p:nvPr/>
        </p:nvSpPr>
        <p:spPr>
          <a:xfrm>
            <a:off x="5623560" y="4041648"/>
            <a:ext cx="6019495" cy="2011680"/>
          </a:xfrm>
          <a:prstGeom prst="rect">
            <a:avLst/>
          </a:prstGeom>
          <a:noFill/>
          <a:ln/>
        </p:spPr>
        <p:txBody>
          <a:bodyPr wrap="square" lIns="0" tIns="0" rIns="0" bIns="0" rtlCol="0" anchor="ctr"/>
          <a:lstStyle/>
          <a:p>
            <a:pPr indent="0" marL="0">
              <a:spcAft>
                <a:spcPts val="200"/>
              </a:spcAft>
              <a:buNone/>
            </a:pPr>
            <a:r>
              <a:rPr lang="en-US" sz="1200" dirty="0">
                <a:solidFill>
                  <a:schemeClr val="tx1"/>
                </a:solidFill>
              </a:rPr>
              <a:t>317/7: … the offender agrees to comply with the specified civil sanction … after the offender has made a payment in full, the right to institute a criminal prosecution shall extinguish.</a:t>
            </a:r>
            <a:endParaRPr lang="en-US" sz="1200" dirty="0"/>
          </a:p>
          <a:p>
            <a:pPr indent="0" marL="0">
              <a:spcAft>
                <a:spcPts val="200"/>
              </a:spcAft>
              <a:buNone/>
            </a:pPr>
            <a:r>
              <a:rPr lang="en-US" sz="1200" dirty="0">
                <a:solidFill>
                  <a:schemeClr val="tx1"/>
                </a:solidFill>
              </a:rPr>
              <a:t>317/8: In cases where the offender refuses to extinguish the case under Section 317/7, the SEC Office shall bring an action against the offender in the court …, and … the interest thereof shall be accumulated as from the date of entry of the plaint until the payment is made in full. After the court has passed a judgment or ordered a civil sanction, and the offender has made the payment in full, the right to institute criminal prosecution shall extinguish.</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4 · Civil Sanctions: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F8, F9; Securities and Exchange Act ss.317/1(1), 317/4, 317/5(1), 317/7, 317/8</a:t>
            </a:r>
            <a:endParaRPr lang="en-US" sz="1050" dirty="0"/>
          </a:p>
        </p:txBody>
      </p:sp>
      <p:sp>
        <p:nvSpPr>
          <p:cNvPr id="5" name="s23-subbar-1"/>
          <p:cNvSpPr/>
          <p:nvPr/>
        </p:nvSpPr>
        <p:spPr>
          <a:xfrm>
            <a:off x="365760" y="1353312"/>
            <a:ext cx="8138160" cy="347472"/>
          </a:xfrm>
          <a:prstGeom prst="rect">
            <a:avLst/>
          </a:prstGeom>
          <a:solidFill>
            <a:schemeClr val="tx2"/>
          </a:solidFill>
          <a:ln/>
        </p:spPr>
      </p:sp>
      <p:sp>
        <p:nvSpPr>
          <p:cNvPr id="6" name="s23-subbar-text-2"/>
          <p:cNvSpPr txBox="1"/>
          <p:nvPr/>
        </p:nvSpPr>
        <p:spPr>
          <a:xfrm>
            <a:off x="365760" y="1353312"/>
            <a:ext cx="81381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23-box-3"/>
          <p:cNvSpPr/>
          <p:nvPr/>
        </p:nvSpPr>
        <p:spPr>
          <a:xfrm>
            <a:off x="365760" y="1792224"/>
            <a:ext cx="8138160" cy="2944368"/>
          </a:xfrm>
          <a:prstGeom prst="rect">
            <a:avLst/>
          </a:prstGeom>
          <a:solidFill>
            <a:schemeClr val="bg2"/>
          </a:solidFill>
          <a:ln/>
        </p:spPr>
      </p:sp>
      <p:sp>
        <p:nvSpPr>
          <p:cNvPr id="8" name="s23-text-4"/>
          <p:cNvSpPr txBox="1"/>
          <p:nvPr/>
        </p:nvSpPr>
        <p:spPr>
          <a:xfrm>
            <a:off x="594360" y="1883664"/>
            <a:ext cx="7680960" cy="2761488"/>
          </a:xfrm>
          <a:prstGeom prst="rect">
            <a:avLst/>
          </a:prstGeom>
          <a:noFill/>
          <a:ln/>
        </p:spPr>
        <p:txBody>
          <a:bodyPr wrap="square" lIns="0" tIns="0" rIns="0" bIns="0" rtlCol="0" anchor="ctr"/>
          <a:lstStyle/>
          <a:p>
            <a:pPr indent="0" marL="0">
              <a:spcAft>
                <a:spcPts val="800"/>
              </a:spcAft>
              <a:buNone/>
            </a:pPr>
            <a:r>
              <a:rPr lang="en-US" sz="1200" b="1" dirty="0">
                <a:solidFill>
                  <a:schemeClr val="tx2"/>
                </a:solidFill>
              </a:rPr>
              <a:t>From the facts, </a:t>
            </a:r>
            <a:pPr indent="0" marL="0">
              <a:spcAft>
                <a:spcPts val="800"/>
              </a:spcAft>
              <a:buNone/>
            </a:pPr>
            <a:r>
              <a:rPr lang="en-US" sz="1200" dirty="0">
                <a:solidFill>
                  <a:schemeClr val="tx1"/>
                </a:solidFill>
              </a:rPr>
              <a:t>the CSC imposed civil sanctions on นางสาวภรัณยา (F8), but she did not consent, so the SEC asked the prosecutor to sue her in the Civil Court on 11 May 2026 (F9). Under Sections 317/1–317/8:</a:t>
            </a:r>
            <a:endParaRPr lang="en-US" sz="1200" dirty="0"/>
          </a:p>
          <a:p>
            <a:pPr indent="0" marL="0">
              <a:spcAft>
                <a:spcPts val="800"/>
              </a:spcAft>
              <a:buNone/>
            </a:pPr>
            <a:r>
              <a:rPr lang="en-US" sz="1200" b="1" dirty="0">
                <a:solidFill>
                  <a:schemeClr val="tx2"/>
                </a:solidFill>
              </a:rPr>
              <a:t>First, </a:t>
            </a:r>
            <a:pPr indent="0" marL="0">
              <a:spcAft>
                <a:spcPts val="800"/>
              </a:spcAft>
              <a:buNone/>
            </a:pPr>
            <a:r>
              <a:rPr lang="en-US" sz="1200" dirty="0">
                <a:solidFill>
                  <a:schemeClr val="tx1"/>
                </a:solidFill>
              </a:rPr>
              <a:t>her offences under Section 244/3(1) and (2) are punishable under Sections 296 and 296/1, so civil sanctions may be imposed under Section 317/1(1).</a:t>
            </a:r>
            <a:endParaRPr lang="en-US" sz="1200" dirty="0"/>
          </a:p>
          <a:p>
            <a:pPr indent="0" marL="0">
              <a:spcAft>
                <a:spcPts val="800"/>
              </a:spcAft>
              <a:buNone/>
            </a:pPr>
            <a:r>
              <a:rPr lang="en-US" sz="1200" b="1" dirty="0">
                <a:solidFill>
                  <a:schemeClr val="tx2"/>
                </a:solidFill>
              </a:rPr>
              <a:t>Second, </a:t>
            </a:r>
            <a:pPr indent="0" marL="0">
              <a:spcAft>
                <a:spcPts val="800"/>
              </a:spcAft>
              <a:buNone/>
            </a:pPr>
            <a:r>
              <a:rPr lang="en-US" sz="1200" dirty="0">
                <a:solidFill>
                  <a:schemeClr val="tx1"/>
                </a:solidFill>
              </a:rPr>
              <a:t>the CSC used all five sanctions in Section 317/4: a civil penalty, compensation for the benefit and SEC costs (THB 32,327,329 in total), a 6-month trading ban and a 12-month director ban, within the 5- and 10-year limits (F8).</a:t>
            </a:r>
            <a:endParaRPr lang="en-US" sz="1200" dirty="0"/>
          </a:p>
          <a:p>
            <a:pPr indent="0" marL="0">
              <a:spcAft>
                <a:spcPts val="800"/>
              </a:spcAft>
              <a:buNone/>
            </a:pPr>
            <a:r>
              <a:rPr lang="en-US" sz="1200" b="1" dirty="0">
                <a:solidFill>
                  <a:schemeClr val="tx2"/>
                </a:solidFill>
              </a:rPr>
              <a:t>Third, </a:t>
            </a:r>
            <a:pPr indent="0" marL="0">
              <a:spcAft>
                <a:spcPts val="800"/>
              </a:spcAft>
              <a:buNone/>
            </a:pPr>
            <a:r>
              <a:rPr lang="en-US" sz="1200" dirty="0">
                <a:solidFill>
                  <a:schemeClr val="tx1"/>
                </a:solidFill>
              </a:rPr>
              <a:t>she refused to settle under Section 317/7, so Section 317/8 applies: the SEC must sue in court, with interest from the filing date. The SEC claims THB 43,018,879.32 plus interest (F9).</a:t>
            </a:r>
            <a:endParaRPr lang="en-US" sz="1200" dirty="0"/>
          </a:p>
          <a:p>
            <a:pPr indent="0" marL="0">
              <a:spcAft>
                <a:spcPts val="800"/>
              </a:spcAft>
              <a:buNone/>
            </a:pPr>
            <a:r>
              <a:rPr lang="en-US" sz="1200" b="1" dirty="0">
                <a:solidFill>
                  <a:schemeClr val="tx2"/>
                </a:solidFill>
              </a:rPr>
              <a:t>Finally, </a:t>
            </a:r>
            <a:pPr indent="0" marL="0">
              <a:spcAft>
                <a:spcPts val="800"/>
              </a:spcAft>
              <a:buNone/>
            </a:pPr>
            <a:r>
              <a:rPr lang="en-US" sz="1200" dirty="0">
                <a:solidFill>
                  <a:schemeClr val="tx1"/>
                </a:solidFill>
              </a:rPr>
              <a:t>under Section 317/8 the criminal right ends only after the court’s judgment and full payment.</a:t>
            </a:r>
            <a:endParaRPr lang="en-US" sz="1200" dirty="0"/>
          </a:p>
        </p:txBody>
      </p:sp>
      <p:sp>
        <p:nvSpPr>
          <p:cNvPr id="9" name="s23-subbar-5"/>
          <p:cNvSpPr/>
          <p:nvPr/>
        </p:nvSpPr>
        <p:spPr>
          <a:xfrm>
            <a:off x="8641080" y="1353312"/>
            <a:ext cx="3184855" cy="347472"/>
          </a:xfrm>
          <a:prstGeom prst="rect">
            <a:avLst/>
          </a:prstGeom>
          <a:solidFill>
            <a:schemeClr val="tx2"/>
          </a:solidFill>
          <a:ln/>
        </p:spPr>
      </p:sp>
      <p:sp>
        <p:nvSpPr>
          <p:cNvPr id="10" name="s23-subbar-text-6"/>
          <p:cNvSpPr txBox="1"/>
          <p:nvPr/>
        </p:nvSpPr>
        <p:spPr>
          <a:xfrm>
            <a:off x="8641080" y="1353312"/>
            <a:ext cx="3184855" cy="347472"/>
          </a:xfrm>
          <a:prstGeom prst="rect">
            <a:avLst/>
          </a:prstGeom>
          <a:noFill/>
          <a:ln/>
        </p:spPr>
        <p:txBody>
          <a:bodyPr wrap="square" lIns="0" tIns="0" rIns="0" bIns="0" rtlCol="0" anchor="ctr"/>
          <a:lstStyle/>
          <a:p>
            <a:pPr algn="ctr" indent="0" marL="0">
              <a:buNone/>
            </a:pPr>
            <a:r>
              <a:rPr lang="en-US" sz="1400" b="1" dirty="0">
                <a:solidFill>
                  <a:schemeClr val="bg1"/>
                </a:solidFill>
              </a:rPr>
              <a:t>Applied to TSR</a:t>
            </a:r>
            <a:endParaRPr lang="en-US" sz="1400" dirty="0"/>
          </a:p>
        </p:txBody>
      </p:sp>
      <p:sp>
        <p:nvSpPr>
          <p:cNvPr id="11" name="s23-chip-7"/>
          <p:cNvSpPr/>
          <p:nvPr/>
        </p:nvSpPr>
        <p:spPr>
          <a:xfrm>
            <a:off x="8641080" y="1792224"/>
            <a:ext cx="3184855" cy="1014984"/>
          </a:xfrm>
          <a:prstGeom prst="rect">
            <a:avLst/>
          </a:prstGeom>
          <a:solidFill>
            <a:schemeClr val="accent2"/>
          </a:solidFill>
          <a:ln/>
        </p:spPr>
      </p:sp>
      <p:sp>
        <p:nvSpPr>
          <p:cNvPr id="12" name="s23-chip-text-8"/>
          <p:cNvSpPr txBox="1"/>
          <p:nvPr/>
        </p:nvSpPr>
        <p:spPr>
          <a:xfrm>
            <a:off x="8641080" y="1792224"/>
            <a:ext cx="3184855" cy="1014984"/>
          </a:xfrm>
          <a:prstGeom prst="rect">
            <a:avLst/>
          </a:prstGeom>
          <a:noFill/>
          <a:ln/>
        </p:spPr>
        <p:txBody>
          <a:bodyPr wrap="square" lIns="50800" tIns="50800" rIns="50800" bIns="50800" rtlCol="0" anchor="ctr"/>
          <a:lstStyle/>
          <a:p>
            <a:pPr algn="ctr" indent="0" marL="0">
              <a:buNone/>
            </a:pPr>
            <a:r>
              <a:rPr lang="en-US" sz="1200" dirty="0">
                <a:solidFill>
                  <a:schemeClr val="tx1"/>
                </a:solidFill>
              </a:rPr>
              <a:t>CSC · Jan 2026</a:t>
            </a:r>
            <a:endParaRPr lang="en-US" sz="1200" dirty="0"/>
          </a:p>
          <a:p>
            <a:pPr algn="ctr" indent="0" marL="0">
              <a:buNone/>
            </a:pPr>
            <a:r>
              <a:rPr lang="en-US" sz="1200" b="1" dirty="0">
                <a:solidFill>
                  <a:schemeClr val="tx2"/>
                </a:solidFill>
              </a:rPr>
              <a:t>THB 32,327,329</a:t>
            </a:r>
            <a:endParaRPr lang="en-US" sz="1200" dirty="0"/>
          </a:p>
        </p:txBody>
      </p:sp>
      <p:sp>
        <p:nvSpPr>
          <p:cNvPr id="13" name="s23-chip-9"/>
          <p:cNvSpPr/>
          <p:nvPr/>
        </p:nvSpPr>
        <p:spPr>
          <a:xfrm>
            <a:off x="8641080" y="2898648"/>
            <a:ext cx="3184855" cy="1014984"/>
          </a:xfrm>
          <a:prstGeom prst="rect">
            <a:avLst/>
          </a:prstGeom>
          <a:solidFill>
            <a:schemeClr val="accent2"/>
          </a:solidFill>
          <a:ln/>
        </p:spPr>
      </p:sp>
      <p:sp>
        <p:nvSpPr>
          <p:cNvPr id="14" name="s23-chip-text-10"/>
          <p:cNvSpPr txBox="1"/>
          <p:nvPr/>
        </p:nvSpPr>
        <p:spPr>
          <a:xfrm>
            <a:off x="8641080" y="2898648"/>
            <a:ext cx="3184855" cy="1014984"/>
          </a:xfrm>
          <a:prstGeom prst="rect">
            <a:avLst/>
          </a:prstGeom>
          <a:noFill/>
          <a:ln/>
        </p:spPr>
        <p:txBody>
          <a:bodyPr wrap="square" lIns="50800" tIns="50800" rIns="50800" bIns="50800" rtlCol="0" anchor="ctr"/>
          <a:lstStyle/>
          <a:p>
            <a:pPr algn="ctr" indent="0" marL="0">
              <a:buNone/>
            </a:pPr>
            <a:r>
              <a:rPr lang="en-US" sz="1200" dirty="0">
                <a:solidFill>
                  <a:schemeClr val="tx1"/>
                </a:solidFill>
              </a:rPr>
              <a:t>Bans set by the CSC</a:t>
            </a:r>
            <a:endParaRPr lang="en-US" sz="1200" dirty="0"/>
          </a:p>
          <a:p>
            <a:pPr algn="ctr" indent="0" marL="0">
              <a:buNone/>
            </a:pPr>
            <a:r>
              <a:rPr lang="en-US" sz="1200" b="1" dirty="0">
                <a:solidFill>
                  <a:schemeClr val="tx2"/>
                </a:solidFill>
              </a:rPr>
              <a:t>6 months · 12 months</a:t>
            </a:r>
            <a:endParaRPr lang="en-US" sz="1200" dirty="0"/>
          </a:p>
        </p:txBody>
      </p:sp>
      <p:sp>
        <p:nvSpPr>
          <p:cNvPr id="15" name="s23-chip-11"/>
          <p:cNvSpPr/>
          <p:nvPr/>
        </p:nvSpPr>
        <p:spPr>
          <a:xfrm>
            <a:off x="8641080" y="4005072"/>
            <a:ext cx="3184855" cy="1014984"/>
          </a:xfrm>
          <a:prstGeom prst="rect">
            <a:avLst/>
          </a:prstGeom>
          <a:solidFill>
            <a:srgbClr val="FFF3DC"/>
          </a:solidFill>
          <a:ln w="12700">
            <a:solidFill>
              <a:schemeClr val="accent4"/>
            </a:solidFill>
            <a:prstDash val="solid"/>
          </a:ln>
        </p:spPr>
      </p:sp>
      <p:sp>
        <p:nvSpPr>
          <p:cNvPr id="16" name="s23-chip-text-12"/>
          <p:cNvSpPr txBox="1"/>
          <p:nvPr/>
        </p:nvSpPr>
        <p:spPr>
          <a:xfrm>
            <a:off x="8641080" y="4005072"/>
            <a:ext cx="3184855" cy="1014984"/>
          </a:xfrm>
          <a:prstGeom prst="rect">
            <a:avLst/>
          </a:prstGeom>
          <a:noFill/>
          <a:ln/>
        </p:spPr>
        <p:txBody>
          <a:bodyPr wrap="square" lIns="50800" tIns="50800" rIns="50800" bIns="50800" rtlCol="0" anchor="ctr"/>
          <a:lstStyle/>
          <a:p>
            <a:pPr algn="ctr" indent="0" marL="0">
              <a:buNone/>
            </a:pPr>
            <a:r>
              <a:rPr lang="en-US" sz="1200" dirty="0">
                <a:solidFill>
                  <a:schemeClr val="accent4"/>
                </a:solidFill>
              </a:rPr>
              <a:t>Civil Court · May 2026</a:t>
            </a:r>
            <a:endParaRPr lang="en-US" sz="1200" dirty="0"/>
          </a:p>
          <a:p>
            <a:pPr algn="ctr" indent="0" marL="0">
              <a:buNone/>
            </a:pPr>
            <a:r>
              <a:rPr lang="en-US" sz="1200" b="1" dirty="0">
                <a:solidFill>
                  <a:schemeClr val="tx2"/>
                </a:solidFill>
              </a:rPr>
              <a:t>THB 43,018,879.32 + interest</a:t>
            </a:r>
            <a:endParaRPr lang="en-US" sz="1200" dirty="0"/>
          </a:p>
        </p:txBody>
      </p:sp>
      <p:sp>
        <p:nvSpPr>
          <p:cNvPr id="17" name="s23-chip-13"/>
          <p:cNvSpPr/>
          <p:nvPr/>
        </p:nvSpPr>
        <p:spPr>
          <a:xfrm>
            <a:off x="8641080" y="5111496"/>
            <a:ext cx="3184855" cy="1014984"/>
          </a:xfrm>
          <a:prstGeom prst="rect">
            <a:avLst/>
          </a:prstGeom>
          <a:solidFill>
            <a:schemeClr val="accent2"/>
          </a:solidFill>
          <a:ln/>
        </p:spPr>
      </p:sp>
      <p:sp>
        <p:nvSpPr>
          <p:cNvPr id="18" name="s23-chip-text-14"/>
          <p:cNvSpPr txBox="1"/>
          <p:nvPr/>
        </p:nvSpPr>
        <p:spPr>
          <a:xfrm>
            <a:off x="8641080" y="5111496"/>
            <a:ext cx="3184855" cy="1014984"/>
          </a:xfrm>
          <a:prstGeom prst="rect">
            <a:avLst/>
          </a:prstGeom>
          <a:noFill/>
          <a:ln/>
        </p:spPr>
        <p:txBody>
          <a:bodyPr wrap="square" lIns="50800" tIns="50800" rIns="50800" bIns="50800" rtlCol="0" anchor="ctr"/>
          <a:lstStyle/>
          <a:p>
            <a:pPr algn="ctr" indent="0" marL="0">
              <a:buNone/>
            </a:pPr>
            <a:r>
              <a:rPr lang="en-US" sz="1200" dirty="0">
                <a:solidFill>
                  <a:schemeClr val="tx1"/>
                </a:solidFill>
              </a:rPr>
              <a:t>Status</a:t>
            </a:r>
            <a:endParaRPr lang="en-US" sz="1200" dirty="0"/>
          </a:p>
          <a:p>
            <a:pPr algn="ctr" indent="0" marL="0">
              <a:buNone/>
            </a:pPr>
            <a:r>
              <a:rPr lang="en-US" sz="1200" b="1" dirty="0">
                <a:solidFill>
                  <a:schemeClr val="tx2"/>
                </a:solidFill>
              </a:rPr>
              <a:t>Pending (Oct 2026)</a:t>
            </a:r>
            <a:endParaRPr lang="en-US" sz="1200" dirty="0"/>
          </a:p>
        </p:txBody>
      </p:sp>
      <p:sp>
        <p:nvSpPr>
          <p:cNvPr id="19" name="s23-box-15"/>
          <p:cNvSpPr/>
          <p:nvPr/>
        </p:nvSpPr>
        <p:spPr>
          <a:xfrm>
            <a:off x="365760" y="4846320"/>
            <a:ext cx="8138160" cy="1280160"/>
          </a:xfrm>
          <a:prstGeom prst="rect">
            <a:avLst/>
          </a:prstGeom>
          <a:solidFill>
            <a:srgbClr val="E6F2E7"/>
          </a:solidFill>
          <a:ln w="12700">
            <a:solidFill>
              <a:schemeClr val="accent3"/>
            </a:solidFill>
            <a:prstDash val="solid"/>
          </a:ln>
        </p:spPr>
      </p:sp>
      <p:sp>
        <p:nvSpPr>
          <p:cNvPr id="20" name="s23-text-16"/>
          <p:cNvSpPr txBox="1"/>
          <p:nvPr/>
        </p:nvSpPr>
        <p:spPr>
          <a:xfrm>
            <a:off x="594360" y="4846320"/>
            <a:ext cx="7680960" cy="1280160"/>
          </a:xfrm>
          <a:prstGeom prst="rect">
            <a:avLst/>
          </a:prstGeom>
          <a:noFill/>
          <a:ln/>
        </p:spPr>
        <p:txBody>
          <a:bodyPr wrap="square" lIns="0" tIns="0" rIns="0" bIns="0" rtlCol="0" anchor="ctr"/>
          <a:lstStyle/>
          <a:p>
            <a:pPr indent="0" marL="0">
              <a:spcAft>
                <a:spcPts val="300"/>
              </a:spcAft>
              <a:buNone/>
            </a:pPr>
            <a:r>
              <a:rPr lang="en-US" sz="1300" b="1" dirty="0">
                <a:solidFill>
                  <a:schemeClr val="accent3"/>
                </a:solidFill>
              </a:rPr>
              <a:t>3. Conclusion</a:t>
            </a:r>
            <a:endParaRPr lang="en-US" sz="1200" dirty="0"/>
          </a:p>
          <a:p>
            <a:pPr indent="0" marL="0">
              <a:spcAft>
                <a:spcPts val="300"/>
              </a:spcAft>
              <a:buNone/>
            </a:pPr>
            <a:r>
              <a:rPr lang="en-US" sz="1200" dirty="0">
                <a:solidFill>
                  <a:schemeClr val="tx1"/>
                </a:solidFill>
              </a:rPr>
              <a:t>In conclusion, civil sanctions under Sections 317/1(1), 317/4 and 317/5 apply; because she refused them, the case is before the Civil Court under Section 317/8.</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Conclusion: Answer to the Question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Rules 1–4 · Based on the facts reported in the news (Jan–May 2026)</a:t>
            </a:r>
            <a:endParaRPr lang="en-US" sz="1050" dirty="0"/>
          </a:p>
        </p:txBody>
      </p:sp>
      <p:sp>
        <p:nvSpPr>
          <p:cNvPr id="5" name="s24-subbar-1"/>
          <p:cNvSpPr/>
          <p:nvPr/>
        </p:nvSpPr>
        <p:spPr>
          <a:xfrm>
            <a:off x="365760" y="1353312"/>
            <a:ext cx="11460175" cy="347472"/>
          </a:xfrm>
          <a:prstGeom prst="rect">
            <a:avLst/>
          </a:prstGeom>
          <a:solidFill>
            <a:schemeClr val="tx2"/>
          </a:solidFill>
          <a:ln/>
        </p:spPr>
      </p:sp>
      <p:sp>
        <p:nvSpPr>
          <p:cNvPr id="6" name="s24-subbar-text-2"/>
          <p:cNvSpPr txBox="1"/>
          <p:nvPr/>
        </p:nvSpPr>
        <p:spPr>
          <a:xfrm>
            <a:off x="365760" y="135331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3. Conclusion</a:t>
            </a:r>
            <a:endParaRPr lang="en-US" sz="1400" dirty="0"/>
          </a:p>
        </p:txBody>
      </p:sp>
      <p:sp>
        <p:nvSpPr>
          <p:cNvPr id="7" name="s24-box-3"/>
          <p:cNvSpPr/>
          <p:nvPr/>
        </p:nvSpPr>
        <p:spPr>
          <a:xfrm>
            <a:off x="365760" y="1792224"/>
            <a:ext cx="11460175" cy="2240280"/>
          </a:xfrm>
          <a:prstGeom prst="rect">
            <a:avLst/>
          </a:prstGeom>
          <a:solidFill>
            <a:schemeClr val="bg2"/>
          </a:solidFill>
          <a:ln/>
        </p:spPr>
      </p:sp>
      <p:sp>
        <p:nvSpPr>
          <p:cNvPr id="8" name="s24-text-4"/>
          <p:cNvSpPr txBox="1"/>
          <p:nvPr/>
        </p:nvSpPr>
        <p:spPr>
          <a:xfrm>
            <a:off x="640080" y="1883664"/>
            <a:ext cx="10911535" cy="2057400"/>
          </a:xfrm>
          <a:prstGeom prst="rect">
            <a:avLst/>
          </a:prstGeom>
          <a:noFill/>
          <a:ln/>
        </p:spPr>
        <p:txBody>
          <a:bodyPr wrap="square" lIns="0" tIns="0" rIns="0" bIns="0" rtlCol="0" anchor="ctr"/>
          <a:lstStyle/>
          <a:p>
            <a:pPr indent="0" marL="0">
              <a:buNone/>
            </a:pPr>
            <a:r>
              <a:rPr lang="en-US" sz="1300" b="1" dirty="0">
                <a:solidFill>
                  <a:schemeClr val="tx2"/>
                </a:solidFill>
              </a:rPr>
              <a:t>In conclusion, </a:t>
            </a:r>
            <a:pPr indent="0" marL="0">
              <a:buNone/>
            </a:pPr>
            <a:r>
              <a:rPr lang="en-US" sz="1300" dirty="0">
                <a:solidFill>
                  <a:schemeClr val="tx1"/>
                </a:solidFill>
              </a:rPr>
              <a:t>นางสาวภรัณยา รุจนพรพจี has committed unfair securities trading under Section 244/3(1) and (2) of the Securities and Exchange Act B.E. 2535, supported by the presumption in Section 244/5(5), by hitting the offers and holding large bids in TSR shares for 47 trading days to lift the price for SABUY’s benefit. She may face up to five years’ imprisonment and a fine of up to two times the benefit under Sections 296/1 and 296/2. The SEC chose civil sanctions instead: she refused the CSC’s THB 32.3 million sanction, so under Section 317/8 the SEC is suing her in the Civil Court for THB 43.0 million plus interest.</a:t>
            </a:r>
            <a:endParaRPr lang="en-US" sz="1300" dirty="0"/>
          </a:p>
        </p:txBody>
      </p:sp>
      <p:sp>
        <p:nvSpPr>
          <p:cNvPr id="9" name="s24-chip-5"/>
          <p:cNvSpPr/>
          <p:nvPr/>
        </p:nvSpPr>
        <p:spPr>
          <a:xfrm>
            <a:off x="365760" y="4169664"/>
            <a:ext cx="2762174" cy="1572768"/>
          </a:xfrm>
          <a:prstGeom prst="rect">
            <a:avLst/>
          </a:prstGeom>
          <a:solidFill>
            <a:srgbClr val="E6F2E7"/>
          </a:solidFill>
          <a:ln w="12700">
            <a:solidFill>
              <a:schemeClr val="accent3"/>
            </a:solidFill>
            <a:prstDash val="solid"/>
          </a:ln>
        </p:spPr>
      </p:sp>
      <p:sp>
        <p:nvSpPr>
          <p:cNvPr id="10" name="s24-chip-text-6"/>
          <p:cNvSpPr txBox="1"/>
          <p:nvPr/>
        </p:nvSpPr>
        <p:spPr>
          <a:xfrm>
            <a:off x="365760" y="4169664"/>
            <a:ext cx="2762174" cy="1572768"/>
          </a:xfrm>
          <a:prstGeom prst="rect">
            <a:avLst/>
          </a:prstGeom>
          <a:noFill/>
          <a:ln/>
        </p:spPr>
        <p:txBody>
          <a:bodyPr wrap="square" lIns="50800" tIns="50800" rIns="50800" bIns="50800" rtlCol="0" anchor="ctr"/>
          <a:lstStyle/>
          <a:p>
            <a:pPr algn="ctr" indent="0" marL="0">
              <a:buNone/>
            </a:pPr>
            <a:r>
              <a:rPr lang="en-US" sz="1200" dirty="0">
                <a:solidFill>
                  <a:schemeClr val="tx1"/>
                </a:solidFill>
              </a:rPr>
              <a:t>Rule 1 · s.244/3(1)</a:t>
            </a:r>
            <a:endParaRPr lang="en-US" sz="1200" dirty="0"/>
          </a:p>
          <a:p>
            <a:pPr algn="ctr" indent="0" marL="0">
              <a:buNone/>
            </a:pPr>
            <a:r>
              <a:rPr lang="en-US" sz="1200" b="1" dirty="0">
                <a:solidFill>
                  <a:schemeClr val="accent3"/>
                </a:solidFill>
              </a:rPr>
              <a:t>Violated (presumption s.244/5(5))</a:t>
            </a:r>
            <a:endParaRPr lang="en-US" sz="1200" dirty="0"/>
          </a:p>
        </p:txBody>
      </p:sp>
      <p:sp>
        <p:nvSpPr>
          <p:cNvPr id="11" name="s24-chip-7"/>
          <p:cNvSpPr/>
          <p:nvPr/>
        </p:nvSpPr>
        <p:spPr>
          <a:xfrm>
            <a:off x="3265094" y="4169664"/>
            <a:ext cx="2762174" cy="1572768"/>
          </a:xfrm>
          <a:prstGeom prst="rect">
            <a:avLst/>
          </a:prstGeom>
          <a:solidFill>
            <a:srgbClr val="E6F2E7"/>
          </a:solidFill>
          <a:ln w="12700">
            <a:solidFill>
              <a:schemeClr val="accent3"/>
            </a:solidFill>
            <a:prstDash val="solid"/>
          </a:ln>
        </p:spPr>
      </p:sp>
      <p:sp>
        <p:nvSpPr>
          <p:cNvPr id="12" name="s24-chip-text-8"/>
          <p:cNvSpPr txBox="1"/>
          <p:nvPr/>
        </p:nvSpPr>
        <p:spPr>
          <a:xfrm>
            <a:off x="3265094" y="4169664"/>
            <a:ext cx="2762174" cy="1572768"/>
          </a:xfrm>
          <a:prstGeom prst="rect">
            <a:avLst/>
          </a:prstGeom>
          <a:noFill/>
          <a:ln/>
        </p:spPr>
        <p:txBody>
          <a:bodyPr wrap="square" lIns="50800" tIns="50800" rIns="50800" bIns="50800" rtlCol="0" anchor="ctr"/>
          <a:lstStyle/>
          <a:p>
            <a:pPr algn="ctr" indent="0" marL="0">
              <a:buNone/>
            </a:pPr>
            <a:r>
              <a:rPr lang="en-US" sz="1200" dirty="0">
                <a:solidFill>
                  <a:schemeClr val="tx1"/>
                </a:solidFill>
              </a:rPr>
              <a:t>Rule 2 · s.244/3(2)</a:t>
            </a:r>
            <a:endParaRPr lang="en-US" sz="1200" dirty="0"/>
          </a:p>
          <a:p>
            <a:pPr algn="ctr" indent="0" marL="0">
              <a:buNone/>
            </a:pPr>
            <a:r>
              <a:rPr lang="en-US" sz="1200" b="1" dirty="0">
                <a:solidFill>
                  <a:schemeClr val="accent3"/>
                </a:solidFill>
              </a:rPr>
              <a:t>Violated (intent shown by the motive)</a:t>
            </a:r>
            <a:endParaRPr lang="en-US" sz="1200" dirty="0"/>
          </a:p>
        </p:txBody>
      </p:sp>
      <p:sp>
        <p:nvSpPr>
          <p:cNvPr id="13" name="s24-chip-9"/>
          <p:cNvSpPr/>
          <p:nvPr/>
        </p:nvSpPr>
        <p:spPr>
          <a:xfrm>
            <a:off x="6164428" y="4169664"/>
            <a:ext cx="2762174" cy="1572768"/>
          </a:xfrm>
          <a:prstGeom prst="rect">
            <a:avLst/>
          </a:prstGeom>
          <a:solidFill>
            <a:srgbClr val="FFF3DC"/>
          </a:solidFill>
          <a:ln w="12700">
            <a:solidFill>
              <a:schemeClr val="accent4"/>
            </a:solidFill>
            <a:prstDash val="solid"/>
          </a:ln>
        </p:spPr>
      </p:sp>
      <p:sp>
        <p:nvSpPr>
          <p:cNvPr id="14" name="s24-chip-text-10"/>
          <p:cNvSpPr txBox="1"/>
          <p:nvPr/>
        </p:nvSpPr>
        <p:spPr>
          <a:xfrm>
            <a:off x="6164428" y="4169664"/>
            <a:ext cx="2762174" cy="1572768"/>
          </a:xfrm>
          <a:prstGeom prst="rect">
            <a:avLst/>
          </a:prstGeom>
          <a:noFill/>
          <a:ln/>
        </p:spPr>
        <p:txBody>
          <a:bodyPr wrap="square" lIns="50800" tIns="50800" rIns="50800" bIns="50800" rtlCol="0" anchor="ctr"/>
          <a:lstStyle/>
          <a:p>
            <a:pPr algn="ctr" indent="0" marL="0">
              <a:buNone/>
            </a:pPr>
            <a:r>
              <a:rPr lang="en-US" sz="1200" dirty="0">
                <a:solidFill>
                  <a:schemeClr val="tx1"/>
                </a:solidFill>
              </a:rPr>
              <a:t>Rule 3 · Criminal</a:t>
            </a:r>
            <a:endParaRPr lang="en-US" sz="1200" dirty="0"/>
          </a:p>
          <a:p>
            <a:pPr algn="ctr" indent="0" marL="0">
              <a:buNone/>
            </a:pPr>
            <a:r>
              <a:rPr lang="en-US" sz="1200" b="1" dirty="0">
                <a:solidFill>
                  <a:schemeClr val="tx2"/>
                </a:solidFill>
              </a:rPr>
              <a:t>Up to 5 years · fine ≤ 2× benefit</a:t>
            </a:r>
            <a:endParaRPr lang="en-US" sz="1200" dirty="0"/>
          </a:p>
        </p:txBody>
      </p:sp>
      <p:sp>
        <p:nvSpPr>
          <p:cNvPr id="15" name="s24-chip-11"/>
          <p:cNvSpPr/>
          <p:nvPr/>
        </p:nvSpPr>
        <p:spPr>
          <a:xfrm>
            <a:off x="9063761" y="4169664"/>
            <a:ext cx="2762174" cy="1572768"/>
          </a:xfrm>
          <a:prstGeom prst="rect">
            <a:avLst/>
          </a:prstGeom>
          <a:solidFill>
            <a:srgbClr val="FFF3DC"/>
          </a:solidFill>
          <a:ln w="12700">
            <a:solidFill>
              <a:schemeClr val="accent4"/>
            </a:solidFill>
            <a:prstDash val="solid"/>
          </a:ln>
        </p:spPr>
      </p:sp>
      <p:sp>
        <p:nvSpPr>
          <p:cNvPr id="16" name="s24-chip-text-12"/>
          <p:cNvSpPr txBox="1"/>
          <p:nvPr/>
        </p:nvSpPr>
        <p:spPr>
          <a:xfrm>
            <a:off x="9063761" y="4169664"/>
            <a:ext cx="2762174" cy="1572768"/>
          </a:xfrm>
          <a:prstGeom prst="rect">
            <a:avLst/>
          </a:prstGeom>
          <a:noFill/>
          <a:ln/>
        </p:spPr>
        <p:txBody>
          <a:bodyPr wrap="square" lIns="50800" tIns="50800" rIns="50800" bIns="50800" rtlCol="0" anchor="ctr"/>
          <a:lstStyle/>
          <a:p>
            <a:pPr algn="ctr" indent="0" marL="0">
              <a:buNone/>
            </a:pPr>
            <a:r>
              <a:rPr lang="en-US" sz="1200" dirty="0">
                <a:solidFill>
                  <a:schemeClr val="tx1"/>
                </a:solidFill>
              </a:rPr>
              <a:t>Rule 4 · Civil</a:t>
            </a:r>
            <a:endParaRPr lang="en-US" sz="1200" dirty="0"/>
          </a:p>
          <a:p>
            <a:pPr algn="ctr" indent="0" marL="0">
              <a:buNone/>
            </a:pPr>
            <a:r>
              <a:rPr lang="en-US" sz="1200" b="1" dirty="0">
                <a:solidFill>
                  <a:schemeClr val="tx2"/>
                </a:solidFill>
              </a:rPr>
              <a:t>THB 32.3M refused → THB 43.0M claim</a:t>
            </a:r>
            <a:endParaRPr lang="en-US" sz="1200" dirty="0"/>
          </a:p>
        </p:txBody>
      </p:sp>
      <p:sp>
        <p:nvSpPr>
          <p:cNvPr id="17" name="s24-text-13"/>
          <p:cNvSpPr txBox="1"/>
          <p:nvPr/>
        </p:nvSpPr>
        <p:spPr>
          <a:xfrm>
            <a:off x="365760" y="5815584"/>
            <a:ext cx="11460175" cy="274320"/>
          </a:xfrm>
          <a:prstGeom prst="rect">
            <a:avLst/>
          </a:prstGeom>
          <a:noFill/>
          <a:ln/>
        </p:spPr>
        <p:txBody>
          <a:bodyPr wrap="square" lIns="0" tIns="0" rIns="0" bIns="0" rtlCol="0" anchor="ctr"/>
          <a:lstStyle/>
          <a:p>
            <a:pPr indent="0" marL="0">
              <a:buNone/>
            </a:pPr>
            <a:r>
              <a:rPr lang="en-US" sz="1050" i="1" dirty="0">
                <a:solidFill>
                  <a:schemeClr val="accent5"/>
                </a:solidFill>
              </a:rPr>
              <a:t>Based on the facts reported in the news, as found by the SEC and the CSC; no court judgment had been reported as of October 2026.</a:t>
            </a:r>
            <a:endParaRPr lang="en-US" sz="10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Thank You</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 TSR Market Manipulation Case</a:t>
            </a:r>
            <a:endParaRPr lang="en-US" sz="1050" dirty="0"/>
          </a:p>
        </p:txBody>
      </p:sp>
      <p:sp>
        <p:nvSpPr>
          <p:cNvPr id="5" name="s25-subbar-1"/>
          <p:cNvSpPr/>
          <p:nvPr/>
        </p:nvSpPr>
        <p:spPr>
          <a:xfrm>
            <a:off x="365760" y="1353312"/>
            <a:ext cx="11460175" cy="347472"/>
          </a:xfrm>
          <a:prstGeom prst="rect">
            <a:avLst/>
          </a:prstGeom>
          <a:solidFill>
            <a:schemeClr val="tx2"/>
          </a:solidFill>
          <a:ln/>
        </p:spPr>
      </p:sp>
      <p:sp>
        <p:nvSpPr>
          <p:cNvPr id="6" name="s25-subbar-text-2"/>
          <p:cNvSpPr txBox="1"/>
          <p:nvPr/>
        </p:nvSpPr>
        <p:spPr>
          <a:xfrm>
            <a:off x="365760" y="135331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Group 3 · TSR Market Manipulation Case</a:t>
            </a:r>
            <a:endParaRPr lang="en-US" sz="1400" dirty="0"/>
          </a:p>
        </p:txBody>
      </p:sp>
      <p:sp>
        <p:nvSpPr>
          <p:cNvPr id="7" name="s25-box-3"/>
          <p:cNvSpPr/>
          <p:nvPr/>
        </p:nvSpPr>
        <p:spPr>
          <a:xfrm>
            <a:off x="365760" y="1792224"/>
            <a:ext cx="6949440" cy="4562856"/>
          </a:xfrm>
          <a:prstGeom prst="rect">
            <a:avLst/>
          </a:prstGeom>
          <a:solidFill>
            <a:schemeClr val="bg2"/>
          </a:solidFill>
          <a:ln/>
        </p:spPr>
      </p:sp>
      <p:sp>
        <p:nvSpPr>
          <p:cNvPr id="8" name="s25-text-4"/>
          <p:cNvSpPr txBox="1"/>
          <p:nvPr/>
        </p:nvSpPr>
        <p:spPr>
          <a:xfrm>
            <a:off x="640080" y="2066544"/>
            <a:ext cx="6400800" cy="548640"/>
          </a:xfrm>
          <a:prstGeom prst="rect">
            <a:avLst/>
          </a:prstGeom>
          <a:noFill/>
          <a:ln/>
        </p:spPr>
        <p:txBody>
          <a:bodyPr wrap="square" lIns="0" tIns="0" rIns="0" bIns="0" rtlCol="0" anchor="ctr"/>
          <a:lstStyle/>
          <a:p>
            <a:pPr indent="0" marL="0">
              <a:buNone/>
            </a:pPr>
            <a:r>
              <a:rPr lang="en-US" sz="2400" b="1" dirty="0">
                <a:solidFill>
                  <a:schemeClr val="tx2"/>
                </a:solidFill>
              </a:rPr>
              <a:t>Questions and discussion</a:t>
            </a:r>
            <a:endParaRPr lang="en-US" sz="2400" dirty="0"/>
          </a:p>
        </p:txBody>
      </p:sp>
      <p:sp>
        <p:nvSpPr>
          <p:cNvPr id="9" name="s25-text-5"/>
          <p:cNvSpPr txBox="1"/>
          <p:nvPr/>
        </p:nvSpPr>
        <p:spPr>
          <a:xfrm>
            <a:off x="640080" y="2752344"/>
            <a:ext cx="6400800" cy="86868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Group Assignment 2 (2026) · Ethics and Law for Financial Engineers</a:t>
            </a:r>
            <a:endParaRPr lang="en-US" sz="1200" dirty="0"/>
          </a:p>
          <a:p>
            <a:pPr indent="0" marL="0">
              <a:spcAft>
                <a:spcPts val="300"/>
              </a:spcAft>
              <a:buNone/>
            </a:pPr>
            <a:r>
              <a:rPr lang="en-US" sz="1200" dirty="0">
                <a:solidFill>
                  <a:schemeClr val="tx1"/>
                </a:solidFill>
              </a:rPr>
              <a:t>Instructor: Dr. Chatchai Lapprathana</a:t>
            </a:r>
            <a:endParaRPr lang="en-US" sz="1200" dirty="0"/>
          </a:p>
        </p:txBody>
      </p:sp>
      <p:sp>
        <p:nvSpPr>
          <p:cNvPr id="10" name="s25-box-6"/>
          <p:cNvSpPr/>
          <p:nvPr/>
        </p:nvSpPr>
        <p:spPr>
          <a:xfrm>
            <a:off x="640080" y="3895344"/>
            <a:ext cx="6400800" cy="1005840"/>
          </a:xfrm>
          <a:prstGeom prst="rect">
            <a:avLst/>
          </a:prstGeom>
          <a:solidFill>
            <a:schemeClr val="accent2"/>
          </a:solidFill>
          <a:ln/>
        </p:spPr>
      </p:sp>
      <p:sp>
        <p:nvSpPr>
          <p:cNvPr id="11" name="s25-text-7"/>
          <p:cNvSpPr txBox="1"/>
          <p:nvPr/>
        </p:nvSpPr>
        <p:spPr>
          <a:xfrm>
            <a:off x="640080" y="3895344"/>
            <a:ext cx="6400800" cy="1005840"/>
          </a:xfrm>
          <a:prstGeom prst="rect">
            <a:avLst/>
          </a:prstGeom>
          <a:noFill/>
          <a:ln/>
        </p:spPr>
        <p:txBody>
          <a:bodyPr wrap="square" lIns="0" tIns="0" rIns="0" bIns="0" rtlCol="0" anchor="ctr"/>
          <a:lstStyle/>
          <a:p>
            <a:pPr algn="ctr" indent="0" marL="0">
              <a:spcAft>
                <a:spcPts val="300"/>
              </a:spcAft>
              <a:buNone/>
            </a:pPr>
            <a:r>
              <a:rPr lang="en-US" sz="1200" dirty="0">
                <a:solidFill>
                  <a:schemeClr val="tx1"/>
                </a:solidFill>
              </a:rPr>
              <a:t>Main news · Hoonsmart, 24 Jan 2026</a:t>
            </a:r>
            <a:endParaRPr lang="en-US" sz="1200" dirty="0"/>
          </a:p>
          <a:p>
            <a:pPr algn="ctr" indent="0" marL="0">
              <a:spcAft>
                <a:spcPts val="300"/>
              </a:spcAft>
              <a:buNone/>
            </a:pPr>
            <a:r>
              <a:rPr lang="en-US" sz="1200" b="1"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200" dirty="0"/>
          </a:p>
        </p:txBody>
      </p:sp>
      <p:sp>
        <p:nvSpPr>
          <p:cNvPr id="12" name="s25-box-8"/>
          <p:cNvSpPr/>
          <p:nvPr/>
        </p:nvSpPr>
        <p:spPr>
          <a:xfrm>
            <a:off x="640080" y="5038344"/>
            <a:ext cx="6400800" cy="1005840"/>
          </a:xfrm>
          <a:prstGeom prst="rect">
            <a:avLst/>
          </a:prstGeom>
          <a:solidFill>
            <a:schemeClr val="accent2"/>
          </a:solidFill>
          <a:ln/>
        </p:spPr>
      </p:sp>
      <p:sp>
        <p:nvSpPr>
          <p:cNvPr id="13" name="s25-text-9"/>
          <p:cNvSpPr txBox="1"/>
          <p:nvPr/>
        </p:nvSpPr>
        <p:spPr>
          <a:xfrm>
            <a:off x="640080" y="5038344"/>
            <a:ext cx="6400800" cy="1005840"/>
          </a:xfrm>
          <a:prstGeom prst="rect">
            <a:avLst/>
          </a:prstGeom>
          <a:noFill/>
          <a:ln/>
        </p:spPr>
        <p:txBody>
          <a:bodyPr wrap="square" lIns="0" tIns="0" rIns="0" bIns="0" rtlCol="0" anchor="ctr"/>
          <a:lstStyle/>
          <a:p>
            <a:pPr algn="ctr" indent="0" marL="0">
              <a:spcAft>
                <a:spcPts val="300"/>
              </a:spcAft>
              <a:buNone/>
            </a:pPr>
            <a:r>
              <a:rPr lang="en-US" sz="1200" dirty="0">
                <a:solidFill>
                  <a:schemeClr val="tx1"/>
                </a:solidFill>
              </a:rPr>
              <a:t>Follow-up · Thansettakij, 11 May 2026</a:t>
            </a:r>
            <a:endParaRPr lang="en-US" sz="1200" dirty="0"/>
          </a:p>
          <a:p>
            <a:pPr algn="ctr" indent="0" marL="0">
              <a:spcAft>
                <a:spcPts val="300"/>
              </a:spcAft>
              <a:buNone/>
            </a:pPr>
            <a:r>
              <a:rPr lang="en-US" sz="1200" b="1"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https://www.thansettakij.com/finance/658785</a:t>
            </a:r>
            <a:endParaRPr lang="en-US" sz="1200" dirty="0"/>
          </a:p>
        </p:txBody>
      </p:sp>
      <p:sp>
        <p:nvSpPr>
          <p:cNvPr id="14" name="s25-box-10"/>
          <p:cNvSpPr/>
          <p:nvPr/>
        </p:nvSpPr>
        <p:spPr>
          <a:xfrm>
            <a:off x="7452360" y="1792224"/>
            <a:ext cx="4373575" cy="4562856"/>
          </a:xfrm>
          <a:prstGeom prst="rect">
            <a:avLst/>
          </a:prstGeom>
          <a:solidFill>
            <a:schemeClr val="bg2"/>
          </a:solidFill>
          <a:ln/>
        </p:spPr>
      </p:sp>
      <p:sp>
        <p:nvSpPr>
          <p:cNvPr id="15" name="s25-line-11"/>
          <p:cNvSpPr/>
          <p:nvPr/>
        </p:nvSpPr>
        <p:spPr>
          <a:xfrm>
            <a:off x="7818120" y="5577840"/>
            <a:ext cx="3642055" cy="0"/>
          </a:xfrm>
          <a:prstGeom prst="line">
            <a:avLst/>
          </a:prstGeom>
          <a:noFill/>
          <a:ln w="12700">
            <a:solidFill>
              <a:schemeClr val="accent6"/>
            </a:solidFill>
            <a:prstDash val="solid"/>
          </a:ln>
        </p:spPr>
      </p:sp>
      <p:sp>
        <p:nvSpPr>
          <p:cNvPr id="16" name="s25-line-12"/>
          <p:cNvSpPr/>
          <p:nvPr/>
        </p:nvSpPr>
        <p:spPr>
          <a:xfrm>
            <a:off x="8000223" y="4989606"/>
            <a:ext cx="0" cy="478688"/>
          </a:xfrm>
          <a:prstGeom prst="line">
            <a:avLst/>
          </a:prstGeom>
          <a:noFill/>
          <a:ln w="15875">
            <a:solidFill>
              <a:schemeClr val="tx2"/>
            </a:solidFill>
            <a:prstDash val="solid"/>
          </a:ln>
        </p:spPr>
      </p:sp>
      <p:sp>
        <p:nvSpPr>
          <p:cNvPr id="17" name="s25-candle-13"/>
          <p:cNvSpPr/>
          <p:nvPr/>
        </p:nvSpPr>
        <p:spPr>
          <a:xfrm>
            <a:off x="7909171" y="5149169"/>
            <a:ext cx="182103" cy="191475"/>
          </a:xfrm>
          <a:prstGeom prst="rect">
            <a:avLst/>
          </a:prstGeom>
          <a:solidFill>
            <a:schemeClr val="tx2"/>
          </a:solidFill>
          <a:ln w="15875">
            <a:solidFill>
              <a:schemeClr val="tx2"/>
            </a:solidFill>
            <a:prstDash val="solid"/>
          </a:ln>
        </p:spPr>
      </p:sp>
      <p:sp>
        <p:nvSpPr>
          <p:cNvPr id="18" name="s25-line-14"/>
          <p:cNvSpPr/>
          <p:nvPr/>
        </p:nvSpPr>
        <p:spPr>
          <a:xfrm>
            <a:off x="8364428" y="4734306"/>
            <a:ext cx="0" cy="542514"/>
          </a:xfrm>
          <a:prstGeom prst="line">
            <a:avLst/>
          </a:prstGeom>
          <a:noFill/>
          <a:ln w="15875">
            <a:solidFill>
              <a:schemeClr val="tx2"/>
            </a:solidFill>
            <a:prstDash val="solid"/>
          </a:ln>
        </p:spPr>
      </p:sp>
      <p:sp>
        <p:nvSpPr>
          <p:cNvPr id="19" name="s25-candle-15"/>
          <p:cNvSpPr/>
          <p:nvPr/>
        </p:nvSpPr>
        <p:spPr>
          <a:xfrm>
            <a:off x="8273377" y="4893869"/>
            <a:ext cx="182103" cy="255300"/>
          </a:xfrm>
          <a:prstGeom prst="rect">
            <a:avLst/>
          </a:prstGeom>
          <a:solidFill>
            <a:schemeClr val="tx2"/>
          </a:solidFill>
          <a:ln w="15875">
            <a:solidFill>
              <a:schemeClr val="tx2"/>
            </a:solidFill>
            <a:prstDash val="solid"/>
          </a:ln>
        </p:spPr>
      </p:sp>
      <p:sp>
        <p:nvSpPr>
          <p:cNvPr id="20" name="s25-line-16"/>
          <p:cNvSpPr/>
          <p:nvPr/>
        </p:nvSpPr>
        <p:spPr>
          <a:xfrm>
            <a:off x="8728634" y="4734306"/>
            <a:ext cx="0" cy="414863"/>
          </a:xfrm>
          <a:prstGeom prst="line">
            <a:avLst/>
          </a:prstGeom>
          <a:noFill/>
          <a:ln w="15875">
            <a:solidFill>
              <a:schemeClr val="tx2"/>
            </a:solidFill>
            <a:prstDash val="solid"/>
          </a:ln>
        </p:spPr>
      </p:sp>
      <p:sp>
        <p:nvSpPr>
          <p:cNvPr id="21" name="s25-candle-17"/>
          <p:cNvSpPr/>
          <p:nvPr/>
        </p:nvSpPr>
        <p:spPr>
          <a:xfrm>
            <a:off x="8637582" y="4893869"/>
            <a:ext cx="182103" cy="127650"/>
          </a:xfrm>
          <a:prstGeom prst="rect">
            <a:avLst/>
          </a:prstGeom>
          <a:solidFill>
            <a:schemeClr val="bg1"/>
          </a:solidFill>
          <a:ln w="15875">
            <a:solidFill>
              <a:schemeClr val="tx2"/>
            </a:solidFill>
            <a:prstDash val="solid"/>
          </a:ln>
        </p:spPr>
      </p:sp>
      <p:sp>
        <p:nvSpPr>
          <p:cNvPr id="22" name="s25-line-18"/>
          <p:cNvSpPr/>
          <p:nvPr/>
        </p:nvSpPr>
        <p:spPr>
          <a:xfrm>
            <a:off x="9092839" y="4510918"/>
            <a:ext cx="0" cy="638251"/>
          </a:xfrm>
          <a:prstGeom prst="line">
            <a:avLst/>
          </a:prstGeom>
          <a:noFill/>
          <a:ln w="15875">
            <a:solidFill>
              <a:schemeClr val="tx2"/>
            </a:solidFill>
            <a:prstDash val="solid"/>
          </a:ln>
        </p:spPr>
      </p:sp>
      <p:sp>
        <p:nvSpPr>
          <p:cNvPr id="23" name="s25-candle-19"/>
          <p:cNvSpPr/>
          <p:nvPr/>
        </p:nvSpPr>
        <p:spPr>
          <a:xfrm>
            <a:off x="9001788" y="4670481"/>
            <a:ext cx="182103" cy="351038"/>
          </a:xfrm>
          <a:prstGeom prst="rect">
            <a:avLst/>
          </a:prstGeom>
          <a:solidFill>
            <a:schemeClr val="tx2"/>
          </a:solidFill>
          <a:ln w="15875">
            <a:solidFill>
              <a:schemeClr val="tx2"/>
            </a:solidFill>
            <a:prstDash val="solid"/>
          </a:ln>
        </p:spPr>
      </p:sp>
      <p:sp>
        <p:nvSpPr>
          <p:cNvPr id="24" name="s25-line-20"/>
          <p:cNvSpPr/>
          <p:nvPr/>
        </p:nvSpPr>
        <p:spPr>
          <a:xfrm>
            <a:off x="9457045" y="4255618"/>
            <a:ext cx="0" cy="542514"/>
          </a:xfrm>
          <a:prstGeom prst="line">
            <a:avLst/>
          </a:prstGeom>
          <a:noFill/>
          <a:ln w="15875">
            <a:solidFill>
              <a:schemeClr val="tx2"/>
            </a:solidFill>
            <a:prstDash val="solid"/>
          </a:ln>
        </p:spPr>
      </p:sp>
      <p:sp>
        <p:nvSpPr>
          <p:cNvPr id="25" name="s25-candle-21"/>
          <p:cNvSpPr/>
          <p:nvPr/>
        </p:nvSpPr>
        <p:spPr>
          <a:xfrm>
            <a:off x="9365993" y="4415180"/>
            <a:ext cx="182103" cy="255300"/>
          </a:xfrm>
          <a:prstGeom prst="rect">
            <a:avLst/>
          </a:prstGeom>
          <a:solidFill>
            <a:schemeClr val="tx2"/>
          </a:solidFill>
          <a:ln w="15875">
            <a:solidFill>
              <a:schemeClr val="tx2"/>
            </a:solidFill>
            <a:prstDash val="solid"/>
          </a:ln>
        </p:spPr>
      </p:sp>
      <p:sp>
        <p:nvSpPr>
          <p:cNvPr id="26" name="s25-line-22"/>
          <p:cNvSpPr/>
          <p:nvPr/>
        </p:nvSpPr>
        <p:spPr>
          <a:xfrm>
            <a:off x="9821250" y="4255618"/>
            <a:ext cx="0" cy="414863"/>
          </a:xfrm>
          <a:prstGeom prst="line">
            <a:avLst/>
          </a:prstGeom>
          <a:noFill/>
          <a:ln w="15875">
            <a:solidFill>
              <a:schemeClr val="tx2"/>
            </a:solidFill>
            <a:prstDash val="solid"/>
          </a:ln>
        </p:spPr>
      </p:sp>
      <p:sp>
        <p:nvSpPr>
          <p:cNvPr id="27" name="s25-candle-23"/>
          <p:cNvSpPr/>
          <p:nvPr/>
        </p:nvSpPr>
        <p:spPr>
          <a:xfrm>
            <a:off x="9730199" y="4415180"/>
            <a:ext cx="182103" cy="127650"/>
          </a:xfrm>
          <a:prstGeom prst="rect">
            <a:avLst/>
          </a:prstGeom>
          <a:solidFill>
            <a:schemeClr val="bg1"/>
          </a:solidFill>
          <a:ln w="15875">
            <a:solidFill>
              <a:schemeClr val="tx2"/>
            </a:solidFill>
            <a:prstDash val="solid"/>
          </a:ln>
        </p:spPr>
      </p:sp>
      <p:sp>
        <p:nvSpPr>
          <p:cNvPr id="28" name="s25-line-24"/>
          <p:cNvSpPr/>
          <p:nvPr/>
        </p:nvSpPr>
        <p:spPr>
          <a:xfrm>
            <a:off x="10185456" y="3936492"/>
            <a:ext cx="0" cy="733989"/>
          </a:xfrm>
          <a:prstGeom prst="line">
            <a:avLst/>
          </a:prstGeom>
          <a:noFill/>
          <a:ln w="15875">
            <a:solidFill>
              <a:schemeClr val="tx2"/>
            </a:solidFill>
            <a:prstDash val="solid"/>
          </a:ln>
        </p:spPr>
      </p:sp>
      <p:sp>
        <p:nvSpPr>
          <p:cNvPr id="29" name="s25-candle-25"/>
          <p:cNvSpPr/>
          <p:nvPr/>
        </p:nvSpPr>
        <p:spPr>
          <a:xfrm>
            <a:off x="10094405" y="4096055"/>
            <a:ext cx="182103" cy="446776"/>
          </a:xfrm>
          <a:prstGeom prst="rect">
            <a:avLst/>
          </a:prstGeom>
          <a:solidFill>
            <a:schemeClr val="tx2"/>
          </a:solidFill>
          <a:ln w="15875">
            <a:solidFill>
              <a:schemeClr val="tx2"/>
            </a:solidFill>
            <a:prstDash val="solid"/>
          </a:ln>
        </p:spPr>
      </p:sp>
      <p:sp>
        <p:nvSpPr>
          <p:cNvPr id="30" name="s25-line-26"/>
          <p:cNvSpPr/>
          <p:nvPr/>
        </p:nvSpPr>
        <p:spPr>
          <a:xfrm>
            <a:off x="10549661" y="3617366"/>
            <a:ext cx="0" cy="606339"/>
          </a:xfrm>
          <a:prstGeom prst="line">
            <a:avLst/>
          </a:prstGeom>
          <a:noFill/>
          <a:ln w="15875">
            <a:solidFill>
              <a:schemeClr val="tx2"/>
            </a:solidFill>
            <a:prstDash val="solid"/>
          </a:ln>
        </p:spPr>
      </p:sp>
      <p:sp>
        <p:nvSpPr>
          <p:cNvPr id="31" name="s25-candle-27"/>
          <p:cNvSpPr/>
          <p:nvPr/>
        </p:nvSpPr>
        <p:spPr>
          <a:xfrm>
            <a:off x="10458610" y="3776929"/>
            <a:ext cx="182103" cy="319126"/>
          </a:xfrm>
          <a:prstGeom prst="rect">
            <a:avLst/>
          </a:prstGeom>
          <a:solidFill>
            <a:schemeClr val="tx2"/>
          </a:solidFill>
          <a:ln w="15875">
            <a:solidFill>
              <a:schemeClr val="tx2"/>
            </a:solidFill>
            <a:prstDash val="solid"/>
          </a:ln>
        </p:spPr>
      </p:sp>
      <p:sp>
        <p:nvSpPr>
          <p:cNvPr id="32" name="s25-line-28"/>
          <p:cNvSpPr/>
          <p:nvPr/>
        </p:nvSpPr>
        <p:spPr>
          <a:xfrm>
            <a:off x="10913867" y="3266328"/>
            <a:ext cx="0" cy="638251"/>
          </a:xfrm>
          <a:prstGeom prst="line">
            <a:avLst/>
          </a:prstGeom>
          <a:noFill/>
          <a:ln w="15875">
            <a:solidFill>
              <a:schemeClr val="tx2"/>
            </a:solidFill>
            <a:prstDash val="solid"/>
          </a:ln>
        </p:spPr>
      </p:sp>
      <p:sp>
        <p:nvSpPr>
          <p:cNvPr id="33" name="s25-candle-29"/>
          <p:cNvSpPr/>
          <p:nvPr/>
        </p:nvSpPr>
        <p:spPr>
          <a:xfrm>
            <a:off x="10822816" y="3425891"/>
            <a:ext cx="182103" cy="351038"/>
          </a:xfrm>
          <a:prstGeom prst="rect">
            <a:avLst/>
          </a:prstGeom>
          <a:solidFill>
            <a:schemeClr val="tx2"/>
          </a:solidFill>
          <a:ln w="15875">
            <a:solidFill>
              <a:schemeClr val="tx2"/>
            </a:solidFill>
            <a:prstDash val="solid"/>
          </a:ln>
        </p:spPr>
      </p:sp>
      <p:sp>
        <p:nvSpPr>
          <p:cNvPr id="34" name="s25-line-30"/>
          <p:cNvSpPr/>
          <p:nvPr/>
        </p:nvSpPr>
        <p:spPr>
          <a:xfrm>
            <a:off x="11278072" y="2755727"/>
            <a:ext cx="0" cy="797814"/>
          </a:xfrm>
          <a:prstGeom prst="line">
            <a:avLst/>
          </a:prstGeom>
          <a:noFill/>
          <a:ln w="15875">
            <a:solidFill>
              <a:schemeClr val="tx2"/>
            </a:solidFill>
            <a:prstDash val="solid"/>
          </a:ln>
        </p:spPr>
      </p:sp>
      <p:sp>
        <p:nvSpPr>
          <p:cNvPr id="35" name="s25-candle-31"/>
          <p:cNvSpPr/>
          <p:nvPr/>
        </p:nvSpPr>
        <p:spPr>
          <a:xfrm>
            <a:off x="11187021" y="2915290"/>
            <a:ext cx="182103" cy="510601"/>
          </a:xfrm>
          <a:prstGeom prst="rect">
            <a:avLst/>
          </a:prstGeom>
          <a:solidFill>
            <a:schemeClr val="tx2"/>
          </a:solidFill>
          <a:ln w="15875">
            <a:solidFill>
              <a:schemeClr val="tx2"/>
            </a:solidFill>
            <a:prstDash val="solid"/>
          </a:ln>
        </p:spPr>
      </p:sp>
      <p:sp>
        <p:nvSpPr>
          <p:cNvPr id="36" name="s25-text-32"/>
          <p:cNvSpPr txBox="1"/>
          <p:nvPr/>
        </p:nvSpPr>
        <p:spPr>
          <a:xfrm>
            <a:off x="7680960" y="5852160"/>
            <a:ext cx="3916375" cy="320040"/>
          </a:xfrm>
          <a:prstGeom prst="rect">
            <a:avLst/>
          </a:prstGeom>
          <a:noFill/>
          <a:ln/>
        </p:spPr>
        <p:txBody>
          <a:bodyPr wrap="square" lIns="0" tIns="0" rIns="0" bIns="0" rtlCol="0" anchor="t"/>
          <a:lstStyle/>
          <a:p>
            <a:pPr indent="0" marL="0">
              <a:buNone/>
            </a:pPr>
            <a:r>
              <a:rPr lang="en-US" sz="1050" i="1" dirty="0">
                <a:solidFill>
                  <a:schemeClr val="accent5"/>
                </a:solidFill>
              </a:rPr>
              <a:t>Illustration only (not actual TSR data).</a:t>
            </a: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Group 3 Navy">
  <a:themeElements>
    <a:clrScheme name="Group 3 Navy">
      <a:dk1>
        <a:srgbClr val="1F2533"/>
      </a:dk1>
      <a:lt1>
        <a:srgbClr val="FFFFFF"/>
      </a:lt1>
      <a:dk2>
        <a:srgbClr val="1B2A4A"/>
      </a:dk2>
      <a:lt2>
        <a:srgbClr val="EEF1F5"/>
      </a:lt2>
      <a:accent1>
        <a:srgbClr val="1B2A4A"/>
      </a:accent1>
      <a:accent2>
        <a:srgbClr val="D9DEE7"/>
      </a:accent2>
      <a:accent3>
        <a:srgbClr val="2E7D32"/>
      </a:accent3>
      <a:accent4>
        <a:srgbClr val="C77C02"/>
      </a:accent4>
      <a:accent5>
        <a:srgbClr val="5B6478"/>
      </a:accent5>
      <a:accent6>
        <a:srgbClr val="C5CCD8"/>
      </a:accent6>
      <a:hlink>
        <a:srgbClr val="1B2A4A"/>
      </a:hlink>
      <a:folHlink>
        <a:srgbClr val="5B6478"/>
      </a:folHlink>
    </a:clrScheme>
    <a:fontScheme name="Group 3 Navy">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Leelawadee UI"/>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Leelawadee UI"/>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Assignment 2 (2026) · Group 3 · TSR Market Manipulation Case</dc:title>
  <dc:subject>Securities and Exchange Act B.E. 2535 (1992) case study</dc:subject>
  <dc:creator>Group 3</dc:creator>
  <cp:lastModifiedBy>Group 3</cp:lastModifiedBy>
  <cp:revision>1</cp:revision>
  <dcterms:created xsi:type="dcterms:W3CDTF">2026-10-16T14:10:09Z</dcterms:created>
  <dcterms:modified xsi:type="dcterms:W3CDTF">2026-10-16T14:10:09Z</dcterms:modified>
</cp:coreProperties>
</file>