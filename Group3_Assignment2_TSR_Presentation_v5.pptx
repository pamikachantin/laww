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fcf55d-0488-4d91-b2be-d2080c53fa10}">
          <p14:sldIdLst>
            <p14:sldId id="256"/>
            <p14:sldId id="257"/>
          </p14:sldIdLst>
        </p14:section>
        <p14:section name="News" id="{acea8be4-1e1c-b36e-a1b7-d8560168da17}">
          <p14:sldIdLst>
            <p14:sldId id="258"/>
            <p14:sldId id="259"/>
            <p14:sldId id="260"/>
            <p14:sldId id="261"/>
          </p14:sldIdLst>
        </p14:section>
        <p14:section name="Facts" id="{5b8749e0-ddae-f8ce-f387-b30c659a12e6}">
          <p14:sldIdLst>
            <p14:sldId id="262"/>
            <p14:sldId id="263"/>
            <p14:sldId id="264"/>
            <p14:sldId id="265"/>
            <p14:sldId id="266"/>
            <p14:sldId id="267"/>
            <p14:sldId id="268"/>
          </p14:sldIdLst>
        </p14:section>
        <p14:section name="Question" id="{5dd2ac48-c663-bc98-2379-d8453b302d28}">
          <p14:sldIdLst>
            <p14:sldId id="269"/>
          </p14:sldIdLst>
        </p14:section>
        <p14:section name="Law" id="{4b2eee42-d3f6-53d5-6179-c52aa57fad35}">
          <p14:sldIdLst>
            <p14:sldId id="270"/>
          </p14:sldIdLst>
        </p14:section>
        <p14:section name="Analysis" id="{54ba04dd-bd61-d45a-13eb-baa739d07335}">
          <p14:sldIdLst>
            <p14:sldId id="271"/>
            <p14:sldId id="272"/>
            <p14:sldId id="273"/>
            <p14:sldId id="274"/>
            <p14:sldId id="275"/>
            <p14:sldId id="276"/>
            <p14:sldId id="277"/>
            <p14:sldId id="278"/>
          </p14:sldIdLst>
        </p14:section>
        <p14:section name="Conclusion" id="{d7109fd0-7313-6b9f-418b-8a03d39575ee}">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0:25]
สวัสดีครับอาจารย์และเพื่อน ๆ ทุกคน พวกเราคือกลุ่มที่ 3 ครับ วันนี้จะมานำเสนองานกลุ่มชิ้นที่ 2 ของวิชา Ethics and Law for Financial Engineers เรื่องคดีสร้างราคาหุ้น TSR
สมาชิกในกลุ่มมีทั้งหมด 6 คนตามตารางบนสไลด์ ทุกคนจะผลัดกันขึ้นมาพูดคนละช่วง ผมขอเป็นคนเปิดเรื่องก่อนนะครับ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0:35]
การนำเสนอวันนี้มี 6 ส่วนตามตาราง และตรงกับแท็บด้านล่างของทุกสไลด์ครับ เริ่มจากข่าวและลิงก์ ต่อด้วยข้อเท็จจริงทั้งหมด แล้วเทียบกับทุกองค์ประกอบของกฎหมาย จากนั้นตั้งคำถาม บอกว่าใช้กฎหมายอะไร แล้ววิเคราะห์ทีละ Rule และสรุป
หลักที่เราใช้ตลอดทั้งงานอยู่ในกล่องสีน้ำเงินด้านล่าง คือ การจะผิดมาตราใด ต้องครบทุก bullet point ของมาตรานั้น ถ้าขาดข้อใดข้อหนึ่งถือว่าไม่ผิด และแต่ละ Rule ตอบตามไกด์ของอาจารย์ คือ Law/Rule, Analysis และ Conclusion
สีในสไลด์มีความหมายเดียวทั้งงานครับ สีแดงคือส่วนที่ผิดกฎหมายหรือมาตราที่ใช้จริง Met คือ bullet ที่มีข้อเท็จจริงรองรับ และสีเทาคือส่วนที่ไม่ผิดหรือไม่มีข้อเท็จจริง ซึ่งเราจะพูดถึงสั้น ๆ 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ส่วนแรกคือข่าวครับ ตารางนี้คือข่าวทั้งหมดพร้อมลิงก์ แถวสีแดงคือข่าวหลัก จากหุ้นสมาร์ท วันที่ 24 มกราคม 2569 เพราะมีรายละเอียดครบที่สุด ทั้งช่วงเวลา พฤติกรรม แรงจูงใจ และมาตราที่ ก.ล.ต. อ้าง
ข่าวอื่นใช้ประกอบ เช่น ฐานเศรษฐกิจวันที่ 23 มกราคมที่ระบุว่าการกระทำนี้ทำให้บุคคลทั่วไปเข้าใจผิด และข่าววันที่ 11 พฤษภาคมที่ ก.ล.ต. ส่งฟ้องศาลแพ่ง ทุกข่าวลงวันที่หลัง 1 มกราคม 2026 ตามเงื่อนไขของงานครับ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0:50]
สรุปข่าวครับ ผู้ถูกกล่าวหาคือนางสาวภรัณยา รุจนพรพจี ผู้ถือหุ้นใหญ่ของ SABUY ระหว่าง 22 มิถุนายน ถึง 31 สิงหาคม 2565 รวม 47 วันทำการ ตามตัวเลขในกล่องขวาบน เธอเคาะซื้อ กวาดคำสั่งขาย และครองคำสั่งซื้อที่ราคาช่องที่ 1 และ 2 ในหุ้น TSR
ก.ล.ต. ระบุว่าทำเพื่อให้ SABUY มีกำไรจากมูลค่ายุติธรรม ณ สิ้นไตรมาส 2 และเพื่อกำไรจากส่วนต่างราคา ผลคือ ค.ม.พ. สั่งให้ชำระ 32.3 ล้านบาท แต่เธอไม่ยินยอม ก.ล.ต. จึงขอให้อัยการฟ้องเรียก 43 ล้านบาทพร้อมดอกเบี้ย
กล่องขวาล่างคือข้อมูลที่กลุ่มเราค้นเพิ่มจากข่าวปี 2565 ราคาหุ้น TSR ขึ้นจาก 4.24 บาทวันที่ 17 มิถุนายน เป็น 6.60 บาทวันที่ 30 สิงหาคม ประมาณ 56 เปอร์เซ็นต์ในช่วงที่มีการกระทำครับ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ขอบคุณครับ ไทม์ไลน์นี้รวมข่าวปี 2569 กับข้อมูลที่เราค้นเพิ่มจากข่าวปี 2565 ครับ เดือนพฤษภาคม 2565 SABUY ตกลงซื้อหุ้น TSR 24.90 เปอร์เซ็นต์ วันที่ 17 มิถุนายน นางสาวภรัณยาซื้อหุ้น TSR เองอีก 22.5 ล้านหุ้น ถือรวม 13.02 เปอร์เซ็นต์ และอีก 5 วันต่อมาก็เริ่มมีพฤติกรรมสร้างราคา
แถวสีแดงคือช่วง 47 วันทำการ ซึ่งรวมวันสิ้นไตรมาส 2 วันที่ 30 มิถุนายน ราคาขึ้นไปถึง 6.60 บาทวันที่ 30 สิงหาคม หลังจากนั้นตลาดหลักทรัพย์ส่งเรื่องให้ ก.ล.ต. ในเดือนตุลาคม 2565 และปี 2569 มีมาตรการทางแพ่งและการส่งฟ้องศาลแพ่ง ยังไม่มีคำพิพากษาครับ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ผู้มีส่วนเกี่ยวข้องในข่าวนี้มี 8 กลุ่มครับ แถวสีแดงคือผู้ถูกกล่าวหา นางสาวภรัณยา ซึ่งถือหุ้นทั้งใน SABUY และถือหุ้น TSR เอง 13.02 เปอร์เซ็นต์ จึงได้ประโยชน์ถ้าราคา TSR สูงขึ้น ตามกล่องด้านล่าง SABUY เป็นผู้ได้ประโยชน์ เพราะถือหุ้น TSR 24.90 เปอร์เซ็นต์
ฝั่งที่เสียหายคือบริษัท TSR ผู้ถือหุ้น และนักลงทุนคนอื่นที่ต้องซื้อแพงขึ้น ส่วนหน่วยงานคือตลาดหลักทรัพย์ฯ ก.ล.ต. ค.ม.พ. ที่มีอัยการสูงสุดเป็นประธาน อัยการและศาลแพ่ง และ ปปง. 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1:05]
ส่วนที่สองคือข้อเท็จจริงครับ เราเขียนเป็นข้อ F1 ถึง F9 จากข่าวปี 2569 เพื่อให้ตอนวิเคราะห์อ้างกลับมาได้ แบบที่อาจารย์ใช้คำว่า From the facts
F1 ผู้กระทำเป็นบุคคลธรรมดาและผู้ถือหุ้นใหญ่ของ SABUY F2 หุ้น TSR จดทะเบียนในตลาดหลักทรัพย์ แถวสีแดง F3 และ F4 คือตัวพฤติกรรม คือเคาะซื้อ กวาดคำสั่งขายต่อเนื่อง 47 วันทำการ และครองคำสั่งซื้อช่องที่ 1 และ 2 จนคนอื่นต้องซื้อแพงขึ้นเพื่อให้ได้หุ้นเร็ว
F5 แรงจูงใจตามที่ ก.ล.ต. ระบุ F6 ก.ล.ต. ระบุว่าทำให้บุคคลทั่วไปเข้าใจผิด และราคาผิดไปจากสภาพปกติของตลาด F7 และ F8 คือการลงโทษทางแพ่งและการส่งฟ้อง และ F9 คือสิ่งที่ไม่มีข่าวไหนรายงานเลย ข้อนี้สำคัญเพราะองค์ประกอบใดไม่มีข้อเท็จจริงรองรับ เราจะถือว่าไม่ครบครับ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สไลด์นี้อธิบาย F3 และ F4 ด้วยกระดานซื้อขายจำลองครับ ตัวเลขเป็นตัวเลขสมมติ ไม่ใช่ข้อมูลจริงของ TSR ช่องสีแดงคือคำสั่งซื้อก้อนใหญ่ของเธอที่ราคาช่องที่ 1 และ 2
ขั้นที่ 1 เธอเคาะซื้อกวาด Offer ราคาล่าสุดก็ขยับขึ้น ขั้นที่ 2 ตั้ง Bid ก้อนใหญ่ไว้ คนดูกระดานเห็นว่ามีแรงซื้อเยอะ ขั้นที่ 3 คนที่อยากซื้อจริงต่อคิวไม่ทัน ต้องไปซื้อที่ราคาสูงกว่า แล้ววนซ้ำทุกวัน 47 วันทำการ ราคาก็ถูกดันขึ้นทีละขั้นครับ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0:55]
สไลด์นี้คือแรงจูงใจครับ ก.ล.ต. ระบุสองข้อ คือให้ SABUY มีกำไรจากมูลค่ายุติธรรม ณ สิ้นไตรมาส 2 และทำกำไรจากส่วนต่างราคา
กลุ่มเราค้นข่าวปี 2565 เพิ่ม และพบข้อเท็จจริงเสริม 3 ข้อ F10 SABUY ตกลงซื้อหุ้น TSR 24.90 เปอร์เซ็นต์ และจะเริ่มรับรู้ผลของ TSR ตั้งแต่ไตรมาส 3 ซึ่งสอดคล้องกับที่ ก.ล.ต. บอกว่าสิ้นไตรมาส 2 ยังวัดด้วยมูลค่ายุติธรรม F11 แถวสีแดง วันที่ 17 มิถุนายน เธอซื้อหุ้น TSR เองที่ 5.25 บาท สูงกว่าราคาตลาด 4.24 บาท ทำให้ถือ 13.02 เปอร์เซ็นต์ ซึ่งเป็นตัวเลขในกล่องขวา และ F12 ราคาขึ้นประมาณ 56 เปอร์เซ็นต์
ข้อนี้สำคัญเพราะแสดงว่าทั้ง SABUY และตัวเธอเองได้ประโยชน์เมื่อราคาสูงขึ้น ซึ่งสนับสนุนองค์ประกอบเรื่องเจตนาใน Rule 1 และ 2 ครับ ต่อไปขอส่งให้เพื่อนเทียบข้อเท็จจริงกับตัวบทครับ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ขอบคุณค่ะ ต่อไปคือการเทียบข้อเท็จจริงกับกฎหมายทีละ bullet point ค่ะ หลักของอาจารย์คือ จะผิดมาตราใดต้องครบทุก bullet point หน้านี้คือมาตราที่ผิด สีแดงหมายถึงส่วนที่ผิดกฎหมาย
มาตรา 244/3 วงเล็บ 1 มีสี่ bullet คือ a บุคคลใด ครบตาม F1 b ส่งคำสั่งหรือซื้อขาย ครบตาม F3 c ทำให้คนอื่นเข้าใจผิดเรื่องราคาหรือปริมาณ ครบตาม F6 และบทสันนิษฐาน 244/5 วงเล็บ 5 และ d เจตนา ครบตาม F5 และ F11
มาตรา 244/3 วงเล็บ 2 ก็ครบทั้งสี่ bullet โดยเฉพาะ c อย่างต่อเนื่อง 47 วันทำการ และ d เจตนาให้ราคาผิดปกติ จากแรงจูงใจของ SABUY และหุ้น 13.02 เปอร์เซ็นต์ของเธอเอง ส่วนมาตรา 238 เป็นขอบเขต ซึ่งครบเพราะ TSR จดทะเบียนค่ะ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0:55]
ตารางที่สองคือบทสันนิษฐานมาตรา 244/5 ค่ะ ข้อที่ใช้ได้มีข้อเดียว คือข้อ 5 สีแดง ครบทั้งสาม bullet คือ a ส่งคำสั่งซื้อ b ขัดขวางการซื้อขายของคนอื่น เพราะครองราคาช่องที่ 1 และ 2 และ c ทำให้คนอื่นต้องซื้อแพงกว่าที่ควร ตาม F4 กฎหมายจึงสันนิษฐานว่าทำให้คนอื่นเข้าใจผิดและราคาผิดปกติ
ส่วนข้อ 1 ถึง 4 สีเทา ไม่ผิด เพราะไม่มีข้อเท็จจริงในข่าว ข้อ 4 แม้ ก.ล.ต. จะอ้างไว้ แต่ไม่มีข่าวไหนพูดถึงคำสั่งช่วงก่อนเปิดหรือก่อนปิดตลาด เราจึงไม่ใช้ค่ะ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0:40]
หน้านี้คือมาตราที่ไม่ผิดทั้งหมดค่ะ จึงเป็นสีเทา เหตุผลมีสามแบบ แบบแรก ไม่มีข้อเท็จจริง เช่น ข่าวเท็จ บทวิเคราะห์ และข้อมูลภายใน แบบที่สอง ข้อเท็จจริงขัดกับ bullet เช่น 244/1 และ 244/2 ต้องเป็นบริษัทหลักทรัพย์หรือบริษัทจัดการกองทุน แต่เธอเป็นนักลงทุนบุคคล และแบบที่สาม ข้อยกเว้นตามมาตรา 244/4 ใช้ไม่ได้ จึงไม่มีข้อต่อสู้ค่ะ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0:30]
หน้าสุดท้ายก็ไม่ผิดทั้งหมดค่ะ มาตรา 244/6 ทุกข้อต้องมีบุคคลอื่น เช่น บัญชีร่วมหรือจ่ายเงินแทนกัน แต่ไม่มีข้อเท็จจริง และ 244/7 ไม่มีระบบล่ม สรุปตามกล่องสีน้ำเงิน มาตราที่ผิดมีเพียง 244/3 วงเล็บ 1 และ 2 โดยมีบทสันนิษฐาน 244/5 วงเล็บ 5 ค่ะ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0:30]
จากข้อเท็จจริงทั้งหมด เราตั้งคำถามหลักหนึ่งข้อเหมือนในไกด์ของอาจารย์ค่ะ ตามกล่องสีน้ำเงิน นางสาวภรัณยาได้กระทำความผิดตาม พ.ร.บ.หลักทรัพย์ฯ หรือไม่ และอาจถูกลงโทษอย่างไร
เราตอบด้วย 4 Rule ตามกล่องด้านล่าง แต่ละ Rule ตอบสามขั้น คือ Law/Rule, Analysis และ Conclusion ต่อไปขอส่งให้เพื่อนอธิบายส่วน Law ค่ะ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ขอบคุณครับ ส่วน Law ตอบสามเรื่อง ใช้กฎหมายอะไร ทำไม และผิดมาตราไหนครับ กฎหมายคือ พ.ร.บ.หลักทรัพย์และตลาดหลักทรัพย์ พ.ศ. 2535 สามกลุ่ม
กลุ่มแรก มาตรา 238 ถึง 244/7 เพราะ TSR เป็นหลักทรัพย์จดทะเบียนและการกระทำคือการส่งคำสั่งซื้อขาย กลุ่มที่สอง มาตรา 296 ถึง 297/1 คือโทษอาญา และกลุ่มที่สาม มาตรา 317/1 ถึง 317/8 คือมาตรการทางแพ่งที่ ก.ล.ต. ใช้จริง
ผลจากการเทียบทุกองค์ประกอบ ตามกล่องสีน้ำเงิน มาตราที่ผิดคือ 244/3 วงเล็บ 1 และ 2 ประกอบบทสันนิษฐาน 244/5 วงเล็บ 5 ครับ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Rule 1 ครับ ขั้นแรก Law/Rule ตามไกด์ของอาจารย์ มาตรา 244/3 วงเล็บ 1 ห้ามบุคคลใดส่งคำสั่งหรือซื้อขายหลักทรัพย์ในลักษณะที่ทำให้บุคคลอื่นเข้าใจผิดเกี่ยวกับราคาหรือปริมาณการซื้อขาย ซึ่งเป็นคำที่เน้นสีแดงไว้ ประกอบมาตรา 244/5 วงเล็บ 5 ที่สันนิษฐานความเข้าใจผิดได้ และมาตรา 238 ที่กำหนดขอบเขต
ทางขวาคือองค์ประกอบที่ต้องพิสูจน์ให้ครบทุกข้อครับ บุคคลใด การส่งคำสั่งหรือซื้อขาย หลักทรัพย์จดทะเบียน การทำให้คนอื่นเข้าใจผิด ซึ่งพิสูจน์ผ่านบทสันนิษฐานข้อ 5 ที่มีสามองค์ประกอบย่อย และสุดท้ายคือเจตนาตามประมวลกฎหมายอาญามาตรา 59 ครับ</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1:15]
ขั้นที่สอง Analysis ครับ From the facts เธอส่งคำสั่งซื้อหุ้น TSR ก้อนใหญ่ต่อเนื่อง 47 วันทำการ เราเช็กทีละองค์ประกอบ
First เธอเป็นบุคคลธรรมดา จึงเป็น “บุคคลใด” ตาม F1 Second เธอส่งคำสั่งและซื้อขายจริง คือเคาะซื้อและกวาดคำสั่งขาย ตาม F3 Third หุ้น TSR จดทะเบียน มาตรา 238 จึงใช้ได้ ตาม F2 Fourth การครอง Bid ช่องที่ 1 และ 2 ขัดขวางผู้ซื้อคนอื่นจนต้องซื้อแพงขึ้น ครบทั้งสามองค์ประกอบของมาตรา 244/5 วงเล็บ 5 กฎหมายจึงสันนิษฐานว่าทำให้คนอื่นเข้าใจผิด และ ก.ล.ต. ก็พบว่าบุคคลทั่วไปเข้าใจผิดจริงตาม F6 Fifth มีเจตนาตามมาตรา 59 เพราะทำซ้ำ 47 วัน และมีเหตุจูงใจชัดเจน รวมถึงหุ้น TSR ของตัวเองอีก 13.02 เปอร์เซ็นต์
ตารางทางขวาเป็น Met ทุกช่อง แปลว่าครบทุก bullet point ขั้นที่สาม Conclusion ในกล่องสีน้ำเงิน In conclusion การกระทำของเธอผิดมาตรา 244/3 วงเล็บ 1 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0:45]
ขอบคุณครับ Rule 2 คือมาตรา 244/3 วงเล็บ 2 ห้ามส่งคำสั่งหรือซื้อขายหลักทรัพย์อย่างต่อเนื่อง โดยมีเจตนาให้ราคาหรือปริมาณผิดไปจากสภาพปกติของตลาด คำที่เน้นสีแดงคือหัวใจของมาตรานี้ ประกอบบทสันนิษฐานมาตรา 244/5 วงเล็บ 5 ที่ใช้กับวงเล็บ 2 ได้ด้วย
องค์ประกอบมีหกข้อตามทางขวา ข้อที่ต่างจาก Rule 1 คือ “อย่างต่อเนื่อง” และ “เจตนาพิเศษ” ที่มุ่งให้ราคาผิดปกติ ส่วนมาตรา 244/5 วงเล็บ 4 ในกล่องสีเทา เราไม่ใช้ เพราะไม่มีข้อเท็จจริงเรื่องคำสั่งช่วงก่อนเปิดหรือก่อนปิดครับ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1:05]
From the facts เธอซื้อหุ้น TSR ต่อเนื่อง 47 วันทำการ ในขณะที่ทั้ง SABUY และตัวเธอถือหุ้น TSR จำนวนมาก First to Third เหมือน Rule 1 เธอเป็นบุคคลใดที่ส่งคำสั่งซื้อขายในหลักทรัพย์จดทะเบียน Fourth ทำอย่างต่อเนื่องทุกวันเป็นเวลา 47 วันทำการ Fifth ทำโดยเจตนาตามมาตรา 59
Sixth คือเจตนาพิเศษ SABUY ต้องการราคาสูง ณ สิ้นไตรมาส 2 เธอต้องการกำไรส่วนต่าง และหุ้น TSR 13.02 เปอร์เซ็นต์ของเธอเองก็มีมูลค่าเพิ่มเมื่อราคาขึ้นประมาณ 56 เปอร์เซ็นต์ อีกทั้งการครอง Bid ครบสามองค์ประกอบของมาตรา 244/5 วงเล็บ 5 และ ก.ล.ต. พบว่าราคาผิดไปจากสภาพปกติจริง However เราไม่ใช้วงเล็บ 4 เพราะไม่มีข้อเท็จจริง
In conclusion ครบทุกองค์ประกอบ เธอผิดมาตรา 244/3 วงเล็บ 2 ด้วย ซึ่งมีโทษหนักกว่าตามมาตรา 296/1 ครับ</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0:50]
Rule 3 คือโทษอาญาครับ มาตรา 296 ผู้ฝ่าฝืนมาตรา 244/3 วงเล็บ 1 จำคุกไม่เกิน 2 ปี หรือปรับ 5 แสนถึง 2 ล้านบาท หรือทั้งจำทั้งปรับ มาตรา 296/1 ผู้ฝ่าฝืนวงเล็บ 2 จำคุกไม่เกิน 5 ปี หรือปรับ 1 ล้านถึง 5 ล้านบาท หรือทั้งจำทั้งปรับ ตัวเลขโทษเน้นสีแดงไว้
มาตรา 296/2 ถ้าได้รับหรือพึงได้รับประโยชน์ ปรับไม่เกิน 2 เท่าของประโยชน์ แต่ไม่ต่ำกว่าขั้นต่ำ และมาตรา 297/1 เมื่อศาลพิพากษาว่าผิด ศาลสั่งให้ชดใช้ประโยชน์ ห้ามซื้อขาย ห้ามเป็นกรรมการ และชดใช้ค่าใช้จ่ายของ ก.ล.ต. ได้ ทางขวาคือองค์ประกอบของแต่ละมาตราครับ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From the facts จาก Rule 1 และ 2 เธอผิดทั้งสองวงเล็บ และ ค.ม.พ. สั่งให้ชดใช้ประโยชน์ที่ได้รับ ตาม F7 แปลว่ามีประโยชน์เกิดขึ้น
First มาตรา 296 ครบ เพราะผิดวงเล็บ 1 Second มาตรา 296/1 ครบ เพราะผิดวงเล็บ 2 ซึ่งหนักกว่า จำคุกไม่เกิน 5 ปี Third มาตรา 296/2 ครบทั้งสององค์ประกอบ ค่าปรับจึงขึ้นได้ถึง 2 เท่าของประโยชน์ แต่ไม่ต่ำกว่า 1 ล้านบาท However มาตรา 297/1 ยังไม่ครบ เพราะยังไม่มีศาลพิพากษาในคดีอาญา
In conclusion เธออาจถูกจำคุกไม่เกิน 5 ปี และปรับไม่เกิน 2 เท่าของประโยชน์ เว้นแต่สิทธิฟ้องอาญาระงับไปตามช่องทางแพ่งใน Rule 4 ครับ</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0:50]
ขอบคุณครับ Rule 4 คือมาตรการลงโทษทางแพ่ง ซึ่งเป็นเส้นทางที่คดีนี้ใช้จริงครับ มาตรา 317/1 วงเล็บ 1 ความผิดตามมาตรา 296 และ 296/1 ใช้มาตรการทางแพ่งได้ มาตรา 317/4 มีห้ามาตรการ และมาตรา 317/5 วงเล็บ 1 กำหนดค่าปรับทางแพ่ง
มาตรา 317/7 ถ้ายินยอมและจ่ายครบ สิทธิฟ้องอาญาระงับ ส่วนมาตรา 317/8 ถ้าไม่ยินยอม ก.ล.ต. ต้องฟ้องศาล ดอกเบี้ยเดินตั้งแต่วันฟ้อง และสิทธิฟ้องอาญาระงับเมื่อจ่ายครบตามคำพิพากษาครับ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From the facts ค.ม.พ. ลงโทษทางแพ่งตาม F7 แต่เธอไม่ยินยอม ก.ล.ต. จึงขอให้อัยการฟ้องศาลแพ่งตาม F8 ครับ
First มาตรา 317/1 วงเล็บ 1 ครบ เพราะความผิดของเธอมีโทษตามมาตรา 296 และ 296/1 Second ค.ม.พ. ใช้ครบห้ามาตรการตาม 317/4 คือเงินรวม 32,327,329 บาท ห้ามซื้อขาย 6 เดือน และห้ามเป็นกรรมการ 12 เดือน อยู่ในเพดาน Third มาตรา 317/5 ข่าวไม่ได้แยกยอดค่าปรับออกมา เราจึงตรวจไม่ได้ Fourth มาตรา 317/7 ไม่ครบ เพราะเธอไม่ยินยอม จึงเข้ามาตรา 317/8 ก.ล.ต. ฟ้องเรียก 43,018,879.32 บาทพร้อมดอกเบี้ย
In conclusion มาตรการทางแพ่งใช้กับเธอได้ และเพราะเธอปฏิเสธ คดีจึงอยู่ในศาลแพ่งตามมาตรา 317/8 สิทธิฟ้องอาญาจะระงับก็ต่อเมื่อศาลพิพากษาและเธอจ่ายครบครับ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มาถึงข้อสรุปครับ ตามไกด์ของอาจารย์ เราตอบคำถามในย่อหน้าเดียวในกล่องสีน้ำเงิน In conclusion นางสาวภรัณยากระทำความผิดตามมาตรา 244/3 วงเล็บ 1 และ 2 เพราะครบทุกองค์ประกอบของทั้งสองมาตรา โดยมีบทสันนิษฐานมาตรา 244/5 วงเล็บ 5 สนับสนุน
ทางอาญา เธออาจถูกจำคุกไม่เกิน 5 ปี และปรับไม่เกิน 2 เท่าของประโยชน์ แต่ ก.ล.ต. ใช้มาตรการทางแพ่ง เธอปฏิเสธยอด 32.3 ล้านบาท ก.ล.ต. จึงฟ้องศาลแพ่งเรียก 43 ล้านบาทพร้อมดอกเบี้ย ตามมาตรา 317/8
ตารางด้านล่างสรุปผลของแต่ละ Rule และขอย้ำว่าทั้งหมดอิงจากข้อเท็จจริงในข่าว ยังไม่มีคำพิพากษาของศาลครับ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Ethics and Law for Financial Engineers</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_NEW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Shape 3"/>
          <p:cNvSpPr/>
          <p:nvPr/>
        </p:nvSpPr>
        <p:spPr>
          <a:xfrm>
            <a:off x="594360" y="6387084"/>
            <a:ext cx="1452829" cy="64008"/>
          </a:xfrm>
          <a:prstGeom prst="rect">
            <a:avLst/>
          </a:prstGeom>
          <a:solidFill>
            <a:schemeClr val="tx2"/>
          </a:solidFill>
          <a:ln/>
        </p:spPr>
      </p:sp>
      <p:sp>
        <p:nvSpPr>
          <p:cNvPr id="8" name="Text 4"/>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News</a:t>
            </a:r>
            <a:endParaRPr lang="en-US" sz="1300" dirty="0"/>
          </a:p>
        </p:txBody>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_FAC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Shape 4"/>
          <p:cNvSpPr/>
          <p:nvPr/>
        </p:nvSpPr>
        <p:spPr>
          <a:xfrm>
            <a:off x="2504389" y="6387084"/>
            <a:ext cx="1452829" cy="64008"/>
          </a:xfrm>
          <a:prstGeom prst="rect">
            <a:avLst/>
          </a:prstGeom>
          <a:solidFill>
            <a:schemeClr val="tx2"/>
          </a:solidFill>
          <a:ln/>
        </p:spPr>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_QUES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Shape 5"/>
          <p:cNvSpPr/>
          <p:nvPr/>
        </p:nvSpPr>
        <p:spPr>
          <a:xfrm>
            <a:off x="4414418" y="6387084"/>
            <a:ext cx="1452829" cy="64008"/>
          </a:xfrm>
          <a:prstGeom prst="rect">
            <a:avLst/>
          </a:prstGeom>
          <a:solidFill>
            <a:schemeClr val="tx2"/>
          </a:solidFill>
          <a:ln/>
        </p:spPr>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_LAW">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Shape 6"/>
          <p:cNvSpPr/>
          <p:nvPr/>
        </p:nvSpPr>
        <p:spPr>
          <a:xfrm>
            <a:off x="6324448" y="6387084"/>
            <a:ext cx="1452829" cy="64008"/>
          </a:xfrm>
          <a:prstGeom prst="rect">
            <a:avLst/>
          </a:prstGeom>
          <a:solidFill>
            <a:schemeClr val="tx2"/>
          </a:solidFill>
          <a:ln/>
        </p:spPr>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_ANALYS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Shape 7"/>
          <p:cNvSpPr/>
          <p:nvPr/>
        </p:nvSpPr>
        <p:spPr>
          <a:xfrm>
            <a:off x="8234477" y="6387084"/>
            <a:ext cx="1452829" cy="64008"/>
          </a:xfrm>
          <a:prstGeom prst="rect">
            <a:avLst/>
          </a:prstGeom>
          <a:solidFill>
            <a:schemeClr val="tx2"/>
          </a:solidFill>
          <a:ln/>
        </p:spPr>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_CONCLUS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Shape 8"/>
          <p:cNvSpPr/>
          <p:nvPr/>
        </p:nvSpPr>
        <p:spPr>
          <a:xfrm>
            <a:off x="10144506" y="6387084"/>
            <a:ext cx="1452829" cy="64008"/>
          </a:xfrm>
          <a:prstGeom prst="rect">
            <a:avLst/>
          </a:prstGeom>
          <a:solidFill>
            <a:schemeClr val="tx2"/>
          </a:solidFill>
          <a:ln/>
        </p:spPr>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www.thansettakij.com/finance/stockmarket/649730" TargetMode="External"/><Relationship Id="rId3" Type="http://schemas.openxmlformats.org/officeDocument/2006/relationships/hyperlink" Target="https://hoonsmart.com/archives/400329" TargetMode="External"/><Relationship Id="rId4" Type="http://schemas.openxmlformats.org/officeDocument/2006/relationships/hyperlink" Target="https://www.thansettakij.com/finance/stockmarket/654988" TargetMode="External"/><Relationship Id="rId5" Type="http://schemas.openxmlformats.org/officeDocument/2006/relationships/hyperlink" Target="https://www.thansettakij.com/finance/658785" TargetMode="External"/><Relationship Id="rId6" Type="http://schemas.openxmlformats.org/officeDocument/2006/relationships/hyperlink" Target="https://hoonsmart.com/archives/417813" TargetMode="External"/><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hyperlink" Target="https://www.thansettakij.com/finance/658785" TargetMode="Externa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GROUP ASSIGNMENT 2 (2026)</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1-text-1"/>
          <p:cNvSpPr txBox="1"/>
          <p:nvPr/>
        </p:nvSpPr>
        <p:spPr>
          <a:xfrm>
            <a:off x="365760" y="146304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Group 3</a:t>
            </a:r>
            <a:endParaRPr lang="en-US" sz="2200" dirty="0"/>
          </a:p>
        </p:txBody>
      </p:sp>
      <p:sp>
        <p:nvSpPr>
          <p:cNvPr id="6" name="s1-text-2"/>
          <p:cNvSpPr txBox="1"/>
          <p:nvPr/>
        </p:nvSpPr>
        <p:spPr>
          <a:xfrm>
            <a:off x="365760" y="1874520"/>
            <a:ext cx="11460175" cy="320040"/>
          </a:xfrm>
          <a:prstGeom prst="rect">
            <a:avLst/>
          </a:prstGeom>
          <a:noFill/>
          <a:ln/>
        </p:spPr>
        <p:txBody>
          <a:bodyPr wrap="square" lIns="0" tIns="0" rIns="0" bIns="0" rtlCol="0" anchor="t"/>
          <a:lstStyle/>
          <a:p>
            <a:pPr indent="0" marL="0">
              <a:buNone/>
            </a:pPr>
            <a:r>
              <a:rPr lang="en-US" sz="1300" dirty="0">
                <a:solidFill>
                  <a:schemeClr val="tx1"/>
                </a:solidFill>
              </a:rPr>
              <a:t>Case: </a:t>
            </a:r>
            <a:pPr indent="0" marL="0">
              <a:buNone/>
            </a:pPr>
            <a:r>
              <a:rPr lang="en-US" sz="1300" b="1" dirty="0">
                <a:solidFill>
                  <a:srgbClr val="B3261E"/>
                </a:solidFill>
              </a:rPr>
              <a:t>manipulating the price of TSR shares</a:t>
            </a:r>
            <a:pPr indent="0" marL="0">
              <a:buNone/>
            </a:pPr>
            <a:r>
              <a:rPr lang="en-US" sz="1300" dirty="0">
                <a:solidFill>
                  <a:schemeClr val="tx1"/>
                </a:solidFill>
              </a:rPr>
              <a:t> under the Securities and Exchange Act B.E. 2535</a:t>
            </a:r>
            <a:endParaRPr lang="en-US" sz="1300" dirty="0"/>
          </a:p>
        </p:txBody>
      </p:sp>
      <p:graphicFrame>
        <p:nvGraphicFramePr>
          <p:cNvPr id="2" name="s1-table-3"/>
          <p:cNvGraphicFramePr>
            <a:graphicFrameLocks noGrp="1"/>
          </p:cNvGraphicFramePr>
          <p:nvPr>
            <p:extLst>
              <p:ext uri="{D42A27DB-BD31-4B8C-83A1-F6EECF244321}">
                <p14:modId xmlns:p14="http://schemas.microsoft.com/office/powerpoint/2010/main" val="1579011935"/>
              </p:ext>
            </p:extLst>
          </p:nvPr>
        </p:nvGraphicFramePr>
        <p:xfrm>
          <a:off x="365760" y="2331720"/>
          <a:ext cx="11460175" cy="914400"/>
        </p:xfrm>
        <a:graphic>
          <a:graphicData uri="http://schemas.openxmlformats.org/drawingml/2006/table">
            <a:tbl>
              <a:tblPr/>
              <a:tblGrid>
                <a:gridCol w="914400"/>
                <a:gridCol w="2194560"/>
                <a:gridCol w="5120640"/>
                <a:gridCol w="3230575"/>
              </a:tblGrid>
              <a:tr h="384048">
                <a:tc>
                  <a:txBody>
                    <a:bodyPr/>
                    <a:lstStyle/>
                    <a:p>
                      <a:pPr algn="ctr" indent="0" marL="0">
                        <a:buNone/>
                      </a:pPr>
                      <a:r>
                        <a:rPr lang="en-US" sz="1200" b="1" dirty="0">
                          <a:solidFill>
                            <a:schemeClr val="bg1"/>
                          </a:solidFill>
                        </a:rPr>
                        <a:t>No.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Student ID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Full Name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Participation Rate (%)</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200" dirty="0">
                          <a:solidFill>
                            <a:schemeClr val="tx1"/>
                          </a:solidFill>
                        </a:rPr>
                        <a:t>1</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66011078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Natachat Teecharcharn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66011097</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Nutdanai Jindadang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Miss Pamika Chantin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Panas Sri-Anant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5</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Pasit Larpkittipanich</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Passakorn Laksanakorn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8" name="s1-box-4"/>
          <p:cNvSpPr/>
          <p:nvPr/>
        </p:nvSpPr>
        <p:spPr>
          <a:xfrm>
            <a:off x="365760" y="5138928"/>
            <a:ext cx="7132320" cy="1097280"/>
          </a:xfrm>
          <a:prstGeom prst="rect">
            <a:avLst/>
          </a:prstGeom>
          <a:solidFill>
            <a:schemeClr val="bg2"/>
          </a:solidFill>
          <a:ln/>
        </p:spPr>
      </p:sp>
      <p:sp>
        <p:nvSpPr>
          <p:cNvPr id="9" name="s1-text-5"/>
          <p:cNvSpPr txBox="1"/>
          <p:nvPr/>
        </p:nvSpPr>
        <p:spPr>
          <a:xfrm>
            <a:off x="594360" y="5138928"/>
            <a:ext cx="6675120" cy="1097280"/>
          </a:xfrm>
          <a:prstGeom prst="rect">
            <a:avLst/>
          </a:prstGeom>
          <a:noFill/>
          <a:ln/>
        </p:spPr>
        <p:txBody>
          <a:bodyPr wrap="square" lIns="0" tIns="0" rIns="0" bIns="0" rtlCol="0" anchor="ctr"/>
          <a:lstStyle/>
          <a:p>
            <a:pPr indent="0" marL="0">
              <a:spcAft>
                <a:spcPts val="200"/>
              </a:spcAft>
              <a:buNone/>
            </a:pPr>
            <a:r>
              <a:rPr lang="en-US" sz="1300" b="1" dirty="0">
                <a:solidFill>
                  <a:schemeClr val="tx2"/>
                </a:solidFill>
              </a:rPr>
              <a:t>Course: </a:t>
            </a:r>
            <a:pPr indent="0" marL="0">
              <a:spcAft>
                <a:spcPts val="200"/>
              </a:spcAft>
              <a:buNone/>
            </a:pPr>
            <a:r>
              <a:rPr lang="en-US" sz="1300" dirty="0">
                <a:solidFill>
                  <a:schemeClr val="tx1"/>
                </a:solidFill>
              </a:rPr>
              <a:t>Ethics and Law for Financial Engineers</a:t>
            </a:r>
            <a:endParaRPr lang="en-US" sz="1300" dirty="0"/>
          </a:p>
          <a:p>
            <a:pPr indent="0" marL="0">
              <a:spcAft>
                <a:spcPts val="200"/>
              </a:spcAft>
              <a:buNone/>
            </a:pPr>
            <a:r>
              <a:rPr lang="en-US" sz="1300" b="1" dirty="0">
                <a:solidFill>
                  <a:schemeClr val="tx2"/>
                </a:solidFill>
              </a:rPr>
              <a:t>Instructor: </a:t>
            </a:r>
            <a:pPr indent="0" marL="0">
              <a:spcAft>
                <a:spcPts val="200"/>
              </a:spcAft>
              <a:buNone/>
            </a:pPr>
            <a:r>
              <a:rPr lang="en-US" sz="1300" dirty="0">
                <a:solidFill>
                  <a:schemeClr val="tx1"/>
                </a:solidFill>
              </a:rPr>
              <a:t>Dr. Chatchai Lapprathana</a:t>
            </a:r>
            <a:endParaRPr lang="en-US" sz="1300" dirty="0"/>
          </a:p>
          <a:p>
            <a:pPr indent="0" marL="0">
              <a:spcAft>
                <a:spcPts val="200"/>
              </a:spcAft>
              <a:buNone/>
            </a:pPr>
            <a:r>
              <a:rPr lang="en-US" sz="1300" b="1" dirty="0">
                <a:solidFill>
                  <a:schemeClr val="tx2"/>
                </a:solidFill>
              </a:rPr>
              <a:t>Submission date: </a:t>
            </a:r>
            <a:pPr indent="0" marL="0">
              <a:spcAft>
                <a:spcPts val="200"/>
              </a:spcAft>
              <a:buNone/>
            </a:pPr>
            <a:r>
              <a:rPr lang="en-US" sz="1300" dirty="0">
                <a:solidFill>
                  <a:schemeClr val="tx1"/>
                </a:solidFill>
              </a:rPr>
              <a:t>21 October 2026</a:t>
            </a:r>
            <a:endParaRPr lang="en-US" sz="1300" dirty="0"/>
          </a:p>
        </p:txBody>
      </p:sp>
      <p:sp>
        <p:nvSpPr>
          <p:cNvPr id="10" name="s1-box-6"/>
          <p:cNvSpPr/>
          <p:nvPr/>
        </p:nvSpPr>
        <p:spPr>
          <a:xfrm>
            <a:off x="7635240" y="5138928"/>
            <a:ext cx="4190695" cy="1097280"/>
          </a:xfrm>
          <a:prstGeom prst="rect">
            <a:avLst/>
          </a:prstGeom>
          <a:solidFill>
            <a:schemeClr val="tx2"/>
          </a:solidFill>
          <a:ln/>
        </p:spPr>
      </p:sp>
      <p:sp>
        <p:nvSpPr>
          <p:cNvPr id="11" name="s1-box-7"/>
          <p:cNvSpPr/>
          <p:nvPr/>
        </p:nvSpPr>
        <p:spPr>
          <a:xfrm>
            <a:off x="7836408" y="5285232"/>
            <a:ext cx="914400" cy="274320"/>
          </a:xfrm>
          <a:prstGeom prst="rect">
            <a:avLst/>
          </a:prstGeom>
          <a:solidFill>
            <a:srgbClr val="B3261E"/>
          </a:solidFill>
          <a:ln/>
        </p:spPr>
      </p:sp>
      <p:sp>
        <p:nvSpPr>
          <p:cNvPr id="12" name="s1-text-8"/>
          <p:cNvSpPr txBox="1"/>
          <p:nvPr/>
        </p:nvSpPr>
        <p:spPr>
          <a:xfrm>
            <a:off x="7836408" y="5285232"/>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CASE</a:t>
            </a:r>
            <a:endParaRPr lang="en-US" sz="1050" dirty="0"/>
          </a:p>
        </p:txBody>
      </p:sp>
      <p:sp>
        <p:nvSpPr>
          <p:cNvPr id="13" name="s1-text-9"/>
          <p:cNvSpPr txBox="1"/>
          <p:nvPr/>
        </p:nvSpPr>
        <p:spPr>
          <a:xfrm>
            <a:off x="7863840" y="5596128"/>
            <a:ext cx="3733495" cy="548640"/>
          </a:xfrm>
          <a:prstGeom prst="rect">
            <a:avLst/>
          </a:prstGeom>
          <a:noFill/>
          <a:ln/>
        </p:spPr>
        <p:txBody>
          <a:bodyPr wrap="square" lIns="0" tIns="0" rIns="0" bIns="0" rtlCol="0" anchor="ctr"/>
          <a:lstStyle/>
          <a:p>
            <a:pPr indent="0" marL="0">
              <a:spcAft>
                <a:spcPts val="300"/>
              </a:spcAft>
              <a:buNone/>
            </a:pPr>
            <a:r>
              <a:rPr lang="en-US" sz="1300" dirty="0">
                <a:solidFill>
                  <a:srgbClr val="FFFFFF"/>
                </a:solidFill>
              </a:rPr>
              <a:t>TSR market manipulation: 47 trading days in 2022</a:t>
            </a:r>
            <a:endParaRPr lang="en-US" sz="13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Outline</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Method from “A guide to answer a legal question (2026)”</a:t>
            </a:r>
            <a:endParaRPr lang="en-US" sz="1050" dirty="0"/>
          </a:p>
        </p:txBody>
      </p:sp>
      <p:sp>
        <p:nvSpPr>
          <p:cNvPr id="5" name="s2-subbar-1"/>
          <p:cNvSpPr/>
          <p:nvPr/>
        </p:nvSpPr>
        <p:spPr>
          <a:xfrm>
            <a:off x="365760" y="1353312"/>
            <a:ext cx="822960" cy="347472"/>
          </a:xfrm>
          <a:prstGeom prst="rect">
            <a:avLst/>
          </a:prstGeom>
          <a:solidFill>
            <a:schemeClr val="tx2"/>
          </a:solidFill>
          <a:ln/>
        </p:spPr>
      </p:sp>
      <p:sp>
        <p:nvSpPr>
          <p:cNvPr id="6" name="s2-subbar-text-2"/>
          <p:cNvSpPr txBox="1"/>
          <p:nvPr/>
        </p:nvSpPr>
        <p:spPr>
          <a:xfrm>
            <a:off x="365760" y="1353312"/>
            <a:ext cx="822960" cy="347472"/>
          </a:xfrm>
          <a:prstGeom prst="rect">
            <a:avLst/>
          </a:prstGeom>
          <a:noFill/>
          <a:ln/>
        </p:spPr>
        <p:txBody>
          <a:bodyPr wrap="square" lIns="0" tIns="0" rIns="0" bIns="0" rtlCol="0" anchor="ctr"/>
          <a:lstStyle/>
          <a:p>
            <a:pPr algn="ctr" indent="0" marL="0">
              <a:buNone/>
            </a:pPr>
            <a:r>
              <a:rPr lang="en-US" sz="1400" b="1" dirty="0">
                <a:solidFill>
                  <a:schemeClr val="bg1"/>
                </a:solidFill>
              </a:rPr>
              <a:t>No.</a:t>
            </a:r>
            <a:endParaRPr lang="en-US" sz="1400" dirty="0"/>
          </a:p>
        </p:txBody>
      </p:sp>
      <p:sp>
        <p:nvSpPr>
          <p:cNvPr id="7" name="s2-subbar-3"/>
          <p:cNvSpPr/>
          <p:nvPr/>
        </p:nvSpPr>
        <p:spPr>
          <a:xfrm>
            <a:off x="1325880" y="1353312"/>
            <a:ext cx="2103120" cy="347472"/>
          </a:xfrm>
          <a:prstGeom prst="rect">
            <a:avLst/>
          </a:prstGeom>
          <a:solidFill>
            <a:schemeClr val="tx2"/>
          </a:solidFill>
          <a:ln/>
        </p:spPr>
      </p:sp>
      <p:sp>
        <p:nvSpPr>
          <p:cNvPr id="8" name="s2-subbar-text-4"/>
          <p:cNvSpPr txBox="1"/>
          <p:nvPr/>
        </p:nvSpPr>
        <p:spPr>
          <a:xfrm>
            <a:off x="1325880" y="1353312"/>
            <a:ext cx="2103120" cy="347472"/>
          </a:xfrm>
          <a:prstGeom prst="rect">
            <a:avLst/>
          </a:prstGeom>
          <a:noFill/>
          <a:ln/>
        </p:spPr>
        <p:txBody>
          <a:bodyPr wrap="square" lIns="0" tIns="0" rIns="0" bIns="0" rtlCol="0" anchor="ctr"/>
          <a:lstStyle/>
          <a:p>
            <a:pPr algn="ctr" indent="0" marL="0">
              <a:buNone/>
            </a:pPr>
            <a:r>
              <a:rPr lang="en-US" sz="1400" b="1" dirty="0">
                <a:solidFill>
                  <a:schemeClr val="bg1"/>
                </a:solidFill>
              </a:rPr>
              <a:t>Part</a:t>
            </a:r>
            <a:endParaRPr lang="en-US" sz="1400" dirty="0"/>
          </a:p>
        </p:txBody>
      </p:sp>
      <p:sp>
        <p:nvSpPr>
          <p:cNvPr id="9" name="s2-subbar-5"/>
          <p:cNvSpPr/>
          <p:nvPr/>
        </p:nvSpPr>
        <p:spPr>
          <a:xfrm>
            <a:off x="3566160" y="1353312"/>
            <a:ext cx="5303520" cy="347472"/>
          </a:xfrm>
          <a:prstGeom prst="rect">
            <a:avLst/>
          </a:prstGeom>
          <a:solidFill>
            <a:schemeClr val="tx2"/>
          </a:solidFill>
          <a:ln/>
        </p:spPr>
      </p:sp>
      <p:sp>
        <p:nvSpPr>
          <p:cNvPr id="10" name="s2-subbar-text-6"/>
          <p:cNvSpPr txBox="1"/>
          <p:nvPr/>
        </p:nvSpPr>
        <p:spPr>
          <a:xfrm>
            <a:off x="3566160" y="1353312"/>
            <a:ext cx="5303520" cy="347472"/>
          </a:xfrm>
          <a:prstGeom prst="rect">
            <a:avLst/>
          </a:prstGeom>
          <a:noFill/>
          <a:ln/>
        </p:spPr>
        <p:txBody>
          <a:bodyPr wrap="square" lIns="0" tIns="0" rIns="0" bIns="0" rtlCol="0" anchor="ctr"/>
          <a:lstStyle/>
          <a:p>
            <a:pPr algn="ctr" indent="0" marL="0">
              <a:buNone/>
            </a:pPr>
            <a:r>
              <a:rPr lang="en-US" sz="1400" b="1" dirty="0">
                <a:solidFill>
                  <a:schemeClr val="bg1"/>
                </a:solidFill>
              </a:rPr>
              <a:t>Content</a:t>
            </a:r>
            <a:endParaRPr lang="en-US" sz="1400" dirty="0"/>
          </a:p>
        </p:txBody>
      </p:sp>
      <p:sp>
        <p:nvSpPr>
          <p:cNvPr id="11" name="s2-subbar-7"/>
          <p:cNvSpPr/>
          <p:nvPr/>
        </p:nvSpPr>
        <p:spPr>
          <a:xfrm>
            <a:off x="9006840" y="1353312"/>
            <a:ext cx="2819095" cy="347472"/>
          </a:xfrm>
          <a:prstGeom prst="rect">
            <a:avLst/>
          </a:prstGeom>
          <a:solidFill>
            <a:schemeClr val="tx2"/>
          </a:solidFill>
          <a:ln/>
        </p:spPr>
      </p:sp>
      <p:sp>
        <p:nvSpPr>
          <p:cNvPr id="12" name="s2-subbar-text-8"/>
          <p:cNvSpPr txBox="1"/>
          <p:nvPr/>
        </p:nvSpPr>
        <p:spPr>
          <a:xfrm>
            <a:off x="9006840" y="1353312"/>
            <a:ext cx="2819095" cy="347472"/>
          </a:xfrm>
          <a:prstGeom prst="rect">
            <a:avLst/>
          </a:prstGeom>
          <a:noFill/>
          <a:ln/>
        </p:spPr>
        <p:txBody>
          <a:bodyPr wrap="square" lIns="0" tIns="0" rIns="0" bIns="0" rtlCol="0" anchor="ctr"/>
          <a:lstStyle/>
          <a:p>
            <a:pPr algn="ctr" indent="0" marL="0">
              <a:buNone/>
            </a:pPr>
            <a:r>
              <a:rPr lang="en-US" sz="1400" b="1" dirty="0">
                <a:solidFill>
                  <a:schemeClr val="bg1"/>
                </a:solidFill>
              </a:rPr>
              <a:t>Law used</a:t>
            </a:r>
            <a:endParaRPr lang="en-US" sz="1400" dirty="0"/>
          </a:p>
        </p:txBody>
      </p:sp>
      <p:sp>
        <p:nvSpPr>
          <p:cNvPr id="13" name="s2-box-9"/>
          <p:cNvSpPr/>
          <p:nvPr/>
        </p:nvSpPr>
        <p:spPr>
          <a:xfrm>
            <a:off x="365760" y="1792224"/>
            <a:ext cx="822960" cy="486156"/>
          </a:xfrm>
          <a:prstGeom prst="rect">
            <a:avLst/>
          </a:prstGeom>
          <a:solidFill>
            <a:schemeClr val="tx2"/>
          </a:solidFill>
          <a:ln/>
        </p:spPr>
      </p:sp>
      <p:sp>
        <p:nvSpPr>
          <p:cNvPr id="14" name="s2-text-10"/>
          <p:cNvSpPr txBox="1"/>
          <p:nvPr/>
        </p:nvSpPr>
        <p:spPr>
          <a:xfrm>
            <a:off x="365760" y="1792224"/>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5" name="s2-box-11"/>
          <p:cNvSpPr/>
          <p:nvPr/>
        </p:nvSpPr>
        <p:spPr>
          <a:xfrm>
            <a:off x="1325880" y="1792224"/>
            <a:ext cx="2103120" cy="486156"/>
          </a:xfrm>
          <a:prstGeom prst="rect">
            <a:avLst/>
          </a:prstGeom>
          <a:solidFill>
            <a:schemeClr val="bg2"/>
          </a:solidFill>
          <a:ln/>
        </p:spPr>
      </p:sp>
      <p:sp>
        <p:nvSpPr>
          <p:cNvPr id="16" name="s2-text-12"/>
          <p:cNvSpPr txBox="1"/>
          <p:nvPr/>
        </p:nvSpPr>
        <p:spPr>
          <a:xfrm>
            <a:off x="1508760" y="1792224"/>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News</a:t>
            </a:r>
            <a:endParaRPr lang="en-US" sz="1400" dirty="0"/>
          </a:p>
        </p:txBody>
      </p:sp>
      <p:sp>
        <p:nvSpPr>
          <p:cNvPr id="17" name="s2-box-13"/>
          <p:cNvSpPr/>
          <p:nvPr/>
        </p:nvSpPr>
        <p:spPr>
          <a:xfrm>
            <a:off x="3566160" y="1792224"/>
            <a:ext cx="5303520" cy="486156"/>
          </a:xfrm>
          <a:prstGeom prst="rect">
            <a:avLst/>
          </a:prstGeom>
          <a:solidFill>
            <a:schemeClr val="bg2"/>
          </a:solidFill>
          <a:ln/>
        </p:spPr>
      </p:sp>
      <p:sp>
        <p:nvSpPr>
          <p:cNvPr id="18" name="s2-text-14"/>
          <p:cNvSpPr txBox="1"/>
          <p:nvPr/>
        </p:nvSpPr>
        <p:spPr>
          <a:xfrm>
            <a:off x="3749040" y="1792224"/>
            <a:ext cx="4937760" cy="486156"/>
          </a:xfrm>
          <a:prstGeom prst="rect">
            <a:avLst/>
          </a:prstGeom>
          <a:noFill/>
          <a:ln/>
        </p:spPr>
        <p:txBody>
          <a:bodyPr wrap="square" lIns="0" tIns="0" rIns="0" bIns="0" rtlCol="0" anchor="ctr"/>
          <a:lstStyle/>
          <a:p>
            <a:pPr indent="0" marL="0">
              <a:buNone/>
            </a:pPr>
            <a:r>
              <a:rPr lang="en-US" sz="1200" dirty="0">
                <a:solidFill>
                  <a:schemeClr val="tx1"/>
                </a:solidFill>
              </a:rPr>
              <a:t>News links, what happened, timeline, stakeholders</a:t>
            </a:r>
            <a:endParaRPr lang="en-US" sz="1200" dirty="0"/>
          </a:p>
        </p:txBody>
      </p:sp>
      <p:sp>
        <p:nvSpPr>
          <p:cNvPr id="19" name="s2-box-15"/>
          <p:cNvSpPr/>
          <p:nvPr/>
        </p:nvSpPr>
        <p:spPr>
          <a:xfrm>
            <a:off x="9006840" y="1792224"/>
            <a:ext cx="2819095" cy="486156"/>
          </a:xfrm>
          <a:prstGeom prst="rect">
            <a:avLst/>
          </a:prstGeom>
          <a:solidFill>
            <a:schemeClr val="bg2"/>
          </a:solidFill>
          <a:ln/>
        </p:spPr>
      </p:sp>
      <p:sp>
        <p:nvSpPr>
          <p:cNvPr id="20" name="s2-text-16"/>
          <p:cNvSpPr txBox="1"/>
          <p:nvPr/>
        </p:nvSpPr>
        <p:spPr>
          <a:xfrm>
            <a:off x="9189720" y="1792224"/>
            <a:ext cx="2453335" cy="486156"/>
          </a:xfrm>
          <a:prstGeom prst="rect">
            <a:avLst/>
          </a:prstGeom>
          <a:noFill/>
          <a:ln/>
        </p:spPr>
        <p:txBody>
          <a:bodyPr wrap="square" lIns="0" tIns="0" rIns="0" bIns="0" rtlCol="0" anchor="ctr"/>
          <a:lstStyle/>
          <a:p>
            <a:pPr indent="0" marL="0">
              <a:buNone/>
            </a:pPr>
            <a:r>
              <a:rPr lang="en-US" sz="1200" dirty="0">
                <a:solidFill>
                  <a:schemeClr val="tx2"/>
                </a:solidFill>
              </a:rPr>
              <a:t>All news dated 2026</a:t>
            </a:r>
            <a:endParaRPr lang="en-US" sz="1200" dirty="0"/>
          </a:p>
        </p:txBody>
      </p:sp>
      <p:sp>
        <p:nvSpPr>
          <p:cNvPr id="21" name="s2-box-17"/>
          <p:cNvSpPr/>
          <p:nvPr/>
        </p:nvSpPr>
        <p:spPr>
          <a:xfrm>
            <a:off x="365760" y="2342388"/>
            <a:ext cx="822960" cy="486156"/>
          </a:xfrm>
          <a:prstGeom prst="rect">
            <a:avLst/>
          </a:prstGeom>
          <a:solidFill>
            <a:schemeClr val="tx2"/>
          </a:solidFill>
          <a:ln/>
        </p:spPr>
      </p:sp>
      <p:sp>
        <p:nvSpPr>
          <p:cNvPr id="22" name="s2-text-18"/>
          <p:cNvSpPr txBox="1"/>
          <p:nvPr/>
        </p:nvSpPr>
        <p:spPr>
          <a:xfrm>
            <a:off x="365760" y="2342388"/>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3" name="s2-box-19"/>
          <p:cNvSpPr/>
          <p:nvPr/>
        </p:nvSpPr>
        <p:spPr>
          <a:xfrm>
            <a:off x="1325880" y="2342388"/>
            <a:ext cx="2103120" cy="486156"/>
          </a:xfrm>
          <a:prstGeom prst="rect">
            <a:avLst/>
          </a:prstGeom>
          <a:solidFill>
            <a:schemeClr val="bg2"/>
          </a:solidFill>
          <a:ln/>
        </p:spPr>
      </p:sp>
      <p:sp>
        <p:nvSpPr>
          <p:cNvPr id="24" name="s2-text-20"/>
          <p:cNvSpPr txBox="1"/>
          <p:nvPr/>
        </p:nvSpPr>
        <p:spPr>
          <a:xfrm>
            <a:off x="1508760" y="2342388"/>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Facts</a:t>
            </a:r>
            <a:endParaRPr lang="en-US" sz="1400" dirty="0"/>
          </a:p>
        </p:txBody>
      </p:sp>
      <p:sp>
        <p:nvSpPr>
          <p:cNvPr id="25" name="s2-box-21"/>
          <p:cNvSpPr/>
          <p:nvPr/>
        </p:nvSpPr>
        <p:spPr>
          <a:xfrm>
            <a:off x="3566160" y="2342388"/>
            <a:ext cx="5303520" cy="486156"/>
          </a:xfrm>
          <a:prstGeom prst="rect">
            <a:avLst/>
          </a:prstGeom>
          <a:solidFill>
            <a:schemeClr val="bg2"/>
          </a:solidFill>
          <a:ln/>
        </p:spPr>
      </p:sp>
      <p:sp>
        <p:nvSpPr>
          <p:cNvPr id="26" name="s2-text-22"/>
          <p:cNvSpPr txBox="1"/>
          <p:nvPr/>
        </p:nvSpPr>
        <p:spPr>
          <a:xfrm>
            <a:off x="3749040" y="2342388"/>
            <a:ext cx="4937760" cy="486156"/>
          </a:xfrm>
          <a:prstGeom prst="rect">
            <a:avLst/>
          </a:prstGeom>
          <a:noFill/>
          <a:ln/>
        </p:spPr>
        <p:txBody>
          <a:bodyPr wrap="square" lIns="0" tIns="0" rIns="0" bIns="0" rtlCol="0" anchor="ctr"/>
          <a:lstStyle/>
          <a:p>
            <a:pPr indent="0" marL="0">
              <a:buNone/>
            </a:pPr>
            <a:r>
              <a:rPr lang="en-US" sz="1200" dirty="0">
                <a:solidFill>
                  <a:schemeClr val="tx1"/>
                </a:solidFill>
              </a:rPr>
              <a:t>Facts F1 to F12, then every provision checked element by element</a:t>
            </a:r>
            <a:endParaRPr lang="en-US" sz="1200" dirty="0"/>
          </a:p>
        </p:txBody>
      </p:sp>
      <p:sp>
        <p:nvSpPr>
          <p:cNvPr id="27" name="s2-box-23"/>
          <p:cNvSpPr/>
          <p:nvPr/>
        </p:nvSpPr>
        <p:spPr>
          <a:xfrm>
            <a:off x="9006840" y="2342388"/>
            <a:ext cx="2819095" cy="486156"/>
          </a:xfrm>
          <a:prstGeom prst="rect">
            <a:avLst/>
          </a:prstGeom>
          <a:solidFill>
            <a:schemeClr val="bg2"/>
          </a:solidFill>
          <a:ln/>
        </p:spPr>
      </p:sp>
      <p:sp>
        <p:nvSpPr>
          <p:cNvPr id="28" name="s2-text-24"/>
          <p:cNvSpPr txBox="1"/>
          <p:nvPr/>
        </p:nvSpPr>
        <p:spPr>
          <a:xfrm>
            <a:off x="9189720" y="2342388"/>
            <a:ext cx="2453335" cy="486156"/>
          </a:xfrm>
          <a:prstGeom prst="rect">
            <a:avLst/>
          </a:prstGeom>
          <a:noFill/>
          <a:ln/>
        </p:spPr>
        <p:txBody>
          <a:bodyPr wrap="square" lIns="0" tIns="0" rIns="0" bIns="0" rtlCol="0" anchor="ctr"/>
          <a:lstStyle/>
          <a:p>
            <a:pPr indent="0" marL="0">
              <a:buNone/>
            </a:pPr>
            <a:r>
              <a:rPr lang="en-US" sz="1200" dirty="0">
                <a:solidFill>
                  <a:schemeClr val="tx2"/>
                </a:solidFill>
              </a:rPr>
              <a:t>Sections 238 to 244/7</a:t>
            </a:r>
            <a:endParaRPr lang="en-US" sz="1200" dirty="0"/>
          </a:p>
        </p:txBody>
      </p:sp>
      <p:sp>
        <p:nvSpPr>
          <p:cNvPr id="29" name="s2-box-25"/>
          <p:cNvSpPr/>
          <p:nvPr/>
        </p:nvSpPr>
        <p:spPr>
          <a:xfrm>
            <a:off x="365760" y="2892552"/>
            <a:ext cx="822960" cy="486156"/>
          </a:xfrm>
          <a:prstGeom prst="rect">
            <a:avLst/>
          </a:prstGeom>
          <a:solidFill>
            <a:schemeClr val="tx2"/>
          </a:solidFill>
          <a:ln/>
        </p:spPr>
      </p:sp>
      <p:sp>
        <p:nvSpPr>
          <p:cNvPr id="30" name="s2-text-26"/>
          <p:cNvSpPr txBox="1"/>
          <p:nvPr/>
        </p:nvSpPr>
        <p:spPr>
          <a:xfrm>
            <a:off x="365760" y="2892552"/>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1" name="s2-box-27"/>
          <p:cNvSpPr/>
          <p:nvPr/>
        </p:nvSpPr>
        <p:spPr>
          <a:xfrm>
            <a:off x="1325880" y="2892552"/>
            <a:ext cx="2103120" cy="486156"/>
          </a:xfrm>
          <a:prstGeom prst="rect">
            <a:avLst/>
          </a:prstGeom>
          <a:solidFill>
            <a:schemeClr val="bg2"/>
          </a:solidFill>
          <a:ln/>
        </p:spPr>
      </p:sp>
      <p:sp>
        <p:nvSpPr>
          <p:cNvPr id="32" name="s2-text-28"/>
          <p:cNvSpPr txBox="1"/>
          <p:nvPr/>
        </p:nvSpPr>
        <p:spPr>
          <a:xfrm>
            <a:off x="1508760" y="2892552"/>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Question</a:t>
            </a:r>
            <a:endParaRPr lang="en-US" sz="1400" dirty="0"/>
          </a:p>
        </p:txBody>
      </p:sp>
      <p:sp>
        <p:nvSpPr>
          <p:cNvPr id="33" name="s2-box-29"/>
          <p:cNvSpPr/>
          <p:nvPr/>
        </p:nvSpPr>
        <p:spPr>
          <a:xfrm>
            <a:off x="3566160" y="2892552"/>
            <a:ext cx="5303520" cy="486156"/>
          </a:xfrm>
          <a:prstGeom prst="rect">
            <a:avLst/>
          </a:prstGeom>
          <a:solidFill>
            <a:schemeClr val="bg2"/>
          </a:solidFill>
          <a:ln/>
        </p:spPr>
      </p:sp>
      <p:sp>
        <p:nvSpPr>
          <p:cNvPr id="34" name="s2-text-30"/>
          <p:cNvSpPr txBox="1"/>
          <p:nvPr/>
        </p:nvSpPr>
        <p:spPr>
          <a:xfrm>
            <a:off x="3749040" y="2892552"/>
            <a:ext cx="4937760" cy="486156"/>
          </a:xfrm>
          <a:prstGeom prst="rect">
            <a:avLst/>
          </a:prstGeom>
          <a:noFill/>
          <a:ln/>
        </p:spPr>
        <p:txBody>
          <a:bodyPr wrap="square" lIns="0" tIns="0" rIns="0" bIns="0" rtlCol="0" anchor="ctr"/>
          <a:lstStyle/>
          <a:p>
            <a:pPr indent="0" marL="0">
              <a:buNone/>
            </a:pPr>
            <a:r>
              <a:rPr lang="en-US" sz="1200" dirty="0">
                <a:solidFill>
                  <a:schemeClr val="tx1"/>
                </a:solidFill>
              </a:rPr>
              <a:t>The one legal question we answer</a:t>
            </a:r>
            <a:endParaRPr lang="en-US" sz="1200" dirty="0"/>
          </a:p>
        </p:txBody>
      </p:sp>
      <p:sp>
        <p:nvSpPr>
          <p:cNvPr id="35" name="s2-box-31"/>
          <p:cNvSpPr/>
          <p:nvPr/>
        </p:nvSpPr>
        <p:spPr>
          <a:xfrm>
            <a:off x="9006840" y="2892552"/>
            <a:ext cx="2819095" cy="486156"/>
          </a:xfrm>
          <a:prstGeom prst="rect">
            <a:avLst/>
          </a:prstGeom>
          <a:solidFill>
            <a:schemeClr val="bg2"/>
          </a:solidFill>
          <a:ln/>
        </p:spPr>
      </p:sp>
      <p:sp>
        <p:nvSpPr>
          <p:cNvPr id="36" name="s2-text-32"/>
          <p:cNvSpPr txBox="1"/>
          <p:nvPr/>
        </p:nvSpPr>
        <p:spPr>
          <a:xfrm>
            <a:off x="9189720" y="2892552"/>
            <a:ext cx="2453335" cy="486156"/>
          </a:xfrm>
          <a:prstGeom prst="rect">
            <a:avLst/>
          </a:prstGeom>
          <a:noFill/>
          <a:ln/>
        </p:spPr>
        <p:txBody>
          <a:bodyPr wrap="square" lIns="0" tIns="0" rIns="0" bIns="0" rtlCol="0" anchor="ctr"/>
          <a:lstStyle/>
          <a:p>
            <a:pPr indent="0" marL="0">
              <a:buNone/>
            </a:pPr>
            <a:r>
              <a:rPr lang="en-US" sz="1200" dirty="0">
                <a:solidFill>
                  <a:schemeClr val="tx2"/>
                </a:solidFill>
              </a:rPr>
              <a:t>Guide: Facts, then Question</a:t>
            </a:r>
            <a:endParaRPr lang="en-US" sz="1200" dirty="0"/>
          </a:p>
        </p:txBody>
      </p:sp>
      <p:sp>
        <p:nvSpPr>
          <p:cNvPr id="37" name="s2-box-33"/>
          <p:cNvSpPr/>
          <p:nvPr/>
        </p:nvSpPr>
        <p:spPr>
          <a:xfrm>
            <a:off x="365760" y="3442716"/>
            <a:ext cx="822960" cy="486156"/>
          </a:xfrm>
          <a:prstGeom prst="rect">
            <a:avLst/>
          </a:prstGeom>
          <a:solidFill>
            <a:schemeClr val="tx2"/>
          </a:solidFill>
          <a:ln/>
        </p:spPr>
      </p:sp>
      <p:sp>
        <p:nvSpPr>
          <p:cNvPr id="38" name="s2-text-34"/>
          <p:cNvSpPr txBox="1"/>
          <p:nvPr/>
        </p:nvSpPr>
        <p:spPr>
          <a:xfrm>
            <a:off x="365760" y="3442716"/>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9" name="s2-box-35"/>
          <p:cNvSpPr/>
          <p:nvPr/>
        </p:nvSpPr>
        <p:spPr>
          <a:xfrm>
            <a:off x="1325880" y="3442716"/>
            <a:ext cx="2103120" cy="486156"/>
          </a:xfrm>
          <a:prstGeom prst="rect">
            <a:avLst/>
          </a:prstGeom>
          <a:solidFill>
            <a:schemeClr val="bg2"/>
          </a:solidFill>
          <a:ln/>
        </p:spPr>
      </p:sp>
      <p:sp>
        <p:nvSpPr>
          <p:cNvPr id="40" name="s2-text-36"/>
          <p:cNvSpPr txBox="1"/>
          <p:nvPr/>
        </p:nvSpPr>
        <p:spPr>
          <a:xfrm>
            <a:off x="1508760" y="3442716"/>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Law</a:t>
            </a:r>
            <a:endParaRPr lang="en-US" sz="1400" dirty="0"/>
          </a:p>
        </p:txBody>
      </p:sp>
      <p:sp>
        <p:nvSpPr>
          <p:cNvPr id="41" name="s2-box-37"/>
          <p:cNvSpPr/>
          <p:nvPr/>
        </p:nvSpPr>
        <p:spPr>
          <a:xfrm>
            <a:off x="3566160" y="3442716"/>
            <a:ext cx="5303520" cy="486156"/>
          </a:xfrm>
          <a:prstGeom prst="rect">
            <a:avLst/>
          </a:prstGeom>
          <a:solidFill>
            <a:schemeClr val="bg2"/>
          </a:solidFill>
          <a:ln/>
        </p:spPr>
      </p:sp>
      <p:sp>
        <p:nvSpPr>
          <p:cNvPr id="42" name="s2-text-38"/>
          <p:cNvSpPr txBox="1"/>
          <p:nvPr/>
        </p:nvSpPr>
        <p:spPr>
          <a:xfrm>
            <a:off x="3749040" y="3442716"/>
            <a:ext cx="4937760" cy="486156"/>
          </a:xfrm>
          <a:prstGeom prst="rect">
            <a:avLst/>
          </a:prstGeom>
          <a:noFill/>
          <a:ln/>
        </p:spPr>
        <p:txBody>
          <a:bodyPr wrap="square" lIns="0" tIns="0" rIns="0" bIns="0" rtlCol="0" anchor="ctr"/>
          <a:lstStyle/>
          <a:p>
            <a:pPr indent="0" marL="0">
              <a:buNone/>
            </a:pPr>
            <a:r>
              <a:rPr lang="en-US" sz="1200" dirty="0">
                <a:solidFill>
                  <a:schemeClr val="tx1"/>
                </a:solidFill>
              </a:rPr>
              <a:t>Which law we use, why, and which sections were violated</a:t>
            </a:r>
            <a:endParaRPr lang="en-US" sz="1200" dirty="0"/>
          </a:p>
        </p:txBody>
      </p:sp>
      <p:sp>
        <p:nvSpPr>
          <p:cNvPr id="43" name="s2-box-39"/>
          <p:cNvSpPr/>
          <p:nvPr/>
        </p:nvSpPr>
        <p:spPr>
          <a:xfrm>
            <a:off x="9006840" y="3442716"/>
            <a:ext cx="2819095" cy="486156"/>
          </a:xfrm>
          <a:prstGeom prst="rect">
            <a:avLst/>
          </a:prstGeom>
          <a:solidFill>
            <a:schemeClr val="bg2"/>
          </a:solidFill>
          <a:ln/>
        </p:spPr>
      </p:sp>
      <p:sp>
        <p:nvSpPr>
          <p:cNvPr id="44" name="s2-text-40"/>
          <p:cNvSpPr txBox="1"/>
          <p:nvPr/>
        </p:nvSpPr>
        <p:spPr>
          <a:xfrm>
            <a:off x="9189720" y="3442716"/>
            <a:ext cx="2453335" cy="486156"/>
          </a:xfrm>
          <a:prstGeom prst="rect">
            <a:avLst/>
          </a:prstGeom>
          <a:noFill/>
          <a:ln/>
        </p:spPr>
        <p:txBody>
          <a:bodyPr wrap="square" lIns="0" tIns="0" rIns="0" bIns="0" rtlCol="0" anchor="ctr"/>
          <a:lstStyle/>
          <a:p>
            <a:pPr indent="0" marL="0">
              <a:buNone/>
            </a:pPr>
            <a:r>
              <a:rPr lang="en-US" sz="1200" dirty="0">
                <a:solidFill>
                  <a:schemeClr val="tx2"/>
                </a:solidFill>
              </a:rPr>
              <a:t>SEC Act B.E. 2535</a:t>
            </a:r>
            <a:endParaRPr lang="en-US" sz="1200" dirty="0"/>
          </a:p>
        </p:txBody>
      </p:sp>
      <p:sp>
        <p:nvSpPr>
          <p:cNvPr id="45" name="s2-box-41"/>
          <p:cNvSpPr/>
          <p:nvPr/>
        </p:nvSpPr>
        <p:spPr>
          <a:xfrm>
            <a:off x="365760" y="3992880"/>
            <a:ext cx="822960" cy="486156"/>
          </a:xfrm>
          <a:prstGeom prst="rect">
            <a:avLst/>
          </a:prstGeom>
          <a:solidFill>
            <a:schemeClr val="tx2"/>
          </a:solidFill>
          <a:ln/>
        </p:spPr>
      </p:sp>
      <p:sp>
        <p:nvSpPr>
          <p:cNvPr id="46" name="s2-text-42"/>
          <p:cNvSpPr txBox="1"/>
          <p:nvPr/>
        </p:nvSpPr>
        <p:spPr>
          <a:xfrm>
            <a:off x="365760" y="3992880"/>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7" name="s2-box-43"/>
          <p:cNvSpPr/>
          <p:nvPr/>
        </p:nvSpPr>
        <p:spPr>
          <a:xfrm>
            <a:off x="1325880" y="3992880"/>
            <a:ext cx="2103120" cy="486156"/>
          </a:xfrm>
          <a:prstGeom prst="rect">
            <a:avLst/>
          </a:prstGeom>
          <a:solidFill>
            <a:schemeClr val="bg2"/>
          </a:solidFill>
          <a:ln/>
        </p:spPr>
      </p:sp>
      <p:sp>
        <p:nvSpPr>
          <p:cNvPr id="48" name="s2-text-44"/>
          <p:cNvSpPr txBox="1"/>
          <p:nvPr/>
        </p:nvSpPr>
        <p:spPr>
          <a:xfrm>
            <a:off x="1508760" y="3992880"/>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Analysis</a:t>
            </a:r>
            <a:endParaRPr lang="en-US" sz="1400" dirty="0"/>
          </a:p>
        </p:txBody>
      </p:sp>
      <p:sp>
        <p:nvSpPr>
          <p:cNvPr id="49" name="s2-box-45"/>
          <p:cNvSpPr/>
          <p:nvPr/>
        </p:nvSpPr>
        <p:spPr>
          <a:xfrm>
            <a:off x="3566160" y="3992880"/>
            <a:ext cx="5303520" cy="486156"/>
          </a:xfrm>
          <a:prstGeom prst="rect">
            <a:avLst/>
          </a:prstGeom>
          <a:solidFill>
            <a:schemeClr val="bg2"/>
          </a:solidFill>
          <a:ln/>
        </p:spPr>
      </p:sp>
      <p:sp>
        <p:nvSpPr>
          <p:cNvPr id="50" name="s2-text-46"/>
          <p:cNvSpPr txBox="1"/>
          <p:nvPr/>
        </p:nvSpPr>
        <p:spPr>
          <a:xfrm>
            <a:off x="3749040" y="3992880"/>
            <a:ext cx="4937760" cy="486156"/>
          </a:xfrm>
          <a:prstGeom prst="rect">
            <a:avLst/>
          </a:prstGeom>
          <a:noFill/>
          <a:ln/>
        </p:spPr>
        <p:txBody>
          <a:bodyPr wrap="square" lIns="0" tIns="0" rIns="0" bIns="0" rtlCol="0" anchor="ctr"/>
          <a:lstStyle/>
          <a:p>
            <a:pPr indent="0" marL="0">
              <a:buNone/>
            </a:pPr>
            <a:r>
              <a:rPr lang="en-US" sz="1200" dirty="0">
                <a:solidFill>
                  <a:schemeClr val="tx1"/>
                </a:solidFill>
              </a:rPr>
              <a:t>Rules 1 to 4: Law/Rule, Analysis, Conclusion</a:t>
            </a:r>
            <a:endParaRPr lang="en-US" sz="1200" dirty="0"/>
          </a:p>
        </p:txBody>
      </p:sp>
      <p:sp>
        <p:nvSpPr>
          <p:cNvPr id="51" name="s2-box-47"/>
          <p:cNvSpPr/>
          <p:nvPr/>
        </p:nvSpPr>
        <p:spPr>
          <a:xfrm>
            <a:off x="9006840" y="3992880"/>
            <a:ext cx="2819095" cy="486156"/>
          </a:xfrm>
          <a:prstGeom prst="rect">
            <a:avLst/>
          </a:prstGeom>
          <a:solidFill>
            <a:schemeClr val="bg2"/>
          </a:solidFill>
          <a:ln/>
        </p:spPr>
      </p:sp>
      <p:sp>
        <p:nvSpPr>
          <p:cNvPr id="52" name="s2-text-48"/>
          <p:cNvSpPr txBox="1"/>
          <p:nvPr/>
        </p:nvSpPr>
        <p:spPr>
          <a:xfrm>
            <a:off x="9189720" y="3992880"/>
            <a:ext cx="2453335" cy="486156"/>
          </a:xfrm>
          <a:prstGeom prst="rect">
            <a:avLst/>
          </a:prstGeom>
          <a:noFill/>
          <a:ln/>
        </p:spPr>
        <p:txBody>
          <a:bodyPr wrap="square" lIns="0" tIns="0" rIns="0" bIns="0" rtlCol="0" anchor="ctr"/>
          <a:lstStyle/>
          <a:p>
            <a:pPr indent="0" marL="0">
              <a:buNone/>
            </a:pPr>
            <a:r>
              <a:rPr lang="en-US" sz="1200" dirty="0">
                <a:solidFill>
                  <a:schemeClr val="tx2"/>
                </a:solidFill>
              </a:rPr>
              <a:t>ss.244/3, 244/5, 296, 317</a:t>
            </a:r>
            <a:endParaRPr lang="en-US" sz="1200" dirty="0"/>
          </a:p>
        </p:txBody>
      </p:sp>
      <p:sp>
        <p:nvSpPr>
          <p:cNvPr id="53" name="s2-box-49"/>
          <p:cNvSpPr/>
          <p:nvPr/>
        </p:nvSpPr>
        <p:spPr>
          <a:xfrm>
            <a:off x="365760" y="4543044"/>
            <a:ext cx="822960" cy="486156"/>
          </a:xfrm>
          <a:prstGeom prst="rect">
            <a:avLst/>
          </a:prstGeom>
          <a:solidFill>
            <a:schemeClr val="tx2"/>
          </a:solidFill>
          <a:ln/>
        </p:spPr>
      </p:sp>
      <p:sp>
        <p:nvSpPr>
          <p:cNvPr id="54" name="s2-text-50"/>
          <p:cNvSpPr txBox="1"/>
          <p:nvPr/>
        </p:nvSpPr>
        <p:spPr>
          <a:xfrm>
            <a:off x="365760" y="4543044"/>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55" name="s2-box-51"/>
          <p:cNvSpPr/>
          <p:nvPr/>
        </p:nvSpPr>
        <p:spPr>
          <a:xfrm>
            <a:off x="1325880" y="4543044"/>
            <a:ext cx="2103120" cy="486156"/>
          </a:xfrm>
          <a:prstGeom prst="rect">
            <a:avLst/>
          </a:prstGeom>
          <a:solidFill>
            <a:schemeClr val="bg2"/>
          </a:solidFill>
          <a:ln/>
        </p:spPr>
      </p:sp>
      <p:sp>
        <p:nvSpPr>
          <p:cNvPr id="56" name="s2-text-52"/>
          <p:cNvSpPr txBox="1"/>
          <p:nvPr/>
        </p:nvSpPr>
        <p:spPr>
          <a:xfrm>
            <a:off x="1508760" y="4543044"/>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Conclusion</a:t>
            </a:r>
            <a:endParaRPr lang="en-US" sz="1400" dirty="0"/>
          </a:p>
        </p:txBody>
      </p:sp>
      <p:sp>
        <p:nvSpPr>
          <p:cNvPr id="57" name="s2-box-53"/>
          <p:cNvSpPr/>
          <p:nvPr/>
        </p:nvSpPr>
        <p:spPr>
          <a:xfrm>
            <a:off x="3566160" y="4543044"/>
            <a:ext cx="5303520" cy="486156"/>
          </a:xfrm>
          <a:prstGeom prst="rect">
            <a:avLst/>
          </a:prstGeom>
          <a:solidFill>
            <a:schemeClr val="bg2"/>
          </a:solidFill>
          <a:ln/>
        </p:spPr>
      </p:sp>
      <p:sp>
        <p:nvSpPr>
          <p:cNvPr id="58" name="s2-text-54"/>
          <p:cNvSpPr txBox="1"/>
          <p:nvPr/>
        </p:nvSpPr>
        <p:spPr>
          <a:xfrm>
            <a:off x="3749040" y="4543044"/>
            <a:ext cx="4937760" cy="486156"/>
          </a:xfrm>
          <a:prstGeom prst="rect">
            <a:avLst/>
          </a:prstGeom>
          <a:noFill/>
          <a:ln/>
        </p:spPr>
        <p:txBody>
          <a:bodyPr wrap="square" lIns="0" tIns="0" rIns="0" bIns="0" rtlCol="0" anchor="ctr"/>
          <a:lstStyle/>
          <a:p>
            <a:pPr indent="0" marL="0">
              <a:buNone/>
            </a:pPr>
            <a:r>
              <a:rPr lang="en-US" sz="1200" dirty="0">
                <a:solidFill>
                  <a:schemeClr val="tx1"/>
                </a:solidFill>
              </a:rPr>
              <a:t>One answer to the Question</a:t>
            </a:r>
            <a:endParaRPr lang="en-US" sz="1200" dirty="0"/>
          </a:p>
        </p:txBody>
      </p:sp>
      <p:sp>
        <p:nvSpPr>
          <p:cNvPr id="59" name="s2-box-55"/>
          <p:cNvSpPr/>
          <p:nvPr/>
        </p:nvSpPr>
        <p:spPr>
          <a:xfrm>
            <a:off x="9006840" y="4543044"/>
            <a:ext cx="2819095" cy="486156"/>
          </a:xfrm>
          <a:prstGeom prst="rect">
            <a:avLst/>
          </a:prstGeom>
          <a:solidFill>
            <a:schemeClr val="bg2"/>
          </a:solidFill>
          <a:ln/>
        </p:spPr>
      </p:sp>
      <p:sp>
        <p:nvSpPr>
          <p:cNvPr id="60" name="s2-text-56"/>
          <p:cNvSpPr txBox="1"/>
          <p:nvPr/>
        </p:nvSpPr>
        <p:spPr>
          <a:xfrm>
            <a:off x="9189720" y="4543044"/>
            <a:ext cx="2453335" cy="486156"/>
          </a:xfrm>
          <a:prstGeom prst="rect">
            <a:avLst/>
          </a:prstGeom>
          <a:noFill/>
          <a:ln/>
        </p:spPr>
        <p:txBody>
          <a:bodyPr wrap="square" lIns="0" tIns="0" rIns="0" bIns="0" rtlCol="0" anchor="ctr"/>
          <a:lstStyle/>
          <a:p>
            <a:pPr indent="0" marL="0">
              <a:buNone/>
            </a:pPr>
            <a:r>
              <a:rPr lang="en-US" sz="1200" dirty="0">
                <a:solidFill>
                  <a:schemeClr val="tx2"/>
                </a:solidFill>
              </a:rPr>
              <a:t>In conclusion, …</a:t>
            </a:r>
            <a:endParaRPr lang="en-US" sz="1200" dirty="0"/>
          </a:p>
        </p:txBody>
      </p:sp>
      <p:sp>
        <p:nvSpPr>
          <p:cNvPr id="61" name="s2-box-57"/>
          <p:cNvSpPr/>
          <p:nvPr/>
        </p:nvSpPr>
        <p:spPr>
          <a:xfrm>
            <a:off x="365760" y="5138928"/>
            <a:ext cx="11460175" cy="731520"/>
          </a:xfrm>
          <a:prstGeom prst="rect">
            <a:avLst/>
          </a:prstGeom>
          <a:solidFill>
            <a:schemeClr val="tx2"/>
          </a:solidFill>
          <a:ln/>
        </p:spPr>
      </p:sp>
      <p:sp>
        <p:nvSpPr>
          <p:cNvPr id="62" name="s2-box-58"/>
          <p:cNvSpPr/>
          <p:nvPr/>
        </p:nvSpPr>
        <p:spPr>
          <a:xfrm>
            <a:off x="548640" y="5367528"/>
            <a:ext cx="1014984" cy="274320"/>
          </a:xfrm>
          <a:prstGeom prst="rect">
            <a:avLst/>
          </a:prstGeom>
          <a:solidFill>
            <a:srgbClr val="B3261E"/>
          </a:solidFill>
          <a:ln/>
        </p:spPr>
      </p:sp>
      <p:sp>
        <p:nvSpPr>
          <p:cNvPr id="63" name="s2-text-59"/>
          <p:cNvSpPr txBox="1"/>
          <p:nvPr/>
        </p:nvSpPr>
        <p:spPr>
          <a:xfrm>
            <a:off x="548640" y="5367528"/>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OUR TEST</a:t>
            </a:r>
            <a:endParaRPr lang="en-US" sz="1050" dirty="0"/>
          </a:p>
        </p:txBody>
      </p:sp>
      <p:sp>
        <p:nvSpPr>
          <p:cNvPr id="64" name="s2-text-60"/>
          <p:cNvSpPr txBox="1"/>
          <p:nvPr/>
        </p:nvSpPr>
        <p:spPr>
          <a:xfrm>
            <a:off x="1746504" y="5138928"/>
            <a:ext cx="9896551" cy="731520"/>
          </a:xfrm>
          <a:prstGeom prst="rect">
            <a:avLst/>
          </a:prstGeom>
          <a:noFill/>
          <a:ln/>
        </p:spPr>
        <p:txBody>
          <a:bodyPr wrap="square" lIns="0" tIns="0" rIns="0" bIns="0" rtlCol="0" anchor="ctr"/>
          <a:lstStyle/>
          <a:p>
            <a:pPr indent="0" marL="0">
              <a:buNone/>
            </a:pPr>
            <a:r>
              <a:rPr lang="en-US" sz="1500" dirty="0">
                <a:solidFill>
                  <a:srgbClr val="FFFFFF"/>
                </a:solidFill>
              </a:rPr>
              <a:t>A section is violated </a:t>
            </a:r>
            <a:pPr indent="0" marL="0">
              <a:buNone/>
            </a:pPr>
            <a:r>
              <a:rPr lang="en-US" sz="1500" b="1" dirty="0">
                <a:solidFill>
                  <a:srgbClr val="F28B7E"/>
                </a:solidFill>
              </a:rPr>
              <a:t>only if all of its bullet points are met</a:t>
            </a:r>
            <a:pPr indent="0" marL="0">
              <a:buNone/>
            </a:pPr>
            <a:r>
              <a:rPr lang="en-US" sz="1500" dirty="0">
                <a:solidFill>
                  <a:srgbClr val="FFFFFF"/>
                </a:solidFill>
              </a:rPr>
              <a:t>. If one is missing, it is not violated.</a:t>
            </a:r>
            <a:endParaRPr lang="en-US" sz="1500" dirty="0"/>
          </a:p>
        </p:txBody>
      </p:sp>
      <p:sp>
        <p:nvSpPr>
          <p:cNvPr id="65" name="s2-box-61"/>
          <p:cNvSpPr/>
          <p:nvPr/>
        </p:nvSpPr>
        <p:spPr>
          <a:xfrm>
            <a:off x="365760" y="6044184"/>
            <a:ext cx="237744" cy="237744"/>
          </a:xfrm>
          <a:prstGeom prst="rect">
            <a:avLst/>
          </a:prstGeom>
          <a:solidFill>
            <a:srgbClr val="B3261E"/>
          </a:solidFill>
          <a:ln/>
        </p:spPr>
      </p:sp>
      <p:sp>
        <p:nvSpPr>
          <p:cNvPr id="66" name="s2-text-62"/>
          <p:cNvSpPr txBox="1"/>
          <p:nvPr/>
        </p:nvSpPr>
        <p:spPr>
          <a:xfrm>
            <a:off x="713232" y="5989320"/>
            <a:ext cx="4754880" cy="347472"/>
          </a:xfrm>
          <a:prstGeom prst="rect">
            <a:avLst/>
          </a:prstGeom>
          <a:noFill/>
          <a:ln/>
        </p:spPr>
        <p:txBody>
          <a:bodyPr wrap="square" lIns="0" tIns="0" rIns="0" bIns="0" rtlCol="0" anchor="ctr"/>
          <a:lstStyle/>
          <a:p>
            <a:pPr indent="0" marL="0">
              <a:buNone/>
            </a:pPr>
            <a:r>
              <a:rPr lang="en-US" sz="1200" b="1" dirty="0">
                <a:solidFill>
                  <a:srgbClr val="B3261E"/>
                </a:solidFill>
              </a:rPr>
              <a:t>Red: </a:t>
            </a:r>
            <a:pPr indent="0" marL="0">
              <a:buNone/>
            </a:pPr>
            <a:r>
              <a:rPr lang="en-US" sz="1200" dirty="0">
                <a:solidFill>
                  <a:schemeClr val="tx1"/>
                </a:solidFill>
              </a:rPr>
              <a:t>violated, or the section actually applies</a:t>
            </a:r>
            <a:endParaRPr lang="en-US" sz="1200" dirty="0"/>
          </a:p>
        </p:txBody>
      </p:sp>
      <p:sp>
        <p:nvSpPr>
          <p:cNvPr id="67" name="s2-box-63"/>
          <p:cNvSpPr/>
          <p:nvPr/>
        </p:nvSpPr>
        <p:spPr>
          <a:xfrm>
            <a:off x="5669280" y="6044184"/>
            <a:ext cx="237744" cy="237744"/>
          </a:xfrm>
          <a:prstGeom prst="rect">
            <a:avLst/>
          </a:prstGeom>
          <a:solidFill>
            <a:srgbClr val="FFFFFF"/>
          </a:solidFill>
          <a:ln w="12700">
            <a:solidFill>
              <a:schemeClr val="tx2"/>
            </a:solidFill>
            <a:prstDash val="solid"/>
          </a:ln>
        </p:spPr>
      </p:sp>
      <p:sp>
        <p:nvSpPr>
          <p:cNvPr id="68" name="s2-text-64"/>
          <p:cNvSpPr txBox="1"/>
          <p:nvPr/>
        </p:nvSpPr>
        <p:spPr>
          <a:xfrm>
            <a:off x="6016752" y="5989320"/>
            <a:ext cx="2834640" cy="347472"/>
          </a:xfrm>
          <a:prstGeom prst="rect">
            <a:avLst/>
          </a:prstGeom>
          <a:noFill/>
          <a:ln/>
        </p:spPr>
        <p:txBody>
          <a:bodyPr wrap="square" lIns="0" tIns="0" rIns="0" bIns="0" rtlCol="0" anchor="ctr"/>
          <a:lstStyle/>
          <a:p>
            <a:pPr indent="0" marL="0">
              <a:buNone/>
            </a:pPr>
            <a:r>
              <a:rPr lang="en-US" sz="1200" b="1" dirty="0">
                <a:solidFill>
                  <a:schemeClr val="tx2"/>
                </a:solidFill>
              </a:rPr>
              <a:t>Met: </a:t>
            </a:r>
            <a:pPr indent="0" marL="0">
              <a:buNone/>
            </a:pPr>
            <a:r>
              <a:rPr lang="en-US" sz="1200" dirty="0">
                <a:solidFill>
                  <a:schemeClr val="tx1"/>
                </a:solidFill>
              </a:rPr>
              <a:t>bullet point supported by facts</a:t>
            </a:r>
            <a:endParaRPr lang="en-US" sz="1200" dirty="0"/>
          </a:p>
        </p:txBody>
      </p:sp>
      <p:sp>
        <p:nvSpPr>
          <p:cNvPr id="69" name="s2-box-65"/>
          <p:cNvSpPr/>
          <p:nvPr/>
        </p:nvSpPr>
        <p:spPr>
          <a:xfrm>
            <a:off x="8961120" y="6044184"/>
            <a:ext cx="237744" cy="237744"/>
          </a:xfrm>
          <a:prstGeom prst="rect">
            <a:avLst/>
          </a:prstGeom>
          <a:solidFill>
            <a:srgbClr val="C5CCD8"/>
          </a:solidFill>
          <a:ln/>
        </p:spPr>
      </p:sp>
      <p:sp>
        <p:nvSpPr>
          <p:cNvPr id="70" name="s2-text-66"/>
          <p:cNvSpPr txBox="1"/>
          <p:nvPr/>
        </p:nvSpPr>
        <p:spPr>
          <a:xfrm>
            <a:off x="9308592" y="5989320"/>
            <a:ext cx="2514600" cy="347472"/>
          </a:xfrm>
          <a:prstGeom prst="rect">
            <a:avLst/>
          </a:prstGeom>
          <a:noFill/>
          <a:ln/>
        </p:spPr>
        <p:txBody>
          <a:bodyPr wrap="square" lIns="0" tIns="0" rIns="0" bIns="0" rtlCol="0" anchor="ctr"/>
          <a:lstStyle/>
          <a:p>
            <a:pPr indent="0" marL="0">
              <a:buNone/>
            </a:pPr>
            <a:r>
              <a:rPr lang="en-US" sz="1200" b="1" dirty="0">
                <a:solidFill>
                  <a:schemeClr val="accent5"/>
                </a:solidFill>
              </a:rPr>
              <a:t>Grey: </a:t>
            </a:r>
            <a:pPr indent="0" marL="0">
              <a:buNone/>
            </a:pPr>
            <a:r>
              <a:rPr lang="en-US" sz="1200" dirty="0">
                <a:solidFill>
                  <a:schemeClr val="accent5"/>
                </a:solidFill>
              </a:rPr>
              <a:t>not violated or no facts</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Sources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Thansettakij, Hoonsmart (January to May 2026)</a:t>
            </a:r>
            <a:endParaRPr lang="en-US" sz="1050" dirty="0"/>
          </a:p>
        </p:txBody>
      </p:sp>
      <p:graphicFrame>
        <p:nvGraphicFramePr>
          <p:cNvPr id="4" name="s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5486400"/>
                <a:gridCol w="4602175"/>
              </a:tblGrid>
              <a:tr h="365760">
                <a:tc>
                  <a:txBody>
                    <a:bodyPr/>
                    <a:lstStyle/>
                    <a:p>
                      <a:pPr algn="ctr" indent="0" marL="0">
                        <a:buNone/>
                      </a:pPr>
                      <a:r>
                        <a:rPr lang="en-US" sz="1100" b="1" dirty="0">
                          <a:solidFill>
                            <a:schemeClr val="bg1"/>
                          </a:solidFill>
                        </a:rPr>
                        <a:t>Date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Outlet and headline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URL</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มิติหุ้น (Mitihoon): ก.ล.ต. ใช้มาตรการลงโทษทางแพ่งกับผู้กระทำความผิด 1 ราย กรณีสร้างราคาหรือปริมาณการซื้อขายหุ้น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ลงโทษทางแพ่ง ‘ภรัณยา รุจนพรพจี’ กรณีปั่นหุ้น TSR สั่งปรับกว่า 32 ล้าน</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https://www.thansettakij.com/finance/stockmarket/649730</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algn="ctr" indent="0" marL="0">
                        <a:buNone/>
                      </a:pPr>
                      <a:r>
                        <a:rPr lang="en-US" sz="1100" b="1" dirty="0">
                          <a:solidFill>
                            <a:srgbClr val="FFFFFF"/>
                          </a:solidFill>
                        </a:rPr>
                        <a:t>24 Jan 2026</a:t>
                      </a:r>
                      <a:endParaRPr lang="en-US" sz="1100" dirty="0"/>
                    </a:p>
                    <a:p>
                      <a:pPr algn="ctr" indent="0" marL="0">
                        <a:buNone/>
                      </a:pPr>
                      <a:r>
                        <a:rPr lang="en-US" sz="1100" b="1" dirty="0">
                          <a:solidFill>
                            <a:srgbClr val="FFFFFF"/>
                          </a:solidFill>
                        </a:rPr>
                        <a:t>MAIN NEWS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00" b="1" dirty="0">
                          <a:solidFill>
                            <a:schemeClr val="tx2"/>
                          </a:solidFill>
                        </a:rPr>
                        <a:t>หุ้นสมาร์ท (Hoonsmart): ก.ล.ต.สั่งปรับ “ภรัณยา รุจนพรพจี” กว่า 32 ลบ. ปั่นหุ้น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00" b="1" u="sng" dirty="0">
                          <a:solidFill>
                            <a:srgbClr val="B3261E"/>
                          </a:solidFill>
                          <a:hlinkClick r:id="rId3"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48640">
                <a:tc>
                  <a:txBody>
                    <a:bodyPr/>
                    <a:lstStyle/>
                    <a:p>
                      <a:pPr indent="0" marL="0">
                        <a:buNone/>
                      </a:pPr>
                      <a:r>
                        <a:rPr lang="en-US" sz="1100" dirty="0">
                          <a:solidFill>
                            <a:schemeClr val="tx1"/>
                          </a:solidFill>
                        </a:rPr>
                        <a:t>26 Mar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ลงดาบ ‘ภรัณยา รุจนพรพจี’ กรณีปั่นหุ้น MSC (related case)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ส่งฟ้อง ‘ภรัณยา รุจนพรพจี’ คดีปั่นหุ้น TSR เรียกชำระ 43 ล้านบาท</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หุ้นสมาร์ท (Hoonsmart): ก.ล.ต.ขออัยการฟ้อง คดีสร้างราคาหุ้น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6"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3-box-2"/>
          <p:cNvSpPr/>
          <p:nvPr/>
        </p:nvSpPr>
        <p:spPr>
          <a:xfrm>
            <a:off x="365760" y="5230368"/>
            <a:ext cx="11460175" cy="868680"/>
          </a:xfrm>
          <a:prstGeom prst="rect">
            <a:avLst/>
          </a:prstGeom>
          <a:solidFill>
            <a:schemeClr val="tx2"/>
          </a:solidFill>
          <a:ln/>
        </p:spPr>
      </p:sp>
      <p:sp>
        <p:nvSpPr>
          <p:cNvPr id="7" name="s3-box-3"/>
          <p:cNvSpPr/>
          <p:nvPr/>
        </p:nvSpPr>
        <p:spPr>
          <a:xfrm>
            <a:off x="548640" y="5527548"/>
            <a:ext cx="1101852" cy="274320"/>
          </a:xfrm>
          <a:prstGeom prst="rect">
            <a:avLst/>
          </a:prstGeom>
          <a:solidFill>
            <a:srgbClr val="B3261E"/>
          </a:solidFill>
          <a:ln/>
        </p:spPr>
      </p:sp>
      <p:sp>
        <p:nvSpPr>
          <p:cNvPr id="8" name="s3-text-4"/>
          <p:cNvSpPr txBox="1"/>
          <p:nvPr/>
        </p:nvSpPr>
        <p:spPr>
          <a:xfrm>
            <a:off x="548640" y="5527548"/>
            <a:ext cx="1101852" cy="274320"/>
          </a:xfrm>
          <a:prstGeom prst="rect">
            <a:avLst/>
          </a:prstGeom>
          <a:noFill/>
          <a:ln/>
        </p:spPr>
        <p:txBody>
          <a:bodyPr wrap="square" lIns="0" tIns="0" rIns="0" bIns="0" rtlCol="0" anchor="ctr"/>
          <a:lstStyle/>
          <a:p>
            <a:pPr algn="ctr" indent="0" marL="0">
              <a:buNone/>
            </a:pPr>
            <a:r>
              <a:rPr lang="en-US" sz="1050" b="1" dirty="0">
                <a:solidFill>
                  <a:srgbClr val="FFFFFF"/>
                </a:solidFill>
              </a:rPr>
              <a:t>MAIN NEWS</a:t>
            </a:r>
            <a:endParaRPr lang="en-US" sz="1050" dirty="0"/>
          </a:p>
        </p:txBody>
      </p:sp>
      <p:sp>
        <p:nvSpPr>
          <p:cNvPr id="9" name="s3-text-5"/>
          <p:cNvSpPr txBox="1"/>
          <p:nvPr/>
        </p:nvSpPr>
        <p:spPr>
          <a:xfrm>
            <a:off x="1833372" y="5230368"/>
            <a:ext cx="9809683" cy="868680"/>
          </a:xfrm>
          <a:prstGeom prst="rect">
            <a:avLst/>
          </a:prstGeom>
          <a:noFill/>
          <a:ln/>
        </p:spPr>
        <p:txBody>
          <a:bodyPr wrap="square" lIns="0" tIns="0" rIns="0" bIns="0" rtlCol="0" anchor="ctr"/>
          <a:lstStyle/>
          <a:p>
            <a:pPr indent="0" marL="0">
              <a:buNone/>
            </a:pPr>
            <a:r>
              <a:rPr lang="en-US" sz="1300" dirty="0">
                <a:solidFill>
                  <a:srgbClr val="FFFFFF"/>
                </a:solidFill>
              </a:rPr>
              <a:t>Hoonsmart, 24 January 2026. </a:t>
            </a:r>
            <a:pPr indent="0" marL="0">
              <a:buNone/>
            </a:pPr>
            <a:r>
              <a:rPr lang="en-US" sz="1300" b="1" dirty="0">
                <a:solidFill>
                  <a:srgbClr val="F28B7E"/>
                </a:solidFill>
              </a:rPr>
              <a:t>All six news items are dated after 1 January 2026</a:t>
            </a:r>
            <a:pPr indent="0" marL="0">
              <a:buNone/>
            </a:pPr>
            <a:r>
              <a:rPr lang="en-US" sz="1300" dirty="0">
                <a:solidFill>
                  <a:srgbClr val="FFFFFF"/>
                </a:solidFill>
              </a:rPr>
              <a:t>, as the assignment requires.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What Happened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2022 prices from Hoonsmart (18 Jun and 30 Aug 2022)</a:t>
            </a:r>
            <a:endParaRPr lang="en-US" sz="1050" dirty="0"/>
          </a:p>
        </p:txBody>
      </p:sp>
      <p:sp>
        <p:nvSpPr>
          <p:cNvPr id="5" name="s4-subbar-1"/>
          <p:cNvSpPr/>
          <p:nvPr/>
        </p:nvSpPr>
        <p:spPr>
          <a:xfrm>
            <a:off x="365760" y="1353312"/>
            <a:ext cx="7315200" cy="347472"/>
          </a:xfrm>
          <a:prstGeom prst="rect">
            <a:avLst/>
          </a:prstGeom>
          <a:solidFill>
            <a:schemeClr val="tx2"/>
          </a:solidFill>
          <a:ln/>
        </p:spPr>
      </p:sp>
      <p:sp>
        <p:nvSpPr>
          <p:cNvPr id="6" name="s4-subbar-text-2"/>
          <p:cNvSpPr txBox="1"/>
          <p:nvPr/>
        </p:nvSpPr>
        <p:spPr>
          <a:xfrm>
            <a:off x="365760" y="1353312"/>
            <a:ext cx="7315200" cy="347472"/>
          </a:xfrm>
          <a:prstGeom prst="rect">
            <a:avLst/>
          </a:prstGeom>
          <a:noFill/>
          <a:ln/>
        </p:spPr>
        <p:txBody>
          <a:bodyPr wrap="square" lIns="0" tIns="0" rIns="0" bIns="0" rtlCol="0" anchor="ctr"/>
          <a:lstStyle/>
          <a:p>
            <a:pPr algn="ctr" indent="0" marL="0">
              <a:buNone/>
            </a:pPr>
            <a:r>
              <a:rPr lang="en-US" sz="1400" b="1" dirty="0">
                <a:solidFill>
                  <a:schemeClr val="bg1"/>
                </a:solidFill>
              </a:rPr>
              <a:t>Summary of the Main News</a:t>
            </a:r>
            <a:endParaRPr lang="en-US" sz="1400" dirty="0"/>
          </a:p>
        </p:txBody>
      </p:sp>
      <p:sp>
        <p:nvSpPr>
          <p:cNvPr id="7" name="s4-box-3"/>
          <p:cNvSpPr/>
          <p:nvPr/>
        </p:nvSpPr>
        <p:spPr>
          <a:xfrm>
            <a:off x="365760" y="1792224"/>
            <a:ext cx="7315200" cy="4334256"/>
          </a:xfrm>
          <a:prstGeom prst="rect">
            <a:avLst/>
          </a:prstGeom>
          <a:solidFill>
            <a:schemeClr val="bg2"/>
          </a:solidFill>
          <a:ln/>
        </p:spPr>
      </p:sp>
      <p:sp>
        <p:nvSpPr>
          <p:cNvPr id="8" name="s4-text-4"/>
          <p:cNvSpPr txBox="1"/>
          <p:nvPr/>
        </p:nvSpPr>
        <p:spPr>
          <a:xfrm>
            <a:off x="594360" y="1883664"/>
            <a:ext cx="6858000" cy="4151376"/>
          </a:xfrm>
          <a:prstGeom prst="rect">
            <a:avLst/>
          </a:prstGeom>
          <a:noFill/>
          <a:ln/>
        </p:spPr>
        <p:txBody>
          <a:bodyPr wrap="square" lIns="0" tIns="0" rIns="0" bIns="0" rtlCol="0" anchor="ctr"/>
          <a:lstStyle/>
          <a:p>
            <a:pPr indent="0" marL="0">
              <a:spcAft>
                <a:spcPts val="1000"/>
              </a:spcAft>
              <a:buNone/>
            </a:pPr>
            <a:r>
              <a:rPr lang="en-US" sz="1350" b="1" dirty="0">
                <a:solidFill>
                  <a:schemeClr val="tx2"/>
                </a:solidFill>
              </a:rPr>
              <a:t>Who: </a:t>
            </a:r>
            <a:pPr indent="0" marL="0">
              <a:spcAft>
                <a:spcPts val="1000"/>
              </a:spcAft>
              <a:buNone/>
            </a:pPr>
            <a:r>
              <a:rPr lang="en-US" sz="1350" dirty="0">
                <a:solidFill>
                  <a:schemeClr val="tx1"/>
                </a:solidFill>
              </a:rPr>
              <a:t>นางสาวภรัณยา รุจนพรพจี, an individual investor and a major shareholder of SABUY.</a:t>
            </a:r>
            <a:endParaRPr lang="en-US" sz="1350" dirty="0"/>
          </a:p>
          <a:p>
            <a:pPr indent="0" marL="0">
              <a:spcAft>
                <a:spcPts val="1000"/>
              </a:spcAft>
              <a:buNone/>
            </a:pPr>
            <a:r>
              <a:rPr lang="en-US" sz="1350" b="1" dirty="0">
                <a:solidFill>
                  <a:schemeClr val="tx2"/>
                </a:solidFill>
              </a:rPr>
              <a:t>What: </a:t>
            </a:r>
            <a:pPr indent="0" marL="0">
              <a:spcAft>
                <a:spcPts val="1000"/>
              </a:spcAft>
              <a:buNone/>
            </a:pPr>
            <a:r>
              <a:rPr lang="en-US" sz="1350" b="1" dirty="0">
                <a:solidFill>
                  <a:srgbClr val="B3261E"/>
                </a:solidFill>
              </a:rPr>
              <a:t>created the price and volume of TSR shares</a:t>
            </a:r>
            <a:pPr indent="0" marL="0">
              <a:spcAft>
                <a:spcPts val="1000"/>
              </a:spcAft>
              <a:buNone/>
            </a:pPr>
            <a:r>
              <a:rPr lang="en-US" sz="1350" dirty="0">
                <a:solidFill>
                  <a:schemeClr val="tx1"/>
                </a:solidFill>
              </a:rPr>
              <a:t>, which are listed on the SET.</a:t>
            </a:r>
            <a:endParaRPr lang="en-US" sz="1350" dirty="0"/>
          </a:p>
          <a:p>
            <a:pPr indent="0" marL="0">
              <a:spcAft>
                <a:spcPts val="1000"/>
              </a:spcAft>
              <a:buNone/>
            </a:pPr>
            <a:r>
              <a:rPr lang="en-US" sz="1350" b="1" dirty="0">
                <a:solidFill>
                  <a:schemeClr val="tx2"/>
                </a:solidFill>
              </a:rPr>
              <a:t>When: </a:t>
            </a:r>
            <a:pPr indent="0" marL="0">
              <a:spcAft>
                <a:spcPts val="1000"/>
              </a:spcAft>
              <a:buNone/>
            </a:pPr>
            <a:r>
              <a:rPr lang="en-US" sz="1350" dirty="0">
                <a:solidFill>
                  <a:schemeClr val="tx1"/>
                </a:solidFill>
              </a:rPr>
              <a:t>22 June to 31 August 2022, </a:t>
            </a:r>
            <a:pPr indent="0" marL="0">
              <a:spcAft>
                <a:spcPts val="1000"/>
              </a:spcAft>
              <a:buNone/>
            </a:pPr>
            <a:r>
              <a:rPr lang="en-US" sz="1350" b="1" dirty="0">
                <a:solidFill>
                  <a:srgbClr val="B3261E"/>
                </a:solidFill>
              </a:rPr>
              <a:t>47 trading days</a:t>
            </a:r>
            <a:pPr indent="0" marL="0">
              <a:spcAft>
                <a:spcPts val="1000"/>
              </a:spcAft>
              <a:buNone/>
            </a:pPr>
            <a:r>
              <a:rPr lang="en-US" sz="1350" dirty="0">
                <a:solidFill>
                  <a:schemeClr val="tx1"/>
                </a:solidFill>
              </a:rPr>
              <a:t>.</a:t>
            </a:r>
            <a:endParaRPr lang="en-US" sz="1350" dirty="0"/>
          </a:p>
          <a:p>
            <a:pPr indent="0" marL="0">
              <a:spcAft>
                <a:spcPts val="1000"/>
              </a:spcAft>
              <a:buNone/>
            </a:pPr>
            <a:r>
              <a:rPr lang="en-US" sz="1350" b="1" dirty="0">
                <a:solidFill>
                  <a:schemeClr val="tx2"/>
                </a:solidFill>
              </a:rPr>
              <a:t>How: </a:t>
            </a:r>
            <a:pPr indent="0" marL="0">
              <a:spcAft>
                <a:spcPts val="1000"/>
              </a:spcAft>
              <a:buNone/>
            </a:pPr>
            <a:r>
              <a:rPr lang="en-US" sz="1350" dirty="0">
                <a:solidFill>
                  <a:schemeClr val="tx1"/>
                </a:solidFill>
              </a:rPr>
              <a:t>hit the offers, swept the sell orders, and </a:t>
            </a:r>
            <a:pPr indent="0" marL="0">
              <a:spcAft>
                <a:spcPts val="1000"/>
              </a:spcAft>
              <a:buNone/>
            </a:pPr>
            <a:r>
              <a:rPr lang="en-US" sz="1350" b="1" dirty="0">
                <a:solidFill>
                  <a:srgbClr val="B3261E"/>
                </a:solidFill>
              </a:rPr>
              <a:t>held large bids at price levels 1 and 2</a:t>
            </a:r>
            <a:pPr indent="0" marL="0">
              <a:spcAft>
                <a:spcPts val="1000"/>
              </a:spcAft>
              <a:buNone/>
            </a:pPr>
            <a:r>
              <a:rPr lang="en-US" sz="1350" dirty="0">
                <a:solidFill>
                  <a:schemeClr val="tx1"/>
                </a:solidFill>
              </a:rPr>
              <a:t>.</a:t>
            </a:r>
            <a:endParaRPr lang="en-US" sz="1350" dirty="0"/>
          </a:p>
          <a:p>
            <a:pPr indent="0" marL="0">
              <a:spcAft>
                <a:spcPts val="1000"/>
              </a:spcAft>
              <a:buNone/>
            </a:pPr>
            <a:r>
              <a:rPr lang="en-US" sz="1350" b="1" dirty="0">
                <a:solidFill>
                  <a:schemeClr val="tx2"/>
                </a:solidFill>
              </a:rPr>
              <a:t>Why (SEC): </a:t>
            </a:r>
            <a:pPr indent="0" marL="0">
              <a:spcAft>
                <a:spcPts val="1000"/>
              </a:spcAft>
              <a:buNone/>
            </a:pPr>
            <a:r>
              <a:rPr lang="en-US" sz="1350" dirty="0">
                <a:solidFill>
                  <a:schemeClr val="tx1"/>
                </a:solidFill>
              </a:rPr>
              <a:t>a fair-value gain for SABUY at the end of Q2/2022, and a profit from the price spread.</a:t>
            </a:r>
            <a:endParaRPr lang="en-US" sz="1350" dirty="0"/>
          </a:p>
          <a:p>
            <a:pPr indent="0" marL="0">
              <a:spcAft>
                <a:spcPts val="1000"/>
              </a:spcAft>
              <a:buNone/>
            </a:pPr>
            <a:r>
              <a:rPr lang="en-US" sz="1350" b="1" dirty="0">
                <a:solidFill>
                  <a:schemeClr val="tx2"/>
                </a:solidFill>
              </a:rPr>
              <a:t>Result: </a:t>
            </a:r>
            <a:pPr indent="0" marL="0">
              <a:spcAft>
                <a:spcPts val="1000"/>
              </a:spcAft>
              <a:buNone/>
            </a:pPr>
            <a:r>
              <a:rPr lang="en-US" sz="1350" dirty="0">
                <a:solidFill>
                  <a:schemeClr val="tx1"/>
                </a:solidFill>
              </a:rPr>
              <a:t>CSC sanction of </a:t>
            </a:r>
            <a:pPr indent="0" marL="0">
              <a:spcAft>
                <a:spcPts val="1000"/>
              </a:spcAft>
              <a:buNone/>
            </a:pPr>
            <a:r>
              <a:rPr lang="en-US" sz="1350" b="1" dirty="0">
                <a:solidFill>
                  <a:srgbClr val="B3261E"/>
                </a:solidFill>
              </a:rPr>
              <a:t>THB 32.3 million</a:t>
            </a:r>
            <a:pPr indent="0" marL="0">
              <a:spcAft>
                <a:spcPts val="1000"/>
              </a:spcAft>
              <a:buNone/>
            </a:pPr>
            <a:r>
              <a:rPr lang="en-US" sz="1350" dirty="0">
                <a:solidFill>
                  <a:schemeClr val="tx1"/>
                </a:solidFill>
              </a:rPr>
              <a:t> (Jan 2026). She refused, so the SEC asked the prosecutor to sue for </a:t>
            </a:r>
            <a:pPr indent="0" marL="0">
              <a:spcAft>
                <a:spcPts val="1000"/>
              </a:spcAft>
              <a:buNone/>
            </a:pPr>
            <a:r>
              <a:rPr lang="en-US" sz="1350" b="1" dirty="0">
                <a:solidFill>
                  <a:srgbClr val="B3261E"/>
                </a:solidFill>
              </a:rPr>
              <a:t>THB 43.0 million</a:t>
            </a:r>
            <a:pPr indent="0" marL="0">
              <a:spcAft>
                <a:spcPts val="1000"/>
              </a:spcAft>
              <a:buNone/>
            </a:pPr>
            <a:r>
              <a:rPr lang="en-US" sz="1350" dirty="0">
                <a:solidFill>
                  <a:schemeClr val="tx1"/>
                </a:solidFill>
              </a:rPr>
              <a:t> plus interest (May 2026).</a:t>
            </a:r>
            <a:endParaRPr lang="en-US" sz="1350" dirty="0"/>
          </a:p>
          <a:p>
            <a:pPr indent="0" marL="0">
              <a:spcAft>
                <a:spcPts val="1000"/>
              </a:spcAft>
              <a:buNone/>
            </a:pPr>
            <a:r>
              <a:rPr lang="en-US" sz="1350" b="1" dirty="0">
                <a:solidFill>
                  <a:schemeClr val="tx2"/>
                </a:solidFill>
              </a:rPr>
              <a:t>Main news: </a:t>
            </a:r>
            <a:pPr indent="0" marL="0">
              <a:spcAft>
                <a:spcPts val="1000"/>
              </a:spcAft>
              <a:buNone/>
            </a:pPr>
            <a:r>
              <a:rPr lang="en-US" sz="135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350" dirty="0"/>
          </a:p>
        </p:txBody>
      </p:sp>
      <p:sp>
        <p:nvSpPr>
          <p:cNvPr id="9" name="s4-box-5"/>
          <p:cNvSpPr/>
          <p:nvPr/>
        </p:nvSpPr>
        <p:spPr>
          <a:xfrm>
            <a:off x="7818120" y="1353312"/>
            <a:ext cx="4007815" cy="2318004"/>
          </a:xfrm>
          <a:prstGeom prst="rect">
            <a:avLst/>
          </a:prstGeom>
          <a:solidFill>
            <a:schemeClr val="tx2"/>
          </a:solidFill>
          <a:ln/>
        </p:spPr>
      </p:sp>
      <p:sp>
        <p:nvSpPr>
          <p:cNvPr id="10" name="s4-text-6"/>
          <p:cNvSpPr txBox="1"/>
          <p:nvPr/>
        </p:nvSpPr>
        <p:spPr>
          <a:xfrm>
            <a:off x="8092440" y="1536192"/>
            <a:ext cx="3459175" cy="1043102"/>
          </a:xfrm>
          <a:prstGeom prst="rect">
            <a:avLst/>
          </a:prstGeom>
          <a:noFill/>
          <a:ln/>
        </p:spPr>
        <p:txBody>
          <a:bodyPr wrap="square" lIns="0" tIns="0" rIns="0" bIns="0" rtlCol="0" anchor="ctr"/>
          <a:lstStyle/>
          <a:p>
            <a:pPr indent="0" marL="0">
              <a:buNone/>
            </a:pPr>
            <a:r>
              <a:rPr lang="en-US" sz="5000" b="1" dirty="0">
                <a:solidFill>
                  <a:srgbClr val="F28B7E"/>
                </a:solidFill>
              </a:rPr>
              <a:t>47</a:t>
            </a:r>
            <a:endParaRPr lang="en-US" sz="5000" dirty="0"/>
          </a:p>
        </p:txBody>
      </p:sp>
      <p:sp>
        <p:nvSpPr>
          <p:cNvPr id="11" name="s4-text-7"/>
          <p:cNvSpPr txBox="1"/>
          <p:nvPr/>
        </p:nvSpPr>
        <p:spPr>
          <a:xfrm>
            <a:off x="8092440" y="2579294"/>
            <a:ext cx="3459175" cy="811301"/>
          </a:xfrm>
          <a:prstGeom prst="rect">
            <a:avLst/>
          </a:prstGeom>
          <a:noFill/>
          <a:ln/>
        </p:spPr>
        <p:txBody>
          <a:bodyPr wrap="square" lIns="0" tIns="0" rIns="0" bIns="0" rtlCol="0" anchor="t"/>
          <a:lstStyle/>
          <a:p>
            <a:pPr indent="0" marL="0">
              <a:buNone/>
            </a:pPr>
            <a:r>
              <a:rPr lang="en-US" sz="1300" dirty="0">
                <a:solidFill>
                  <a:srgbClr val="FFFFFF"/>
                </a:solidFill>
              </a:rPr>
              <a:t>trading days of manipulation, 22 June to 31 August 2022</a:t>
            </a:r>
            <a:endParaRPr lang="en-US" sz="1300" dirty="0"/>
          </a:p>
        </p:txBody>
      </p:sp>
      <p:sp>
        <p:nvSpPr>
          <p:cNvPr id="12" name="s4-box-8"/>
          <p:cNvSpPr/>
          <p:nvPr/>
        </p:nvSpPr>
        <p:spPr>
          <a:xfrm>
            <a:off x="7818120" y="3808476"/>
            <a:ext cx="4007815" cy="2318004"/>
          </a:xfrm>
          <a:prstGeom prst="rect">
            <a:avLst/>
          </a:prstGeom>
          <a:solidFill>
            <a:schemeClr val="tx2"/>
          </a:solidFill>
          <a:ln/>
        </p:spPr>
      </p:sp>
      <p:sp>
        <p:nvSpPr>
          <p:cNvPr id="13" name="s4-text-9"/>
          <p:cNvSpPr txBox="1"/>
          <p:nvPr/>
        </p:nvSpPr>
        <p:spPr>
          <a:xfrm>
            <a:off x="8092440" y="3991356"/>
            <a:ext cx="3459175" cy="1043102"/>
          </a:xfrm>
          <a:prstGeom prst="rect">
            <a:avLst/>
          </a:prstGeom>
          <a:noFill/>
          <a:ln/>
        </p:spPr>
        <p:txBody>
          <a:bodyPr wrap="square" lIns="0" tIns="0" rIns="0" bIns="0" rtlCol="0" anchor="ctr"/>
          <a:lstStyle/>
          <a:p>
            <a:pPr indent="0" marL="0">
              <a:buNone/>
            </a:pPr>
            <a:r>
              <a:rPr lang="en-US" sz="5000" b="1" dirty="0">
                <a:solidFill>
                  <a:srgbClr val="F28B7E"/>
                </a:solidFill>
              </a:rPr>
              <a:t>+56%</a:t>
            </a:r>
            <a:endParaRPr lang="en-US" sz="5000" dirty="0"/>
          </a:p>
        </p:txBody>
      </p:sp>
      <p:sp>
        <p:nvSpPr>
          <p:cNvPr id="14" name="s4-text-10"/>
          <p:cNvSpPr txBox="1"/>
          <p:nvPr/>
        </p:nvSpPr>
        <p:spPr>
          <a:xfrm>
            <a:off x="8092440" y="5034458"/>
            <a:ext cx="3459175" cy="811301"/>
          </a:xfrm>
          <a:prstGeom prst="rect">
            <a:avLst/>
          </a:prstGeom>
          <a:noFill/>
          <a:ln/>
        </p:spPr>
        <p:txBody>
          <a:bodyPr wrap="square" lIns="0" tIns="0" rIns="0" bIns="0" rtlCol="0" anchor="t"/>
          <a:lstStyle/>
          <a:p>
            <a:pPr indent="0" marL="0">
              <a:buNone/>
            </a:pPr>
            <a:r>
              <a:rPr lang="en-US" sz="1300" dirty="0">
                <a:solidFill>
                  <a:srgbClr val="FFFFFF"/>
                </a:solidFill>
              </a:rPr>
              <a:t>TSR price, THB 4.24 (17 Jun) to THB 6.60 (30 Aug 2022)</a:t>
            </a:r>
            <a:endParaRPr lang="en-US" sz="1300" dirty="0"/>
          </a:p>
        </p:txBody>
      </p:sp>
      <p:sp>
        <p:nvSpPr>
          <p:cNvPr id="15" name="s4-text-11"/>
          <p:cNvSpPr txBox="1"/>
          <p:nvPr/>
        </p:nvSpPr>
        <p:spPr>
          <a:xfrm>
            <a:off x="8092440" y="5715000"/>
            <a:ext cx="3459175" cy="320040"/>
          </a:xfrm>
          <a:prstGeom prst="rect">
            <a:avLst/>
          </a:prstGeom>
          <a:noFill/>
          <a:ln/>
        </p:spPr>
        <p:txBody>
          <a:bodyPr wrap="square" lIns="0" tIns="0" rIns="0" bIns="0" rtlCol="0" anchor="ctr"/>
          <a:lstStyle/>
          <a:p>
            <a:pPr indent="0" marL="0">
              <a:buNone/>
            </a:pPr>
            <a:r>
              <a:rPr lang="en-US" sz="1000" i="1" dirty="0">
                <a:solidFill>
                  <a:srgbClr val="C5CCD8"/>
                </a:solidFill>
              </a:rPr>
              <a:t>2022 news reports (Hoonsmart), not the SEC</a:t>
            </a:r>
            <a:endParaRPr lang="en-US" sz="10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Timeline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Mitihoon (23 Jan 2026); Thansettakij (26 Mar and 11 May 2026)</a:t>
            </a:r>
            <a:endParaRPr lang="en-US" sz="1050" dirty="0"/>
          </a:p>
        </p:txBody>
      </p:sp>
      <p:graphicFrame>
        <p:nvGraphicFramePr>
          <p:cNvPr id="6" name="s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63040"/>
                <a:gridCol w="7589520"/>
                <a:gridCol w="2407615"/>
              </a:tblGrid>
              <a:tr h="347472">
                <a:tc>
                  <a:txBody>
                    <a:bodyPr/>
                    <a:lstStyle/>
                    <a:p>
                      <a:pPr algn="ctr" indent="0" marL="0">
                        <a:buNone/>
                      </a:pPr>
                      <a:r>
                        <a:rPr lang="en-US" sz="1200" b="1" dirty="0">
                          <a:solidFill>
                            <a:schemeClr val="bg1"/>
                          </a:solidFill>
                        </a:rPr>
                        <a:t>Date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Event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Source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3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SABUY agrees to buy 24.90% of TSR from the Jaengyu family</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RYT9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17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buys 22.5 million TSR shares at THB 5.25; her own stake rises to 13.02%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FFFFFF"/>
                          </a:solidFill>
                        </a:rPr>
                        <a:t>22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The manipulation period starts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30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End of Q2/2022: SABUY measures its TSR investment at fair value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Hoonsmart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30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TSR trades at THB 6.60, up 9.09% that morning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31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The period ends after 47 trading days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indent="0" marL="0">
                        <a:buNone/>
                      </a:pPr>
                      <a:r>
                        <a:rPr lang="en-US" sz="1200" dirty="0">
                          <a:solidFill>
                            <a:schemeClr val="tx1"/>
                          </a:solidFill>
                        </a:rPr>
                        <a:t>Oct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SET sends the information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23 Jan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CSC civil sanction: THB 32,327,329, 6-month trading ban, 12-month director ban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26 Mar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Related MSC case sent to the Civil Court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11 May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refuses; the SEC asks the prosecutor to sue for THB 43,018,879.32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5-box-2"/>
          <p:cNvSpPr/>
          <p:nvPr/>
        </p:nvSpPr>
        <p:spPr>
          <a:xfrm>
            <a:off x="365760" y="5532120"/>
            <a:ext cx="11460175" cy="566928"/>
          </a:xfrm>
          <a:prstGeom prst="rect">
            <a:avLst/>
          </a:prstGeom>
          <a:solidFill>
            <a:schemeClr val="tx2"/>
          </a:solidFill>
          <a:ln/>
        </p:spPr>
      </p:sp>
      <p:sp>
        <p:nvSpPr>
          <p:cNvPr id="7" name="s5-box-3"/>
          <p:cNvSpPr/>
          <p:nvPr/>
        </p:nvSpPr>
        <p:spPr>
          <a:xfrm>
            <a:off x="548640" y="5678424"/>
            <a:ext cx="914400" cy="274320"/>
          </a:xfrm>
          <a:prstGeom prst="rect">
            <a:avLst/>
          </a:prstGeom>
          <a:solidFill>
            <a:srgbClr val="B3261E"/>
          </a:solidFill>
          <a:ln/>
        </p:spPr>
      </p:sp>
      <p:sp>
        <p:nvSpPr>
          <p:cNvPr id="8" name="s5-text-4"/>
          <p:cNvSpPr txBox="1"/>
          <p:nvPr/>
        </p:nvSpPr>
        <p:spPr>
          <a:xfrm>
            <a:off x="548640" y="567842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STATUS</a:t>
            </a:r>
            <a:endParaRPr lang="en-US" sz="1050" dirty="0"/>
          </a:p>
        </p:txBody>
      </p:sp>
      <p:sp>
        <p:nvSpPr>
          <p:cNvPr id="9" name="s5-text-5"/>
          <p:cNvSpPr txBox="1"/>
          <p:nvPr/>
        </p:nvSpPr>
        <p:spPr>
          <a:xfrm>
            <a:off x="1645920" y="5532120"/>
            <a:ext cx="9997135" cy="566928"/>
          </a:xfrm>
          <a:prstGeom prst="rect">
            <a:avLst/>
          </a:prstGeom>
          <a:noFill/>
          <a:ln/>
        </p:spPr>
        <p:txBody>
          <a:bodyPr wrap="square" lIns="0" tIns="0" rIns="0" bIns="0" rtlCol="0" anchor="ctr"/>
          <a:lstStyle/>
          <a:p>
            <a:pPr indent="0" marL="0">
              <a:buNone/>
            </a:pPr>
            <a:r>
              <a:rPr lang="en-US" sz="1300" dirty="0">
                <a:solidFill>
                  <a:srgbClr val="FFFFFF"/>
                </a:solidFill>
              </a:rPr>
              <a:t>Red rows: the 47-day period. </a:t>
            </a:r>
            <a:pPr indent="0" marL="0">
              <a:buNone/>
            </a:pPr>
            <a:r>
              <a:rPr lang="en-US" sz="1300" b="1" dirty="0">
                <a:solidFill>
                  <a:srgbClr val="F28B7E"/>
                </a:solidFill>
              </a:rPr>
              <a:t>No court judgment</a:t>
            </a:r>
            <a:pPr indent="0" marL="0">
              <a:buNone/>
            </a:pPr>
            <a:r>
              <a:rPr lang="en-US" sz="1300" dirty="0">
                <a:solidFill>
                  <a:srgbClr val="FFFFFF"/>
                </a:solidFill>
              </a:rPr>
              <a:t> had been reported as of October 2026.</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Stakeholders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(18 Jun 2022, 24 Jan and 11 May 2026); Thansettakij (11 May 2026); Securities and Exchange Act s.317/3</a:t>
            </a:r>
            <a:endParaRPr lang="en-US" sz="1050" dirty="0"/>
          </a:p>
        </p:txBody>
      </p:sp>
      <p:graphicFrame>
        <p:nvGraphicFramePr>
          <p:cNvPr id="7" name="s6-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3017520"/>
                <a:gridCol w="4389120"/>
                <a:gridCol w="4053535"/>
              </a:tblGrid>
              <a:tr h="347472">
                <a:tc>
                  <a:txBody>
                    <a:bodyPr/>
                    <a:lstStyle/>
                    <a:p>
                      <a:pPr algn="ctr" indent="0" marL="0">
                        <a:buNone/>
                      </a:pPr>
                      <a:r>
                        <a:rPr lang="en-US" sz="1200" b="1" dirty="0">
                          <a:solidFill>
                            <a:schemeClr val="bg1"/>
                          </a:solidFill>
                        </a:rPr>
                        <a:t>Stakeholder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Role in the case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Interest or impact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57200">
                <a:tc>
                  <a:txBody>
                    <a:bodyPr/>
                    <a:lstStyle/>
                    <a:p>
                      <a:pPr algn="l" indent="0" marL="0">
                        <a:buNone/>
                      </a:pPr>
                      <a:r>
                        <a:rPr lang="en-US" sz="1200" b="1" dirty="0">
                          <a:solidFill>
                            <a:srgbClr val="FFFFFF"/>
                          </a:solidFill>
                        </a:rPr>
                        <a:t>นางสาวภรัณยา รุจนพรพจี</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Alleged offender; holds shares in SABUY and 13.02% of TSR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b="1" dirty="0">
                          <a:solidFill>
                            <a:schemeClr val="tx2"/>
                          </a:solidFill>
                        </a:rPr>
                        <a:t>Civil sanctions and possible criminal penalties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57200">
                <a:tc>
                  <a:txBody>
                    <a:bodyPr/>
                    <a:lstStyle/>
                    <a:p>
                      <a:pPr indent="0" marL="0">
                        <a:buNone/>
                      </a:pPr>
                      <a:r>
                        <a:rPr lang="en-US" sz="1200" b="1" dirty="0">
                          <a:solidFill>
                            <a:schemeClr val="tx2"/>
                          </a:solidFill>
                        </a:rPr>
                        <a:t>SABUY (Sabuy Technology PCL)</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Beneficiary; agreed to buy 24.90% of TSR in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Fair-value gain at the end of Q2/2022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TSR and its shareholders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stock whose price was created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Distorted price and trading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Other investors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Misled about price and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Had to bid higher to get shares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Stock Exchange of Thailand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Market operator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Detected the trades; referred them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SEC Office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Regulator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Investigated; proposed sanctions; asked for a lawsuit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Civil Sanction Committee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Chaired by the Attorney-General (s.317/3)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Set THB 32.3 million and the bans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Prosecutor, Civil Court, AMLO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Lawsuit and money-laundering review</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Claim of THB 43.0 million plus interest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6-box-2"/>
          <p:cNvSpPr/>
          <p:nvPr/>
        </p:nvSpPr>
        <p:spPr>
          <a:xfrm>
            <a:off x="365760" y="5440680"/>
            <a:ext cx="11460175" cy="658368"/>
          </a:xfrm>
          <a:prstGeom prst="rect">
            <a:avLst/>
          </a:prstGeom>
          <a:solidFill>
            <a:schemeClr val="tx2"/>
          </a:solidFill>
          <a:ln/>
        </p:spPr>
      </p:sp>
      <p:sp>
        <p:nvSpPr>
          <p:cNvPr id="7" name="s6-box-3"/>
          <p:cNvSpPr/>
          <p:nvPr/>
        </p:nvSpPr>
        <p:spPr>
          <a:xfrm>
            <a:off x="548640" y="5632704"/>
            <a:ext cx="1101852" cy="274320"/>
          </a:xfrm>
          <a:prstGeom prst="rect">
            <a:avLst/>
          </a:prstGeom>
          <a:solidFill>
            <a:srgbClr val="B3261E"/>
          </a:solidFill>
          <a:ln/>
        </p:spPr>
      </p:sp>
      <p:sp>
        <p:nvSpPr>
          <p:cNvPr id="8" name="s6-text-4"/>
          <p:cNvSpPr txBox="1"/>
          <p:nvPr/>
        </p:nvSpPr>
        <p:spPr>
          <a:xfrm>
            <a:off x="548640" y="5632704"/>
            <a:ext cx="1101852" cy="274320"/>
          </a:xfrm>
          <a:prstGeom prst="rect">
            <a:avLst/>
          </a:prstGeom>
          <a:noFill/>
          <a:ln/>
        </p:spPr>
        <p:txBody>
          <a:bodyPr wrap="square" lIns="0" tIns="0" rIns="0" bIns="0" rtlCol="0" anchor="ctr"/>
          <a:lstStyle/>
          <a:p>
            <a:pPr algn="ctr" indent="0" marL="0">
              <a:buNone/>
            </a:pPr>
            <a:r>
              <a:rPr lang="en-US" sz="1050" b="1" dirty="0">
                <a:solidFill>
                  <a:srgbClr val="FFFFFF"/>
                </a:solidFill>
              </a:rPr>
              <a:t>KEY POINT</a:t>
            </a:r>
            <a:endParaRPr lang="en-US" sz="1050" dirty="0"/>
          </a:p>
        </p:txBody>
      </p:sp>
      <p:sp>
        <p:nvSpPr>
          <p:cNvPr id="9" name="s6-text-5"/>
          <p:cNvSpPr txBox="1"/>
          <p:nvPr/>
        </p:nvSpPr>
        <p:spPr>
          <a:xfrm>
            <a:off x="1833372" y="5440680"/>
            <a:ext cx="9809683" cy="658368"/>
          </a:xfrm>
          <a:prstGeom prst="rect">
            <a:avLst/>
          </a:prstGeom>
          <a:noFill/>
          <a:ln/>
        </p:spPr>
        <p:txBody>
          <a:bodyPr wrap="square" lIns="0" tIns="0" rIns="0" bIns="0" rtlCol="0" anchor="ctr"/>
          <a:lstStyle/>
          <a:p>
            <a:pPr indent="0" marL="0">
              <a:buNone/>
            </a:pPr>
            <a:r>
              <a:rPr lang="en-US" sz="1300" dirty="0">
                <a:solidFill>
                  <a:srgbClr val="FFFFFF"/>
                </a:solidFill>
              </a:rPr>
              <a:t>She held SABUY shares and </a:t>
            </a:r>
            <a:pPr indent="0" marL="0">
              <a:buNone/>
            </a:pPr>
            <a:r>
              <a:rPr lang="en-US" sz="1300" b="1" dirty="0">
                <a:solidFill>
                  <a:srgbClr val="F28B7E"/>
                </a:solidFill>
              </a:rPr>
              <a:t>13.02% of TSR herself</a:t>
            </a:r>
            <a:pPr indent="0" marL="0">
              <a:buNone/>
            </a:pPr>
            <a:r>
              <a:rPr lang="en-US" sz="1300" dirty="0">
                <a:solidFill>
                  <a:srgbClr val="FFFFFF"/>
                </a:solidFill>
              </a:rPr>
              <a:t>, so she gained directly when TSR’s price rose.</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and Thansettakij (23 Jan 2026); Hoonsmart (24 Jan 2026); Thansettakij (11 May 2026)</a:t>
            </a:r>
            <a:endParaRPr lang="en-US" sz="1050" dirty="0"/>
          </a:p>
        </p:txBody>
      </p:sp>
      <p:graphicFrame>
        <p:nvGraphicFramePr>
          <p:cNvPr id="8" name="s7-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640080"/>
                <a:gridCol w="8595360"/>
                <a:gridCol w="2224735"/>
              </a:tblGrid>
              <a:tr h="347472">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150" b="1" dirty="0">
                          <a:solidFill>
                            <a:schemeClr val="tx2"/>
                          </a:solidFill>
                        </a:rPr>
                        <a:t>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นางสาวภรัณยา รุจนพรพจี is an individual investor and a major shareholder of SABUY.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150" b="1" dirty="0">
                          <a:solidFill>
                            <a:schemeClr val="tx2"/>
                          </a:solidFill>
                        </a:rPr>
                        <a:t>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Stock Exchange of Thailand (SET).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rgbClr val="FFFFFF"/>
                          </a:solidFill>
                        </a:rPr>
                        <a:t>F3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From 22 Jun to 31 Aug 2022 (47 trading days), she hit the offers to push the price up and swept the sell orders continuously.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12064">
                <a:tc>
                  <a:txBody>
                    <a:bodyPr/>
                    <a:lstStyle/>
                    <a:p>
                      <a:pPr algn="ctr" indent="0" marL="0">
                        <a:buNone/>
                      </a:pPr>
                      <a:r>
                        <a:rPr lang="en-US" sz="1150" b="1" dirty="0">
                          <a:solidFill>
                            <a:srgbClr val="FFFFFF"/>
                          </a:solidFill>
                        </a:rPr>
                        <a:t>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She held large buy orders at bid price levels 1 and 2, so other buyers had to bid higher to get shares quickly, and the price rose.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a:txBody>
                    <a:bodyPr/>
                    <a:lstStyle/>
                    <a:p>
                      <a:pPr algn="ctr" indent="0" marL="0">
                        <a:buNone/>
                      </a:pPr>
                      <a:r>
                        <a:rPr lang="en-US" sz="1150" b="1" dirty="0">
                          <a:solidFill>
                            <a:schemeClr val="tx2"/>
                          </a:solidFill>
                        </a:rPr>
                        <a:t>F5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her purposes were a fair-value gain for SABUY at the end of Q2/2022 and a profit from the price spread.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tx2"/>
                          </a:solidFill>
                        </a:rPr>
                        <a:t>F6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the conduct misled the public about price and volume and moved them away from normal market conditions.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SET referred the case in Oct 2022. CSC sanction (Jan 2026): THB 32,327,329, 6-month trading ban, 12-month director ban.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did not consent. On 11 May 2026 the SEC asked the prosecutor to sue for THB 43,018,879.32 plus interest; AMLO notified.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11 May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 reported in any news: pre-open or pre-close orders, false statements, inside information, others’ accounts, system disruption.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All six news items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Order Book</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illustration of F3 and F4, based on Mitihoon (23 Jan 2026)</a:t>
            </a:r>
            <a:endParaRPr lang="en-US" sz="1050" dirty="0"/>
          </a:p>
        </p:txBody>
      </p:sp>
      <p:sp>
        <p:nvSpPr>
          <p:cNvPr id="5" name="s8-subbar-1"/>
          <p:cNvSpPr/>
          <p:nvPr/>
        </p:nvSpPr>
        <p:spPr>
          <a:xfrm>
            <a:off x="365760" y="1353312"/>
            <a:ext cx="5486400" cy="347472"/>
          </a:xfrm>
          <a:prstGeom prst="rect">
            <a:avLst/>
          </a:prstGeom>
          <a:solidFill>
            <a:schemeClr val="tx2"/>
          </a:solidFill>
          <a:ln/>
        </p:spPr>
      </p:sp>
      <p:sp>
        <p:nvSpPr>
          <p:cNvPr id="6" name="s8-subbar-text-2"/>
          <p:cNvSpPr txBox="1"/>
          <p:nvPr/>
        </p:nvSpPr>
        <p:spPr>
          <a:xfrm>
            <a:off x="365760" y="1353312"/>
            <a:ext cx="5486400" cy="347472"/>
          </a:xfrm>
          <a:prstGeom prst="rect">
            <a:avLst/>
          </a:prstGeom>
          <a:noFill/>
          <a:ln/>
        </p:spPr>
        <p:txBody>
          <a:bodyPr wrap="square" lIns="0" tIns="0" rIns="0" bIns="0" rtlCol="0" anchor="ctr"/>
          <a:lstStyle/>
          <a:p>
            <a:pPr algn="ctr" indent="0" marL="0">
              <a:buNone/>
            </a:pPr>
            <a:r>
              <a:rPr lang="en-US" sz="1400" b="1" dirty="0">
                <a:solidFill>
                  <a:schemeClr val="bg1"/>
                </a:solidFill>
              </a:rPr>
              <a:t>Hypothetical Order Book</a:t>
            </a:r>
            <a:endParaRPr lang="en-US" sz="1400" dirty="0"/>
          </a:p>
        </p:txBody>
      </p:sp>
      <p:graphicFrame>
        <p:nvGraphicFramePr>
          <p:cNvPr id="9" name="s8-table-3"/>
          <p:cNvGraphicFramePr>
            <a:graphicFrameLocks noGrp="1"/>
          </p:cNvGraphicFramePr>
          <p:nvPr>
            <p:extLst>
              <p:ext uri="{D42A27DB-BD31-4B8C-83A1-F6EECF244321}">
                <p14:modId xmlns:p14="http://schemas.microsoft.com/office/powerpoint/2010/main" val="1579011935"/>
              </p:ext>
            </p:extLst>
          </p:nvPr>
        </p:nvGraphicFramePr>
        <p:xfrm>
          <a:off x="365760" y="1792224"/>
          <a:ext cx="5486400" cy="914400"/>
        </p:xfrm>
        <a:graphic>
          <a:graphicData uri="http://schemas.openxmlformats.org/drawingml/2006/table">
            <a:tbl>
              <a:tblPr/>
              <a:tblGrid>
                <a:gridCol w="1463040"/>
                <a:gridCol w="1188720"/>
                <a:gridCol w="1188720"/>
                <a:gridCol w="1645920"/>
              </a:tblGrid>
              <a:tr h="384048">
                <a:tc>
                  <a:txBody>
                    <a:bodyPr/>
                    <a:lstStyle/>
                    <a:p>
                      <a:pPr algn="ctr" indent="0" marL="0">
                        <a:buNone/>
                      </a:pPr>
                      <a:r>
                        <a:rPr lang="en-US" sz="1400" b="1" dirty="0">
                          <a:solidFill>
                            <a:schemeClr val="bg1"/>
                          </a:solidFill>
                        </a:rPr>
                        <a:t>Bid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Bid</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algn="ctr" indent="0" marL="0">
                        <a:buNone/>
                      </a:pPr>
                      <a:r>
                        <a:rPr lang="en-US" sz="1400" b="1" dirty="0">
                          <a:solidFill>
                            <a:srgbClr val="B3261E"/>
                          </a:solidFill>
                        </a:rPr>
                        <a:t>2,500,000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b="1" dirty="0">
                          <a:solidFill>
                            <a:srgbClr val="B3261E"/>
                          </a:solidFill>
                        </a:rPr>
                        <a:t>3.80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dirty="0">
                          <a:solidFill>
                            <a:schemeClr val="tx1"/>
                          </a:solidFill>
                        </a:rPr>
                        <a:t>3.82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b="1" dirty="0">
                          <a:solidFill>
                            <a:srgbClr val="B3261E"/>
                          </a:solidFill>
                        </a:rPr>
                        <a:t>1,800,000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b="1" dirty="0">
                          <a:solidFill>
                            <a:srgbClr val="B3261E"/>
                          </a:solidFill>
                        </a:rPr>
                        <a:t>3.78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dirty="0">
                          <a:solidFill>
                            <a:schemeClr val="tx1"/>
                          </a:solidFill>
                        </a:rPr>
                        <a:t>3.84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60,000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45,000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70,000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3.90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8" name="s8-text-4"/>
          <p:cNvSpPr txBox="1"/>
          <p:nvPr/>
        </p:nvSpPr>
        <p:spPr>
          <a:xfrm>
            <a:off x="365760" y="5349240"/>
            <a:ext cx="5486400" cy="640080"/>
          </a:xfrm>
          <a:prstGeom prst="rect">
            <a:avLst/>
          </a:prstGeom>
          <a:noFill/>
          <a:ln/>
        </p:spPr>
        <p:txBody>
          <a:bodyPr wrap="square" lIns="0" tIns="0" rIns="0" bIns="0" rtlCol="0" anchor="t"/>
          <a:lstStyle/>
          <a:p>
            <a:pPr indent="0" marL="0">
              <a:buNone/>
            </a:pPr>
            <a:r>
              <a:rPr lang="en-US" sz="1150" b="1" dirty="0">
                <a:solidFill>
                  <a:srgbClr val="B3261E"/>
                </a:solidFill>
              </a:rPr>
              <a:t>Red cells: her large bids at levels 1 and 2. </a:t>
            </a:r>
            <a:pPr indent="0" marL="0">
              <a:buNone/>
            </a:pPr>
            <a:r>
              <a:rPr lang="en-US" sz="1150" i="1" dirty="0">
                <a:solidFill>
                  <a:schemeClr val="accent5"/>
                </a:solidFill>
              </a:rPr>
              <a:t>Illustration only; the numbers are hypothetical, not actual TSR data.</a:t>
            </a:r>
            <a:endParaRPr lang="en-US" sz="1150" dirty="0"/>
          </a:p>
        </p:txBody>
      </p:sp>
      <p:sp>
        <p:nvSpPr>
          <p:cNvPr id="9" name="s8-subbar-5"/>
          <p:cNvSpPr/>
          <p:nvPr/>
        </p:nvSpPr>
        <p:spPr>
          <a:xfrm>
            <a:off x="5989320" y="1353312"/>
            <a:ext cx="5836615" cy="347472"/>
          </a:xfrm>
          <a:prstGeom prst="rect">
            <a:avLst/>
          </a:prstGeom>
          <a:solidFill>
            <a:schemeClr val="tx2"/>
          </a:solidFill>
          <a:ln/>
        </p:spPr>
      </p:sp>
      <p:sp>
        <p:nvSpPr>
          <p:cNvPr id="10" name="s8-subbar-text-6"/>
          <p:cNvSpPr txBox="1"/>
          <p:nvPr/>
        </p:nvSpPr>
        <p:spPr>
          <a:xfrm>
            <a:off x="5989320" y="1353312"/>
            <a:ext cx="5836615" cy="347472"/>
          </a:xfrm>
          <a:prstGeom prst="rect">
            <a:avLst/>
          </a:prstGeom>
          <a:noFill/>
          <a:ln/>
        </p:spPr>
        <p:txBody>
          <a:bodyPr wrap="square" lIns="0" tIns="0" rIns="0" bIns="0" rtlCol="0" anchor="ctr"/>
          <a:lstStyle/>
          <a:p>
            <a:pPr algn="ctr" indent="0" marL="0">
              <a:buNone/>
            </a:pPr>
            <a:r>
              <a:rPr lang="en-US" sz="1400" b="1" dirty="0">
                <a:solidFill>
                  <a:schemeClr val="bg1"/>
                </a:solidFill>
              </a:rPr>
              <a:t>How the Pattern Works</a:t>
            </a:r>
            <a:endParaRPr lang="en-US" sz="1400" dirty="0"/>
          </a:p>
        </p:txBody>
      </p:sp>
      <p:sp>
        <p:nvSpPr>
          <p:cNvPr id="11" name="s8-box-7"/>
          <p:cNvSpPr/>
          <p:nvPr/>
        </p:nvSpPr>
        <p:spPr>
          <a:xfrm>
            <a:off x="5989320" y="1792224"/>
            <a:ext cx="5836615" cy="4334256"/>
          </a:xfrm>
          <a:prstGeom prst="rect">
            <a:avLst/>
          </a:prstGeom>
          <a:solidFill>
            <a:schemeClr val="bg2"/>
          </a:solidFill>
          <a:ln/>
        </p:spPr>
      </p:sp>
      <p:sp>
        <p:nvSpPr>
          <p:cNvPr id="12" name="s8-box-8"/>
          <p:cNvSpPr/>
          <p:nvPr/>
        </p:nvSpPr>
        <p:spPr>
          <a:xfrm>
            <a:off x="6217920" y="2020824"/>
            <a:ext cx="502920" cy="502920"/>
          </a:xfrm>
          <a:prstGeom prst="rect">
            <a:avLst/>
          </a:prstGeom>
          <a:solidFill>
            <a:schemeClr val="tx2"/>
          </a:solidFill>
          <a:ln/>
        </p:spPr>
      </p:sp>
      <p:sp>
        <p:nvSpPr>
          <p:cNvPr id="13" name="s8-text-9"/>
          <p:cNvSpPr txBox="1"/>
          <p:nvPr/>
        </p:nvSpPr>
        <p:spPr>
          <a:xfrm>
            <a:off x="6217920" y="20208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4" name="s8-text-10"/>
          <p:cNvSpPr txBox="1"/>
          <p:nvPr/>
        </p:nvSpPr>
        <p:spPr>
          <a:xfrm>
            <a:off x="6949440" y="1956816"/>
            <a:ext cx="4647895" cy="1246632"/>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Sweep</a:t>
            </a:r>
            <a:endParaRPr lang="en-US" sz="1350" dirty="0"/>
          </a:p>
          <a:p>
            <a:pPr indent="0" marL="0">
              <a:spcAft>
                <a:spcPts val="300"/>
              </a:spcAft>
              <a:buNone/>
            </a:pPr>
            <a:r>
              <a:rPr lang="en-US" sz="1350" dirty="0">
                <a:solidFill>
                  <a:schemeClr val="tx1"/>
                </a:solidFill>
              </a:rPr>
              <a:t>She buys every offer at 3.82, so the last traded price moves up (F3).</a:t>
            </a:r>
            <a:endParaRPr lang="en-US" sz="1350" dirty="0"/>
          </a:p>
        </p:txBody>
      </p:sp>
      <p:sp>
        <p:nvSpPr>
          <p:cNvPr id="15" name="s8-box-11"/>
          <p:cNvSpPr/>
          <p:nvPr/>
        </p:nvSpPr>
        <p:spPr>
          <a:xfrm>
            <a:off x="6217920" y="3404616"/>
            <a:ext cx="502920" cy="502920"/>
          </a:xfrm>
          <a:prstGeom prst="rect">
            <a:avLst/>
          </a:prstGeom>
          <a:solidFill>
            <a:schemeClr val="tx2"/>
          </a:solidFill>
          <a:ln/>
        </p:spPr>
      </p:sp>
      <p:sp>
        <p:nvSpPr>
          <p:cNvPr id="16" name="s8-text-12"/>
          <p:cNvSpPr txBox="1"/>
          <p:nvPr/>
        </p:nvSpPr>
        <p:spPr>
          <a:xfrm>
            <a:off x="6217920" y="3404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7" name="s8-text-13"/>
          <p:cNvSpPr txBox="1"/>
          <p:nvPr/>
        </p:nvSpPr>
        <p:spPr>
          <a:xfrm>
            <a:off x="6949440" y="3340608"/>
            <a:ext cx="4647895" cy="1246632"/>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Wall</a:t>
            </a:r>
            <a:endParaRPr lang="en-US" sz="1350" dirty="0"/>
          </a:p>
          <a:p>
            <a:pPr indent="0" marL="0">
              <a:spcAft>
                <a:spcPts val="300"/>
              </a:spcAft>
              <a:buNone/>
            </a:pPr>
            <a:r>
              <a:rPr lang="en-US" sz="1350" dirty="0">
                <a:solidFill>
                  <a:schemeClr val="tx1"/>
                </a:solidFill>
              </a:rPr>
              <a:t>She places large bids at 3.80 and 3.78, so the board shows strong demand (F4).</a:t>
            </a:r>
            <a:endParaRPr lang="en-US" sz="1350" dirty="0"/>
          </a:p>
        </p:txBody>
      </p:sp>
      <p:sp>
        <p:nvSpPr>
          <p:cNvPr id="18" name="s8-box-14"/>
          <p:cNvSpPr/>
          <p:nvPr/>
        </p:nvSpPr>
        <p:spPr>
          <a:xfrm>
            <a:off x="6217920" y="4788408"/>
            <a:ext cx="502920" cy="502920"/>
          </a:xfrm>
          <a:prstGeom prst="rect">
            <a:avLst/>
          </a:prstGeom>
          <a:solidFill>
            <a:srgbClr val="B3261E"/>
          </a:solidFill>
          <a:ln/>
        </p:spPr>
      </p:sp>
      <p:sp>
        <p:nvSpPr>
          <p:cNvPr id="19" name="s8-text-15"/>
          <p:cNvSpPr txBox="1"/>
          <p:nvPr/>
        </p:nvSpPr>
        <p:spPr>
          <a:xfrm>
            <a:off x="6217920" y="47884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0" name="s8-text-16"/>
          <p:cNvSpPr txBox="1"/>
          <p:nvPr/>
        </p:nvSpPr>
        <p:spPr>
          <a:xfrm>
            <a:off x="6949440" y="4724400"/>
            <a:ext cx="4647895" cy="1246632"/>
          </a:xfrm>
          <a:prstGeom prst="rect">
            <a:avLst/>
          </a:prstGeom>
          <a:noFill/>
          <a:ln/>
        </p:spPr>
        <p:txBody>
          <a:bodyPr wrap="square" lIns="0" tIns="0" rIns="0" bIns="0" rtlCol="0" anchor="t"/>
          <a:lstStyle/>
          <a:p>
            <a:pPr indent="0" marL="0">
              <a:spcAft>
                <a:spcPts val="300"/>
              </a:spcAft>
              <a:buNone/>
            </a:pPr>
            <a:r>
              <a:rPr lang="en-US" sz="1500" b="1" dirty="0">
                <a:solidFill>
                  <a:srgbClr val="B3261E"/>
                </a:solidFill>
              </a:rPr>
              <a:t>Squeeze</a:t>
            </a:r>
            <a:endParaRPr lang="en-US" sz="1350" dirty="0"/>
          </a:p>
          <a:p>
            <a:pPr indent="0" marL="0">
              <a:spcAft>
                <a:spcPts val="300"/>
              </a:spcAft>
              <a:buNone/>
            </a:pPr>
            <a:r>
              <a:rPr lang="en-US" sz="1350" dirty="0">
                <a:solidFill>
                  <a:schemeClr val="tx1"/>
                </a:solidFill>
              </a:rPr>
              <a:t>Other buyers cannot get filled at the bid, so they pay the offer or more. This repeats for 47 trading days (F3, F4).</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Motive and Background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Prachachat (8 Sep 2022); Hoonsmart (24 Jan 2026)</a:t>
            </a:r>
            <a:endParaRPr lang="en-US" sz="1050" dirty="0"/>
          </a:p>
        </p:txBody>
      </p:sp>
      <p:sp>
        <p:nvSpPr>
          <p:cNvPr id="5" name="s9-subbar-1"/>
          <p:cNvSpPr/>
          <p:nvPr/>
        </p:nvSpPr>
        <p:spPr>
          <a:xfrm>
            <a:off x="365760" y="1353312"/>
            <a:ext cx="7406640" cy="347472"/>
          </a:xfrm>
          <a:prstGeom prst="rect">
            <a:avLst/>
          </a:prstGeom>
          <a:solidFill>
            <a:schemeClr val="tx2"/>
          </a:solidFill>
          <a:ln/>
        </p:spPr>
      </p:sp>
      <p:sp>
        <p:nvSpPr>
          <p:cNvPr id="6" name="s9-subbar-text-2"/>
          <p:cNvSpPr txBox="1"/>
          <p:nvPr/>
        </p:nvSpPr>
        <p:spPr>
          <a:xfrm>
            <a:off x="365760" y="1353312"/>
            <a:ext cx="7406640"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Stated by the SEC (F5)</a:t>
            </a:r>
            <a:endParaRPr lang="en-US" sz="1400" dirty="0"/>
          </a:p>
        </p:txBody>
      </p:sp>
      <p:sp>
        <p:nvSpPr>
          <p:cNvPr id="7" name="s9-box-3"/>
          <p:cNvSpPr/>
          <p:nvPr/>
        </p:nvSpPr>
        <p:spPr>
          <a:xfrm>
            <a:off x="365760" y="1792224"/>
            <a:ext cx="7406640" cy="868680"/>
          </a:xfrm>
          <a:prstGeom prst="rect">
            <a:avLst/>
          </a:prstGeom>
          <a:solidFill>
            <a:schemeClr val="bg2"/>
          </a:solidFill>
          <a:ln/>
        </p:spPr>
      </p:sp>
      <p:sp>
        <p:nvSpPr>
          <p:cNvPr id="8" name="s9-text-4"/>
          <p:cNvSpPr txBox="1"/>
          <p:nvPr/>
        </p:nvSpPr>
        <p:spPr>
          <a:xfrm>
            <a:off x="594360" y="1792224"/>
            <a:ext cx="6949440" cy="86868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chemeClr val="tx1"/>
                </a:solidFill>
              </a:rPr>
              <a:t>Lift TSR’s price so that SABUY could record a fair-value gain on its TSR investment at the end of Q2/2022.</a:t>
            </a:r>
            <a:endParaRPr lang="en-US" sz="1250" dirty="0"/>
          </a:p>
          <a:p>
            <a:pPr marL="177800" indent="-177800">
              <a:spcAft>
                <a:spcPts val="300"/>
              </a:spcAft>
              <a:buSzPct val="100000"/>
              <a:buChar char="•"/>
            </a:pPr>
            <a:r>
              <a:rPr lang="en-US" sz="1250" dirty="0">
                <a:solidFill>
                  <a:schemeClr val="tx1"/>
                </a:solidFill>
              </a:rPr>
              <a:t>Make a profit from the price spread.</a:t>
            </a:r>
            <a:endParaRPr lang="en-US" sz="1250" dirty="0"/>
          </a:p>
        </p:txBody>
      </p:sp>
      <p:sp>
        <p:nvSpPr>
          <p:cNvPr id="9" name="s9-subbar-5"/>
          <p:cNvSpPr/>
          <p:nvPr/>
        </p:nvSpPr>
        <p:spPr>
          <a:xfrm>
            <a:off x="365760" y="2798064"/>
            <a:ext cx="7406640" cy="347472"/>
          </a:xfrm>
          <a:prstGeom prst="rect">
            <a:avLst/>
          </a:prstGeom>
          <a:solidFill>
            <a:schemeClr val="tx2"/>
          </a:solidFill>
          <a:ln/>
        </p:spPr>
      </p:sp>
      <p:sp>
        <p:nvSpPr>
          <p:cNvPr id="10" name="s9-subbar-text-6"/>
          <p:cNvSpPr txBox="1"/>
          <p:nvPr/>
        </p:nvSpPr>
        <p:spPr>
          <a:xfrm>
            <a:off x="365760" y="2798064"/>
            <a:ext cx="7406640" cy="347472"/>
          </a:xfrm>
          <a:prstGeom prst="rect">
            <a:avLst/>
          </a:prstGeom>
          <a:noFill/>
          <a:ln/>
        </p:spPr>
        <p:txBody>
          <a:bodyPr wrap="square" lIns="0" tIns="0" rIns="0" bIns="0" rtlCol="0" anchor="ctr"/>
          <a:lstStyle/>
          <a:p>
            <a:pPr algn="ctr" indent="0" marL="0">
              <a:buNone/>
            </a:pPr>
            <a:r>
              <a:rPr lang="en-US" sz="1400" b="1" dirty="0">
                <a:solidFill>
                  <a:schemeClr val="bg1"/>
                </a:solidFill>
              </a:rPr>
              <a:t>Background Found in 2022 News (Supporting Facts)</a:t>
            </a:r>
            <a:endParaRPr lang="en-US" sz="1400" dirty="0"/>
          </a:p>
        </p:txBody>
      </p:sp>
      <p:graphicFrame>
        <p:nvGraphicFramePr>
          <p:cNvPr id="10" name="s9-table-7"/>
          <p:cNvGraphicFramePr>
            <a:graphicFrameLocks noGrp="1"/>
          </p:cNvGraphicFramePr>
          <p:nvPr>
            <p:extLst>
              <p:ext uri="{D42A27DB-BD31-4B8C-83A1-F6EECF244321}">
                <p14:modId xmlns:p14="http://schemas.microsoft.com/office/powerpoint/2010/main" val="1579011935"/>
              </p:ext>
            </p:extLst>
          </p:nvPr>
        </p:nvGraphicFramePr>
        <p:xfrm>
          <a:off x="365760" y="3236976"/>
          <a:ext cx="7406640" cy="914400"/>
        </p:xfrm>
        <a:graphic>
          <a:graphicData uri="http://schemas.openxmlformats.org/drawingml/2006/table">
            <a:tbl>
              <a:tblPr/>
              <a:tblGrid>
                <a:gridCol w="594360"/>
                <a:gridCol w="4892040"/>
                <a:gridCol w="1920240"/>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68680">
                <a:tc>
                  <a:txBody>
                    <a:bodyPr/>
                    <a:lstStyle/>
                    <a:p>
                      <a:pPr algn="ctr" indent="0" marL="0">
                        <a:buNone/>
                      </a:pPr>
                      <a:r>
                        <a:rPr lang="en-US" sz="1150" b="1" dirty="0">
                          <a:solidFill>
                            <a:schemeClr val="tx2"/>
                          </a:solidFill>
                        </a:rPr>
                        <a:t>F10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3 May 2022: SABUY agreed to buy 24.90% of TSR. It expected to recognise TSR’s results only from Q3/2022, which fits the SEC’s point that TSR was at fair value at the end of Q2.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RYT9, 3 May 2022; Prachachat, 8 Sep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85800">
                <a:tc>
                  <a:txBody>
                    <a:bodyPr/>
                    <a:lstStyle/>
                    <a:p>
                      <a:pPr algn="ctr" indent="0" marL="0">
                        <a:buNone/>
                      </a:pPr>
                      <a:r>
                        <a:rPr lang="en-US" sz="1150" b="1" dirty="0">
                          <a:solidFill>
                            <a:srgbClr val="FFFFFF"/>
                          </a:solidFill>
                        </a:rPr>
                        <a:t>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17 Jun 2022: she bought 22.5 million TSR shares at THB 5.25 each (market close THB 4.24), raising her own stake to 13.02% of TSR.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Hoonsmart, 18 Jun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48640">
                <a:tc>
                  <a:txBody>
                    <a:bodyPr/>
                    <a:lstStyle/>
                    <a:p>
                      <a:pPr algn="ctr" indent="0" marL="0">
                        <a:buNone/>
                      </a:pPr>
                      <a:r>
                        <a:rPr lang="en-US" sz="1150" b="1" dirty="0">
                          <a:solidFill>
                            <a:schemeClr val="tx2"/>
                          </a:solidFill>
                        </a:rPr>
                        <a:t>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TSR’s price rose from THB 4.24 (17 Jun 2022) to THB 6.60 (30 Aug 2022), about 56%.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18 Jun and 30 Aug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9-box-8"/>
          <p:cNvSpPr/>
          <p:nvPr/>
        </p:nvSpPr>
        <p:spPr>
          <a:xfrm>
            <a:off x="7909560" y="1353312"/>
            <a:ext cx="3916375" cy="2606040"/>
          </a:xfrm>
          <a:prstGeom prst="rect">
            <a:avLst/>
          </a:prstGeom>
          <a:solidFill>
            <a:schemeClr val="tx2"/>
          </a:solidFill>
          <a:ln/>
        </p:spPr>
      </p:sp>
      <p:sp>
        <p:nvSpPr>
          <p:cNvPr id="13" name="s9-text-9"/>
          <p:cNvSpPr txBox="1"/>
          <p:nvPr/>
        </p:nvSpPr>
        <p:spPr>
          <a:xfrm>
            <a:off x="8183880" y="1536192"/>
            <a:ext cx="3367735" cy="1172718"/>
          </a:xfrm>
          <a:prstGeom prst="rect">
            <a:avLst/>
          </a:prstGeom>
          <a:noFill/>
          <a:ln/>
        </p:spPr>
        <p:txBody>
          <a:bodyPr wrap="square" lIns="0" tIns="0" rIns="0" bIns="0" rtlCol="0" anchor="ctr"/>
          <a:lstStyle/>
          <a:p>
            <a:pPr indent="0" marL="0">
              <a:buNone/>
            </a:pPr>
            <a:r>
              <a:rPr lang="en-US" sz="5000" b="1" dirty="0">
                <a:solidFill>
                  <a:srgbClr val="F28B7E"/>
                </a:solidFill>
              </a:rPr>
              <a:t>13.02%</a:t>
            </a:r>
            <a:endParaRPr lang="en-US" sz="5000" dirty="0"/>
          </a:p>
        </p:txBody>
      </p:sp>
      <p:sp>
        <p:nvSpPr>
          <p:cNvPr id="14" name="s9-text-10"/>
          <p:cNvSpPr txBox="1"/>
          <p:nvPr/>
        </p:nvSpPr>
        <p:spPr>
          <a:xfrm>
            <a:off x="8183880" y="2708910"/>
            <a:ext cx="3367735" cy="912114"/>
          </a:xfrm>
          <a:prstGeom prst="rect">
            <a:avLst/>
          </a:prstGeom>
          <a:noFill/>
          <a:ln/>
        </p:spPr>
        <p:txBody>
          <a:bodyPr wrap="square" lIns="0" tIns="0" rIns="0" bIns="0" rtlCol="0" anchor="t"/>
          <a:lstStyle/>
          <a:p>
            <a:pPr indent="0" marL="0">
              <a:buNone/>
            </a:pPr>
            <a:r>
              <a:rPr lang="en-US" sz="1300" dirty="0">
                <a:solidFill>
                  <a:srgbClr val="FFFFFF"/>
                </a:solidFill>
              </a:rPr>
              <a:t>Her own stake in TSR after 17 Jun 2022, five days before the period began (F11)</a:t>
            </a:r>
            <a:endParaRPr lang="en-US" sz="1300" dirty="0"/>
          </a:p>
        </p:txBody>
      </p:sp>
      <p:sp>
        <p:nvSpPr>
          <p:cNvPr id="15" name="s9-box-11"/>
          <p:cNvSpPr/>
          <p:nvPr/>
        </p:nvSpPr>
        <p:spPr>
          <a:xfrm>
            <a:off x="7909560" y="4096512"/>
            <a:ext cx="3916375" cy="2029968"/>
          </a:xfrm>
          <a:prstGeom prst="rect">
            <a:avLst/>
          </a:prstGeom>
          <a:solidFill>
            <a:schemeClr val="bg2"/>
          </a:solidFill>
          <a:ln/>
        </p:spPr>
      </p:sp>
      <p:sp>
        <p:nvSpPr>
          <p:cNvPr id="16" name="s9-text-12"/>
          <p:cNvSpPr txBox="1"/>
          <p:nvPr/>
        </p:nvSpPr>
        <p:spPr>
          <a:xfrm>
            <a:off x="8138160" y="4096512"/>
            <a:ext cx="3459175" cy="2029968"/>
          </a:xfrm>
          <a:prstGeom prst="rect">
            <a:avLst/>
          </a:prstGeom>
          <a:noFill/>
          <a:ln/>
        </p:spPr>
        <p:txBody>
          <a:bodyPr wrap="square" lIns="0" tIns="0" rIns="0" bIns="0" rtlCol="0" anchor="ctr"/>
          <a:lstStyle/>
          <a:p>
            <a:pPr indent="0" marL="0">
              <a:spcAft>
                <a:spcPts val="400"/>
              </a:spcAft>
              <a:buNone/>
            </a:pPr>
            <a:r>
              <a:rPr lang="en-US" sz="1350" b="1" dirty="0">
                <a:solidFill>
                  <a:schemeClr val="tx2"/>
                </a:solidFill>
              </a:rPr>
              <a:t>Why it matters</a:t>
            </a:r>
            <a:endParaRPr lang="en-US" sz="1250" dirty="0"/>
          </a:p>
          <a:p>
            <a:pPr indent="0" marL="0">
              <a:spcAft>
                <a:spcPts val="400"/>
              </a:spcAft>
              <a:buNone/>
            </a:pPr>
            <a:r>
              <a:rPr lang="en-US" sz="1250" dirty="0">
                <a:solidFill>
                  <a:schemeClr val="tx1"/>
                </a:solidFill>
              </a:rPr>
              <a:t>Both SABUY (24.90%) and she personally (13.02%) gained when TSR’s price rose. This supports </a:t>
            </a:r>
            <a:pPr indent="0" marL="0">
              <a:spcAft>
                <a:spcPts val="400"/>
              </a:spcAft>
              <a:buNone/>
            </a:pPr>
            <a:r>
              <a:rPr lang="en-US" sz="1250" b="1" dirty="0">
                <a:solidFill>
                  <a:srgbClr val="B3261E"/>
                </a:solidFill>
              </a:rPr>
              <a:t>the intent element in Rules 1 and 2</a:t>
            </a:r>
            <a:pPr indent="0" marL="0">
              <a:spcAft>
                <a:spcPts val="400"/>
              </a:spcAft>
              <a:buNone/>
            </a:pPr>
            <a:r>
              <a:rPr lang="en-US" sz="1250" dirty="0">
                <a:solidFill>
                  <a:schemeClr val="tx1"/>
                </a:solidFill>
              </a:rPr>
              <a:t>.</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(1/4): Violated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 (pp.80–82); Criminal Code s.59</a:t>
            </a:r>
            <a:endParaRPr lang="en-US" sz="1050" dirty="0"/>
          </a:p>
        </p:txBody>
      </p:sp>
      <p:graphicFrame>
        <p:nvGraphicFramePr>
          <p:cNvPr id="11" name="s10-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4023360"/>
                <a:gridCol w="4572000"/>
                <a:gridCol w="1493215"/>
              </a:tblGrid>
              <a:tr h="347472">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Bullet point (element)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02336">
                <a:tc>
                  <a:txBody>
                    <a:bodyPr/>
                    <a:lstStyle/>
                    <a:p>
                      <a:pPr algn="ctr" indent="0" marL="0">
                        <a:buNone/>
                      </a:pPr>
                      <a:r>
                        <a:rPr lang="en-US" sz="1150" b="1" dirty="0">
                          <a:solidFill>
                            <a:schemeClr val="tx2"/>
                          </a:solidFill>
                        </a:rPr>
                        <a:t>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Listed securities (scope of the Division)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SET (F2)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rowSpan="4">
                  <a:txBody>
                    <a:bodyPr/>
                    <a:lstStyle/>
                    <a:p>
                      <a:pPr algn="ctr" indent="0" marL="0">
                        <a:buNone/>
                      </a:pPr>
                      <a:r>
                        <a:rPr lang="en-US" sz="1150" b="1" dirty="0">
                          <a:solidFill>
                            <a:srgbClr val="FFFFFF"/>
                          </a:solidFill>
                        </a:rPr>
                        <a:t>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(b) 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Hit the offers and swept the sell orders (F3)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(c) Misleads others about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SEC: the public was misled (F6); presumed by s.244/5(5)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(d) 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Repeated for 47 days with clear motives (F5, 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rowSpan="4">
                  <a:txBody>
                    <a:bodyPr/>
                    <a:lstStyle/>
                    <a:p>
                      <a:pPr algn="ctr" indent="0" marL="0">
                        <a:buNone/>
                      </a:pPr>
                      <a:r>
                        <a:rPr lang="en-US" sz="1150" b="1" dirty="0">
                          <a:solidFill>
                            <a:srgbClr val="FFFFFF"/>
                          </a:solidFill>
                        </a:rPr>
                        <a:t>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(b) Places orders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Hit the offers and held large bids (F3,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(c) On a continued basis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Day after day for 47 trading days (F3)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vMerge="1">
                  <a:tcPr/>
                </a:tc>
                <a:tc>
                  <a:txBody>
                    <a:bodyPr/>
                    <a:lstStyle/>
                    <a:p>
                      <a:pPr indent="0" marL="0">
                        <a:buNone/>
                      </a:pPr>
                      <a:r>
                        <a:rPr lang="en-US" sz="1150" dirty="0">
                          <a:solidFill>
                            <a:schemeClr val="tx2"/>
                          </a:solidFill>
                        </a:rPr>
                        <a:t>(d) Intent to make price or volume abnormal</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SABUY’s Q2 gain, spread profit, her 13.02% stake (F5, F11, 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bl>
          </a:graphicData>
        </a:graphic>
      </p:graphicFrame>
      <p:sp>
        <p:nvSpPr>
          <p:cNvPr id="6" name="s10-box-2"/>
          <p:cNvSpPr/>
          <p:nvPr/>
        </p:nvSpPr>
        <p:spPr>
          <a:xfrm>
            <a:off x="365760" y="5468112"/>
            <a:ext cx="11460175" cy="630936"/>
          </a:xfrm>
          <a:prstGeom prst="rect">
            <a:avLst/>
          </a:prstGeom>
          <a:solidFill>
            <a:schemeClr val="tx2"/>
          </a:solidFill>
          <a:ln/>
        </p:spPr>
      </p:sp>
      <p:sp>
        <p:nvSpPr>
          <p:cNvPr id="7" name="s10-box-3"/>
          <p:cNvSpPr/>
          <p:nvPr/>
        </p:nvSpPr>
        <p:spPr>
          <a:xfrm>
            <a:off x="548640" y="5646420"/>
            <a:ext cx="914400" cy="274320"/>
          </a:xfrm>
          <a:prstGeom prst="rect">
            <a:avLst/>
          </a:prstGeom>
          <a:solidFill>
            <a:srgbClr val="B3261E"/>
          </a:solidFill>
          <a:ln/>
        </p:spPr>
      </p:sp>
      <p:sp>
        <p:nvSpPr>
          <p:cNvPr id="8" name="s10-text-4"/>
          <p:cNvSpPr txBox="1"/>
          <p:nvPr/>
        </p:nvSpPr>
        <p:spPr>
          <a:xfrm>
            <a:off x="548640" y="5646420"/>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0-text-5"/>
          <p:cNvSpPr txBox="1"/>
          <p:nvPr/>
        </p:nvSpPr>
        <p:spPr>
          <a:xfrm>
            <a:off x="1645920" y="5468112"/>
            <a:ext cx="9997135" cy="630936"/>
          </a:xfrm>
          <a:prstGeom prst="rect">
            <a:avLst/>
          </a:prstGeom>
          <a:noFill/>
          <a:ln/>
        </p:spPr>
        <p:txBody>
          <a:bodyPr wrap="square" lIns="0" tIns="0" rIns="0" bIns="0" rtlCol="0" anchor="ctr"/>
          <a:lstStyle/>
          <a:p>
            <a:pPr indent="0" marL="0">
              <a:buNone/>
            </a:pPr>
            <a:r>
              <a:rPr lang="en-US" sz="1400" dirty="0">
                <a:solidFill>
                  <a:srgbClr val="FFFFFF"/>
                </a:solidFill>
              </a:rPr>
              <a:t>Every bullet point is met, so </a:t>
            </a:r>
            <a:pPr indent="0" marL="0">
              <a:buNone/>
            </a:pPr>
            <a:r>
              <a:rPr lang="en-US" sz="1400" b="1" dirty="0">
                <a:solidFill>
                  <a:srgbClr val="F28B7E"/>
                </a:solidFill>
              </a:rPr>
              <a:t>s.244/3(1) and s.244/3(2) are both violated</a:t>
            </a:r>
            <a:pPr indent="0" marL="0">
              <a:buNone/>
            </a:pPr>
            <a:r>
              <a:rPr lang="en-US" sz="1400" dirty="0">
                <a:solidFill>
                  <a:srgbClr val="FFFFFF"/>
                </a:solidFill>
              </a:rPr>
              <a:t>.</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(2/4): Presumptions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s.244/5 (p.83)</a:t>
            </a:r>
            <a:endParaRPr lang="en-US" sz="1050" dirty="0"/>
          </a:p>
        </p:txBody>
      </p:sp>
      <p:graphicFrame>
        <p:nvGraphicFramePr>
          <p:cNvPr id="12" name="s11-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4206240"/>
                <a:gridCol w="4206240"/>
                <a:gridCol w="1676095"/>
              </a:tblGrid>
              <a:tr h="347472">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Bullet point (element)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2920">
                <a:tc rowSpan="3">
                  <a:txBody>
                    <a:bodyPr/>
                    <a:lstStyle/>
                    <a:p>
                      <a:pPr algn="ctr" indent="0" marL="0">
                        <a:buNone/>
                      </a:pPr>
                      <a:r>
                        <a:rPr lang="en-US" sz="1150" b="1" dirty="0">
                          <a:solidFill>
                            <a:srgbClr val="FFFFFF"/>
                          </a:solidFill>
                        </a:rPr>
                        <a:t>s.244/5(5)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Places, modifies or cancels trading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She placed large buy orders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02920">
                <a:tc vMerge="1">
                  <a:tcPr/>
                </a:tc>
                <a:tc>
                  <a:txBody>
                    <a:bodyPr/>
                    <a:lstStyle/>
                    <a:p>
                      <a:pPr indent="0" marL="0">
                        <a:buNone/>
                      </a:pPr>
                      <a:r>
                        <a:rPr lang="en-US" sz="1150" dirty="0">
                          <a:solidFill>
                            <a:schemeClr val="tx2"/>
                          </a:solidFill>
                        </a:rPr>
                        <a:t>(b) Obstructs 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Her bids took levels 1 and 2, blocking other buyers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02920">
                <a:tc vMerge="1">
                  <a:tcPr/>
                </a:tc>
                <a:tc>
                  <a:txBody>
                    <a:bodyPr/>
                    <a:lstStyle/>
                    <a:p>
                      <a:pPr indent="0" marL="0">
                        <a:buNone/>
                      </a:pPr>
                      <a:r>
                        <a:rPr lang="en-US" sz="1150" dirty="0">
                          <a:solidFill>
                            <a:schemeClr val="tx2"/>
                          </a:solidFill>
                        </a:rPr>
                        <a:t>(c) Others trade at a higher or lower price than they should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Other buyers had to bid higher to get shares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57200">
                <a:tc>
                  <a:txBody>
                    <a:bodyPr/>
                    <a:lstStyle/>
                    <a:p>
                      <a:pPr algn="ctr" indent="0" marL="0">
                        <a:buNone/>
                      </a:pPr>
                      <a:r>
                        <a:rPr lang="en-US" sz="1150" b="1" dirty="0">
                          <a:solidFill>
                            <a:schemeClr val="accent5"/>
                          </a:solidFill>
                        </a:rPr>
                        <a:t>s.244/5(1)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change of beneficial ownership</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Not reported in any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150" b="1" dirty="0">
                          <a:solidFill>
                            <a:schemeClr val="accent5"/>
                          </a:solidFill>
                        </a:rPr>
                        <a:t>s.244/5(2)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Buy while she or an associate sells at a similar amount, price,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Not reported in any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150" b="1" dirty="0">
                          <a:solidFill>
                            <a:schemeClr val="accent5"/>
                          </a:solidFill>
                        </a:rPr>
                        <a:t>s.244/5(3)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Sell while she or an associate buys at a similar amount, price,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Not reported in any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150" b="1" dirty="0">
                          <a:solidFill>
                            <a:schemeClr val="accent5"/>
                          </a:solidFill>
                        </a:rPr>
                        <a:t>s.244/5(4)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Orders in the pre-opening or pre-closing period to push the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Cited by the SEC, but no news gives these facts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 not used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1-box-2"/>
          <p:cNvSpPr/>
          <p:nvPr/>
        </p:nvSpPr>
        <p:spPr>
          <a:xfrm>
            <a:off x="365760" y="5440680"/>
            <a:ext cx="11460175" cy="658368"/>
          </a:xfrm>
          <a:prstGeom prst="rect">
            <a:avLst/>
          </a:prstGeom>
          <a:solidFill>
            <a:schemeClr val="tx2"/>
          </a:solidFill>
          <a:ln/>
        </p:spPr>
      </p:sp>
      <p:sp>
        <p:nvSpPr>
          <p:cNvPr id="7" name="s11-box-3"/>
          <p:cNvSpPr/>
          <p:nvPr/>
        </p:nvSpPr>
        <p:spPr>
          <a:xfrm>
            <a:off x="548640" y="5632704"/>
            <a:ext cx="914400" cy="274320"/>
          </a:xfrm>
          <a:prstGeom prst="rect">
            <a:avLst/>
          </a:prstGeom>
          <a:solidFill>
            <a:srgbClr val="B3261E"/>
          </a:solidFill>
          <a:ln/>
        </p:spPr>
      </p:sp>
      <p:sp>
        <p:nvSpPr>
          <p:cNvPr id="8" name="s11-text-4"/>
          <p:cNvSpPr txBox="1"/>
          <p:nvPr/>
        </p:nvSpPr>
        <p:spPr>
          <a:xfrm>
            <a:off x="548640" y="563270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1-text-5"/>
          <p:cNvSpPr txBox="1"/>
          <p:nvPr/>
        </p:nvSpPr>
        <p:spPr>
          <a:xfrm>
            <a:off x="1645920" y="5440680"/>
            <a:ext cx="9997135" cy="658368"/>
          </a:xfrm>
          <a:prstGeom prst="rect">
            <a:avLst/>
          </a:prstGeom>
          <a:noFill/>
          <a:ln/>
        </p:spPr>
        <p:txBody>
          <a:bodyPr wrap="square" lIns="0" tIns="0" rIns="0" bIns="0" rtlCol="0" anchor="ctr"/>
          <a:lstStyle/>
          <a:p>
            <a:pPr indent="0" marL="0">
              <a:buNone/>
            </a:pPr>
            <a:r>
              <a:rPr lang="en-US" sz="1350" dirty="0">
                <a:solidFill>
                  <a:srgbClr val="FFFFFF"/>
                </a:solidFill>
              </a:rPr>
              <a:t>Only </a:t>
            </a:r>
            <a:pPr indent="0" marL="0">
              <a:buNone/>
            </a:pPr>
            <a:r>
              <a:rPr lang="en-US" sz="1350" b="1" dirty="0">
                <a:solidFill>
                  <a:srgbClr val="F28B7E"/>
                </a:solidFill>
              </a:rPr>
              <a:t>presumption (5) applies</a:t>
            </a:r>
            <a:pPr indent="0" marL="0">
              <a:buNone/>
            </a:pPr>
            <a:r>
              <a:rPr lang="en-US" sz="1350" dirty="0">
                <a:solidFill>
                  <a:srgbClr val="FFFFFF"/>
                </a:solidFill>
              </a:rPr>
              <a:t>: all three bullet points are met. (1) to (4) do not apply because there are no facts.</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(3/4): Not Violated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ss.240–244/2, 244/4 (pp.80–82)</a:t>
            </a:r>
            <a:endParaRPr lang="en-US" sz="1050" dirty="0"/>
          </a:p>
        </p:txBody>
      </p:sp>
      <p:graphicFrame>
        <p:nvGraphicFramePr>
          <p:cNvPr id="13" name="s1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3931920"/>
                <a:gridCol w="4480560"/>
                <a:gridCol w="1676095"/>
              </a:tblGrid>
              <a:tr h="347472">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it covers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Why it is not violated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02336">
                <a:tc>
                  <a:txBody>
                    <a:bodyPr/>
                    <a:lstStyle/>
                    <a:p>
                      <a:pPr algn="ctr" indent="0" marL="0">
                        <a:buNone/>
                      </a:pPr>
                      <a:r>
                        <a:rPr lang="en-US" sz="1150" b="1" dirty="0">
                          <a:solidFill>
                            <a:schemeClr val="accent5"/>
                          </a:solidFill>
                        </a:rPr>
                        <a:t>s.240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False or misleading statements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statement was spread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Misleading analysis or forecast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analysis or forecast published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Trading on or disclosing inside information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inside information alleged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ss.243–244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Who is presumed to know inside information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Only used with s.242, which is not in issue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Not needed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Brokers trading ahead of a client’s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She is an individual investor, not a broker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Not violated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Fund managers trading ahead of a fund’s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She is not a fund manager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Not violated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Defence: price stabilisation under underwriting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underwriting agreement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Does not apply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Defence: share repurchase project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She is not the issuer; no buyback</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Does not apply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s.244/4(3)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Defence: trading under SEC notification rules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SEC-permitted trading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Does not apply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2-box-2"/>
          <p:cNvSpPr/>
          <p:nvPr/>
        </p:nvSpPr>
        <p:spPr>
          <a:xfrm>
            <a:off x="365760" y="5532120"/>
            <a:ext cx="11460175" cy="566928"/>
          </a:xfrm>
          <a:prstGeom prst="rect">
            <a:avLst/>
          </a:prstGeom>
          <a:solidFill>
            <a:schemeClr val="tx2"/>
          </a:solidFill>
          <a:ln/>
        </p:spPr>
      </p:sp>
      <p:sp>
        <p:nvSpPr>
          <p:cNvPr id="7" name="s12-box-3"/>
          <p:cNvSpPr/>
          <p:nvPr/>
        </p:nvSpPr>
        <p:spPr>
          <a:xfrm>
            <a:off x="548640" y="5678424"/>
            <a:ext cx="914400" cy="274320"/>
          </a:xfrm>
          <a:prstGeom prst="rect">
            <a:avLst/>
          </a:prstGeom>
          <a:solidFill>
            <a:srgbClr val="B3261E"/>
          </a:solidFill>
          <a:ln/>
        </p:spPr>
      </p:sp>
      <p:sp>
        <p:nvSpPr>
          <p:cNvPr id="8" name="s12-text-4"/>
          <p:cNvSpPr txBox="1"/>
          <p:nvPr/>
        </p:nvSpPr>
        <p:spPr>
          <a:xfrm>
            <a:off x="548640" y="567842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2-text-5"/>
          <p:cNvSpPr txBox="1"/>
          <p:nvPr/>
        </p:nvSpPr>
        <p:spPr>
          <a:xfrm>
            <a:off x="1645920" y="5532120"/>
            <a:ext cx="9997135" cy="566928"/>
          </a:xfrm>
          <a:prstGeom prst="rect">
            <a:avLst/>
          </a:prstGeom>
          <a:noFill/>
          <a:ln/>
        </p:spPr>
        <p:txBody>
          <a:bodyPr wrap="square" lIns="0" tIns="0" rIns="0" bIns="0" rtlCol="0" anchor="ctr"/>
          <a:lstStyle/>
          <a:p>
            <a:pPr indent="0" marL="0">
              <a:buNone/>
            </a:pPr>
            <a:r>
              <a:rPr lang="en-US" sz="1350" dirty="0">
                <a:solidFill>
                  <a:srgbClr val="FFFFFF"/>
                </a:solidFill>
              </a:rPr>
              <a:t>None of these is violated, and no defence in s.244/4 applies.</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(4/4): Not Violated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ss.244/6, 244/7 (pp.83–84)</a:t>
            </a:r>
            <a:endParaRPr lang="en-US" sz="1050" dirty="0"/>
          </a:p>
        </p:txBody>
      </p:sp>
      <p:graphicFrame>
        <p:nvGraphicFramePr>
          <p:cNvPr id="14" name="s1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4663440"/>
                <a:gridCol w="3749040"/>
                <a:gridCol w="1676095"/>
              </a:tblGrid>
              <a:tr h="347472">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it covers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Why it is not violated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02336">
                <a:tc>
                  <a:txBody>
                    <a:bodyPr/>
                    <a:lstStyle/>
                    <a:p>
                      <a:pPr algn="ctr" indent="0" marL="0">
                        <a:buNone/>
                      </a:pPr>
                      <a:r>
                        <a:rPr lang="en-US" sz="1150" b="1" dirty="0">
                          <a:solidFill>
                            <a:schemeClr val="accent5"/>
                          </a:solidFill>
                        </a:rPr>
                        <a:t>s.244/6(1)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Joint bank account for trading payments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indent="0" marL="0">
                        <a:buNone/>
                      </a:pPr>
                      <a:r>
                        <a:rPr lang="en-US" sz="1150" dirty="0">
                          <a:solidFill>
                            <a:schemeClr val="accent5"/>
                          </a:solidFill>
                        </a:rPr>
                        <a:t>She placed the orders herself. No other person’s account, payment, collateral or transfer is reported (F3,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accent5"/>
                          </a:solidFill>
                        </a:rPr>
                        <a:t>s.244/6(2)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Lets another person benefit from one’s bank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accent5"/>
                          </a:solidFill>
                        </a:rPr>
                        <a:t>s.244/6(3)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Lets another person use one’s trading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accent5"/>
                          </a:solidFill>
                        </a:rPr>
                        <a:t>s.244/6(4)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Pays or receives payment for another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accent5"/>
                          </a:solidFill>
                        </a:rPr>
                        <a:t>s.244/6(5)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Places collateral for another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accent5"/>
                          </a:solidFill>
                        </a:rPr>
                        <a:t>s.244/6(6)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Lets another person receive benefits of one’s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accent5"/>
                          </a:solidFill>
                        </a:rPr>
                        <a:t>s.244/6(7)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Transfers securities between each other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57200">
                <a:tc>
                  <a:txBody>
                    <a:bodyPr/>
                    <a:lstStyle/>
                    <a:p>
                      <a:pPr algn="ctr" indent="0" marL="0">
                        <a:buNone/>
                      </a:pPr>
                      <a:r>
                        <a:rPr lang="en-US" sz="1150" b="1" dirty="0">
                          <a:solidFill>
                            <a:schemeClr val="accent5"/>
                          </a:solidFill>
                        </a:rPr>
                        <a:t>s.244/7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Orders that delay or stop the trading system</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5"/>
                          </a:solidFill>
                        </a:rPr>
                        <a:t>No delay or halt of the trading system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5"/>
                          </a:solidFill>
                        </a:rPr>
                        <a:t>No facts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3-box-2"/>
          <p:cNvSpPr/>
          <p:nvPr/>
        </p:nvSpPr>
        <p:spPr>
          <a:xfrm>
            <a:off x="365760" y="5257800"/>
            <a:ext cx="11460175" cy="841248"/>
          </a:xfrm>
          <a:prstGeom prst="rect">
            <a:avLst/>
          </a:prstGeom>
          <a:solidFill>
            <a:schemeClr val="tx2"/>
          </a:solidFill>
          <a:ln/>
        </p:spPr>
      </p:sp>
      <p:sp>
        <p:nvSpPr>
          <p:cNvPr id="7" name="s13-box-3"/>
          <p:cNvSpPr/>
          <p:nvPr/>
        </p:nvSpPr>
        <p:spPr>
          <a:xfrm>
            <a:off x="548640" y="5541264"/>
            <a:ext cx="928116" cy="274320"/>
          </a:xfrm>
          <a:prstGeom prst="rect">
            <a:avLst/>
          </a:prstGeom>
          <a:solidFill>
            <a:srgbClr val="B3261E"/>
          </a:solidFill>
          <a:ln/>
        </p:spPr>
      </p:sp>
      <p:sp>
        <p:nvSpPr>
          <p:cNvPr id="8" name="s13-text-4"/>
          <p:cNvSpPr txBox="1"/>
          <p:nvPr/>
        </p:nvSpPr>
        <p:spPr>
          <a:xfrm>
            <a:off x="548640" y="5541264"/>
            <a:ext cx="928116" cy="274320"/>
          </a:xfrm>
          <a:prstGeom prst="rect">
            <a:avLst/>
          </a:prstGeom>
          <a:noFill/>
          <a:ln/>
        </p:spPr>
        <p:txBody>
          <a:bodyPr wrap="square" lIns="0" tIns="0" rIns="0" bIns="0" rtlCol="0" anchor="ctr"/>
          <a:lstStyle/>
          <a:p>
            <a:pPr algn="ctr" indent="0" marL="0">
              <a:buNone/>
            </a:pPr>
            <a:r>
              <a:rPr lang="en-US" sz="1050" b="1" dirty="0">
                <a:solidFill>
                  <a:srgbClr val="FFFFFF"/>
                </a:solidFill>
              </a:rPr>
              <a:t>OVERALL</a:t>
            </a:r>
            <a:endParaRPr lang="en-US" sz="1050" dirty="0"/>
          </a:p>
        </p:txBody>
      </p:sp>
      <p:sp>
        <p:nvSpPr>
          <p:cNvPr id="9" name="s13-text-5"/>
          <p:cNvSpPr txBox="1"/>
          <p:nvPr/>
        </p:nvSpPr>
        <p:spPr>
          <a:xfrm>
            <a:off x="1659636" y="5257800"/>
            <a:ext cx="9983419" cy="841248"/>
          </a:xfrm>
          <a:prstGeom prst="rect">
            <a:avLst/>
          </a:prstGeom>
          <a:noFill/>
          <a:ln/>
        </p:spPr>
        <p:txBody>
          <a:bodyPr wrap="square" lIns="0" tIns="0" rIns="0" bIns="0" rtlCol="0" anchor="ctr"/>
          <a:lstStyle/>
          <a:p>
            <a:pPr indent="0" marL="0">
              <a:buNone/>
            </a:pPr>
            <a:r>
              <a:rPr lang="en-US" sz="1400" dirty="0">
                <a:solidFill>
                  <a:srgbClr val="FFFFFF"/>
                </a:solidFill>
              </a:rPr>
              <a:t>Across all four checklists, the only violations are </a:t>
            </a:r>
            <a:pPr indent="0" marL="0">
              <a:buNone/>
            </a:pPr>
            <a:r>
              <a:rPr lang="en-US" sz="1400" b="1" dirty="0">
                <a:solidFill>
                  <a:srgbClr val="F28B7E"/>
                </a:solidFill>
              </a:rPr>
              <a:t>s.244/3(1) and (2)</a:t>
            </a:r>
            <a:pPr indent="0" marL="0">
              <a:buNone/>
            </a:pPr>
            <a:r>
              <a:rPr lang="en-US" sz="1400" dirty="0">
                <a:solidFill>
                  <a:srgbClr val="FFFFFF"/>
                </a:solidFill>
              </a:rPr>
              <a:t>, supported by presumption s.244/5(5).</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Question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Format from “A guide to answer a legal question (2026)”</a:t>
            </a:r>
            <a:endParaRPr lang="en-US" sz="1050" dirty="0"/>
          </a:p>
        </p:txBody>
      </p:sp>
      <p:sp>
        <p:nvSpPr>
          <p:cNvPr id="5" name="s14-box-1"/>
          <p:cNvSpPr/>
          <p:nvPr/>
        </p:nvSpPr>
        <p:spPr>
          <a:xfrm>
            <a:off x="365760" y="1353312"/>
            <a:ext cx="11460175" cy="2240280"/>
          </a:xfrm>
          <a:prstGeom prst="rect">
            <a:avLst/>
          </a:prstGeom>
          <a:solidFill>
            <a:schemeClr val="tx2"/>
          </a:solidFill>
          <a:ln/>
        </p:spPr>
      </p:sp>
      <p:sp>
        <p:nvSpPr>
          <p:cNvPr id="6" name="s14-box-2"/>
          <p:cNvSpPr/>
          <p:nvPr/>
        </p:nvSpPr>
        <p:spPr>
          <a:xfrm>
            <a:off x="640080" y="1581912"/>
            <a:ext cx="1014984" cy="274320"/>
          </a:xfrm>
          <a:prstGeom prst="rect">
            <a:avLst/>
          </a:prstGeom>
          <a:solidFill>
            <a:srgbClr val="B3261E"/>
          </a:solidFill>
          <a:ln/>
        </p:spPr>
      </p:sp>
      <p:sp>
        <p:nvSpPr>
          <p:cNvPr id="7" name="s14-text-3"/>
          <p:cNvSpPr txBox="1"/>
          <p:nvPr/>
        </p:nvSpPr>
        <p:spPr>
          <a:xfrm>
            <a:off x="640080" y="1581912"/>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QUESTION</a:t>
            </a:r>
            <a:endParaRPr lang="en-US" sz="1050" dirty="0"/>
          </a:p>
        </p:txBody>
      </p:sp>
      <p:sp>
        <p:nvSpPr>
          <p:cNvPr id="8" name="s14-text-4"/>
          <p:cNvSpPr txBox="1"/>
          <p:nvPr/>
        </p:nvSpPr>
        <p:spPr>
          <a:xfrm>
            <a:off x="640080" y="1947672"/>
            <a:ext cx="10911535" cy="1508760"/>
          </a:xfrm>
          <a:prstGeom prst="rect">
            <a:avLst/>
          </a:prstGeom>
          <a:noFill/>
          <a:ln/>
        </p:spPr>
        <p:txBody>
          <a:bodyPr wrap="square" lIns="0" tIns="0" rIns="0" bIns="0" rtlCol="0" anchor="ctr"/>
          <a:lstStyle/>
          <a:p>
            <a:pPr indent="0" marL="0">
              <a:buNone/>
            </a:pPr>
            <a:r>
              <a:rPr lang="en-US" sz="2200" b="1" dirty="0">
                <a:solidFill>
                  <a:srgbClr val="FFFFFF"/>
                </a:solidFill>
              </a:rPr>
              <a:t>Has นางสาวภรัณยา รุจนพรพจี committed </a:t>
            </a:r>
            <a:pPr indent="0" marL="0">
              <a:buNone/>
            </a:pPr>
            <a:r>
              <a:rPr lang="en-US" sz="2200" b="1" dirty="0">
                <a:solidFill>
                  <a:srgbClr val="F28B7E"/>
                </a:solidFill>
              </a:rPr>
              <a:t>unfair securities trading</a:t>
            </a:r>
            <a:pPr indent="0" marL="0">
              <a:buNone/>
            </a:pPr>
            <a:r>
              <a:rPr lang="en-US" sz="2200" b="1" dirty="0">
                <a:solidFill>
                  <a:srgbClr val="FFFFFF"/>
                </a:solidFill>
              </a:rPr>
              <a:t> under the Securities and Exchange Act B.E. 2535, and </a:t>
            </a:r>
            <a:pPr indent="0" marL="0">
              <a:buNone/>
            </a:pPr>
            <a:r>
              <a:rPr lang="en-US" sz="2200" b="1" dirty="0">
                <a:solidFill>
                  <a:srgbClr val="F28B7E"/>
                </a:solidFill>
              </a:rPr>
              <a:t>what sanctions</a:t>
            </a:r>
            <a:pPr indent="0" marL="0">
              <a:buNone/>
            </a:pPr>
            <a:r>
              <a:rPr lang="en-US" sz="2200" b="1" dirty="0">
                <a:solidFill>
                  <a:srgbClr val="FFFFFF"/>
                </a:solidFill>
              </a:rPr>
              <a:t> may be imposed on her?</a:t>
            </a:r>
            <a:endParaRPr lang="en-US" sz="2200" dirty="0"/>
          </a:p>
        </p:txBody>
      </p:sp>
      <p:sp>
        <p:nvSpPr>
          <p:cNvPr id="9" name="s14-subbar-5"/>
          <p:cNvSpPr/>
          <p:nvPr/>
        </p:nvSpPr>
        <p:spPr>
          <a:xfrm>
            <a:off x="365760" y="3730752"/>
            <a:ext cx="11460175" cy="347472"/>
          </a:xfrm>
          <a:prstGeom prst="rect">
            <a:avLst/>
          </a:prstGeom>
          <a:solidFill>
            <a:schemeClr val="tx2"/>
          </a:solidFill>
          <a:ln/>
        </p:spPr>
      </p:sp>
      <p:sp>
        <p:nvSpPr>
          <p:cNvPr id="10" name="s14-subbar-text-6"/>
          <p:cNvSpPr txBox="1"/>
          <p:nvPr/>
        </p:nvSpPr>
        <p:spPr>
          <a:xfrm>
            <a:off x="365760" y="373075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Answered with Four Rules: 1. Law/Rule, 2. Analysis, 3. Conclusion</a:t>
            </a:r>
            <a:endParaRPr lang="en-US" sz="1400" dirty="0"/>
          </a:p>
        </p:txBody>
      </p:sp>
      <p:sp>
        <p:nvSpPr>
          <p:cNvPr id="11" name="s14-box-7"/>
          <p:cNvSpPr/>
          <p:nvPr/>
        </p:nvSpPr>
        <p:spPr>
          <a:xfrm>
            <a:off x="365760" y="4169664"/>
            <a:ext cx="2762174" cy="1956816"/>
          </a:xfrm>
          <a:prstGeom prst="rect">
            <a:avLst/>
          </a:prstGeom>
          <a:solidFill>
            <a:schemeClr val="bg2"/>
          </a:solidFill>
          <a:ln/>
        </p:spPr>
      </p:sp>
      <p:sp>
        <p:nvSpPr>
          <p:cNvPr id="12" name="s14-box-8"/>
          <p:cNvSpPr/>
          <p:nvPr/>
        </p:nvSpPr>
        <p:spPr>
          <a:xfrm>
            <a:off x="365760" y="4169664"/>
            <a:ext cx="2762174" cy="384048"/>
          </a:xfrm>
          <a:prstGeom prst="rect">
            <a:avLst/>
          </a:prstGeom>
          <a:solidFill>
            <a:srgbClr val="B3261E"/>
          </a:solidFill>
          <a:ln/>
        </p:spPr>
      </p:sp>
      <p:sp>
        <p:nvSpPr>
          <p:cNvPr id="13" name="s14-text-9"/>
          <p:cNvSpPr txBox="1"/>
          <p:nvPr/>
        </p:nvSpPr>
        <p:spPr>
          <a:xfrm>
            <a:off x="365760"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1</a:t>
            </a:r>
            <a:endParaRPr lang="en-US" sz="1300" dirty="0"/>
          </a:p>
        </p:txBody>
      </p:sp>
      <p:sp>
        <p:nvSpPr>
          <p:cNvPr id="14" name="s14-text-10"/>
          <p:cNvSpPr txBox="1"/>
          <p:nvPr/>
        </p:nvSpPr>
        <p:spPr>
          <a:xfrm>
            <a:off x="548640"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 244/3(1)</a:t>
            </a:r>
            <a:endParaRPr lang="en-US" sz="1300" dirty="0"/>
          </a:p>
          <a:p>
            <a:pPr algn="ctr" indent="0" marL="0">
              <a:spcAft>
                <a:spcPts val="400"/>
              </a:spcAft>
              <a:buNone/>
            </a:pPr>
            <a:r>
              <a:rPr lang="en-US" sz="1300" dirty="0">
                <a:solidFill>
                  <a:schemeClr val="tx1"/>
                </a:solidFill>
              </a:rPr>
              <a:t>Misleading other persons</a:t>
            </a:r>
            <a:endParaRPr lang="en-US" sz="1300" dirty="0"/>
          </a:p>
        </p:txBody>
      </p:sp>
      <p:sp>
        <p:nvSpPr>
          <p:cNvPr id="15" name="s14-box-11"/>
          <p:cNvSpPr/>
          <p:nvPr/>
        </p:nvSpPr>
        <p:spPr>
          <a:xfrm>
            <a:off x="3265094" y="4169664"/>
            <a:ext cx="2762174" cy="1956816"/>
          </a:xfrm>
          <a:prstGeom prst="rect">
            <a:avLst/>
          </a:prstGeom>
          <a:solidFill>
            <a:schemeClr val="bg2"/>
          </a:solidFill>
          <a:ln/>
        </p:spPr>
      </p:sp>
      <p:sp>
        <p:nvSpPr>
          <p:cNvPr id="16" name="s14-box-12"/>
          <p:cNvSpPr/>
          <p:nvPr/>
        </p:nvSpPr>
        <p:spPr>
          <a:xfrm>
            <a:off x="3265094" y="4169664"/>
            <a:ext cx="2762174" cy="384048"/>
          </a:xfrm>
          <a:prstGeom prst="rect">
            <a:avLst/>
          </a:prstGeom>
          <a:solidFill>
            <a:srgbClr val="B3261E"/>
          </a:solidFill>
          <a:ln/>
        </p:spPr>
      </p:sp>
      <p:sp>
        <p:nvSpPr>
          <p:cNvPr id="17" name="s14-text-13"/>
          <p:cNvSpPr txBox="1"/>
          <p:nvPr/>
        </p:nvSpPr>
        <p:spPr>
          <a:xfrm>
            <a:off x="3265094"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2</a:t>
            </a:r>
            <a:endParaRPr lang="en-US" sz="1300" dirty="0"/>
          </a:p>
        </p:txBody>
      </p:sp>
      <p:sp>
        <p:nvSpPr>
          <p:cNvPr id="18" name="s14-text-14"/>
          <p:cNvSpPr txBox="1"/>
          <p:nvPr/>
        </p:nvSpPr>
        <p:spPr>
          <a:xfrm>
            <a:off x="3447974"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 244/3(2)</a:t>
            </a:r>
            <a:endParaRPr lang="en-US" sz="1300" dirty="0"/>
          </a:p>
          <a:p>
            <a:pPr algn="ctr" indent="0" marL="0">
              <a:spcAft>
                <a:spcPts val="400"/>
              </a:spcAft>
              <a:buNone/>
            </a:pPr>
            <a:r>
              <a:rPr lang="en-US" sz="1300" dirty="0">
                <a:solidFill>
                  <a:schemeClr val="tx1"/>
                </a:solidFill>
              </a:rPr>
              <a:t>Continuous trading with intent</a:t>
            </a:r>
            <a:endParaRPr lang="en-US" sz="1300" dirty="0"/>
          </a:p>
        </p:txBody>
      </p:sp>
      <p:sp>
        <p:nvSpPr>
          <p:cNvPr id="19" name="s14-box-15"/>
          <p:cNvSpPr/>
          <p:nvPr/>
        </p:nvSpPr>
        <p:spPr>
          <a:xfrm>
            <a:off x="6164428" y="4169664"/>
            <a:ext cx="2762174" cy="1956816"/>
          </a:xfrm>
          <a:prstGeom prst="rect">
            <a:avLst/>
          </a:prstGeom>
          <a:solidFill>
            <a:schemeClr val="bg2"/>
          </a:solidFill>
          <a:ln/>
        </p:spPr>
      </p:sp>
      <p:sp>
        <p:nvSpPr>
          <p:cNvPr id="20" name="s14-box-16"/>
          <p:cNvSpPr/>
          <p:nvPr/>
        </p:nvSpPr>
        <p:spPr>
          <a:xfrm>
            <a:off x="6164428" y="4169664"/>
            <a:ext cx="2762174" cy="384048"/>
          </a:xfrm>
          <a:prstGeom prst="rect">
            <a:avLst/>
          </a:prstGeom>
          <a:solidFill>
            <a:schemeClr val="tx2"/>
          </a:solidFill>
          <a:ln/>
        </p:spPr>
      </p:sp>
      <p:sp>
        <p:nvSpPr>
          <p:cNvPr id="21" name="s14-text-17"/>
          <p:cNvSpPr txBox="1"/>
          <p:nvPr/>
        </p:nvSpPr>
        <p:spPr>
          <a:xfrm>
            <a:off x="6164428"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3</a:t>
            </a:r>
            <a:endParaRPr lang="en-US" sz="1300" dirty="0"/>
          </a:p>
        </p:txBody>
      </p:sp>
      <p:sp>
        <p:nvSpPr>
          <p:cNvPr id="22" name="s14-text-18"/>
          <p:cNvSpPr txBox="1"/>
          <p:nvPr/>
        </p:nvSpPr>
        <p:spPr>
          <a:xfrm>
            <a:off x="6347308"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Sections 296 to 297/1</a:t>
            </a:r>
            <a:endParaRPr lang="en-US" sz="1300" dirty="0"/>
          </a:p>
          <a:p>
            <a:pPr algn="ctr" indent="0" marL="0">
              <a:spcAft>
                <a:spcPts val="400"/>
              </a:spcAft>
              <a:buNone/>
            </a:pPr>
            <a:r>
              <a:rPr lang="en-US" sz="1300" dirty="0">
                <a:solidFill>
                  <a:schemeClr val="tx1"/>
                </a:solidFill>
              </a:rPr>
              <a:t>Criminal penalties</a:t>
            </a:r>
            <a:endParaRPr lang="en-US" sz="1300" dirty="0"/>
          </a:p>
        </p:txBody>
      </p:sp>
      <p:sp>
        <p:nvSpPr>
          <p:cNvPr id="23" name="s14-box-19"/>
          <p:cNvSpPr/>
          <p:nvPr/>
        </p:nvSpPr>
        <p:spPr>
          <a:xfrm>
            <a:off x="9063761" y="4169664"/>
            <a:ext cx="2762174" cy="1956816"/>
          </a:xfrm>
          <a:prstGeom prst="rect">
            <a:avLst/>
          </a:prstGeom>
          <a:solidFill>
            <a:schemeClr val="bg2"/>
          </a:solidFill>
          <a:ln/>
        </p:spPr>
      </p:sp>
      <p:sp>
        <p:nvSpPr>
          <p:cNvPr id="24" name="s14-box-20"/>
          <p:cNvSpPr/>
          <p:nvPr/>
        </p:nvSpPr>
        <p:spPr>
          <a:xfrm>
            <a:off x="9063761" y="4169664"/>
            <a:ext cx="2762174" cy="384048"/>
          </a:xfrm>
          <a:prstGeom prst="rect">
            <a:avLst/>
          </a:prstGeom>
          <a:solidFill>
            <a:schemeClr val="tx2"/>
          </a:solidFill>
          <a:ln/>
        </p:spPr>
      </p:sp>
      <p:sp>
        <p:nvSpPr>
          <p:cNvPr id="25" name="s14-text-21"/>
          <p:cNvSpPr txBox="1"/>
          <p:nvPr/>
        </p:nvSpPr>
        <p:spPr>
          <a:xfrm>
            <a:off x="9063761"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4</a:t>
            </a:r>
            <a:endParaRPr lang="en-US" sz="1300" dirty="0"/>
          </a:p>
        </p:txBody>
      </p:sp>
      <p:sp>
        <p:nvSpPr>
          <p:cNvPr id="26" name="s14-text-22"/>
          <p:cNvSpPr txBox="1"/>
          <p:nvPr/>
        </p:nvSpPr>
        <p:spPr>
          <a:xfrm>
            <a:off x="9246641"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Sections 317/1 to 317/8</a:t>
            </a:r>
            <a:endParaRPr lang="en-US" sz="1300" dirty="0"/>
          </a:p>
          <a:p>
            <a:pPr algn="ctr" indent="0" marL="0">
              <a:spcAft>
                <a:spcPts val="400"/>
              </a:spcAft>
              <a:buNone/>
            </a:pPr>
            <a:r>
              <a:rPr lang="en-US" sz="1300" dirty="0">
                <a:solidFill>
                  <a:schemeClr val="tx1"/>
                </a:solidFill>
              </a:rPr>
              <a:t>Civil sanctions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Law</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Chapter 8 Division 1; ss.296–297/1; ss.317/1–317/8</a:t>
            </a:r>
            <a:endParaRPr lang="en-US" sz="1050" dirty="0"/>
          </a:p>
        </p:txBody>
      </p:sp>
      <p:graphicFrame>
        <p:nvGraphicFramePr>
          <p:cNvPr id="16" name="s1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2377440"/>
                <a:gridCol w="2377440"/>
                <a:gridCol w="3931920"/>
                <a:gridCol w="2773375"/>
              </a:tblGrid>
              <a:tr h="365760">
                <a:tc>
                  <a:txBody>
                    <a:bodyPr/>
                    <a:lstStyle/>
                    <a:p>
                      <a:pPr algn="ctr" indent="0" marL="0">
                        <a:buNone/>
                      </a:pPr>
                      <a:r>
                        <a:rPr lang="en-US" sz="1250" b="1" dirty="0">
                          <a:solidFill>
                            <a:schemeClr val="bg1"/>
                          </a:solidFill>
                        </a:rPr>
                        <a:t>Law</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Sections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Why we use it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13232">
                <a:tc>
                  <a:txBody>
                    <a:bodyPr/>
                    <a:lstStyle/>
                    <a:p>
                      <a:pPr indent="0" marL="0">
                        <a:buNone/>
                      </a:pPr>
                      <a:r>
                        <a:rPr lang="en-US" sz="1250" b="1" dirty="0">
                          <a:solidFill>
                            <a:schemeClr val="tx2"/>
                          </a:solidFill>
                        </a:rPr>
                        <a:t>Unfair securities trading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ss.238 to 244/7</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TSR is a listed security (s.238), and the conduct is placing trading orders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rPr>
                        <a:t>Violated: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r>
              <a:tr h="713232">
                <a:tc>
                  <a:txBody>
                    <a:bodyPr/>
                    <a:lstStyle/>
                    <a:p>
                      <a:pPr indent="0" marL="0">
                        <a:buNone/>
                      </a:pPr>
                      <a:r>
                        <a:rPr lang="en-US" sz="1250" b="1" dirty="0">
                          <a:solidFill>
                            <a:schemeClr val="tx2"/>
                          </a:solidFill>
                        </a:rPr>
                        <a:t>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ss.296, 296/1, 296/2, 297/1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They set the punishment for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Apply if she is prosecuted (Rule 3)</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chemeClr val="tx2"/>
                          </a:solidFill>
                        </a:rPr>
                        <a:t>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ss.317/1 to 317/8</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route the SEC used: the CSC, then the Civil Court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Apply: she refused, so the SEC sued (Rule 4)</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5-box-2"/>
          <p:cNvSpPr/>
          <p:nvPr/>
        </p:nvSpPr>
        <p:spPr>
          <a:xfrm>
            <a:off x="365760" y="4005072"/>
            <a:ext cx="11460175" cy="1143000"/>
          </a:xfrm>
          <a:prstGeom prst="rect">
            <a:avLst/>
          </a:prstGeom>
          <a:solidFill>
            <a:schemeClr val="tx2"/>
          </a:solidFill>
          <a:ln/>
        </p:spPr>
      </p:sp>
      <p:sp>
        <p:nvSpPr>
          <p:cNvPr id="7" name="s15-box-3"/>
          <p:cNvSpPr/>
          <p:nvPr/>
        </p:nvSpPr>
        <p:spPr>
          <a:xfrm>
            <a:off x="566928" y="4151376"/>
            <a:ext cx="1014984" cy="274320"/>
          </a:xfrm>
          <a:prstGeom prst="rect">
            <a:avLst/>
          </a:prstGeom>
          <a:solidFill>
            <a:srgbClr val="B3261E"/>
          </a:solidFill>
          <a:ln/>
        </p:spPr>
      </p:sp>
      <p:sp>
        <p:nvSpPr>
          <p:cNvPr id="8" name="s15-text-4"/>
          <p:cNvSpPr txBox="1"/>
          <p:nvPr/>
        </p:nvSpPr>
        <p:spPr>
          <a:xfrm>
            <a:off x="566928" y="4151376"/>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VIOLATED</a:t>
            </a:r>
            <a:endParaRPr lang="en-US" sz="1050" dirty="0"/>
          </a:p>
        </p:txBody>
      </p:sp>
      <p:sp>
        <p:nvSpPr>
          <p:cNvPr id="9" name="s15-text-5"/>
          <p:cNvSpPr txBox="1"/>
          <p:nvPr/>
        </p:nvSpPr>
        <p:spPr>
          <a:xfrm>
            <a:off x="594360" y="4462272"/>
            <a:ext cx="11002975" cy="594360"/>
          </a:xfrm>
          <a:prstGeom prst="rect">
            <a:avLst/>
          </a:prstGeom>
          <a:noFill/>
          <a:ln/>
        </p:spPr>
        <p:txBody>
          <a:bodyPr wrap="square" lIns="0" tIns="0" rIns="0" bIns="0" rtlCol="0" anchor="ctr"/>
          <a:lstStyle/>
          <a:p>
            <a:pPr indent="0" marL="0">
              <a:spcAft>
                <a:spcPts val="300"/>
              </a:spcAft>
              <a:buNone/>
            </a:pPr>
            <a:r>
              <a:rPr lang="en-US" sz="1800" b="1" dirty="0">
                <a:solidFill>
                  <a:srgbClr val="F28B7E"/>
                </a:solidFill>
              </a:rPr>
              <a:t>Section 244/3(1) and (2)</a:t>
            </a:r>
            <a:pPr indent="0" marL="0">
              <a:spcAft>
                <a:spcPts val="300"/>
              </a:spcAft>
              <a:buNone/>
            </a:pPr>
            <a:r>
              <a:rPr lang="en-US" sz="1800" dirty="0">
                <a:solidFill>
                  <a:srgbClr val="FFFFFF"/>
                </a:solidFill>
              </a:rPr>
              <a:t>, supported by the presumption in Section 244/5(5).</a:t>
            </a:r>
            <a:endParaRPr lang="en-US" sz="1800" dirty="0"/>
          </a:p>
        </p:txBody>
      </p:sp>
      <p:sp>
        <p:nvSpPr>
          <p:cNvPr id="10" name="s15-box-6"/>
          <p:cNvSpPr/>
          <p:nvPr/>
        </p:nvSpPr>
        <p:spPr>
          <a:xfrm>
            <a:off x="365760" y="5285232"/>
            <a:ext cx="11460175" cy="841248"/>
          </a:xfrm>
          <a:prstGeom prst="rect">
            <a:avLst/>
          </a:prstGeom>
          <a:solidFill>
            <a:schemeClr val="bg2"/>
          </a:solidFill>
          <a:ln/>
        </p:spPr>
      </p:sp>
      <p:sp>
        <p:nvSpPr>
          <p:cNvPr id="11" name="s15-text-7"/>
          <p:cNvSpPr txBox="1"/>
          <p:nvPr/>
        </p:nvSpPr>
        <p:spPr>
          <a:xfrm>
            <a:off x="594360" y="5285232"/>
            <a:ext cx="11002975" cy="841248"/>
          </a:xfrm>
          <a:prstGeom prst="rect">
            <a:avLst/>
          </a:prstGeom>
          <a:noFill/>
          <a:ln/>
        </p:spPr>
        <p:txBody>
          <a:bodyPr wrap="square" lIns="0" tIns="0" rIns="0" bIns="0" rtlCol="0" anchor="ctr"/>
          <a:lstStyle/>
          <a:p>
            <a:pPr indent="0" marL="0">
              <a:spcAft>
                <a:spcPts val="300"/>
              </a:spcAft>
              <a:buNone/>
            </a:pPr>
            <a:r>
              <a:rPr lang="en-US" sz="1250" b="1" dirty="0">
                <a:solidFill>
                  <a:schemeClr val="accent5"/>
                </a:solidFill>
              </a:rPr>
              <a:t>Not violated: </a:t>
            </a:r>
            <a:pPr indent="0" marL="0">
              <a:spcAft>
                <a:spcPts val="300"/>
              </a:spcAft>
              <a:buNone/>
            </a:pPr>
            <a:r>
              <a:rPr lang="en-US" sz="1250" dirty="0">
                <a:solidFill>
                  <a:schemeClr val="accent5"/>
                </a:solidFill>
              </a:rPr>
              <a:t>ss.240, 241, 242, 244/1, 244/2, 244/6 and 244/7: a bullet point is missing or there are no facts (Checklists 3 and 4).</a:t>
            </a:r>
            <a:endParaRPr lang="en-US" sz="1250" dirty="0"/>
          </a:p>
          <a:p>
            <a:pPr indent="0" marL="0">
              <a:spcAft>
                <a:spcPts val="300"/>
              </a:spcAft>
              <a:buNone/>
            </a:pPr>
            <a:r>
              <a:rPr lang="en-US" sz="1250" b="1" dirty="0">
                <a:solidFill>
                  <a:schemeClr val="accent5"/>
                </a:solidFill>
              </a:rPr>
              <a:t>Not used: </a:t>
            </a:r>
            <a:pPr indent="0" marL="0">
              <a:spcAft>
                <a:spcPts val="300"/>
              </a:spcAft>
              <a:buNone/>
            </a:pPr>
            <a:r>
              <a:rPr lang="en-US" sz="1250" dirty="0">
                <a:solidFill>
                  <a:schemeClr val="accent5"/>
                </a:solidFill>
              </a:rPr>
              <a:t>s.244/5(4), because no news gives facts about pre-opening or pre-closing orders.</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Section 244/3(1)</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244/3(1), 244/5(5) (pp.80–83); Criminal Code s.59</a:t>
            </a:r>
            <a:endParaRPr lang="en-US" sz="1050" dirty="0"/>
          </a:p>
        </p:txBody>
      </p:sp>
      <p:sp>
        <p:nvSpPr>
          <p:cNvPr id="5" name="s16-subbar-1"/>
          <p:cNvSpPr/>
          <p:nvPr/>
        </p:nvSpPr>
        <p:spPr>
          <a:xfrm>
            <a:off x="365760" y="1353312"/>
            <a:ext cx="7223760" cy="347472"/>
          </a:xfrm>
          <a:prstGeom prst="rect">
            <a:avLst/>
          </a:prstGeom>
          <a:solidFill>
            <a:schemeClr val="tx2"/>
          </a:solidFill>
          <a:ln/>
        </p:spPr>
      </p:sp>
      <p:sp>
        <p:nvSpPr>
          <p:cNvPr id="6" name="s16-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6-box-3"/>
          <p:cNvSpPr/>
          <p:nvPr/>
        </p:nvSpPr>
        <p:spPr>
          <a:xfrm>
            <a:off x="365760" y="1792224"/>
            <a:ext cx="7223760" cy="4334256"/>
          </a:xfrm>
          <a:prstGeom prst="rect">
            <a:avLst/>
          </a:prstGeom>
          <a:solidFill>
            <a:schemeClr val="bg2"/>
          </a:solidFill>
          <a:ln/>
        </p:spPr>
      </p:sp>
      <p:sp>
        <p:nvSpPr>
          <p:cNvPr id="8" name="s16-text-4"/>
          <p:cNvSpPr txBox="1"/>
          <p:nvPr/>
        </p:nvSpPr>
        <p:spPr>
          <a:xfrm>
            <a:off x="548640" y="1883664"/>
            <a:ext cx="6858000" cy="4197096"/>
          </a:xfrm>
          <a:prstGeom prst="rect">
            <a:avLst/>
          </a:prstGeom>
          <a:noFill/>
          <a:ln/>
        </p:spPr>
        <p:txBody>
          <a:bodyPr wrap="square" lIns="0" tIns="0" rIns="0" bIns="0" rtlCol="0" anchor="t"/>
          <a:lstStyle/>
          <a:p>
            <a:pPr indent="0" marL="0">
              <a:spcAft>
                <a:spcPts val="700"/>
              </a:spcAft>
              <a:buNone/>
            </a:pPr>
            <a:r>
              <a:rPr lang="en-US" sz="1300" b="1" dirty="0">
                <a:solidFill>
                  <a:schemeClr val="tx2"/>
                </a:solidFill>
              </a:rPr>
              <a:t>Under the Securities and Exchange Act B.E. 2535 Section 244/3(1)</a:t>
            </a:r>
            <a:endParaRPr lang="en-US" sz="1200" dirty="0"/>
          </a:p>
          <a:p>
            <a:pPr indent="0" marL="0">
              <a:spcAft>
                <a:spcPts val="700"/>
              </a:spcAft>
              <a:buNone/>
            </a:pPr>
            <a:r>
              <a:rPr lang="en-US" sz="1200" dirty="0">
                <a:solidFill>
                  <a:schemeClr val="tx1"/>
                </a:solidFill>
              </a:rPr>
              <a:t>No person shall take any of the following actions:</a:t>
            </a:r>
            <a:endParaRPr lang="en-US" sz="1200" dirty="0"/>
          </a:p>
          <a:p>
            <a:pPr lvl="1" indent="0" marL="0">
              <a:spcAft>
                <a:spcPts val="700"/>
              </a:spcAft>
              <a:buNone/>
            </a:pPr>
            <a:r>
              <a:rPr lang="en-US" sz="1200" dirty="0">
                <a:solidFill>
                  <a:schemeClr val="tx1"/>
                </a:solidFill>
              </a:rPr>
              <a:t>(1) placing a trading order or trading securities in such a way that </a:t>
            </a:r>
            <a:pPr lvl="1" indent="0" marL="0">
              <a:spcAft>
                <a:spcPts val="700"/>
              </a:spcAft>
              <a:buNone/>
            </a:pPr>
            <a:r>
              <a:rPr lang="en-US" sz="1200" b="1" dirty="0">
                <a:solidFill>
                  <a:srgbClr val="B3261E"/>
                </a:solidFill>
              </a:rPr>
              <a:t>misleads other persons regarding the price or volume</a:t>
            </a:r>
            <a:pPr lvl="1" indent="0" marL="0">
              <a:spcAft>
                <a:spcPts val="700"/>
              </a:spcAft>
              <a:buNone/>
            </a:pPr>
            <a:r>
              <a:rPr lang="en-US" sz="1200" dirty="0">
                <a:solidFill>
                  <a:schemeClr val="tx1"/>
                </a:solidFill>
              </a:rPr>
              <a:t> of the securities trading;</a:t>
            </a:r>
            <a:endParaRPr lang="en-US" sz="1200" dirty="0"/>
          </a:p>
          <a:p>
            <a:pPr indent="0" marL="0">
              <a:spcAft>
                <a:spcPts val="700"/>
              </a:spcAft>
              <a:buNone/>
            </a:pPr>
            <a:r>
              <a:rPr lang="en-US" sz="1300" b="1" dirty="0">
                <a:solidFill>
                  <a:schemeClr val="tx2"/>
                </a:solidFill>
              </a:rPr>
              <a:t>Section 244/5(5), presumption</a:t>
            </a:r>
            <a:endParaRPr lang="en-US" sz="1200" dirty="0"/>
          </a:p>
          <a:p>
            <a:pPr indent="0" marL="0">
              <a:spcAft>
                <a:spcPts val="700"/>
              </a:spcAft>
              <a:buNone/>
            </a:pPr>
            <a:r>
              <a:rPr lang="en-US" sz="1200" dirty="0">
                <a:solidFill>
                  <a:schemeClr val="tx1"/>
                </a:solidFill>
              </a:rPr>
              <a:t>Any of the following acts shall be presumed to be an act that has caused other persons to have a misunderstanding of the price or volume of the securities trading under Section 244/3 (1) … :</a:t>
            </a:r>
            <a:endParaRPr lang="en-US" sz="1200" dirty="0"/>
          </a:p>
          <a:p>
            <a:pPr lvl="1" indent="0" marL="0">
              <a:spcAft>
                <a:spcPts val="700"/>
              </a:spcAft>
              <a:buNone/>
            </a:pPr>
            <a:r>
              <a:rPr lang="en-US" sz="1200" dirty="0">
                <a:solidFill>
                  <a:schemeClr val="tx1"/>
                </a:solidFill>
              </a:rPr>
              <a:t>(5) placing, modifying, or cancelling a securities trading order in such a way that </a:t>
            </a:r>
            <a:pPr lvl="1" indent="0" marL="0">
              <a:spcAft>
                <a:spcPts val="700"/>
              </a:spcAft>
              <a:buNone/>
            </a:pPr>
            <a:r>
              <a:rPr lang="en-US" sz="1200" b="1" dirty="0">
                <a:solidFill>
                  <a:srgbClr val="B3261E"/>
                </a:solidFill>
              </a:rPr>
              <a:t>obstructs securities trading of other persons</a:t>
            </a:r>
            <a:pPr lvl="1" indent="0" marL="0">
              <a:spcAft>
                <a:spcPts val="700"/>
              </a:spcAft>
              <a:buNone/>
            </a:pPr>
            <a:r>
              <a:rPr lang="en-US" sz="1200" dirty="0">
                <a:solidFill>
                  <a:schemeClr val="tx1"/>
                </a:solidFill>
              </a:rPr>
              <a:t>, which causes other persons to place a trading order </a:t>
            </a:r>
            <a:pPr lvl="1" indent="0" marL="0">
              <a:spcAft>
                <a:spcPts val="700"/>
              </a:spcAft>
              <a:buNone/>
            </a:pPr>
            <a:r>
              <a:rPr lang="en-US" sz="1200" b="1" dirty="0">
                <a:solidFill>
                  <a:srgbClr val="B3261E"/>
                </a:solidFill>
              </a:rPr>
              <a:t>at a higher or lower price</a:t>
            </a:r>
            <a:pPr lvl="1" indent="0" marL="0">
              <a:spcAft>
                <a:spcPts val="700"/>
              </a:spcAft>
              <a:buNone/>
            </a:pPr>
            <a:r>
              <a:rPr lang="en-US" sz="1200" dirty="0">
                <a:solidFill>
                  <a:schemeClr val="tx1"/>
                </a:solidFill>
              </a:rPr>
              <a:t> than it should have been.</a:t>
            </a:r>
            <a:endParaRPr lang="en-US" sz="1200" dirty="0"/>
          </a:p>
          <a:p>
            <a:pPr indent="0" marL="0">
              <a:spcAft>
                <a:spcPts val="700"/>
              </a:spcAft>
              <a:buNone/>
            </a:pPr>
            <a:r>
              <a:rPr lang="en-US" sz="1300" b="1" dirty="0">
                <a:solidFill>
                  <a:schemeClr val="tx2"/>
                </a:solidFill>
              </a:rPr>
              <a:t>Section 238, scope</a:t>
            </a:r>
            <a:endParaRPr lang="en-US" sz="1200" dirty="0"/>
          </a:p>
          <a:p>
            <a:pPr lvl="1" indent="0" marL="0">
              <a:spcAft>
                <a:spcPts val="700"/>
              </a:spcAft>
              <a:buNone/>
            </a:pPr>
            <a:r>
              <a:rPr lang="en-US" sz="1200" dirty="0">
                <a:solidFill>
                  <a:schemeClr val="tx1"/>
                </a:solidFill>
              </a:rPr>
              <a:t>The provisions under this Division shall apply to </a:t>
            </a:r>
            <a:pPr lvl="1" indent="0" marL="0">
              <a:spcAft>
                <a:spcPts val="700"/>
              </a:spcAft>
              <a:buNone/>
            </a:pPr>
            <a:r>
              <a:rPr lang="en-US" sz="1200" b="1" dirty="0">
                <a:solidFill>
                  <a:srgbClr val="B3261E"/>
                </a:solidFill>
              </a:rPr>
              <a:t>listed securities</a:t>
            </a:r>
            <a:pPr lvl="1" indent="0" marL="0">
              <a:spcAft>
                <a:spcPts val="700"/>
              </a:spcAft>
              <a:buNone/>
            </a:pPr>
            <a:r>
              <a:rPr lang="en-US" sz="1200" dirty="0">
                <a:solidFill>
                  <a:schemeClr val="tx1"/>
                </a:solidFill>
              </a:rPr>
              <a:t> and securities traded in the over-the-counter center.</a:t>
            </a:r>
            <a:endParaRPr lang="en-US" sz="1200" dirty="0"/>
          </a:p>
          <a:p>
            <a:pPr indent="0" marL="0">
              <a:spcAft>
                <a:spcPts val="700"/>
              </a:spcAft>
              <a:buNone/>
            </a:pPr>
            <a:r>
              <a:rPr lang="en-US" sz="1300" b="1" dirty="0">
                <a:solidFill>
                  <a:schemeClr val="tx2"/>
                </a:solidFill>
              </a:rPr>
              <a:t>Criminal Code Section 59, intent (summary)</a:t>
            </a:r>
            <a:endParaRPr lang="en-US" sz="1200" dirty="0"/>
          </a:p>
          <a:p>
            <a:pPr lvl="1" indent="0" marL="0">
              <a:spcAft>
                <a:spcPts val="700"/>
              </a:spcAft>
              <a:buNone/>
            </a:pPr>
            <a:r>
              <a:rPr lang="en-US" sz="1200" dirty="0">
                <a:solidFill>
                  <a:schemeClr val="tx1"/>
                </a:solidFill>
              </a:rPr>
              <a:t>A person is criminally liable only for an act done </a:t>
            </a:r>
            <a:pPr lvl="1" indent="0" marL="0">
              <a:spcAft>
                <a:spcPts val="700"/>
              </a:spcAft>
              <a:buNone/>
            </a:pPr>
            <a:r>
              <a:rPr lang="en-US" sz="1200" b="1" dirty="0">
                <a:solidFill>
                  <a:srgbClr val="B3261E"/>
                </a:solidFill>
              </a:rPr>
              <a:t>intentionally</a:t>
            </a:r>
            <a:pPr lvl="1" indent="0" marL="0">
              <a:spcAft>
                <a:spcPts val="700"/>
              </a:spcAft>
              <a:buNone/>
            </a:pPr>
            <a:r>
              <a:rPr lang="en-US" sz="1200" dirty="0">
                <a:solidFill>
                  <a:schemeClr val="tx1"/>
                </a:solidFill>
              </a:rPr>
              <a:t>, that is, done consciously while wanting or foreseeing its result.</a:t>
            </a:r>
            <a:endParaRPr lang="en-US" sz="1200" dirty="0"/>
          </a:p>
        </p:txBody>
      </p:sp>
      <p:sp>
        <p:nvSpPr>
          <p:cNvPr id="9" name="s16-subbar-5"/>
          <p:cNvSpPr/>
          <p:nvPr/>
        </p:nvSpPr>
        <p:spPr>
          <a:xfrm>
            <a:off x="7726680" y="1353312"/>
            <a:ext cx="4099255" cy="347472"/>
          </a:xfrm>
          <a:prstGeom prst="rect">
            <a:avLst/>
          </a:prstGeom>
          <a:solidFill>
            <a:schemeClr val="tx2"/>
          </a:solidFill>
          <a:ln/>
        </p:spPr>
      </p:sp>
      <p:sp>
        <p:nvSpPr>
          <p:cNvPr id="10" name="s16-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7" name="s16-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89204">
                <a:tc>
                  <a:txBody>
                    <a:bodyPr/>
                    <a:lstStyle/>
                    <a:p>
                      <a:pPr algn="ctr" indent="0" marL="0">
                        <a:buNone/>
                      </a:pPr>
                      <a:r>
                        <a:rPr lang="en-US" sz="1150" b="1" dirty="0">
                          <a:solidFill>
                            <a:srgbClr val="FFFFFF"/>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Misleads others about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places, modifies or cancels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obstructs 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F11; Securities and Exchange Act ss.238, 244/3(1), 244/4, 244/5(5); Criminal Code s.59</a:t>
            </a:r>
            <a:endParaRPr lang="en-US" sz="1050" dirty="0"/>
          </a:p>
        </p:txBody>
      </p:sp>
      <p:sp>
        <p:nvSpPr>
          <p:cNvPr id="5" name="s17-subbar-1"/>
          <p:cNvSpPr/>
          <p:nvPr/>
        </p:nvSpPr>
        <p:spPr>
          <a:xfrm>
            <a:off x="365760" y="1353312"/>
            <a:ext cx="7223760" cy="347472"/>
          </a:xfrm>
          <a:prstGeom prst="rect">
            <a:avLst/>
          </a:prstGeom>
          <a:solidFill>
            <a:schemeClr val="tx2"/>
          </a:solidFill>
          <a:ln/>
        </p:spPr>
      </p:sp>
      <p:sp>
        <p:nvSpPr>
          <p:cNvPr id="6" name="s17-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7-box-3"/>
          <p:cNvSpPr/>
          <p:nvPr/>
        </p:nvSpPr>
        <p:spPr>
          <a:xfrm>
            <a:off x="365760" y="1792224"/>
            <a:ext cx="7223760" cy="2898648"/>
          </a:xfrm>
          <a:prstGeom prst="rect">
            <a:avLst/>
          </a:prstGeom>
          <a:solidFill>
            <a:schemeClr val="bg2"/>
          </a:solidFill>
          <a:ln/>
        </p:spPr>
      </p:sp>
      <p:sp>
        <p:nvSpPr>
          <p:cNvPr id="8" name="s17-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นางสาวภรัณยา placed large buy orders in TSR for 47 trading days. Under Section 244/3(1), every element is met:</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she is an individual, so she is “any person” (F1).</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she placed trading orders and traded by hitting the offers and sweeping the sell orders (F3).</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TSR is listed on the SET, so Section 238 applies (F2).</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her large bids at levels 1 and 2 obstructed other buyers, who had to bid higher (F4). </a:t>
            </a:r>
            <a:pPr indent="0" marL="0">
              <a:spcAft>
                <a:spcPts val="700"/>
              </a:spcAft>
              <a:buNone/>
            </a:pPr>
            <a:r>
              <a:rPr lang="en-US" sz="1200" b="1" dirty="0">
                <a:solidFill>
                  <a:srgbClr val="B3261E"/>
                </a:solidFill>
              </a:rPr>
              <a:t>All three elements of s.244/5(5) are met</a:t>
            </a:r>
            <a:pPr indent="0" marL="0">
              <a:spcAft>
                <a:spcPts val="700"/>
              </a:spcAft>
              <a:buNone/>
            </a:pPr>
            <a:r>
              <a:rPr lang="en-US" sz="1200" dirty="0">
                <a:solidFill>
                  <a:schemeClr val="tx1"/>
                </a:solidFill>
              </a:rPr>
              <a:t>, so the law presumes others were misled; the SEC also found the public was misled (F6). No s.244/4 exception applies.</a:t>
            </a:r>
            <a:endParaRPr lang="en-US" sz="1200" dirty="0"/>
          </a:p>
          <a:p>
            <a:pPr indent="0" marL="0">
              <a:spcAft>
                <a:spcPts val="700"/>
              </a:spcAft>
              <a:buNone/>
            </a:pPr>
            <a:r>
              <a:rPr lang="en-US" sz="1200" b="1" dirty="0">
                <a:solidFill>
                  <a:schemeClr val="tx2"/>
                </a:solidFill>
              </a:rPr>
              <a:t>Fifth, </a:t>
            </a:r>
            <a:pPr indent="0" marL="0">
              <a:spcAft>
                <a:spcPts val="700"/>
              </a:spcAft>
              <a:buNone/>
            </a:pPr>
            <a:r>
              <a:rPr lang="en-US" sz="1200" dirty="0">
                <a:solidFill>
                  <a:schemeClr val="tx1"/>
                </a:solidFill>
              </a:rPr>
              <a:t>she acted intentionally (Criminal Code s.59): she repeated the orders for 47 days with clear reasons to lift the price, including </a:t>
            </a:r>
            <a:pPr indent="0" marL="0">
              <a:spcAft>
                <a:spcPts val="700"/>
              </a:spcAft>
              <a:buNone/>
            </a:pPr>
            <a:r>
              <a:rPr lang="en-US" sz="1200" b="1" dirty="0">
                <a:solidFill>
                  <a:srgbClr val="B3261E"/>
                </a:solidFill>
              </a:rPr>
              <a:t>her own 13.02% stake</a:t>
            </a:r>
            <a:pPr indent="0" marL="0">
              <a:spcAft>
                <a:spcPts val="700"/>
              </a:spcAft>
              <a:buNone/>
            </a:pPr>
            <a:r>
              <a:rPr lang="en-US" sz="1200" dirty="0">
                <a:solidFill>
                  <a:schemeClr val="tx1"/>
                </a:solidFill>
              </a:rPr>
              <a:t> (F5, F11).</a:t>
            </a:r>
            <a:endParaRPr lang="en-US" sz="1200" dirty="0"/>
          </a:p>
        </p:txBody>
      </p:sp>
      <p:sp>
        <p:nvSpPr>
          <p:cNvPr id="9" name="s17-subbar-5"/>
          <p:cNvSpPr/>
          <p:nvPr/>
        </p:nvSpPr>
        <p:spPr>
          <a:xfrm>
            <a:off x="7726680" y="1353312"/>
            <a:ext cx="4099255" cy="347472"/>
          </a:xfrm>
          <a:prstGeom prst="rect">
            <a:avLst/>
          </a:prstGeom>
          <a:solidFill>
            <a:schemeClr val="tx2"/>
          </a:solidFill>
          <a:ln/>
        </p:spPr>
      </p:sp>
      <p:sp>
        <p:nvSpPr>
          <p:cNvPr id="10" name="s17-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18" name="s17-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0634">
                <a:tc>
                  <a:txBody>
                    <a:bodyPr/>
                    <a:lstStyle/>
                    <a:p>
                      <a:pPr indent="0" marL="0">
                        <a:buNone/>
                      </a:pPr>
                      <a:r>
                        <a:rPr lang="en-US" sz="1100" dirty="0">
                          <a:solidFill>
                            <a:schemeClr val="tx1"/>
                          </a:solidFill>
                        </a:rPr>
                        <a:t>1 Any person</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2 Order or trade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3 Listed securities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4 Misleads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4(i)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4(ii)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4(iii)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17-box-8"/>
          <p:cNvSpPr/>
          <p:nvPr/>
        </p:nvSpPr>
        <p:spPr>
          <a:xfrm>
            <a:off x="365760" y="4800600"/>
            <a:ext cx="7223760" cy="1325880"/>
          </a:xfrm>
          <a:prstGeom prst="rect">
            <a:avLst/>
          </a:prstGeom>
          <a:solidFill>
            <a:schemeClr val="tx2"/>
          </a:solidFill>
          <a:ln/>
        </p:spPr>
      </p:sp>
      <p:sp>
        <p:nvSpPr>
          <p:cNvPr id="13" name="s17-box-9"/>
          <p:cNvSpPr/>
          <p:nvPr/>
        </p:nvSpPr>
        <p:spPr>
          <a:xfrm>
            <a:off x="566928" y="4946904"/>
            <a:ext cx="1449324" cy="274320"/>
          </a:xfrm>
          <a:prstGeom prst="rect">
            <a:avLst/>
          </a:prstGeom>
          <a:solidFill>
            <a:srgbClr val="B3261E"/>
          </a:solidFill>
          <a:ln/>
        </p:spPr>
      </p:sp>
      <p:sp>
        <p:nvSpPr>
          <p:cNvPr id="14" name="s17-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17-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because every element is met, นางสาวภรัณยา’s conduct </a:t>
            </a:r>
            <a:pPr indent="0" marL="0">
              <a:spcAft>
                <a:spcPts val="300"/>
              </a:spcAft>
              <a:buNone/>
            </a:pPr>
            <a:r>
              <a:rPr lang="en-US" sz="1350" b="1" dirty="0">
                <a:solidFill>
                  <a:srgbClr val="F28B7E"/>
                </a:solidFill>
              </a:rPr>
              <a:t>violates Section 244/3(1)</a:t>
            </a:r>
            <a:pPr indent="0" marL="0">
              <a:spcAft>
                <a:spcPts val="300"/>
              </a:spcAft>
              <a:buNone/>
            </a:pPr>
            <a:r>
              <a:rPr lang="en-US" sz="1350" dirty="0">
                <a:solidFill>
                  <a:srgbClr val="FFFFFF"/>
                </a:solidFill>
              </a:rPr>
              <a:t>.</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Section 244/3(2)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ss.244/3(2), 244/5(4)(5) (pp.82–83); Criminal Code s.59</a:t>
            </a:r>
            <a:endParaRPr lang="en-US" sz="1050" dirty="0"/>
          </a:p>
        </p:txBody>
      </p:sp>
      <p:sp>
        <p:nvSpPr>
          <p:cNvPr id="5" name="s18-subbar-1"/>
          <p:cNvSpPr/>
          <p:nvPr/>
        </p:nvSpPr>
        <p:spPr>
          <a:xfrm>
            <a:off x="365760" y="1353312"/>
            <a:ext cx="7223760" cy="347472"/>
          </a:xfrm>
          <a:prstGeom prst="rect">
            <a:avLst/>
          </a:prstGeom>
          <a:solidFill>
            <a:schemeClr val="tx2"/>
          </a:solidFill>
          <a:ln/>
        </p:spPr>
      </p:sp>
      <p:sp>
        <p:nvSpPr>
          <p:cNvPr id="6" name="s18-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8-box-3"/>
          <p:cNvSpPr/>
          <p:nvPr/>
        </p:nvSpPr>
        <p:spPr>
          <a:xfrm>
            <a:off x="365760" y="1792224"/>
            <a:ext cx="7223760" cy="4334256"/>
          </a:xfrm>
          <a:prstGeom prst="rect">
            <a:avLst/>
          </a:prstGeom>
          <a:solidFill>
            <a:schemeClr val="bg2"/>
          </a:solidFill>
          <a:ln/>
        </p:spPr>
      </p:sp>
      <p:sp>
        <p:nvSpPr>
          <p:cNvPr id="8" name="s18-text-4"/>
          <p:cNvSpPr txBox="1"/>
          <p:nvPr/>
        </p:nvSpPr>
        <p:spPr>
          <a:xfrm>
            <a:off x="548640" y="1883664"/>
            <a:ext cx="6858000" cy="3099816"/>
          </a:xfrm>
          <a:prstGeom prst="rect">
            <a:avLst/>
          </a:prstGeom>
          <a:noFill/>
          <a:ln/>
        </p:spPr>
        <p:txBody>
          <a:bodyPr wrap="square" lIns="0" tIns="0" rIns="0" bIns="0" rtlCol="0" anchor="t"/>
          <a:lstStyle/>
          <a:p>
            <a:pPr indent="0" marL="0">
              <a:spcAft>
                <a:spcPts val="700"/>
              </a:spcAft>
              <a:buNone/>
            </a:pPr>
            <a:r>
              <a:rPr lang="en-US" sz="1300" b="1" dirty="0">
                <a:solidFill>
                  <a:schemeClr val="tx2"/>
                </a:solidFill>
              </a:rPr>
              <a:t>Under the Securities and Exchange Act B.E. 2535 Section 244/3(2)</a:t>
            </a:r>
            <a:endParaRPr lang="en-US" sz="1200" dirty="0"/>
          </a:p>
          <a:p>
            <a:pPr indent="0" marL="0">
              <a:spcAft>
                <a:spcPts val="700"/>
              </a:spcAft>
              <a:buNone/>
            </a:pPr>
            <a:r>
              <a:rPr lang="en-US" sz="1200" dirty="0">
                <a:solidFill>
                  <a:schemeClr val="tx1"/>
                </a:solidFill>
              </a:rPr>
              <a:t>No person shall take any of the following actions: …</a:t>
            </a:r>
            <a:endParaRPr lang="en-US" sz="1200" dirty="0"/>
          </a:p>
          <a:p>
            <a:pPr lvl="1" indent="0" marL="0">
              <a:spcAft>
                <a:spcPts val="700"/>
              </a:spcAft>
              <a:buNone/>
            </a:pPr>
            <a:r>
              <a:rPr lang="en-US" sz="1200" dirty="0">
                <a:solidFill>
                  <a:schemeClr val="tx1"/>
                </a:solidFill>
              </a:rPr>
              <a:t>(2) placing a securities trading order or trading securities </a:t>
            </a:r>
            <a:pPr lvl="1" indent="0" marL="0">
              <a:spcAft>
                <a:spcPts val="700"/>
              </a:spcAft>
              <a:buNone/>
            </a:pPr>
            <a:r>
              <a:rPr lang="en-US" sz="1200" b="1" dirty="0">
                <a:solidFill>
                  <a:srgbClr val="B3261E"/>
                </a:solidFill>
              </a:rPr>
              <a:t>on a continued basis</a:t>
            </a:r>
            <a:pPr lvl="1" indent="0" marL="0">
              <a:spcAft>
                <a:spcPts val="700"/>
              </a:spcAft>
              <a:buNone/>
            </a:pPr>
            <a:r>
              <a:rPr lang="en-US" sz="1200" dirty="0">
                <a:solidFill>
                  <a:schemeClr val="tx1"/>
                </a:solidFill>
              </a:rPr>
              <a:t> with an </a:t>
            </a:r>
            <a:pPr lvl="1" indent="0" marL="0">
              <a:spcAft>
                <a:spcPts val="700"/>
              </a:spcAft>
              <a:buNone/>
            </a:pPr>
            <a:r>
              <a:rPr lang="en-US" sz="1200" b="1" dirty="0">
                <a:solidFill>
                  <a:srgbClr val="B3261E"/>
                </a:solidFill>
              </a:rPr>
              <a:t>intent to cause the price or the volume</a:t>
            </a:r>
            <a:pPr lvl="1" indent="0" marL="0">
              <a:spcAft>
                <a:spcPts val="700"/>
              </a:spcAft>
              <a:buNone/>
            </a:pPr>
            <a:r>
              <a:rPr lang="en-US" sz="1200" dirty="0">
                <a:solidFill>
                  <a:schemeClr val="tx1"/>
                </a:solidFill>
              </a:rPr>
              <a:t> of such securities trading to be </a:t>
            </a:r>
            <a:pPr lvl="1" indent="0" marL="0">
              <a:spcAft>
                <a:spcPts val="700"/>
              </a:spcAft>
              <a:buNone/>
            </a:pPr>
            <a:r>
              <a:rPr lang="en-US" sz="1200" b="1" dirty="0">
                <a:solidFill>
                  <a:srgbClr val="B3261E"/>
                </a:solidFill>
              </a:rPr>
              <a:t>inconsistent with the normal market condition</a:t>
            </a:r>
            <a:pPr lvl="1" indent="0" marL="0">
              <a:spcAft>
                <a:spcPts val="700"/>
              </a:spcAft>
              <a:buNone/>
            </a:pPr>
            <a:r>
              <a:rPr lang="en-US" sz="1200" dirty="0">
                <a:solidFill>
                  <a:schemeClr val="tx1"/>
                </a:solidFill>
              </a:rPr>
              <a:t>.</a:t>
            </a:r>
            <a:endParaRPr lang="en-US" sz="1200" dirty="0"/>
          </a:p>
          <a:p>
            <a:pPr indent="0" marL="0">
              <a:spcAft>
                <a:spcPts val="700"/>
              </a:spcAft>
              <a:buNone/>
            </a:pPr>
            <a:r>
              <a:rPr lang="en-US" sz="1300" b="1" dirty="0">
                <a:solidFill>
                  <a:schemeClr val="tx2"/>
                </a:solidFill>
              </a:rPr>
              <a:t>Section 244/5(5), presumption</a:t>
            </a:r>
            <a:endParaRPr lang="en-US" sz="1200" dirty="0"/>
          </a:p>
          <a:p>
            <a:pPr indent="0" marL="0">
              <a:spcAft>
                <a:spcPts val="700"/>
              </a:spcAft>
              <a:buNone/>
            </a:pPr>
            <a:r>
              <a:rPr lang="en-US" sz="1200" dirty="0">
                <a:solidFill>
                  <a:schemeClr val="tx1"/>
                </a:solidFill>
              </a:rPr>
              <a:t>Any of the following acts shall be presumed to be … an act that has caused the price or volume of such securities trading to be inconsistent with the normal market condition under Section 244/3 (2), as the case may be: …</a:t>
            </a:r>
            <a:endParaRPr lang="en-US" sz="1200" dirty="0"/>
          </a:p>
          <a:p>
            <a:pPr lvl="1" indent="0" marL="0">
              <a:spcAft>
                <a:spcPts val="700"/>
              </a:spcAft>
              <a:buNone/>
            </a:pPr>
            <a:r>
              <a:rPr lang="en-US" sz="1200" dirty="0">
                <a:solidFill>
                  <a:schemeClr val="tx1"/>
                </a:solidFill>
              </a:rPr>
              <a:t>(5) placing, modifying, or cancelling a securities trading order in such a way that </a:t>
            </a:r>
            <a:pPr lvl="1" indent="0" marL="0">
              <a:spcAft>
                <a:spcPts val="700"/>
              </a:spcAft>
              <a:buNone/>
            </a:pPr>
            <a:r>
              <a:rPr lang="en-US" sz="1200" b="1" dirty="0">
                <a:solidFill>
                  <a:srgbClr val="B3261E"/>
                </a:solidFill>
              </a:rPr>
              <a:t>obstructs securities trading of other persons</a:t>
            </a:r>
            <a:pPr lvl="1" indent="0" marL="0">
              <a:spcAft>
                <a:spcPts val="700"/>
              </a:spcAft>
              <a:buNone/>
            </a:pPr>
            <a:r>
              <a:rPr lang="en-US" sz="1200" dirty="0">
                <a:solidFill>
                  <a:schemeClr val="tx1"/>
                </a:solidFill>
              </a:rPr>
              <a:t>, which causes other persons to place a trading order at a higher or lower price than it should have been.</a:t>
            </a:r>
            <a:endParaRPr lang="en-US" sz="1200" dirty="0"/>
          </a:p>
        </p:txBody>
      </p:sp>
      <p:sp>
        <p:nvSpPr>
          <p:cNvPr id="9" name="s18-box-5"/>
          <p:cNvSpPr/>
          <p:nvPr/>
        </p:nvSpPr>
        <p:spPr>
          <a:xfrm>
            <a:off x="548640" y="5074920"/>
            <a:ext cx="6858000" cy="914400"/>
          </a:xfrm>
          <a:prstGeom prst="rect">
            <a:avLst/>
          </a:prstGeom>
          <a:solidFill>
            <a:srgbClr val="F4F5F8"/>
          </a:solidFill>
          <a:ln w="12700">
            <a:solidFill>
              <a:srgbClr val="C5CCD8"/>
            </a:solidFill>
            <a:prstDash val="solid"/>
          </a:ln>
        </p:spPr>
      </p:sp>
      <p:sp>
        <p:nvSpPr>
          <p:cNvPr id="10" name="s18-text-6"/>
          <p:cNvSpPr txBox="1"/>
          <p:nvPr/>
        </p:nvSpPr>
        <p:spPr>
          <a:xfrm>
            <a:off x="685800" y="5074920"/>
            <a:ext cx="6583680" cy="914400"/>
          </a:xfrm>
          <a:prstGeom prst="rect">
            <a:avLst/>
          </a:prstGeom>
          <a:noFill/>
          <a:ln/>
        </p:spPr>
        <p:txBody>
          <a:bodyPr wrap="square" lIns="0" tIns="0" rIns="0" bIns="0" rtlCol="0" anchor="ctr"/>
          <a:lstStyle/>
          <a:p>
            <a:pPr indent="0" marL="0">
              <a:buNone/>
            </a:pPr>
            <a:r>
              <a:rPr lang="en-US" sz="1200" b="1" dirty="0">
                <a:solidFill>
                  <a:schemeClr val="accent5"/>
                </a:solidFill>
              </a:rPr>
              <a:t>Not used: </a:t>
            </a:r>
            <a:pPr indent="0" marL="0">
              <a:buNone/>
            </a:pPr>
            <a:r>
              <a:rPr lang="en-US" sz="1200" dirty="0">
                <a:solidFill>
                  <a:schemeClr val="accent5"/>
                </a:solidFill>
              </a:rPr>
              <a:t>Section 244/5(4) (pre-opening or pre-closing orders). The SEC cited it, but no news gives facts for its elements (F9).</a:t>
            </a:r>
            <a:endParaRPr lang="en-US" sz="1200" dirty="0"/>
          </a:p>
        </p:txBody>
      </p:sp>
      <p:sp>
        <p:nvSpPr>
          <p:cNvPr id="11" name="s18-subbar-7"/>
          <p:cNvSpPr/>
          <p:nvPr/>
        </p:nvSpPr>
        <p:spPr>
          <a:xfrm>
            <a:off x="7726680" y="1353312"/>
            <a:ext cx="4099255" cy="347472"/>
          </a:xfrm>
          <a:prstGeom prst="rect">
            <a:avLst/>
          </a:prstGeom>
          <a:solidFill>
            <a:schemeClr val="tx2"/>
          </a:solidFill>
          <a:ln/>
        </p:spPr>
      </p:sp>
      <p:sp>
        <p:nvSpPr>
          <p:cNvPr id="12" name="s18-subbar-text-8"/>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9" name="s18-table-9"/>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34848">
                <a:tc>
                  <a:txBody>
                    <a:bodyPr/>
                    <a:lstStyle/>
                    <a:p>
                      <a:pPr algn="ctr" indent="0" marL="0">
                        <a:buNone/>
                      </a:pPr>
                      <a:r>
                        <a:rPr lang="en-US" sz="1150" b="1" dirty="0">
                          <a:solidFill>
                            <a:srgbClr val="FFFFFF"/>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On a continued basis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Special intent: abnormal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places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obstructs others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F9–F12; Securities and Exchange Act ss.244/3(2), 244/5(4)(5), 296/1; Criminal Code s.59</a:t>
            </a:r>
            <a:endParaRPr lang="en-US" sz="1050" dirty="0"/>
          </a:p>
        </p:txBody>
      </p:sp>
      <p:sp>
        <p:nvSpPr>
          <p:cNvPr id="5" name="s19-subbar-1"/>
          <p:cNvSpPr/>
          <p:nvPr/>
        </p:nvSpPr>
        <p:spPr>
          <a:xfrm>
            <a:off x="365760" y="1353312"/>
            <a:ext cx="7223760" cy="347472"/>
          </a:xfrm>
          <a:prstGeom prst="rect">
            <a:avLst/>
          </a:prstGeom>
          <a:solidFill>
            <a:schemeClr val="tx2"/>
          </a:solidFill>
          <a:ln/>
        </p:spPr>
      </p:sp>
      <p:sp>
        <p:nvSpPr>
          <p:cNvPr id="6" name="s19-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9-box-3"/>
          <p:cNvSpPr/>
          <p:nvPr/>
        </p:nvSpPr>
        <p:spPr>
          <a:xfrm>
            <a:off x="365760" y="1792224"/>
            <a:ext cx="7223760" cy="2898648"/>
          </a:xfrm>
          <a:prstGeom prst="rect">
            <a:avLst/>
          </a:prstGeom>
          <a:solidFill>
            <a:schemeClr val="bg2"/>
          </a:solidFill>
          <a:ln/>
        </p:spPr>
      </p:sp>
      <p:sp>
        <p:nvSpPr>
          <p:cNvPr id="8" name="s19-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she kept buying TSR for 47 trading days while SABUY and she both held large TSR stakes (F3, F10, F11). Under Section 244/3(2), every element is met:</a:t>
            </a:r>
            <a:endParaRPr lang="en-US" sz="1200" dirty="0"/>
          </a:p>
          <a:p>
            <a:pPr indent="0" marL="0">
              <a:spcAft>
                <a:spcPts val="700"/>
              </a:spcAft>
              <a:buNone/>
            </a:pPr>
            <a:r>
              <a:rPr lang="en-US" sz="1200" b="1" dirty="0">
                <a:solidFill>
                  <a:schemeClr val="tx2"/>
                </a:solidFill>
              </a:rPr>
              <a:t>First to Third, </a:t>
            </a:r>
            <a:pPr indent="0" marL="0">
              <a:spcAft>
                <a:spcPts val="700"/>
              </a:spcAft>
              <a:buNone/>
            </a:pPr>
            <a:r>
              <a:rPr lang="en-US" sz="1200" dirty="0">
                <a:solidFill>
                  <a:schemeClr val="tx1"/>
                </a:solidFill>
              </a:rPr>
              <a:t>as in Rule 1, she is any person who placed trading orders in a listed security (F1, F2, F3).</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the orders were </a:t>
            </a:r>
            <a:pPr indent="0" marL="0">
              <a:spcAft>
                <a:spcPts val="700"/>
              </a:spcAft>
              <a:buNone/>
            </a:pPr>
            <a:r>
              <a:rPr lang="en-US" sz="1200" b="1" dirty="0">
                <a:solidFill>
                  <a:srgbClr val="B3261E"/>
                </a:solidFill>
              </a:rPr>
              <a:t>on a continued basis</a:t>
            </a:r>
            <a:pPr indent="0" marL="0">
              <a:spcAft>
                <a:spcPts val="700"/>
              </a:spcAft>
              <a:buNone/>
            </a:pPr>
            <a:r>
              <a:rPr lang="en-US" sz="1200" dirty="0">
                <a:solidFill>
                  <a:schemeClr val="tx1"/>
                </a:solidFill>
              </a:rPr>
              <a:t>, day after day for 47 trading days (F3).</a:t>
            </a:r>
            <a:endParaRPr lang="en-US" sz="1200" dirty="0"/>
          </a:p>
          <a:p>
            <a:pPr indent="0" marL="0">
              <a:spcAft>
                <a:spcPts val="700"/>
              </a:spcAft>
              <a:buNone/>
            </a:pPr>
            <a:r>
              <a:rPr lang="en-US" sz="1200" b="1" dirty="0">
                <a:solidFill>
                  <a:schemeClr val="tx2"/>
                </a:solidFill>
              </a:rPr>
              <a:t>Fifth, </a:t>
            </a:r>
            <a:pPr indent="0" marL="0">
              <a:spcAft>
                <a:spcPts val="700"/>
              </a:spcAft>
              <a:buNone/>
            </a:pPr>
            <a:r>
              <a:rPr lang="en-US" sz="1200" dirty="0">
                <a:solidFill>
                  <a:schemeClr val="tx1"/>
                </a:solidFill>
              </a:rPr>
              <a:t>the orders were deliberate and repeated, so she acted intentionally (F3, F4).</a:t>
            </a:r>
            <a:endParaRPr lang="en-US" sz="1200" dirty="0"/>
          </a:p>
          <a:p>
            <a:pPr indent="0" marL="0">
              <a:spcAft>
                <a:spcPts val="700"/>
              </a:spcAft>
              <a:buNone/>
            </a:pPr>
            <a:r>
              <a:rPr lang="en-US" sz="1200" b="1" dirty="0">
                <a:solidFill>
                  <a:schemeClr val="tx2"/>
                </a:solidFill>
              </a:rPr>
              <a:t>Sixth, </a:t>
            </a:r>
            <a:pPr indent="0" marL="0">
              <a:spcAft>
                <a:spcPts val="700"/>
              </a:spcAft>
              <a:buNone/>
            </a:pPr>
            <a:r>
              <a:rPr lang="en-US" sz="1200" b="1" dirty="0">
                <a:solidFill>
                  <a:srgbClr val="B3261E"/>
                </a:solidFill>
              </a:rPr>
              <a:t>she intended an abnormal price</a:t>
            </a:r>
            <a:pPr indent="0" marL="0">
              <a:spcAft>
                <a:spcPts val="700"/>
              </a:spcAft>
              <a:buNone/>
            </a:pPr>
            <a:r>
              <a:rPr lang="en-US" sz="1200" dirty="0">
                <a:solidFill>
                  <a:schemeClr val="tx1"/>
                </a:solidFill>
              </a:rPr>
              <a:t>: SABUY needed a higher Q2 price, she wanted a spread profit, and her own 13.02% stake rose with TSR’s 56% gain (F5, F11, F12). Her bids meet all three elements of s.244/5(5) (F4), and the SEC found the price was moved away from normal (F6).</a:t>
            </a:r>
            <a:endParaRPr lang="en-US" sz="1200" dirty="0"/>
          </a:p>
          <a:p>
            <a:pPr indent="0" marL="0">
              <a:spcAft>
                <a:spcPts val="700"/>
              </a:spcAft>
              <a:buNone/>
            </a:pPr>
            <a:r>
              <a:rPr lang="en-US" sz="1200" b="1" dirty="0">
                <a:solidFill>
                  <a:schemeClr val="tx2"/>
                </a:solidFill>
              </a:rPr>
              <a:t>However, </a:t>
            </a:r>
            <a:pPr indent="0" marL="0">
              <a:spcAft>
                <a:spcPts val="700"/>
              </a:spcAft>
              <a:buNone/>
            </a:pPr>
            <a:r>
              <a:rPr lang="en-US" sz="1200" dirty="0">
                <a:solidFill>
                  <a:schemeClr val="tx1"/>
                </a:solidFill>
              </a:rPr>
              <a:t>we do not use s.244/5(4), because no facts support it (F9).</a:t>
            </a:r>
            <a:endParaRPr lang="en-US" sz="1200" dirty="0"/>
          </a:p>
        </p:txBody>
      </p:sp>
      <p:sp>
        <p:nvSpPr>
          <p:cNvPr id="9" name="s19-subbar-5"/>
          <p:cNvSpPr/>
          <p:nvPr/>
        </p:nvSpPr>
        <p:spPr>
          <a:xfrm>
            <a:off x="7726680" y="1353312"/>
            <a:ext cx="4099255" cy="347472"/>
          </a:xfrm>
          <a:prstGeom prst="rect">
            <a:avLst/>
          </a:prstGeom>
          <a:solidFill>
            <a:schemeClr val="tx2"/>
          </a:solidFill>
          <a:ln/>
        </p:spPr>
      </p:sp>
      <p:sp>
        <p:nvSpPr>
          <p:cNvPr id="10" name="s19-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0" name="s19-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0634">
                <a:tc>
                  <a:txBody>
                    <a:bodyPr/>
                    <a:lstStyle/>
                    <a:p>
                      <a:pPr indent="0" marL="0">
                        <a:buNone/>
                      </a:pPr>
                      <a:r>
                        <a:rPr lang="en-US" sz="1100" dirty="0">
                          <a:solidFill>
                            <a:schemeClr val="tx1"/>
                          </a:solidFill>
                        </a:rPr>
                        <a:t>1 to 3 As in 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4 Continued basis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 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6 Special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 F12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6(i)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6(ii)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tx1"/>
                          </a:solidFill>
                        </a:rPr>
                        <a:t>6(iii)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0634">
                <a:tc>
                  <a:txBody>
                    <a:bodyPr/>
                    <a:lstStyle/>
                    <a:p>
                      <a:pPr indent="0" marL="0">
                        <a:buNone/>
                      </a:pPr>
                      <a:r>
                        <a:rPr lang="en-US" sz="1100" dirty="0">
                          <a:solidFill>
                            <a:schemeClr val="accent5"/>
                          </a:solidFill>
                        </a:rPr>
                        <a:t>s.244/5(4)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F9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Not used</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19-box-8"/>
          <p:cNvSpPr/>
          <p:nvPr/>
        </p:nvSpPr>
        <p:spPr>
          <a:xfrm>
            <a:off x="365760" y="4800600"/>
            <a:ext cx="7223760" cy="1325880"/>
          </a:xfrm>
          <a:prstGeom prst="rect">
            <a:avLst/>
          </a:prstGeom>
          <a:solidFill>
            <a:schemeClr val="tx2"/>
          </a:solidFill>
          <a:ln/>
        </p:spPr>
      </p:sp>
      <p:sp>
        <p:nvSpPr>
          <p:cNvPr id="13" name="s19-box-9"/>
          <p:cNvSpPr/>
          <p:nvPr/>
        </p:nvSpPr>
        <p:spPr>
          <a:xfrm>
            <a:off x="566928" y="4946904"/>
            <a:ext cx="1449324" cy="274320"/>
          </a:xfrm>
          <a:prstGeom prst="rect">
            <a:avLst/>
          </a:prstGeom>
          <a:solidFill>
            <a:srgbClr val="B3261E"/>
          </a:solidFill>
          <a:ln/>
        </p:spPr>
      </p:sp>
      <p:sp>
        <p:nvSpPr>
          <p:cNvPr id="14" name="s19-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19-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because every element is met, her conduct also </a:t>
            </a:r>
            <a:pPr indent="0" marL="0">
              <a:spcAft>
                <a:spcPts val="300"/>
              </a:spcAft>
              <a:buNone/>
            </a:pPr>
            <a:r>
              <a:rPr lang="en-US" sz="1350" b="1" dirty="0">
                <a:solidFill>
                  <a:srgbClr val="F28B7E"/>
                </a:solidFill>
              </a:rPr>
              <a:t>violates Section 244/3(2)</a:t>
            </a:r>
            <a:pPr indent="0" marL="0">
              <a:spcAft>
                <a:spcPts val="300"/>
              </a:spcAft>
              <a:buNone/>
            </a:pPr>
            <a:r>
              <a:rPr lang="en-US" sz="1350" dirty="0">
                <a:solidFill>
                  <a:srgbClr val="FFFFFF"/>
                </a:solidFill>
              </a:rPr>
              <a:t>, which carries the heavier penalty in Section 296/1.</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Criminal Penalties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ss.296, 296/1, 296/2, 297/1 (pp.97–98)</a:t>
            </a:r>
            <a:endParaRPr lang="en-US" sz="1050" dirty="0"/>
          </a:p>
        </p:txBody>
      </p:sp>
      <p:sp>
        <p:nvSpPr>
          <p:cNvPr id="5" name="s20-subbar-1"/>
          <p:cNvSpPr/>
          <p:nvPr/>
        </p:nvSpPr>
        <p:spPr>
          <a:xfrm>
            <a:off x="365760" y="1353312"/>
            <a:ext cx="7223760" cy="347472"/>
          </a:xfrm>
          <a:prstGeom prst="rect">
            <a:avLst/>
          </a:prstGeom>
          <a:solidFill>
            <a:schemeClr val="tx2"/>
          </a:solidFill>
          <a:ln/>
        </p:spPr>
      </p:sp>
      <p:sp>
        <p:nvSpPr>
          <p:cNvPr id="6" name="s20-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0-box-3"/>
          <p:cNvSpPr/>
          <p:nvPr/>
        </p:nvSpPr>
        <p:spPr>
          <a:xfrm>
            <a:off x="365760" y="1792224"/>
            <a:ext cx="7223760" cy="4334256"/>
          </a:xfrm>
          <a:prstGeom prst="rect">
            <a:avLst/>
          </a:prstGeom>
          <a:solidFill>
            <a:schemeClr val="bg2"/>
          </a:solidFill>
          <a:ln/>
        </p:spPr>
      </p:sp>
      <p:sp>
        <p:nvSpPr>
          <p:cNvPr id="8" name="s20-text-4"/>
          <p:cNvSpPr txBox="1"/>
          <p:nvPr/>
        </p:nvSpPr>
        <p:spPr>
          <a:xfrm>
            <a:off x="548640" y="1883664"/>
            <a:ext cx="6858000" cy="4197096"/>
          </a:xfrm>
          <a:prstGeom prst="rect">
            <a:avLst/>
          </a:prstGeom>
          <a:noFill/>
          <a:ln/>
        </p:spPr>
        <p:txBody>
          <a:bodyPr wrap="square" lIns="0" tIns="0" rIns="0" bIns="0" rtlCol="0" anchor="t"/>
          <a:lstStyle/>
          <a:p>
            <a:pPr indent="0" marL="0">
              <a:spcAft>
                <a:spcPts val="500"/>
              </a:spcAft>
              <a:buNone/>
            </a:pPr>
            <a:r>
              <a:rPr lang="en-US" sz="1300" b="1" dirty="0">
                <a:solidFill>
                  <a:schemeClr val="tx2"/>
                </a:solidFill>
              </a:rPr>
              <a:t>Section 296</a:t>
            </a:r>
            <a:endParaRPr lang="en-US" sz="1150" dirty="0"/>
          </a:p>
          <a:p>
            <a:pPr indent="0" marL="0">
              <a:spcAft>
                <a:spcPts val="500"/>
              </a:spcAft>
              <a:buNone/>
            </a:pPr>
            <a:r>
              <a:rPr lang="en-US" sz="1150" dirty="0">
                <a:solidFill>
                  <a:schemeClr val="tx1"/>
                </a:solidFill>
              </a:rPr>
              <a:t>Any person who contravenes Section 240, Section 241, Section 242, Section 244/1, Section 244/2 or Section 244/3 (1) shall be liable to </a:t>
            </a:r>
            <a:endParaRPr lang="en-US" sz="1150" dirty="0"/>
          </a:p>
          <a:p>
            <a:pPr lvl="1" indent="0" marL="0">
              <a:spcAft>
                <a:spcPts val="500"/>
              </a:spcAft>
              <a:buNone/>
            </a:pPr>
            <a:r>
              <a:rPr lang="en-US" sz="1150" b="1" dirty="0">
                <a:solidFill>
                  <a:srgbClr val="B3261E"/>
                </a:solidFill>
              </a:rPr>
              <a:t>imprisonment for a term not exceeding two years or a fine from five hundred thousand baht to two million baht, or both</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296/1</a:t>
            </a:r>
            <a:endParaRPr lang="en-US" sz="1150" dirty="0"/>
          </a:p>
          <a:p>
            <a:pPr indent="0" marL="0">
              <a:spcAft>
                <a:spcPts val="500"/>
              </a:spcAft>
              <a:buNone/>
            </a:pPr>
            <a:r>
              <a:rPr lang="en-US" sz="1150" dirty="0">
                <a:solidFill>
                  <a:schemeClr val="tx1"/>
                </a:solidFill>
              </a:rPr>
              <a:t>Any person who contravenes Section 244/3 (2) or Section 244/7 shall be liable to </a:t>
            </a:r>
            <a:endParaRPr lang="en-US" sz="1150" dirty="0"/>
          </a:p>
          <a:p>
            <a:pPr lvl="1" indent="0" marL="0">
              <a:spcAft>
                <a:spcPts val="500"/>
              </a:spcAft>
              <a:buNone/>
            </a:pPr>
            <a:r>
              <a:rPr lang="en-US" sz="1150" b="1" dirty="0">
                <a:solidFill>
                  <a:srgbClr val="B3261E"/>
                </a:solidFill>
              </a:rPr>
              <a:t>imprisonment for a term not exceeding five years or a fine from one million baht to five million baht, or both</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296/2</a:t>
            </a:r>
            <a:endParaRPr lang="en-US" sz="1150" dirty="0"/>
          </a:p>
          <a:p>
            <a:pPr lvl="1" indent="0" marL="0">
              <a:spcAft>
                <a:spcPts val="500"/>
              </a:spcAft>
              <a:buNone/>
            </a:pPr>
            <a:r>
              <a:rPr lang="en-US" sz="1150" dirty="0">
                <a:solidFill>
                  <a:schemeClr val="tx1"/>
                </a:solidFill>
              </a:rPr>
              <a:t>… if the offender has received or should have received a benefit from such offence, </a:t>
            </a:r>
            <a:pPr lvl="1" indent="0" marL="0">
              <a:spcAft>
                <a:spcPts val="500"/>
              </a:spcAft>
              <a:buNone/>
            </a:pPr>
            <a:r>
              <a:rPr lang="en-US" sz="1150" b="1" dirty="0">
                <a:solidFill>
                  <a:srgbClr val="B3261E"/>
                </a:solidFill>
              </a:rPr>
              <a:t>a fine not exceeding two times the benefit</a:t>
            </a:r>
            <a:pPr lvl="1" indent="0" marL="0">
              <a:spcAft>
                <a:spcPts val="500"/>
              </a:spcAft>
              <a:buNone/>
            </a:pPr>
            <a:r>
              <a:rPr lang="en-US" sz="1150" dirty="0">
                <a:solidFill>
                  <a:schemeClr val="tx1"/>
                </a:solidFill>
              </a:rPr>
              <a:t> shall be imposed and in any case such fine shall not be less than the minimum amount as specified under Section 296 or Section 296/1 …</a:t>
            </a:r>
            <a:endParaRPr lang="en-US" sz="1150" dirty="0"/>
          </a:p>
          <a:p>
            <a:pPr indent="0" marL="0">
              <a:spcAft>
                <a:spcPts val="500"/>
              </a:spcAft>
              <a:buNone/>
            </a:pPr>
            <a:r>
              <a:rPr lang="en-US" sz="1300" b="1" dirty="0">
                <a:solidFill>
                  <a:schemeClr val="tx2"/>
                </a:solidFill>
              </a:rPr>
              <a:t>Section 297/1 (summary of (1) to (4))</a:t>
            </a:r>
            <a:endParaRPr lang="en-US" sz="1150" dirty="0"/>
          </a:p>
          <a:p>
            <a:pPr lvl="1" indent="0" marL="0">
              <a:spcAft>
                <a:spcPts val="500"/>
              </a:spcAft>
              <a:buNone/>
            </a:pPr>
            <a:r>
              <a:rPr lang="en-US" sz="1150" dirty="0">
                <a:solidFill>
                  <a:schemeClr val="tx1"/>
                </a:solidFill>
              </a:rPr>
              <a:t>When a court finds an offence under Section 296 or 296/1, it may order repayment of the benefit, a trading ban of up to five years, a director or executive ban of up to ten years, and reimbursement of SEC investigation costs.</a:t>
            </a:r>
            <a:endParaRPr lang="en-US" sz="1150" dirty="0"/>
          </a:p>
        </p:txBody>
      </p:sp>
      <p:sp>
        <p:nvSpPr>
          <p:cNvPr id="9" name="s20-subbar-5"/>
          <p:cNvSpPr/>
          <p:nvPr/>
        </p:nvSpPr>
        <p:spPr>
          <a:xfrm>
            <a:off x="7726680" y="1353312"/>
            <a:ext cx="4099255" cy="347472"/>
          </a:xfrm>
          <a:prstGeom prst="rect">
            <a:avLst/>
          </a:prstGeom>
          <a:solidFill>
            <a:schemeClr val="tx2"/>
          </a:solidFill>
          <a:ln/>
        </p:spPr>
      </p:sp>
      <p:sp>
        <p:nvSpPr>
          <p:cNvPr id="10" name="s20-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1" name="s20-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rgbClr val="FFFFFF"/>
                          </a:solidFill>
                        </a:rPr>
                        <a:t>296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Contravenes 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Contravenes 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296/2 (a)</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296/2 (b)</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Received or should have received a benefit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297/1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 court finds the offence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1–2; Facts F7, F8, F11; Securities and Exchange Act ss.296, 296/1, 296/2, 297/1, 317/8</a:t>
            </a:r>
            <a:endParaRPr lang="en-US" sz="1050" dirty="0"/>
          </a:p>
        </p:txBody>
      </p:sp>
      <p:sp>
        <p:nvSpPr>
          <p:cNvPr id="5" name="s21-subbar-1"/>
          <p:cNvSpPr/>
          <p:nvPr/>
        </p:nvSpPr>
        <p:spPr>
          <a:xfrm>
            <a:off x="365760" y="1353312"/>
            <a:ext cx="7223760" cy="347472"/>
          </a:xfrm>
          <a:prstGeom prst="rect">
            <a:avLst/>
          </a:prstGeom>
          <a:solidFill>
            <a:schemeClr val="tx2"/>
          </a:solidFill>
          <a:ln/>
        </p:spPr>
      </p:sp>
      <p:sp>
        <p:nvSpPr>
          <p:cNvPr id="6" name="s21-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1-box-3"/>
          <p:cNvSpPr/>
          <p:nvPr/>
        </p:nvSpPr>
        <p:spPr>
          <a:xfrm>
            <a:off x="365760" y="1792224"/>
            <a:ext cx="7223760" cy="2898648"/>
          </a:xfrm>
          <a:prstGeom prst="rect">
            <a:avLst/>
          </a:prstGeom>
          <a:solidFill>
            <a:schemeClr val="bg2"/>
          </a:solidFill>
          <a:ln/>
        </p:spPr>
      </p:sp>
      <p:sp>
        <p:nvSpPr>
          <p:cNvPr id="8" name="s21-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Rules 1 and 2 show both offences, and the CSC ordered her to repay the benefit she received or should have received (F7). If she is prosecuted:</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Section 296 is met for s.244/3(1): up to two years in prison, a fine of THB 0.5 to 2 million, or both.</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Section 296/1 is met for s.244/3(2), the heavier rule: </a:t>
            </a:r>
            <a:pPr indent="0" marL="0">
              <a:spcAft>
                <a:spcPts val="700"/>
              </a:spcAft>
              <a:buNone/>
            </a:pPr>
            <a:r>
              <a:rPr lang="en-US" sz="1200" b="1" dirty="0">
                <a:solidFill>
                  <a:srgbClr val="B3261E"/>
                </a:solidFill>
              </a:rPr>
              <a:t>up to five years in prison</a:t>
            </a:r>
            <a:pPr indent="0" marL="0">
              <a:spcAft>
                <a:spcPts val="700"/>
              </a:spcAft>
              <a:buNone/>
            </a:pPr>
            <a:r>
              <a:rPr lang="en-US" sz="1200" dirty="0">
                <a:solidFill>
                  <a:schemeClr val="tx1"/>
                </a:solidFill>
              </a:rPr>
              <a:t>, a fine of THB 1 to 5 million, or both.</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both elements of Section 296/2 are met, so the fine may be </a:t>
            </a:r>
            <a:pPr indent="0" marL="0">
              <a:spcAft>
                <a:spcPts val="700"/>
              </a:spcAft>
              <a:buNone/>
            </a:pPr>
            <a:r>
              <a:rPr lang="en-US" sz="1200" b="1" dirty="0">
                <a:solidFill>
                  <a:srgbClr val="B3261E"/>
                </a:solidFill>
              </a:rPr>
              <a:t>up to two times the benefit</a:t>
            </a:r>
            <a:pPr indent="0" marL="0">
              <a:spcAft>
                <a:spcPts val="700"/>
              </a:spcAft>
              <a:buNone/>
            </a:pPr>
            <a:r>
              <a:rPr lang="en-US" sz="1200" dirty="0">
                <a:solidFill>
                  <a:schemeClr val="tx1"/>
                </a:solidFill>
              </a:rPr>
              <a:t>, but not below the minimum (F7, F11).</a:t>
            </a:r>
            <a:endParaRPr lang="en-US" sz="1200" dirty="0"/>
          </a:p>
          <a:p>
            <a:pPr indent="0" marL="0">
              <a:spcAft>
                <a:spcPts val="700"/>
              </a:spcAft>
              <a:buNone/>
            </a:pPr>
            <a:r>
              <a:rPr lang="en-US" sz="1200" b="1" dirty="0">
                <a:solidFill>
                  <a:schemeClr val="tx2"/>
                </a:solidFill>
              </a:rPr>
              <a:t>However, </a:t>
            </a:r>
            <a:pPr indent="0" marL="0">
              <a:spcAft>
                <a:spcPts val="700"/>
              </a:spcAft>
              <a:buNone/>
            </a:pPr>
            <a:r>
              <a:rPr lang="en-US" sz="1200" dirty="0">
                <a:solidFill>
                  <a:schemeClr val="tx1"/>
                </a:solidFill>
              </a:rPr>
              <a:t>Section 297/1 is not met yet, because no court has convicted her; the case is in the Civil Court (F8).</a:t>
            </a:r>
            <a:endParaRPr lang="en-US" sz="1200" dirty="0"/>
          </a:p>
        </p:txBody>
      </p:sp>
      <p:sp>
        <p:nvSpPr>
          <p:cNvPr id="9" name="s21-subbar-5"/>
          <p:cNvSpPr/>
          <p:nvPr/>
        </p:nvSpPr>
        <p:spPr>
          <a:xfrm>
            <a:off x="7726680" y="1353312"/>
            <a:ext cx="4099255" cy="347472"/>
          </a:xfrm>
          <a:prstGeom prst="rect">
            <a:avLst/>
          </a:prstGeom>
          <a:solidFill>
            <a:schemeClr val="tx2"/>
          </a:solidFill>
          <a:ln/>
        </p:spPr>
      </p:sp>
      <p:sp>
        <p:nvSpPr>
          <p:cNvPr id="10" name="s21-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2" name="s21-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01014">
                <a:tc>
                  <a:txBody>
                    <a:bodyPr/>
                    <a:lstStyle/>
                    <a:p>
                      <a:pPr indent="0" marL="0">
                        <a:buNone/>
                      </a:pPr>
                      <a:r>
                        <a:rPr lang="en-US" sz="1100" b="1" dirty="0">
                          <a:solidFill>
                            <a:schemeClr val="tx2"/>
                          </a:solidFill>
                        </a:rPr>
                        <a:t>s.296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b="1" dirty="0">
                          <a:solidFill>
                            <a:schemeClr val="tx2"/>
                          </a:solidFill>
                        </a:rPr>
                        <a:t>s.296/1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Rule 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b="1" dirty="0">
                          <a:solidFill>
                            <a:schemeClr val="tx2"/>
                          </a:solidFill>
                        </a:rPr>
                        <a:t>s.296/2 (a)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Rules 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b="1" dirty="0">
                          <a:solidFill>
                            <a:schemeClr val="tx2"/>
                          </a:solidFill>
                        </a:rPr>
                        <a:t>s.296/2 (b)</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F7,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dirty="0">
                          <a:solidFill>
                            <a:schemeClr val="accent5"/>
                          </a:solidFill>
                        </a:rPr>
                        <a:t>s.297/1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Not yet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21-box-8"/>
          <p:cNvSpPr/>
          <p:nvPr/>
        </p:nvSpPr>
        <p:spPr>
          <a:xfrm>
            <a:off x="365760" y="4800600"/>
            <a:ext cx="7223760" cy="1325880"/>
          </a:xfrm>
          <a:prstGeom prst="rect">
            <a:avLst/>
          </a:prstGeom>
          <a:solidFill>
            <a:schemeClr val="tx2"/>
          </a:solidFill>
          <a:ln/>
        </p:spPr>
      </p:sp>
      <p:sp>
        <p:nvSpPr>
          <p:cNvPr id="13" name="s21-box-9"/>
          <p:cNvSpPr/>
          <p:nvPr/>
        </p:nvSpPr>
        <p:spPr>
          <a:xfrm>
            <a:off x="566928" y="4946904"/>
            <a:ext cx="1449324" cy="274320"/>
          </a:xfrm>
          <a:prstGeom prst="rect">
            <a:avLst/>
          </a:prstGeom>
          <a:solidFill>
            <a:srgbClr val="B3261E"/>
          </a:solidFill>
          <a:ln/>
        </p:spPr>
      </p:sp>
      <p:sp>
        <p:nvSpPr>
          <p:cNvPr id="14" name="s21-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21-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she faces </a:t>
            </a:r>
            <a:pPr indent="0" marL="0">
              <a:spcAft>
                <a:spcPts val="300"/>
              </a:spcAft>
              <a:buNone/>
            </a:pPr>
            <a:r>
              <a:rPr lang="en-US" sz="1350" b="1" dirty="0">
                <a:solidFill>
                  <a:srgbClr val="F28B7E"/>
                </a:solidFill>
              </a:rPr>
              <a:t>up to five years in prison and a fine of up to two times the benefit</a:t>
            </a:r>
            <a:pPr indent="0" marL="0">
              <a:spcAft>
                <a:spcPts val="300"/>
              </a:spcAft>
              <a:buNone/>
            </a:pPr>
            <a:r>
              <a:rPr lang="en-US" sz="1350" dirty="0">
                <a:solidFill>
                  <a:srgbClr val="FFFFFF"/>
                </a:solidFill>
              </a:rPr>
              <a:t> (at least THB 1 million), unless the criminal right ends through the civil route in Rule 4.</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Civil Sanctions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ss.317/1, 317/4, 317/5, 317/7, 317/8 (pp.102–104)</a:t>
            </a:r>
            <a:endParaRPr lang="en-US" sz="1050" dirty="0"/>
          </a:p>
        </p:txBody>
      </p:sp>
      <p:sp>
        <p:nvSpPr>
          <p:cNvPr id="5" name="s22-subbar-1"/>
          <p:cNvSpPr/>
          <p:nvPr/>
        </p:nvSpPr>
        <p:spPr>
          <a:xfrm>
            <a:off x="365760" y="1353312"/>
            <a:ext cx="7223760" cy="347472"/>
          </a:xfrm>
          <a:prstGeom prst="rect">
            <a:avLst/>
          </a:prstGeom>
          <a:solidFill>
            <a:schemeClr val="tx2"/>
          </a:solidFill>
          <a:ln/>
        </p:spPr>
      </p:sp>
      <p:sp>
        <p:nvSpPr>
          <p:cNvPr id="6" name="s22-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2-box-3"/>
          <p:cNvSpPr/>
          <p:nvPr/>
        </p:nvSpPr>
        <p:spPr>
          <a:xfrm>
            <a:off x="365760" y="1792224"/>
            <a:ext cx="7223760" cy="4334256"/>
          </a:xfrm>
          <a:prstGeom prst="rect">
            <a:avLst/>
          </a:prstGeom>
          <a:solidFill>
            <a:schemeClr val="bg2"/>
          </a:solidFill>
          <a:ln/>
        </p:spPr>
      </p:sp>
      <p:sp>
        <p:nvSpPr>
          <p:cNvPr id="8" name="s22-text-4"/>
          <p:cNvSpPr txBox="1"/>
          <p:nvPr/>
        </p:nvSpPr>
        <p:spPr>
          <a:xfrm>
            <a:off x="548640" y="1883664"/>
            <a:ext cx="6858000" cy="4197096"/>
          </a:xfrm>
          <a:prstGeom prst="rect">
            <a:avLst/>
          </a:prstGeom>
          <a:noFill/>
          <a:ln/>
        </p:spPr>
        <p:txBody>
          <a:bodyPr wrap="square" lIns="0" tIns="0" rIns="0" bIns="0" rtlCol="0" anchor="t"/>
          <a:lstStyle/>
          <a:p>
            <a:pPr indent="0" marL="0">
              <a:spcAft>
                <a:spcPts val="500"/>
              </a:spcAft>
              <a:buNone/>
            </a:pPr>
            <a:r>
              <a:rPr lang="en-US" sz="1300" b="1" dirty="0">
                <a:solidFill>
                  <a:schemeClr val="tx2"/>
                </a:solidFill>
              </a:rPr>
              <a:t>Section 317/1(1)</a:t>
            </a:r>
            <a:endParaRPr lang="en-US" sz="1150" dirty="0"/>
          </a:p>
          <a:p>
            <a:pPr lvl="1" indent="0" marL="0">
              <a:spcAft>
                <a:spcPts val="500"/>
              </a:spcAft>
              <a:buNone/>
            </a:pPr>
            <a:r>
              <a:rPr lang="en-US" sz="1150" dirty="0">
                <a:solidFill>
                  <a:schemeClr val="tx1"/>
                </a:solidFill>
              </a:rPr>
              <a:t>The following offences shall be deemed the offences whereby civil sanctions may be imposed on the offenders: (1) committing unfair securities trading practice, which is </a:t>
            </a:r>
            <a:pPr lvl="1" indent="0" marL="0">
              <a:spcAft>
                <a:spcPts val="500"/>
              </a:spcAft>
              <a:buNone/>
            </a:pPr>
            <a:r>
              <a:rPr lang="en-US" sz="1150" b="1" dirty="0">
                <a:solidFill>
                  <a:srgbClr val="B3261E"/>
                </a:solidFill>
              </a:rPr>
              <a:t>an offence under Section 296 or Section 296/1</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317/4</a:t>
            </a:r>
            <a:endParaRPr lang="en-US" sz="1150" dirty="0"/>
          </a:p>
          <a:p>
            <a:pPr lvl="1" indent="0" marL="0">
              <a:spcAft>
                <a:spcPts val="500"/>
              </a:spcAft>
              <a:buNone/>
            </a:pPr>
            <a:r>
              <a:rPr lang="en-US" sz="1150" dirty="0">
                <a:solidFill>
                  <a:schemeClr val="tx1"/>
                </a:solidFill>
              </a:rPr>
              <a:t>Civil sanctions shall be: (1) a civil penalty under Section 317/5; (2) a compensation at an equal amount to the benefit …; (3) a suspension of trading … </a:t>
            </a:r>
            <a:pPr lvl="1" indent="0" marL="0">
              <a:spcAft>
                <a:spcPts val="500"/>
              </a:spcAft>
              <a:buNone/>
            </a:pPr>
            <a:r>
              <a:rPr lang="en-US" sz="1150" b="1" dirty="0">
                <a:solidFill>
                  <a:srgbClr val="B3261E"/>
                </a:solidFill>
              </a:rPr>
              <a:t>not exceeding five years</a:t>
            </a:r>
            <a:pPr lvl="1" indent="0" marL="0">
              <a:spcAft>
                <a:spcPts val="500"/>
              </a:spcAft>
              <a:buNone/>
            </a:pPr>
            <a:r>
              <a:rPr lang="en-US" sz="1150" dirty="0">
                <a:solidFill>
                  <a:schemeClr val="tx1"/>
                </a:solidFill>
              </a:rPr>
              <a:t>; (4) a bar from serving as a director or executive … </a:t>
            </a:r>
            <a:pPr lvl="1" indent="0" marL="0">
              <a:spcAft>
                <a:spcPts val="500"/>
              </a:spcAft>
              <a:buNone/>
            </a:pPr>
            <a:r>
              <a:rPr lang="en-US" sz="1150" b="1" dirty="0">
                <a:solidFill>
                  <a:srgbClr val="B3261E"/>
                </a:solidFill>
              </a:rPr>
              <a:t>not exceeding ten years</a:t>
            </a:r>
            <a:pPr lvl="1" indent="0" marL="0">
              <a:spcAft>
                <a:spcPts val="500"/>
              </a:spcAft>
              <a:buNone/>
            </a:pPr>
            <a:r>
              <a:rPr lang="en-US" sz="1150" dirty="0">
                <a:solidFill>
                  <a:schemeClr val="tx1"/>
                </a:solidFill>
              </a:rPr>
              <a:t>; (5) a reimbursement of investigative expenses incurred by the SEC Office.</a:t>
            </a:r>
            <a:endParaRPr lang="en-US" sz="1150" dirty="0"/>
          </a:p>
          <a:p>
            <a:pPr indent="0" marL="0">
              <a:spcAft>
                <a:spcPts val="500"/>
              </a:spcAft>
              <a:buNone/>
            </a:pPr>
            <a:r>
              <a:rPr lang="en-US" sz="1300" b="1" dirty="0">
                <a:solidFill>
                  <a:schemeClr val="tx2"/>
                </a:solidFill>
              </a:rPr>
              <a:t>Section 317/5(1)</a:t>
            </a:r>
            <a:endParaRPr lang="en-US" sz="1150" dirty="0"/>
          </a:p>
          <a:p>
            <a:pPr lvl="1" indent="0" marL="0">
              <a:spcAft>
                <a:spcPts val="500"/>
              </a:spcAft>
              <a:buNone/>
            </a:pPr>
            <a:r>
              <a:rPr lang="en-US" sz="1150" dirty="0">
                <a:solidFill>
                  <a:schemeClr val="tx1"/>
                </a:solidFill>
              </a:rPr>
              <a:t>… a civil penalty shall be imposed at an amount not exceeding two times the benefit …, but not less than five hundred thousand baht …</a:t>
            </a:r>
            <a:endParaRPr lang="en-US" sz="1150" dirty="0"/>
          </a:p>
          <a:p>
            <a:pPr indent="0" marL="0">
              <a:spcAft>
                <a:spcPts val="500"/>
              </a:spcAft>
              <a:buNone/>
            </a:pPr>
            <a:r>
              <a:rPr lang="en-US" sz="1300" b="1" dirty="0">
                <a:solidFill>
                  <a:schemeClr val="tx2"/>
                </a:solidFill>
              </a:rPr>
              <a:t>Sections 317/7 and 317/8</a:t>
            </a:r>
            <a:endParaRPr lang="en-US" sz="1150" dirty="0"/>
          </a:p>
          <a:p>
            <a:pPr lvl="1" indent="0" marL="0">
              <a:spcAft>
                <a:spcPts val="500"/>
              </a:spcAft>
              <a:buNone/>
            </a:pPr>
            <a:r>
              <a:rPr lang="en-US" sz="1150" dirty="0">
                <a:solidFill>
                  <a:schemeClr val="tx1"/>
                </a:solidFill>
              </a:rPr>
              <a:t>317/7: … the offender agrees to comply with the specified civil sanction … after the offender has made a payment in full, the right to institute a criminal prosecution shall extinguish.</a:t>
            </a:r>
            <a:endParaRPr lang="en-US" sz="1150" dirty="0"/>
          </a:p>
          <a:p>
            <a:pPr lvl="1" indent="0" marL="0">
              <a:spcAft>
                <a:spcPts val="500"/>
              </a:spcAft>
              <a:buNone/>
            </a:pPr>
            <a:r>
              <a:rPr lang="en-US" sz="1150" dirty="0">
                <a:solidFill>
                  <a:schemeClr val="tx1"/>
                </a:solidFill>
              </a:rPr>
              <a:t>317/8: In cases where the offender </a:t>
            </a:r>
            <a:pPr lvl="1" indent="0" marL="0">
              <a:spcAft>
                <a:spcPts val="500"/>
              </a:spcAft>
              <a:buNone/>
            </a:pPr>
            <a:r>
              <a:rPr lang="en-US" sz="1150" b="1" dirty="0">
                <a:solidFill>
                  <a:srgbClr val="B3261E"/>
                </a:solidFill>
              </a:rPr>
              <a:t>refuses</a:t>
            </a:r>
            <a:pPr lvl="1" indent="0" marL="0">
              <a:spcAft>
                <a:spcPts val="500"/>
              </a:spcAft>
              <a:buNone/>
            </a:pPr>
            <a:r>
              <a:rPr lang="en-US" sz="1150" dirty="0">
                <a:solidFill>
                  <a:schemeClr val="tx1"/>
                </a:solidFill>
              </a:rPr>
              <a:t> to extinguish the case under Section 317/7, </a:t>
            </a:r>
            <a:pPr lvl="1" indent="0" marL="0">
              <a:spcAft>
                <a:spcPts val="500"/>
              </a:spcAft>
              <a:buNone/>
            </a:pPr>
            <a:r>
              <a:rPr lang="en-US" sz="1150" b="1" dirty="0">
                <a:solidFill>
                  <a:srgbClr val="B3261E"/>
                </a:solidFill>
              </a:rPr>
              <a:t>the SEC Office shall bring an action against the offender in the court</a:t>
            </a:r>
            <a:pPr lvl="1" indent="0" marL="0">
              <a:spcAft>
                <a:spcPts val="500"/>
              </a:spcAft>
              <a:buNone/>
            </a:pPr>
            <a:r>
              <a:rPr lang="en-US" sz="1150" dirty="0">
                <a:solidFill>
                  <a:schemeClr val="tx1"/>
                </a:solidFill>
              </a:rPr>
              <a:t> … the interest thereof shall be accumulated as from the date of entry of the plaint … After the court has passed a judgment … and the offender has made the payment in full, the right to institute criminal prosecution shall extinguish.</a:t>
            </a:r>
            <a:endParaRPr lang="en-US" sz="1150" dirty="0"/>
          </a:p>
        </p:txBody>
      </p:sp>
      <p:sp>
        <p:nvSpPr>
          <p:cNvPr id="9" name="s22-subbar-5"/>
          <p:cNvSpPr/>
          <p:nvPr/>
        </p:nvSpPr>
        <p:spPr>
          <a:xfrm>
            <a:off x="7726680" y="1353312"/>
            <a:ext cx="4099255" cy="347472"/>
          </a:xfrm>
          <a:prstGeom prst="rect">
            <a:avLst/>
          </a:prstGeom>
          <a:solidFill>
            <a:schemeClr val="tx2"/>
          </a:solidFill>
          <a:ln/>
        </p:spPr>
      </p:sp>
      <p:sp>
        <p:nvSpPr>
          <p:cNvPr id="10" name="s22-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3" name="s22-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rgbClr val="FFFFFF"/>
                          </a:solidFill>
                        </a:rPr>
                        <a:t>317/1(1)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Sanctions within the limits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Penalty up to 2 times the benefit, at least THB 0.5M</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Offender consents and pays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Offender refuses, so the SEC sues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F7, F8; Securities and Exchange Act ss.317/1(1), 317/4, 317/5(1), 317/7, 317/8</a:t>
            </a:r>
            <a:endParaRPr lang="en-US" sz="1050" dirty="0"/>
          </a:p>
        </p:txBody>
      </p:sp>
      <p:sp>
        <p:nvSpPr>
          <p:cNvPr id="5" name="s23-subbar-1"/>
          <p:cNvSpPr/>
          <p:nvPr/>
        </p:nvSpPr>
        <p:spPr>
          <a:xfrm>
            <a:off x="365760" y="1353312"/>
            <a:ext cx="7223760" cy="347472"/>
          </a:xfrm>
          <a:prstGeom prst="rect">
            <a:avLst/>
          </a:prstGeom>
          <a:solidFill>
            <a:schemeClr val="tx2"/>
          </a:solidFill>
          <a:ln/>
        </p:spPr>
      </p:sp>
      <p:sp>
        <p:nvSpPr>
          <p:cNvPr id="6" name="s23-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3-box-3"/>
          <p:cNvSpPr/>
          <p:nvPr/>
        </p:nvSpPr>
        <p:spPr>
          <a:xfrm>
            <a:off x="365760" y="1792224"/>
            <a:ext cx="7223760" cy="2898648"/>
          </a:xfrm>
          <a:prstGeom prst="rect">
            <a:avLst/>
          </a:prstGeom>
          <a:solidFill>
            <a:schemeClr val="bg2"/>
          </a:solidFill>
          <a:ln/>
        </p:spPr>
      </p:sp>
      <p:sp>
        <p:nvSpPr>
          <p:cNvPr id="8" name="s23-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the CSC imposed civil sanctions (F7), but she did not consent, so the SEC asked the prosecutor to sue her in the Civil Court (F8). Under Sections 317/1 to 317/8:</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her offences are punishable under Sections 296 and 296/1 (Rule 3), so Section 317/1(1) is met.</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the CSC used all five sanctions in Section 317/4: </a:t>
            </a:r>
            <a:pPr indent="0" marL="0">
              <a:spcAft>
                <a:spcPts val="700"/>
              </a:spcAft>
              <a:buNone/>
            </a:pPr>
            <a:r>
              <a:rPr lang="en-US" sz="1200" b="1" dirty="0">
                <a:solidFill>
                  <a:srgbClr val="B3261E"/>
                </a:solidFill>
              </a:rPr>
              <a:t>THB 32,327,329</a:t>
            </a:r>
            <a:pPr indent="0" marL="0">
              <a:spcAft>
                <a:spcPts val="700"/>
              </a:spcAft>
              <a:buNone/>
            </a:pPr>
            <a:r>
              <a:rPr lang="en-US" sz="1200" dirty="0">
                <a:solidFill>
                  <a:schemeClr val="tx1"/>
                </a:solidFill>
              </a:rPr>
              <a:t> in total, a 6-month trading ban and a 12-month director ban, all within the limits (F7).</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the news does not split the THB 32.3 million into its parts, so we cannot check the Section 317/5(1) amount.</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she refused, so Section 317/7 is not met and Section 317/8 applies: the SEC claims </a:t>
            </a:r>
            <a:pPr indent="0" marL="0">
              <a:spcAft>
                <a:spcPts val="700"/>
              </a:spcAft>
              <a:buNone/>
            </a:pPr>
            <a:r>
              <a:rPr lang="en-US" sz="1200" b="1" dirty="0">
                <a:solidFill>
                  <a:srgbClr val="B3261E"/>
                </a:solidFill>
              </a:rPr>
              <a:t>THB 43,018,879.32</a:t>
            </a:r>
            <a:pPr indent="0" marL="0">
              <a:spcAft>
                <a:spcPts val="700"/>
              </a:spcAft>
              <a:buNone/>
            </a:pPr>
            <a:r>
              <a:rPr lang="en-US" sz="1200" dirty="0">
                <a:solidFill>
                  <a:schemeClr val="tx1"/>
                </a:solidFill>
              </a:rPr>
              <a:t> plus interest from the filing date (F8).</a:t>
            </a:r>
            <a:endParaRPr lang="en-US" sz="1200" dirty="0"/>
          </a:p>
        </p:txBody>
      </p:sp>
      <p:sp>
        <p:nvSpPr>
          <p:cNvPr id="9" name="s23-subbar-5"/>
          <p:cNvSpPr/>
          <p:nvPr/>
        </p:nvSpPr>
        <p:spPr>
          <a:xfrm>
            <a:off x="7726680" y="1353312"/>
            <a:ext cx="4099255" cy="347472"/>
          </a:xfrm>
          <a:prstGeom prst="rect">
            <a:avLst/>
          </a:prstGeom>
          <a:solidFill>
            <a:schemeClr val="tx2"/>
          </a:solidFill>
          <a:ln/>
        </p:spPr>
      </p:sp>
      <p:sp>
        <p:nvSpPr>
          <p:cNvPr id="10" name="s23-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4" name="s23-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01014">
                <a:tc>
                  <a:txBody>
                    <a:bodyPr/>
                    <a:lstStyle/>
                    <a:p>
                      <a:pPr indent="0" marL="0">
                        <a:buNone/>
                      </a:pPr>
                      <a:r>
                        <a:rPr lang="en-US" sz="1100" b="1" dirty="0">
                          <a:solidFill>
                            <a:schemeClr val="tx2"/>
                          </a:solidFill>
                        </a:rPr>
                        <a:t>s.317/1(1)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Rule 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b="1" dirty="0">
                          <a:solidFill>
                            <a:schemeClr val="tx2"/>
                          </a:solidFill>
                        </a:rPr>
                        <a:t>s.317/4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F7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801014">
                <a:tc>
                  <a:txBody>
                    <a:bodyPr/>
                    <a:lstStyle/>
                    <a:p>
                      <a:pPr indent="0" marL="0">
                        <a:buNone/>
                      </a:pPr>
                      <a:r>
                        <a:rPr lang="en-US" sz="1100" dirty="0">
                          <a:solidFill>
                            <a:schemeClr val="accent5"/>
                          </a:solidFill>
                        </a:rPr>
                        <a:t>s.317/5(1)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No data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Cannot check</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801014">
                <a:tc>
                  <a:txBody>
                    <a:bodyPr/>
                    <a:lstStyle/>
                    <a:p>
                      <a:pPr indent="0" marL="0">
                        <a:buNone/>
                      </a:pPr>
                      <a:r>
                        <a:rPr lang="en-US" sz="1100" dirty="0">
                          <a:solidFill>
                            <a:schemeClr val="accent5"/>
                          </a:solidFill>
                        </a:rPr>
                        <a:t>s.317/7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Not used</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801014">
                <a:tc>
                  <a:txBody>
                    <a:bodyPr/>
                    <a:lstStyle/>
                    <a:p>
                      <a:pPr indent="0" marL="0">
                        <a:buNone/>
                      </a:pPr>
                      <a:r>
                        <a:rPr lang="en-US" sz="1100" b="1" dirty="0">
                          <a:solidFill>
                            <a:schemeClr val="tx2"/>
                          </a:solidFill>
                        </a:rPr>
                        <a:t>s.317/8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bl>
          </a:graphicData>
        </a:graphic>
      </p:graphicFrame>
      <p:sp>
        <p:nvSpPr>
          <p:cNvPr id="12" name="s23-box-8"/>
          <p:cNvSpPr/>
          <p:nvPr/>
        </p:nvSpPr>
        <p:spPr>
          <a:xfrm>
            <a:off x="365760" y="4800600"/>
            <a:ext cx="7223760" cy="1325880"/>
          </a:xfrm>
          <a:prstGeom prst="rect">
            <a:avLst/>
          </a:prstGeom>
          <a:solidFill>
            <a:schemeClr val="tx2"/>
          </a:solidFill>
          <a:ln/>
        </p:spPr>
      </p:sp>
      <p:sp>
        <p:nvSpPr>
          <p:cNvPr id="13" name="s23-box-9"/>
          <p:cNvSpPr/>
          <p:nvPr/>
        </p:nvSpPr>
        <p:spPr>
          <a:xfrm>
            <a:off x="566928" y="4946904"/>
            <a:ext cx="1449324" cy="274320"/>
          </a:xfrm>
          <a:prstGeom prst="rect">
            <a:avLst/>
          </a:prstGeom>
          <a:solidFill>
            <a:srgbClr val="B3261E"/>
          </a:solidFill>
          <a:ln/>
        </p:spPr>
      </p:sp>
      <p:sp>
        <p:nvSpPr>
          <p:cNvPr id="14" name="s23-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23-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civil sanctions apply; because she refused them, </a:t>
            </a:r>
            <a:pPr indent="0" marL="0">
              <a:spcAft>
                <a:spcPts val="300"/>
              </a:spcAft>
              <a:buNone/>
            </a:pPr>
            <a:r>
              <a:rPr lang="en-US" sz="1350" b="1" dirty="0">
                <a:solidFill>
                  <a:srgbClr val="F28B7E"/>
                </a:solidFill>
              </a:rPr>
              <a:t>the case is before the Civil Court under Section 317/8</a:t>
            </a:r>
            <a:pPr indent="0" marL="0">
              <a:spcAft>
                <a:spcPts val="300"/>
              </a:spcAft>
              <a:buNone/>
            </a:pPr>
            <a:r>
              <a:rPr lang="en-US" sz="1350" dirty="0">
                <a:solidFill>
                  <a:srgbClr val="FFFFFF"/>
                </a:solidFill>
              </a:rPr>
              <a:t>, and the criminal right ends only after judgment and full payment.</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1–4; facts reported in the news (2022 and 2026)</a:t>
            </a:r>
            <a:endParaRPr lang="en-US" sz="1050" dirty="0"/>
          </a:p>
        </p:txBody>
      </p:sp>
      <p:sp>
        <p:nvSpPr>
          <p:cNvPr id="5" name="s24-box-1"/>
          <p:cNvSpPr/>
          <p:nvPr/>
        </p:nvSpPr>
        <p:spPr>
          <a:xfrm>
            <a:off x="365760" y="1353312"/>
            <a:ext cx="11460175" cy="2514600"/>
          </a:xfrm>
          <a:prstGeom prst="rect">
            <a:avLst/>
          </a:prstGeom>
          <a:solidFill>
            <a:schemeClr val="tx2"/>
          </a:solidFill>
          <a:ln/>
        </p:spPr>
      </p:sp>
      <p:sp>
        <p:nvSpPr>
          <p:cNvPr id="6" name="s24-box-2"/>
          <p:cNvSpPr/>
          <p:nvPr/>
        </p:nvSpPr>
        <p:spPr>
          <a:xfrm>
            <a:off x="566928" y="1499616"/>
            <a:ext cx="1449324" cy="274320"/>
          </a:xfrm>
          <a:prstGeom prst="rect">
            <a:avLst/>
          </a:prstGeom>
          <a:solidFill>
            <a:srgbClr val="B3261E"/>
          </a:solidFill>
          <a:ln/>
        </p:spPr>
      </p:sp>
      <p:sp>
        <p:nvSpPr>
          <p:cNvPr id="7" name="s24-text-3"/>
          <p:cNvSpPr txBox="1"/>
          <p:nvPr/>
        </p:nvSpPr>
        <p:spPr>
          <a:xfrm>
            <a:off x="566928" y="1499616"/>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8" name="s24-text-4"/>
          <p:cNvSpPr txBox="1"/>
          <p:nvPr/>
        </p:nvSpPr>
        <p:spPr>
          <a:xfrm>
            <a:off x="594360" y="1810512"/>
            <a:ext cx="11002975" cy="1965960"/>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rPr>
              <a:t>In conclusion, </a:t>
            </a:r>
            <a:pPr indent="0" marL="0">
              <a:spcAft>
                <a:spcPts val="300"/>
              </a:spcAft>
              <a:buNone/>
            </a:pPr>
            <a:r>
              <a:rPr lang="en-US" sz="1400" dirty="0">
                <a:solidFill>
                  <a:srgbClr val="FFFFFF"/>
                </a:solidFill>
              </a:rPr>
              <a:t>นางสาวภรัณยา รุจนพรพจี </a:t>
            </a:r>
            <a:pPr indent="0" marL="0">
              <a:spcAft>
                <a:spcPts val="300"/>
              </a:spcAft>
              <a:buNone/>
            </a:pPr>
            <a:r>
              <a:rPr lang="en-US" sz="1400" b="1" dirty="0">
                <a:solidFill>
                  <a:srgbClr val="F28B7E"/>
                </a:solidFill>
              </a:rPr>
              <a:t>has committed unfair securities trading under Section 244/3(1) and (2)</a:t>
            </a:r>
            <a:pPr indent="0" marL="0">
              <a:spcAft>
                <a:spcPts val="300"/>
              </a:spcAft>
              <a:buNone/>
            </a:pPr>
            <a:r>
              <a:rPr lang="en-US" sz="1400" dirty="0">
                <a:solidFill>
                  <a:srgbClr val="FFFFFF"/>
                </a:solidFill>
              </a:rPr>
              <a:t> of the Securities and Exchange Act B.E. 2535, because every element of both rules is met, supported by the presumption in Section 244/5(5). She may face </a:t>
            </a:r>
            <a:pPr indent="0" marL="0">
              <a:spcAft>
                <a:spcPts val="300"/>
              </a:spcAft>
              <a:buNone/>
            </a:pPr>
            <a:r>
              <a:rPr lang="en-US" sz="1400" b="1" dirty="0">
                <a:solidFill>
                  <a:srgbClr val="F28B7E"/>
                </a:solidFill>
              </a:rPr>
              <a:t>up to five years in prison and a fine of up to two times the benefit</a:t>
            </a:r>
            <a:pPr indent="0" marL="0">
              <a:spcAft>
                <a:spcPts val="300"/>
              </a:spcAft>
              <a:buNone/>
            </a:pPr>
            <a:r>
              <a:rPr lang="en-US" sz="1400" dirty="0">
                <a:solidFill>
                  <a:srgbClr val="FFFFFF"/>
                </a:solidFill>
              </a:rPr>
              <a:t> under Sections 296/1 and 296/2. The SEC used civil sanctions instead; she refused the CSC’s THB 32.3 million sanction, so under Section 317/8 the SEC is suing her for </a:t>
            </a:r>
            <a:pPr indent="0" marL="0">
              <a:spcAft>
                <a:spcPts val="300"/>
              </a:spcAft>
              <a:buNone/>
            </a:pPr>
            <a:r>
              <a:rPr lang="en-US" sz="1400" b="1" dirty="0">
                <a:solidFill>
                  <a:srgbClr val="F28B7E"/>
                </a:solidFill>
              </a:rPr>
              <a:t>THB 43.0 million plus interest</a:t>
            </a:r>
            <a:pPr indent="0" marL="0">
              <a:spcAft>
                <a:spcPts val="300"/>
              </a:spcAft>
              <a:buNone/>
            </a:pPr>
            <a:r>
              <a:rPr lang="en-US" sz="1400" dirty="0">
                <a:solidFill>
                  <a:srgbClr val="FFFFFF"/>
                </a:solidFill>
              </a:rPr>
              <a:t>.</a:t>
            </a:r>
            <a:endParaRPr lang="en-US" sz="1400" dirty="0"/>
          </a:p>
        </p:txBody>
      </p:sp>
      <p:graphicFrame>
        <p:nvGraphicFramePr>
          <p:cNvPr id="25" name="s24-table-5"/>
          <p:cNvGraphicFramePr>
            <a:graphicFrameLocks noGrp="1"/>
          </p:cNvGraphicFramePr>
          <p:nvPr>
            <p:extLst>
              <p:ext uri="{D42A27DB-BD31-4B8C-83A1-F6EECF244321}">
                <p14:modId xmlns:p14="http://schemas.microsoft.com/office/powerpoint/2010/main" val="1579011935"/>
              </p:ext>
            </p:extLst>
          </p:nvPr>
        </p:nvGraphicFramePr>
        <p:xfrm>
          <a:off x="365760" y="4023360"/>
          <a:ext cx="11460175" cy="914400"/>
        </p:xfrm>
        <a:graphic>
          <a:graphicData uri="http://schemas.openxmlformats.org/drawingml/2006/table">
            <a:tbl>
              <a:tblPr/>
              <a:tblGrid>
                <a:gridCol w="3291840"/>
                <a:gridCol w="8168335"/>
              </a:tblGrid>
              <a:tr h="329184">
                <a:tc>
                  <a:txBody>
                    <a:bodyPr/>
                    <a:lstStyle/>
                    <a:p>
                      <a:pPr algn="ctr" indent="0" marL="0">
                        <a:buNone/>
                      </a:pPr>
                      <a:r>
                        <a:rPr lang="en-US" sz="1250" b="1" dirty="0">
                          <a:solidFill>
                            <a:schemeClr val="bg1"/>
                          </a:solidFill>
                        </a:rPr>
                        <a:t>Rule</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rPr>
                        <a:t>Rule 1: Section 244/3(1)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261E"/>
                          </a:solidFill>
                        </a:rPr>
                        <a:t>Violated: all 5 elements met, with presumption s.244/5(5)</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84048">
                <a:tc>
                  <a:txBody>
                    <a:bodyPr/>
                    <a:lstStyle/>
                    <a:p>
                      <a:pPr indent="0" marL="0">
                        <a:buNone/>
                      </a:pPr>
                      <a:r>
                        <a:rPr lang="en-US" sz="1250" b="1" dirty="0">
                          <a:solidFill>
                            <a:schemeClr val="tx2"/>
                          </a:solidFill>
                        </a:rPr>
                        <a:t>Rule 2: Section 244/3(2)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261E"/>
                          </a:solidFill>
                        </a:rPr>
                        <a:t>Violated: all 6 elements met, including special intent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84048">
                <a:tc>
                  <a:txBody>
                    <a:bodyPr/>
                    <a:lstStyle/>
                    <a:p>
                      <a:pPr indent="0" marL="0">
                        <a:buNone/>
                      </a:pPr>
                      <a:r>
                        <a:rPr lang="en-US" sz="1250" b="1" dirty="0">
                          <a:solidFill>
                            <a:schemeClr val="tx2"/>
                          </a:solidFill>
                        </a:rPr>
                        <a:t>Rule 3: 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Up to 5 years in prison and a fine of up to 2 times the benefit, if prosecuted</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Rule 4: 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THB 32.3 million refused; Civil Court claim of THB 43.0 million plus interest (pending)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0" name="s24-text-6"/>
          <p:cNvSpPr txBox="1"/>
          <p:nvPr/>
        </p:nvSpPr>
        <p:spPr>
          <a:xfrm>
            <a:off x="365760" y="5870448"/>
            <a:ext cx="11460175" cy="256032"/>
          </a:xfrm>
          <a:prstGeom prst="rect">
            <a:avLst/>
          </a:prstGeom>
          <a:noFill/>
          <a:ln/>
        </p:spPr>
        <p:txBody>
          <a:bodyPr wrap="square" lIns="0" tIns="0" rIns="0" bIns="0" rtlCol="0" anchor="ctr"/>
          <a:lstStyle/>
          <a:p>
            <a:pPr indent="0" marL="0">
              <a:buNone/>
            </a:pPr>
            <a:r>
              <a:rPr lang="en-US" sz="1050" i="1" dirty="0">
                <a:solidFill>
                  <a:schemeClr val="accent5"/>
                </a:solidFill>
              </a:rPr>
              <a:t>Based on the facts reported in the news, as found by the SEC and the CSC. No court judgment had been reported as of October 2026.</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Thank You</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TSR Market Manipulation Case</a:t>
            </a:r>
            <a:endParaRPr lang="en-US" sz="1050" dirty="0"/>
          </a:p>
        </p:txBody>
      </p:sp>
      <p:sp>
        <p:nvSpPr>
          <p:cNvPr id="5" name="s25-box-1"/>
          <p:cNvSpPr/>
          <p:nvPr/>
        </p:nvSpPr>
        <p:spPr>
          <a:xfrm>
            <a:off x="365760" y="1353312"/>
            <a:ext cx="6949440" cy="5001768"/>
          </a:xfrm>
          <a:prstGeom prst="rect">
            <a:avLst/>
          </a:prstGeom>
          <a:solidFill>
            <a:schemeClr val="tx2"/>
          </a:solidFill>
          <a:ln/>
        </p:spPr>
      </p:sp>
      <p:sp>
        <p:nvSpPr>
          <p:cNvPr id="6" name="s25-box-2"/>
          <p:cNvSpPr/>
          <p:nvPr/>
        </p:nvSpPr>
        <p:spPr>
          <a:xfrm>
            <a:off x="685800" y="1719072"/>
            <a:ext cx="928116" cy="274320"/>
          </a:xfrm>
          <a:prstGeom prst="rect">
            <a:avLst/>
          </a:prstGeom>
          <a:solidFill>
            <a:srgbClr val="B3261E"/>
          </a:solidFill>
          <a:ln/>
        </p:spPr>
      </p:sp>
      <p:sp>
        <p:nvSpPr>
          <p:cNvPr id="7" name="s25-text-3"/>
          <p:cNvSpPr txBox="1"/>
          <p:nvPr/>
        </p:nvSpPr>
        <p:spPr>
          <a:xfrm>
            <a:off x="685800" y="1719072"/>
            <a:ext cx="928116" cy="274320"/>
          </a:xfrm>
          <a:prstGeom prst="rect">
            <a:avLst/>
          </a:prstGeom>
          <a:noFill/>
          <a:ln/>
        </p:spPr>
        <p:txBody>
          <a:bodyPr wrap="square" lIns="0" tIns="0" rIns="0" bIns="0" rtlCol="0" anchor="ctr"/>
          <a:lstStyle/>
          <a:p>
            <a:pPr algn="ctr" indent="0" marL="0">
              <a:buNone/>
            </a:pPr>
            <a:r>
              <a:rPr lang="en-US" sz="1050" b="1" dirty="0">
                <a:solidFill>
                  <a:srgbClr val="FFFFFF"/>
                </a:solidFill>
              </a:rPr>
              <a:t>GROUP 3</a:t>
            </a:r>
            <a:endParaRPr lang="en-US" sz="1050" dirty="0"/>
          </a:p>
        </p:txBody>
      </p:sp>
      <p:sp>
        <p:nvSpPr>
          <p:cNvPr id="8" name="s25-text-4"/>
          <p:cNvSpPr txBox="1"/>
          <p:nvPr/>
        </p:nvSpPr>
        <p:spPr>
          <a:xfrm>
            <a:off x="685800" y="2194560"/>
            <a:ext cx="6309360" cy="1005840"/>
          </a:xfrm>
          <a:prstGeom prst="rect">
            <a:avLst/>
          </a:prstGeom>
          <a:noFill/>
          <a:ln/>
        </p:spPr>
        <p:txBody>
          <a:bodyPr wrap="square" lIns="0" tIns="0" rIns="0" bIns="0" rtlCol="0" anchor="ctr"/>
          <a:lstStyle/>
          <a:p>
            <a:pPr indent="0" marL="0">
              <a:buNone/>
            </a:pPr>
            <a:r>
              <a:rPr lang="en-US" sz="4400" b="1" dirty="0">
                <a:solidFill>
                  <a:srgbClr val="FFFFFF"/>
                </a:solidFill>
              </a:rPr>
              <a:t>Thank you</a:t>
            </a:r>
            <a:endParaRPr lang="en-US" sz="4400" dirty="0"/>
          </a:p>
        </p:txBody>
      </p:sp>
      <p:sp>
        <p:nvSpPr>
          <p:cNvPr id="9" name="s25-text-5"/>
          <p:cNvSpPr txBox="1"/>
          <p:nvPr/>
        </p:nvSpPr>
        <p:spPr>
          <a:xfrm>
            <a:off x="685800" y="3200400"/>
            <a:ext cx="6309360" cy="548640"/>
          </a:xfrm>
          <a:prstGeom prst="rect">
            <a:avLst/>
          </a:prstGeom>
          <a:noFill/>
          <a:ln/>
        </p:spPr>
        <p:txBody>
          <a:bodyPr wrap="square" lIns="0" tIns="0" rIns="0" bIns="0" rtlCol="0" anchor="ctr"/>
          <a:lstStyle/>
          <a:p>
            <a:pPr indent="0" marL="0">
              <a:buNone/>
            </a:pPr>
            <a:r>
              <a:rPr lang="en-US" sz="2000" b="1" dirty="0">
                <a:solidFill>
                  <a:srgbClr val="F28B7E"/>
                </a:solidFill>
              </a:rPr>
              <a:t>Questions and discussion</a:t>
            </a:r>
            <a:endParaRPr lang="en-US" sz="2000" dirty="0"/>
          </a:p>
        </p:txBody>
      </p:sp>
      <p:sp>
        <p:nvSpPr>
          <p:cNvPr id="10" name="s25-text-6"/>
          <p:cNvSpPr txBox="1"/>
          <p:nvPr/>
        </p:nvSpPr>
        <p:spPr>
          <a:xfrm>
            <a:off x="685800" y="5120640"/>
            <a:ext cx="6309360" cy="731520"/>
          </a:xfrm>
          <a:prstGeom prst="rect">
            <a:avLst/>
          </a:prstGeom>
          <a:noFill/>
          <a:ln/>
        </p:spPr>
        <p:txBody>
          <a:bodyPr wrap="square" lIns="0" tIns="0" rIns="0" bIns="0" rtlCol="0" anchor="ctr"/>
          <a:lstStyle/>
          <a:p>
            <a:pPr indent="0" marL="0">
              <a:buNone/>
            </a:pPr>
            <a:r>
              <a:rPr lang="en-US" sz="1250" dirty="0">
                <a:solidFill>
                  <a:srgbClr val="D9DEE7"/>
                </a:solidFill>
              </a:rPr>
              <a:t>Group Assignment 2 (2026), Ethics and Law for Financial Engineers, Dr. Chatchai Lapprathana</a:t>
            </a:r>
            <a:endParaRPr lang="en-US" sz="1250" dirty="0"/>
          </a:p>
        </p:txBody>
      </p:sp>
      <p:sp>
        <p:nvSpPr>
          <p:cNvPr id="11" name="s25-subbar-7"/>
          <p:cNvSpPr/>
          <p:nvPr/>
        </p:nvSpPr>
        <p:spPr>
          <a:xfrm>
            <a:off x="7452360" y="1353312"/>
            <a:ext cx="4373575" cy="347472"/>
          </a:xfrm>
          <a:prstGeom prst="rect">
            <a:avLst/>
          </a:prstGeom>
          <a:solidFill>
            <a:schemeClr val="tx2"/>
          </a:solidFill>
          <a:ln/>
        </p:spPr>
      </p:sp>
      <p:sp>
        <p:nvSpPr>
          <p:cNvPr id="12" name="s25-subbar-text-8"/>
          <p:cNvSpPr txBox="1"/>
          <p:nvPr/>
        </p:nvSpPr>
        <p:spPr>
          <a:xfrm>
            <a:off x="7452360" y="1353312"/>
            <a:ext cx="4373575" cy="347472"/>
          </a:xfrm>
          <a:prstGeom prst="rect">
            <a:avLst/>
          </a:prstGeom>
          <a:noFill/>
          <a:ln/>
        </p:spPr>
        <p:txBody>
          <a:bodyPr wrap="square" lIns="0" tIns="0" rIns="0" bIns="0" rtlCol="0" anchor="ctr"/>
          <a:lstStyle/>
          <a:p>
            <a:pPr algn="ctr" indent="0" marL="0">
              <a:buNone/>
            </a:pPr>
            <a:r>
              <a:rPr lang="en-US" sz="1400" b="1" dirty="0">
                <a:solidFill>
                  <a:schemeClr val="bg1"/>
                </a:solidFill>
              </a:rPr>
              <a:t>News Links</a:t>
            </a:r>
            <a:endParaRPr lang="en-US" sz="1400" dirty="0"/>
          </a:p>
        </p:txBody>
      </p:sp>
      <p:sp>
        <p:nvSpPr>
          <p:cNvPr id="13" name="s25-box-9"/>
          <p:cNvSpPr/>
          <p:nvPr/>
        </p:nvSpPr>
        <p:spPr>
          <a:xfrm>
            <a:off x="7452360" y="1792224"/>
            <a:ext cx="4373575" cy="4562856"/>
          </a:xfrm>
          <a:prstGeom prst="rect">
            <a:avLst/>
          </a:prstGeom>
          <a:solidFill>
            <a:schemeClr val="bg2"/>
          </a:solidFill>
          <a:ln/>
        </p:spPr>
      </p:sp>
      <p:sp>
        <p:nvSpPr>
          <p:cNvPr id="14" name="s25-text-10"/>
          <p:cNvSpPr txBox="1"/>
          <p:nvPr/>
        </p:nvSpPr>
        <p:spPr>
          <a:xfrm>
            <a:off x="7680960" y="1975104"/>
            <a:ext cx="3916375" cy="4197096"/>
          </a:xfrm>
          <a:prstGeom prst="rect">
            <a:avLst/>
          </a:prstGeom>
          <a:noFill/>
          <a:ln/>
        </p:spPr>
        <p:txBody>
          <a:bodyPr wrap="square" lIns="0" tIns="0" rIns="0" bIns="0" rtlCol="0" anchor="ctr"/>
          <a:lstStyle/>
          <a:p>
            <a:pPr indent="0" marL="0">
              <a:spcAft>
                <a:spcPts val="400"/>
              </a:spcAft>
              <a:buNone/>
            </a:pPr>
            <a:r>
              <a:rPr lang="en-US" sz="1250" b="1" dirty="0">
                <a:solidFill>
                  <a:schemeClr val="tx2"/>
                </a:solidFill>
              </a:rPr>
              <a:t>Main news, Hoonsmart, 24 Jan 2026</a:t>
            </a:r>
            <a:endParaRPr lang="en-US" sz="1250" dirty="0"/>
          </a:p>
          <a:p>
            <a:pPr indent="0" marL="0">
              <a:spcAft>
                <a:spcPts val="400"/>
              </a:spcAft>
              <a:buNone/>
            </a:pPr>
            <a:r>
              <a:rPr lang="en-US" sz="1250" u="sng" dirty="0">
                <a:solidFill>
                  <a:srgbClr val="B3261E"/>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250" dirty="0"/>
          </a:p>
          <a:p>
            <a:pPr indent="0" marL="0">
              <a:spcAft>
                <a:spcPts val="400"/>
              </a:spcAft>
              <a:buNone/>
            </a:pPr>
            <a:r>
              <a:rPr lang="en-US" sz="1250" dirty="0">
                <a:solidFill>
                  <a:schemeClr val="tx1"/>
                </a:solidFill>
              </a:rPr>
              <a:t> </a:t>
            </a:r>
            <a:endParaRPr lang="en-US" sz="1250" dirty="0"/>
          </a:p>
          <a:p>
            <a:pPr indent="0" marL="0">
              <a:spcAft>
                <a:spcPts val="400"/>
              </a:spcAft>
              <a:buNone/>
            </a:pPr>
            <a:r>
              <a:rPr lang="en-US" sz="1250" b="1" dirty="0">
                <a:solidFill>
                  <a:schemeClr val="tx2"/>
                </a:solidFill>
              </a:rPr>
              <a:t>Follow-up, Thansettakij, 11 May 2026</a:t>
            </a:r>
            <a:endParaRPr lang="en-US" sz="1250" dirty="0"/>
          </a:p>
          <a:p>
            <a:pPr indent="0" marL="0">
              <a:spcAft>
                <a:spcPts val="400"/>
              </a:spcAft>
              <a:buNone/>
            </a:pPr>
            <a:r>
              <a:rPr lang="en-US" sz="125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2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Group 3 Navy">
  <a:themeElements>
    <a:clrScheme name="Group 3 Navy">
      <a:dk1>
        <a:srgbClr val="1F2533"/>
      </a:dk1>
      <a:lt1>
        <a:srgbClr val="FFFFFF"/>
      </a:lt1>
      <a:dk2>
        <a:srgbClr val="1B2A4A"/>
      </a:dk2>
      <a:lt2>
        <a:srgbClr val="EEF1F5"/>
      </a:lt2>
      <a:accent1>
        <a:srgbClr val="1B2A4A"/>
      </a:accent1>
      <a:accent2>
        <a:srgbClr val="D9DEE7"/>
      </a:accent2>
      <a:accent3>
        <a:srgbClr val="2E7D32"/>
      </a:accent3>
      <a:accent4>
        <a:srgbClr val="B3261E"/>
      </a:accent4>
      <a:accent5>
        <a:srgbClr val="5B6478"/>
      </a:accent5>
      <a:accent6>
        <a:srgbClr val="C5CCD8"/>
      </a:accent6>
      <a:hlink>
        <a:srgbClr val="1B2A4A"/>
      </a:hlink>
      <a:folHlink>
        <a:srgbClr val="5B6478"/>
      </a:folHlink>
    </a:clrScheme>
    <a:fontScheme name="Group 3 Navy">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Group 3, TSR Market Manipulation Case</dc:title>
  <dc:subject>Securities and Exchange Act B.E. 2535 (1992) case study</dc:subject>
  <dc:creator>Group 3</dc:creator>
  <cp:lastModifiedBy>Group 3</cp:lastModifiedBy>
  <cp:revision>1</cp:revision>
  <dcterms:created xsi:type="dcterms:W3CDTF">2026-10-16T15:09:32Z</dcterms:created>
  <dcterms:modified xsi:type="dcterms:W3CDTF">2026-10-16T15:09:32Z</dcterms:modified>
</cp:coreProperties>
</file>