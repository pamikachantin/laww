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9d7c40e-5460-8173-fced-864900fa88e1}">
          <p14:sldIdLst>
            <p14:sldId id="256"/>
            <p14:sldId id="257"/>
            <p14:sldId id="258"/>
          </p14:sldIdLst>
        </p14:section>
        <p14:section name="News" id="{6117cdf9-9277-5eab-ab16-be2d140adde2}">
          <p14:sldIdLst>
            <p14:sldId id="259"/>
            <p14:sldId id="260"/>
          </p14:sldIdLst>
        </p14:section>
        <p14:section name="Facts" id="{ce7a1b89-d344-41c0-5f03-3626bedc9425}">
          <p14:sldIdLst>
            <p14:sldId id="261"/>
            <p14:sldId id="262"/>
            <p14:sldId id="263"/>
            <p14:sldId id="264"/>
          </p14:sldIdLst>
        </p14:section>
        <p14:section name="Law" id="{c5bbcb51-eeca-6a1b-0081-3a682d85a28f}">
          <p14:sldIdLst>
            <p14:sldId id="265"/>
            <p14:sldId id="266"/>
          </p14:sldIdLst>
        </p14:section>
        <p14:section name="Analysis" id="{b3adc84e-543f-c5d7-e65a-5ee5ea73f7fe}">
          <p14:sldIdLst>
            <p14:sldId id="267"/>
            <p14:sldId id="268"/>
            <p14:sldId id="269"/>
          </p14:sldIdLst>
        </p14:section>
        <p14:section name="Penalties" id="{1d61a425-4a7a-dc94-c8dd-5cc988474eb5}">
          <p14:sldIdLst>
            <p14:sldId id="270"/>
            <p14:sldId id="271"/>
            <p14:sldId id="272"/>
            <p14:sldId id="273"/>
          </p14:sldIdLst>
        </p14:section>
        <p14:section name="Closing" id="{b234fd45-6316-4585-4b99-523bf655c880}">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0:30]
สวัสดีครับอาจารย์และเพื่อน ๆ ทุกคน พวกเราคือกลุ่มที่ 3 ครับ วันนี้จะมานำเสนองานกลุ่มชิ้นที่ 2 ของวิชา Ethics and Law for Financial Engineers
สมาชิกในกลุ่มมีทั้งหมด 6 คนตามตารางบนสไลด์ ทุกคนจะผลัดกันขึ้นมาพูดคนละช่วง ผมขอเป็นคนเปิดเรื่องก่อนนะครับ</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0:40]
เรื่องที่กลุ่มเราเลือกมาคือคดี “ปั่นหุ้น” TSR ครับ ถ้าพูดเป็นภาษากฎหมายก็คือการสร้างราคาหรือปริมาณการซื้อขายหลักทรัพย์ ซึ่งเป็นการกระทำอันไม่เป็นธรรมเกี่ยวกับการซื้อขายหลักทรัพย์ตาม พ.ร.บ.หลักทรัพย์และตลาดหลักทรัพย์ พ.ศ. 2535
กล่องทางซ้ายสรุปตัวเลขสำคัญของคดีไว้สี่ตัว คือช่วงเวลาที่กระทำ จำนวน 47 วันทำการ ยอดเงินที่ ค.ม.พ. กำหนดในเดือนมกราคม 2569 และยอดที่ ก.ล.ต. ขอให้อัยการฟ้องศาลแพ่งในเดือนพฤษภาคม 2569
คดีนี้เป็นข่าวในปี 2569 ถึงสองรอบ รอบแรก ก.ล.ต. ใช้มาตรการลงโทษทางแพ่ง รอบที่สองส่งเรื่องให้อัยการฟ้องศาลแพ่ง เพราะผู้กระทำความผิดไม่ยอมปฏิบัติตาม เราจึงได้เห็นกฎหมายทำงานครบทั้งวงจรเลยครับ</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0:30]
การนำเสนอวันนี้แบ่งเป็น 5 ส่วนตามตารางครับ และชื่อทั้ง 5 ส่วนจะตรงกับแท็บด้านล่างของทุกสไลด์ เพื่อให้รู้ว่าตอนนี้เราอยู่ส่วนไหน
เริ่มจาก News คือแหล่งข่าวและตัวละครในคดี ต่อด้วย Facts ว่าเกิดอะไรขึ้น เมื่อไร และทำไปเพื่ออะไร จากนั้น Law ดูตัวบทกฎหมาย แล้ว Analysis วิเคราะห์ทีละองค์ประกอบว่าเข้าข่ายความผิดหรือไม่ และปิดท้ายด้วย Penalties บทลงโทษทั้งทางอาญาและทางแพ่ง คอลัมน์ขวาสุดคือมาตราที่ใช้ในแต่ละส่วนครับ</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0:40]
ข่าวหลักที่เราใช้คือแถวที่ไฮไลต์สีเหลืองในตาราง เป็นข่าวจากหุ้นสมาร์ท วันที่ 24 มกราคม 2569 เพราะให้รายละเอียดครบที่สุด ทั้งช่วงเวลา พฤติกรรม แรงจูงใจ และมาตราที่ ก.ล.ต. อ้าง เราใช้ข่าวจากมิติหุ้นวันที่ 23 มกราคมประกอบ ส่วนข่าวติดตามผลมาจากฐานเศรษฐกิจและหุ้นสมาร์ท วันที่ 11 พฤษภาคม 2569 และมีข่าวคดีหุ้น MSC ที่เกี่ยวข้องอีกหนึ่งข่าว
ลิงก์ทั้งหมดอยู่ในคอลัมน์ URL และทุกข่าวลงวันที่หลัง 1 มกราคม 2026 ตามเงื่อนไขของงาน ส่วนตัวบทกฎหมาย เราอ้างอิงจาก พ.ร.บ.หลักทรัพย์ฯ ฉบับภาษาอังกฤษที่อาจารย์ให้มาครับ</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1:15]
ก่อนเข้าเนื้อหา ขอแนะนำตัวละครในคดีนี้ก่อนครับ ฝั่งซ้ายคือบุคคลและบริษัท คนแรกคือผู้ถูกกล่าวหา นางสาวภรัณยา รุจนพรพจี ซึ่งข่าวระบุว่าเป็นผู้ถือหุ้นใหญ่ของบริษัท สบาย เทคโนโลยี หรือ SABUY
ตัวที่สองคือหุ้นที่ถูกปั่น ได้แก่หุ้น TSR ของบริษัท เธียรสุรัตน์ ซึ่งตอนนี้เปลี่ยนชื่อเป็น ทีเอสอาร์ ลิฟวิ่ง โซลูชั่น เป็นหุ้นจดทะเบียนในตลาดหลักทรัพย์ ตัวที่สามคือ SABUY ซึ่งถือหุ้น TSR เป็นเงินลงทุนอยู่ จุดนี้สำคัญมาก เพราะเป็นกุญแจของแรงจูงใจที่เพื่อนจะเล่าต่อครับ
ฝั่งขวาคือหน่วยงาน มีตลาดหลักทรัพย์ฯ ที่ตรวจพบความผิดปกติแล้วส่งเรื่องให้ ก.ล.ต. ในเดือนตุลาคม 2565 มี ก.ล.ต. ที่ตรวจสอบ และคณะกรรมการพิจารณามาตรการลงโทษทางแพ่ง หรือ ค.ม.พ. ซึ่งมีอัยการสูงสุดเป็นประธานตามมาตรา 317/3 เป็นผู้กำหนดมาตรการลงโทษ ขั้นต่อไปคือพนักงานอัยการกับศาลแพ่ง รวมถึง ปปง. ที่ได้รับเรื่องไปด้วยครับ ต่อไปขอส่งต่อให้เพื่อนเล่าข้อเท็จจริงครับ</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1:15]
ขอบคุณครับ ผมจะเล่าข้อเท็จจริงตามที่ ก.ล.ต. ตรวจพบนะครับ สไลด์นี้อ่านจากซ้ายไปขวา ช่องซ้ายคือช่วงเวลา เหตุเกิดระหว่างวันที่ 22 มิถุนายน ถึง 31 สิงหาคม 2565 รวมทั้งหมด 47 วันทำการ
ช่องกลางคือพฤติกรรมหลักสองอย่าง อย่างแรกคือการ “เคาะซื้อ” หมายถึงส่งคำสั่งซื้อไปชนกับราคาที่มีคนตั้งขายไว้ และทำแบบกวาดคำสั่งเสนอขายอย่างต่อเนื่อง ราคาจึงขยับขึ้นไปเรื่อย ๆ อย่างที่สองคือการ “ครอง Bid” คือตั้งคำสั่งซื้อปริมาณมากไว้ที่ราคาเสนอซื้อช่องที่ 1 และช่องที่ 2 คนอื่นที่อยากซื้อก็ต่อคิวไม่ได้ ต้องยอมซื้อในราคาที่สูงขึ้น
ช่องขวาคือผลลัพธ์ในกล่องสีเหลือง ราคาหุ้น TSR ปรับขึ้นเป็นขั้น ๆ ทั้งที่ไม่ได้มาจากความต้องการซื้อจริงของตลาด และพฤติกรรมครอง Bid นี้เองที่จะไปเชื่อมกับบทสันนิษฐานมาตรา 244/5 วงเล็บ 5 ในส่วนวิเคราะห์
ขอเน้นนิดหนึ่งว่า ทั้งหมดนี้เป็นข้อเท็จจริงตามที่ ก.ล.ต. และ ค.ม.พ. ระบุ ศาลยังไม่ได้ตัดสินนะครับ</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1:00]
เพื่อให้เห็นภาพ ผมขอใช้กระดานซื้อขายจำลองนะครับ ตัวเลขในตารางเป็นตัวเลขสมมติ ไม่ใช่ข้อมูลจริงของหุ้น TSR ฝั่งซ้ายของตารางคือฝั่งเสนอซื้อหรือ Bid ฝั่งขวาคือฝั่งเสนอขายหรือ Offer ช่องที่ไฮไลต์สีเหลืองคือคำสั่งซื้อก้อนใหญ่ที่ตั้งไว้ที่ราคาช่องแรกและช่องที่สอง
ทางขวามีสามขั้นตอนครับ ขั้นแรก Sweep เธอเคาะซื้อกวาด Offer ที่ 3.82 จนหมด ราคาล่าสุดก็ขยับขึ้น ขั้นที่สอง Wall เธอตั้ง Bid ก้อนใหญ่ไว้ที่ 3.80 และ 3.78 เหมือนกำแพง คนที่ดูกระดานก็คิดว่าหุ้นตัวนี้มีแรงซื้อเยอะ ขั้นที่สาม Squeeze คนที่อยากได้หุ้นจริง ๆ ต่อคิวซื้อไม่ทัน เลยต้องไปซื้อที่ราคา Offer ที่สูงกว่า วนแบบนี้ไปเรื่อย ๆ ราคาก็ถูกดันขึ้นทีละขั้นครับ</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1:10]
คำถามต่อมาคือ ทำไปทำไม ก.ล.ต. ระบุวัตถุประสงค์ไว้สองข้อครับ
ข้อแรกอยู่แถวบน อ่านตามลูกศรจากซ้ายไปขวา คือเพื่อให้ SABUY บันทึกกำไรได้ เพราะ SABUY ถือหุ้น TSR เป็นเงินลงทุน และต้องวัดมูลค่ายุติธรรม หรือ Fair Value ณ วันสิ้นงวด ซึ่งก็คือสิ้นไตรมาส 2 ปี 2565 วันที่ 30 มิถุนายน แค่ 8 วันหลังเริ่มดันราคา ถ้าราคา TSR ในวันนั้นสูงขึ้น SABUY ก็มีกำไรทางบัญชีเพิ่มขึ้น งบการเงินดูดีขึ้นทันที ทั้งที่ไม่ได้ขายหุ้นเลยสักหุ้น
ข้อที่สองอยู่ซ้ายล่าง คือหากำไรจากส่วนต่างราคา ซื้อตอนถูก ดันให้แพง แล้วขายทำกำไร
กล่องสีเขียวขวาล่างคือเหตุผลที่เรื่องนี้สำคัญในทางกฎหมาย เพราะแรงจูงใจที่ชัดเจนแสดงให้เห็นว่ามี “เจตนา” ซึ่งเป็นองค์ประกอบสำคัญของมาตรา 244/3 วงเล็บ 2 ที่เพื่อนจะอธิบายต่อครับ</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1:00]
ขอบคุณค่ะ สไลด์นี้คือไทม์ไลน์ของคดีค่ะ แบ่งเป็นสองช่วง ฝั่งซ้ายคือปี 2565 ช่วงที่กระทำ พฤติกรรมเริ่มวันที่ 22 มิถุนายน อีกแค่ 8 วันก็ถึงวันสิ้นไตรมาส 2 ซึ่งเป็นวันที่ SABUY ต้องตีมูลค่าหุ้น TSR และพฤติกรรมยังลากยาวไปจนถึง 31 สิงหาคม รวม 47 วันทำการ จากนั้นเดือนตุลาคม 2565 ตลาดหลักทรัพย์ส่งเรื่องให้ ก.ล.ต.
ตรงกลางคือช่วงตรวจสอบราว 3 ปี ฝั่งขวาคือปี 2569 ช่วงบังคับใช้กฎหมาย วันที่ 23 มกราคม ค.ม.พ. มีมติลงโทษทางแพ่ง ให้ชำระเงินกว่า 32.3 ล้านบาท ห้ามซื้อขาย 6 เดือน และห้ามเป็นกรรมการหรือผู้บริหาร 12 เดือน ส่วนวันที่ 26 มีนาคม มีคดีหุ้น MSC ของเธอที่ถูกส่งฟ้องศาลแพ่งเช่นกัน
แต่ในคดี TSR เธอไม่ยินยอม วันที่ 11 พฤษภาคม 2569 ก.ล.ต. จึงขอให้อัยการฟ้องศาลแพ่ง เรียกเงิน 43 ล้านบาทพร้อมดอกเบี้ย และส่งเรื่องให้ ปปง. ด้วย ตามแถบสีเหลืองด้านล่าง ณ เดือนตุลาคม 2569 ยังไม่พบข่าวคำพิพากษาค่ะ</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1:10]
มาดูตัวบทกฎหมายกันค่ะ แถบบนสุดคือมาตรา 238 ที่บอกว่าหมวดนี้ใช้กับหลักทรัพย์จดทะเบียน TSR เป็นหุ้นจดทะเบียนในตลาดหลักทรัพย์ จึงอยู่ในขอบเขตแน่นอนค่ะ
หัวใจของคดีคือมาตรา 244/3 ที่ห้ามบุคคลใดทำสองอย่าง ฝั่งซ้ายคือวงเล็บ 1 ส่งคำสั่งหรือซื้อขายหลักทรัพย์ในลักษณะที่ทำให้คนอื่น “เข้าใจผิด” เกี่ยวกับราคาหรือปริมาณการซื้อขาย ฝั่งขวาคือวงเล็บ 2 ส่งคำสั่งหรือซื้อขาย “อย่างต่อเนื่อง” โดย “มีเจตนา” ให้ราคาหรือปริมาณผิดไปจากสภาพปกติของตลาด
ความต่างคือ วงเล็บ 1 ดูที่ผลว่าทำให้คนอื่นเข้าใจผิด ส่วนวงเล็บ 2 ดูที่ความต่อเนื่องและเจตนา โทษก็ต่างกันตามกล่องด้านล่าง วงเล็บ 1 ไปมาตรา 296 ส่วนวงเล็บ 2 ไปมาตรา 296/1 ซึ่งหนักกว่าค่ะ</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1:15]
แต่การพิสูจน์ว่าใครทำให้คนอื่นเข้าใจผิด หรือมีเจตนาบิดเบือนราคา เป็นเรื่องยากมากค่ะ กฎหมายจึงมีมาตรา 244/5 ที่เป็น “บทสันนิษฐาน” ตามรายการห้าข้อทางซ้าย ถ้าพิสูจน์ได้ว่ามีพฤติกรรมข้อใดข้อหนึ่ง ให้สันนิษฐานไว้ก่อนเลยว่าเข้ามาตรา 244/3
ในคดีนี้ ก.ล.ต. อ้างสองข้อที่ไฮไลต์สีเหลือง คือข้อ 4 การส่งคำสั่งช่วงก่อนเปิดหรือก่อนปิดตลาด เพื่อให้ราคาเปิดหรือราคาปิดสูงหรือต่ำกว่าที่ควร และข้อ 5 การส่งคำสั่งที่ขัดขวางการซื้อขายของคนอื่น จนคนอื่นต้องซื้อแพงขึ้น ซึ่งตรงกับการครอง Bid ที่เราเห็นเมื่อกี้พอดี ผลคือภาระการพิสูจน์จะตกไปอยู่กับผู้ถูกกล่าวหา ที่ต้องหาหลักฐานมาหักล้างเอง ตามกล่องขวาบน
ส่วนข้อยกเว้นในมาตรา 244/4 ทางขวาล่าง ได้แก่ การรักษาระดับราคาตามสัญญาจัดจำหน่ายหลักทรัพย์ การซื้อหุ้นคืน และการซื้อขายตามหลักเกณฑ์ของ ก.ล.ต. ไม่มีข้อไหนเข้าเลยค่ะ ต่อไปขอส่งให้เพื่อนวิเคราะห์องค์ประกอบความผิดค่ะ</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1:20]
ขอบคุณครับ ผมจะวิเคราะห์ทีละองค์ประกอบตามตารางนะครับ เริ่มจากมาตรา 244/3 วงเล็บ 1
แถวแรก “บุคคลใด” คำนี้กว้างมาก ใครก็เป็นผู้กระทำได้ ในคดีนี้คือนางสาวภรัณยา ซึ่งเป็นบุคคลธรรมดา ครบครับ แถวที่สอง ต้องเป็นหลักทรัพย์จดทะเบียนตามมาตรา 238 หุ้น TSR อยู่ในตลาดหลักทรัพย์ ครบ แถวที่สาม การกระทำคือส่งคำสั่งหรือซื้อขายหลักทรัพย์ เธอเคาะซื้อ กวาด Offer และตั้ง Bid ก้อนใหญ่ ครบ
แถวที่สี่ ต้องทำให้คนอื่นเข้าใจผิดเรื่องราคาหรือปริมาณ นักลงทุนที่ดูกระดานเห็นแรงซื้อหนาแน่น แต่จริง ๆ เป็นแรงซื้อที่ถูกสร้างขึ้น บวกกับบทสันนิษฐานมาตรา 244/5 วงเล็บ 5 ข้อนี้จึงครบโดยอาศัยบทสันนิษฐาน
แถวสุดท้ายคือเจตนาตามประมวลกฎหมายอาญามาตรา 59 การทำซ้ำ ๆ ถึง 47 วันทำการ และมีแรงจูงใจทางการเงินชัดเจน ทำให้เชื่อได้ว่ามีเจตนา สรุปตามกล่องสีเขียวคือเข้าวงเล็บ 1 ครบทุกองค์ประกอบ จึงไปสู่โทษอาญามาตรา 296 หรือมาตรการทางแพ่งมาตรา 317/1 วงเล็บ 1 ครับ</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1:20]
ต่อมาคือวงเล็บ 2 ซึ่งโทษหนักกว่าครับ แถวแรกเหมือนเดิม คือส่งคำสั่งหรือซื้อขายหลักทรัพย์ ครบ
แถวที่สองคือ “อย่างต่อเนื่อง” ข้อนี้ชัดมาก เพราะทำวันแล้ววันเล่า ตั้งแต่ 22 มิถุนายนถึง 31 สิงหาคม รวม 47 วันทำการ ไม่ใช่การส่งคำสั่งผิดพลาดแค่ครั้งเดียว
แถวที่สามคือเจตนาพิเศษ ต้อง “มุ่งหมาย” ให้ราคาผิดไปจากสภาพปกติของตลาด ตรงนี้แรงจูงใจที่เพื่อนเล่าไปก่อนหน้าช่วยได้มาก คือดันราคาให้ SABUY มีกำไรจากมูลค่ายุติธรรม และหากำไรส่วนต่าง บวกกับบทสันนิษฐานมาตรา 244/5 วงเล็บ 4 และ 5
กล่องสีเหลืองซ้ายล่างคือข้อสังเกตของกลุ่มเราครับ ข่าวไม่ได้เล่ารายละเอียดว่าทำอะไรช่วงก่อนเปิดหรือก่อนปิดตลาด แต่ ก.ล.ต. อ้างวงเล็บ 4 กลุ่มเราจึงตีความว่าน่าจะเกี่ยวกับการดันราคาปิด โดยเฉพาะช่วงสิ้นไตรมาส ซึ่งเป็นการอนุมานของกลุ่มเราเอง สรุปตามกล่องสีเขียวคือการกระทำเข้าทั้งวงเล็บ 1 และ 2 ตรงกับที่ ก.ล.ต. อ้างครับ</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1:00]
ขอบคุณครับ ก่อนไปเรื่องบทลงโทษ กลุ่มเราลองเช็กด้วยว่ามีความผิดอื่นในหมวดนี้ที่อาจเข้าด้วยหรือเปล่า ตามตารางทางซ้ายครับ
มาตรา 240 เรื่องบอกข้อมูลเท็จ ไม่มีข้อเท็จจริงว่าเธอปล่อยข่าว มาตรา 241 เรื่องบทวิเคราะห์ที่บิดเบือน ก็ไม่เกี่ยว มาตรา 242 เรื่องใช้ข้อมูลภายใน ข่าวไม่ได้กล่าวหาเรื่องนี้ มาตรา 244/6 ที่ใช้กับการยืมบัญชีคนอื่นหรือจ่ายเงินแทนกัน ข่าวก็ไม่ได้พูดถึง และมาตรา 244/7 เรื่องทำให้ระบบซื้อขายล่าช้าหรือหยุดชะงัก ก็ไม่มีครับ
ดังนั้นความผิดที่เหลือคือกล่องสีเขียวทางขวา มาตรา 244/3 วงเล็บ 1 และ 2 ประกอบบทสันนิษฐานมาตรา 244/5 วงเล็บ 4 และ 5 ซึ่งตรงกับที่ ก.ล.ต. ระบุไว้ในข่าว และนำไปสู่บทลงโทษมาตรา 296, 296/1 และ 296/2 ที่จะเล่าต่อครับ</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1:10]
ทีนี้ถ้าคดีนี้ไปทางอาญา โทษจะเป็นอย่างไรครับ ดูสามคอลัมน์ด้านบน มาตรา 296 สำหรับผิดมาตรา 244/3 วงเล็บ 1 จำคุกไม่เกิน 2 ปี หรือปรับตั้งแต่ 5 แสนถึง 2 ล้านบาท หรือทั้งจำทั้งปรับ มาตรา 296/1 ในกล่องสีเหลือง สำหรับวงเล็บ 2 หนักขึ้นเป็นจำคุกไม่เกิน 5 ปี หรือปรับ 1 ล้านถึง 5 ล้านบาท หรือทั้งจำทั้งปรับ
และมาตรา 296/2 ถ้าผู้กระทำได้รับหรือพึงได้รับประโยชน์ ให้ปรับไม่เกิน 2 เท่าของประโยชน์ แต่ต้องไม่ต่ำกว่าขั้นต่ำของมาตรา 296 หรือ 296/1 แปลว่าถ้าได้ประโยชน์มาก ค่าปรับก็ทะลุ 5 ล้านได้ครับ
แถวล่างซ้าย มาตรา 297/1 ยังให้ศาลสั่งให้ชดใช้เท่ากับประโยชน์ที่ได้ ห้ามซื้อขายไม่เกิน 5 ปี ห้ามเป็นกรรมการหรือผู้บริหารไม่เกิน 10 ปี และชดใช้ค่าใช้จ่ายในการตรวจสอบของ ก.ล.ต. ได้ด้วย ส่วนขวาล่าง ความผิดนี้เป็นความผิดมูลฐานตามกฎหมายฟอกเงิน ก.ล.ต. จึงส่งเรื่องให้ ปปง. ครับ</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1:20]
แต่ในคดีนี้ ก.ล.ต. เลือกใช้ช่องทางแพ่งครับ สไลด์นี้อ่านเป็นสามขั้น ขั้นที่ 1 ทางซ้าย มาตรา 317/1 วงเล็บ 1 บอกว่าความผิดตามมาตรา 296 และ 296/1 ใช้มาตรการลงโทษทางแพ่งได้ และมาตรา 317/6 ให้ ก.ล.ต. ส่งเรื่องให้ ค.ม.พ. พิจารณา ถ้า ค.ม.พ. เห็นว่าไม่ควรใช้มาตรการทางแพ่ง ก็ต้องดำเนินคดีอาญา
ขั้นที่ 2 ตรงกลาง ผู้กระทำเลือกได้สองทาง ถ้ายินยอมตามมาตรา 317/7 ก็ทำบันทึกการยินยอม จ่ายครบเมื่อไร สิทธิฟ้องคดีอาญาก็ระงับ แต่ถ้าไม่ยินยอม ตามมาตรา 317/8 ในกล่องสีเหลือง ก.ล.ต. ต้องฟ้องศาล ดอกเบี้ยเดินตั้งแต่วันฟ้อง และต้องจ่ายครบตามคำพิพากษาก่อน สิทธิฟ้องอาญาถึงจะระงับ คดี TSR ไปทางนี้ครับ
ขั้นที่ 3 ทางขวา มาตรการมีห้าอย่างตามมาตรา 317/4 คือ ค่าปรับทางแพ่ง ชดใช้ประโยชน์ที่ได้ ห้ามซื้อขายไม่เกิน 5 ปี ห้ามเป็นกรรมการหรือผู้บริหารไม่เกิน 10 ปี และชดใช้ค่าใช้จ่ายในการตรวจสอบ ส่วนค่าปรับตามมาตรา 317/5 คือไม่เกิน 2 เท่าของประโยชน์ แต่ไม่ต่ำกว่า 5 แสนบาท ถ้าคำนวณประโยชน์ไม่ได้ก็ปรับ 5 แสนถึง 2 ล้านบาทครับ</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1:10]
ขอบคุณครับ มาดูตัวเลขจริงของคดีนี้กันครับ กล่องซ้าย เดือนมกราคม 2569 ค.ม.พ. กำหนดให้ชำระ 32,327,329 บาท ซึ่งรวมค่าปรับทางแพ่ง เงินชดใช้ประโยชน์ และค่าใช้จ่ายในการตรวจสอบ พร้อมห้ามซื้อขาย 6 เดือน และห้ามเป็นกรรมการหรือผู้บริหาร 12 เดือน
แต่เธอไม่ยินยอมตามลูกศรตรงกลาง เดือนพฤษภาคม ก.ล.ต. จึงขอให้อัยการฟ้องศาลแพ่งตามมาตรา 317/8 กล่องขวา คราวนี้เรียก 43,018,879.32 บาท พร้อมดอกเบี้ย และขอให้ห้ามซื้อขายและห้ามเป็นกรรมการในอัตราสูงสุดที่กฎหมายกำหนด
สามกล่องล่างสรุปว่า ส่วนต่างประมาณ 10.7 ล้านบาท หรือเพิ่มขึ้นราว 33 เปอร์เซ็นต์ แปลว่าการไม่ยอมรับมาตรการทางแพ่งมีต้นทุนสูงขึ้น และตราบใดที่ยังไม่จ่ายครบ ความเสี่ยงคดีอาญาก็ยังไม่หมดไป ณ เดือนตุลาคม 2569 เรายังไม่พบข่าวคำพิพากษาครับ</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0:40]
คดีนี้ไม่ใช่ครั้งเดียวครับ ตารางด้านบนเทียบสองคดีของนางสาวภรัณยา คดีหุ้น MSC ค.ม.พ. กำหนดไว้ประมาณ 249.8 ล้านบาท ผู้กระทำอีกรายยินยอม แต่เธอไม่ยินยอมเหมือนเดิม วันที่ 26 มีนาคม 2569 ก.ล.ต. จึงขอให้อัยการฟ้องเรียก 332.3 ล้านบาท
ที่น่าสนใจคือคอลัมน์ขวาสุด ทั้งสองคดี ยอดที่ฟ้องศาลสูงกว่ายอดของ ค.ม.พ. ประมาณ 1.33 เท่าเท่ากันเลยครับ</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1:10]
มาสรุปกันครับ กล่องที่ 1 ข้อเท็จจริง ตลอด 47 วันทำการ มีการเคาะซื้อและครอง Bid จนราคา TSR ถูกดันขึ้น เพื่อให้ SABUY มีกำไรจากมูลค่ายุติธรรมและหากำไรส่วนต่าง
กล่องที่ 2 ข้อกฎหมาย การกระทำเข้ามาตรา 244/3 ทั้งวงเล็บ 1 และ 2 โดยมีบทสันนิษฐานมาตรา 244/5 วงเล็บ 4 และ 5 ช่วยพิสูจน์ และไม่เข้าข้อยกเว้นมาตรา 244/4
กล่องที่ 3 บทลงโทษ ถ้าเป็นคดีอาญา จำคุกได้ถึง 5 ปี และปรับได้ถึง 2 เท่าของประโยชน์ แต่คดีนี้ใช้ช่องทางแพ่งตามมาตรา 317/1 ถึง 317/8
และกล่องที่ 4 บทเรียน การปั่นหุ้นอาจดูเหมือนได้กำไรระยะสั้น แต่ทุกคำสั่งซื้อขายมีร่องรอยให้ตรวจสอบได้ และการไม่ยอมรับมาตรการทางแพ่งก็ทำให้ยอดเงินสูงขึ้น ส่วนนักลงทุนทั่วไป ถ้าเห็นแรงซื้อหนาผิดปกติในหุ้นที่สภาพคล่องต่ำ ก็ควรระวังก่อนไล่ราคาตามครับ</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0:15]
การนำเสนอของกลุ่มที่ 3 ก็มีเพียงเท่านี้ครับ ขอบคุณอาจารย์และเพื่อน ๆ ทุกคนที่ตั้งใจฟัง หากมีคำถาม เชิญได้เลยครับ</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Ethics and Law for Financial Engineers</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464808"/>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464808"/>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_NEW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Shape 3"/>
          <p:cNvSpPr/>
          <p:nvPr/>
        </p:nvSpPr>
        <p:spPr>
          <a:xfrm>
            <a:off x="594360" y="6387084"/>
            <a:ext cx="1834835" cy="64008"/>
          </a:xfrm>
          <a:prstGeom prst="rect">
            <a:avLst/>
          </a:prstGeom>
          <a:solidFill>
            <a:schemeClr val="tx2"/>
          </a:solidFill>
          <a:ln/>
        </p:spPr>
      </p:sp>
      <p:sp>
        <p:nvSpPr>
          <p:cNvPr id="8" name="Text 4"/>
          <p:cNvSpPr/>
          <p:nvPr/>
        </p:nvSpPr>
        <p:spPr>
          <a:xfrm>
            <a:off x="365760" y="6473952"/>
            <a:ext cx="2292035" cy="310896"/>
          </a:xfrm>
          <a:prstGeom prst="rect">
            <a:avLst/>
          </a:prstGeom>
          <a:noFill/>
          <a:ln/>
        </p:spPr>
        <p:txBody>
          <a:bodyPr wrap="square" lIns="0" tIns="0" rIns="0" bIns="0" rtlCol="0" anchor="ctr"/>
          <a:lstStyle/>
          <a:p>
            <a:pPr algn="ctr" indent="0" marL="0">
              <a:buNone/>
            </a:pPr>
            <a:r>
              <a:rPr lang="en-US" sz="1300" b="1" dirty="0">
                <a:solidFill>
                  <a:schemeClr val="tx2"/>
                </a:solidFill>
              </a:rPr>
              <a:t>News</a:t>
            </a:r>
            <a:endParaRPr lang="en-US" sz="1300" dirty="0"/>
          </a:p>
        </p:txBody>
      </p:sp>
      <p:sp>
        <p:nvSpPr>
          <p:cNvPr id="9" name="Text 5"/>
          <p:cNvSpPr/>
          <p:nvPr/>
        </p:nvSpPr>
        <p:spPr>
          <a:xfrm>
            <a:off x="2657795"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10" name="Text 6"/>
          <p:cNvSpPr/>
          <p:nvPr/>
        </p:nvSpPr>
        <p:spPr>
          <a:xfrm>
            <a:off x="4949830"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1" name="Text 7"/>
          <p:cNvSpPr/>
          <p:nvPr/>
        </p:nvSpPr>
        <p:spPr>
          <a:xfrm>
            <a:off x="7241865"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2" name="Text 8"/>
          <p:cNvSpPr/>
          <p:nvPr/>
        </p:nvSpPr>
        <p:spPr>
          <a:xfrm>
            <a:off x="9533900"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Penalties</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_FACT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Shape 4"/>
          <p:cNvSpPr/>
          <p:nvPr/>
        </p:nvSpPr>
        <p:spPr>
          <a:xfrm>
            <a:off x="2886395" y="6387084"/>
            <a:ext cx="1834835" cy="64008"/>
          </a:xfrm>
          <a:prstGeom prst="rect">
            <a:avLst/>
          </a:prstGeom>
          <a:solidFill>
            <a:schemeClr val="tx2"/>
          </a:solidFill>
          <a:ln/>
        </p:spPr>
      </p:sp>
      <p:sp>
        <p:nvSpPr>
          <p:cNvPr id="9" name="Text 5"/>
          <p:cNvSpPr/>
          <p:nvPr/>
        </p:nvSpPr>
        <p:spPr>
          <a:xfrm>
            <a:off x="2657795" y="6473952"/>
            <a:ext cx="2292035" cy="310896"/>
          </a:xfrm>
          <a:prstGeom prst="rect">
            <a:avLst/>
          </a:prstGeom>
          <a:noFill/>
          <a:ln/>
        </p:spPr>
        <p:txBody>
          <a:bodyPr wrap="square" lIns="0" tIns="0" rIns="0" bIns="0" rtlCol="0" anchor="ctr"/>
          <a:lstStyle/>
          <a:p>
            <a:pPr algn="ctr" indent="0" marL="0">
              <a:buNone/>
            </a:pPr>
            <a:r>
              <a:rPr lang="en-US" sz="1300" b="1" dirty="0">
                <a:solidFill>
                  <a:schemeClr val="tx2"/>
                </a:solidFill>
              </a:rPr>
              <a:t>Facts</a:t>
            </a:r>
            <a:endParaRPr lang="en-US" sz="1300" dirty="0"/>
          </a:p>
        </p:txBody>
      </p:sp>
      <p:sp>
        <p:nvSpPr>
          <p:cNvPr id="10" name="Text 6"/>
          <p:cNvSpPr/>
          <p:nvPr/>
        </p:nvSpPr>
        <p:spPr>
          <a:xfrm>
            <a:off x="4949830"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1" name="Text 7"/>
          <p:cNvSpPr/>
          <p:nvPr/>
        </p:nvSpPr>
        <p:spPr>
          <a:xfrm>
            <a:off x="7241865"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2" name="Text 8"/>
          <p:cNvSpPr/>
          <p:nvPr/>
        </p:nvSpPr>
        <p:spPr>
          <a:xfrm>
            <a:off x="9533900"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Penalties</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_LAW">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657795"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Shape 5"/>
          <p:cNvSpPr/>
          <p:nvPr/>
        </p:nvSpPr>
        <p:spPr>
          <a:xfrm>
            <a:off x="5178430" y="6387084"/>
            <a:ext cx="1834835" cy="64008"/>
          </a:xfrm>
          <a:prstGeom prst="rect">
            <a:avLst/>
          </a:prstGeom>
          <a:solidFill>
            <a:schemeClr val="tx2"/>
          </a:solidFill>
          <a:ln/>
        </p:spPr>
      </p:sp>
      <p:sp>
        <p:nvSpPr>
          <p:cNvPr id="10" name="Text 6"/>
          <p:cNvSpPr/>
          <p:nvPr/>
        </p:nvSpPr>
        <p:spPr>
          <a:xfrm>
            <a:off x="4949830" y="6473952"/>
            <a:ext cx="2292035" cy="310896"/>
          </a:xfrm>
          <a:prstGeom prst="rect">
            <a:avLst/>
          </a:prstGeom>
          <a:noFill/>
          <a:ln/>
        </p:spPr>
        <p:txBody>
          <a:bodyPr wrap="square" lIns="0" tIns="0" rIns="0" bIns="0" rtlCol="0" anchor="ctr"/>
          <a:lstStyle/>
          <a:p>
            <a:pPr algn="ctr" indent="0" marL="0">
              <a:buNone/>
            </a:pPr>
            <a:r>
              <a:rPr lang="en-US" sz="1300" b="1" dirty="0">
                <a:solidFill>
                  <a:schemeClr val="tx2"/>
                </a:solidFill>
              </a:rPr>
              <a:t>Law</a:t>
            </a:r>
            <a:endParaRPr lang="en-US" sz="1300" dirty="0"/>
          </a:p>
        </p:txBody>
      </p:sp>
      <p:sp>
        <p:nvSpPr>
          <p:cNvPr id="11" name="Text 7"/>
          <p:cNvSpPr/>
          <p:nvPr/>
        </p:nvSpPr>
        <p:spPr>
          <a:xfrm>
            <a:off x="7241865"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2" name="Text 8"/>
          <p:cNvSpPr/>
          <p:nvPr/>
        </p:nvSpPr>
        <p:spPr>
          <a:xfrm>
            <a:off x="9533900"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Penalties</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_ANALYSI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657795"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949830"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0" name="Shape 6"/>
          <p:cNvSpPr/>
          <p:nvPr/>
        </p:nvSpPr>
        <p:spPr>
          <a:xfrm>
            <a:off x="7470465" y="6387084"/>
            <a:ext cx="1834835" cy="64008"/>
          </a:xfrm>
          <a:prstGeom prst="rect">
            <a:avLst/>
          </a:prstGeom>
          <a:solidFill>
            <a:schemeClr val="tx2"/>
          </a:solidFill>
          <a:ln/>
        </p:spPr>
      </p:sp>
      <p:sp>
        <p:nvSpPr>
          <p:cNvPr id="11" name="Text 7"/>
          <p:cNvSpPr/>
          <p:nvPr/>
        </p:nvSpPr>
        <p:spPr>
          <a:xfrm>
            <a:off x="7241865" y="6473952"/>
            <a:ext cx="2292035" cy="310896"/>
          </a:xfrm>
          <a:prstGeom prst="rect">
            <a:avLst/>
          </a:prstGeom>
          <a:noFill/>
          <a:ln/>
        </p:spPr>
        <p:txBody>
          <a:bodyPr wrap="square" lIns="0" tIns="0" rIns="0" bIns="0" rtlCol="0" anchor="ctr"/>
          <a:lstStyle/>
          <a:p>
            <a:pPr algn="ctr" indent="0" marL="0">
              <a:buNone/>
            </a:pPr>
            <a:r>
              <a:rPr lang="en-US" sz="1300" b="1" dirty="0">
                <a:solidFill>
                  <a:schemeClr val="tx2"/>
                </a:solidFill>
              </a:rPr>
              <a:t>Analysis</a:t>
            </a:r>
            <a:endParaRPr lang="en-US" sz="1300" dirty="0"/>
          </a:p>
        </p:txBody>
      </p:sp>
      <p:sp>
        <p:nvSpPr>
          <p:cNvPr id="12" name="Text 8"/>
          <p:cNvSpPr/>
          <p:nvPr/>
        </p:nvSpPr>
        <p:spPr>
          <a:xfrm>
            <a:off x="9533900"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Penalties</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_PENALTIE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657795"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949830"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0" name="Text 6"/>
          <p:cNvSpPr/>
          <p:nvPr/>
        </p:nvSpPr>
        <p:spPr>
          <a:xfrm>
            <a:off x="7241865" y="6473952"/>
            <a:ext cx="2292035"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1" name="Shape 7"/>
          <p:cNvSpPr/>
          <p:nvPr/>
        </p:nvSpPr>
        <p:spPr>
          <a:xfrm>
            <a:off x="9762500" y="6387084"/>
            <a:ext cx="1834835" cy="64008"/>
          </a:xfrm>
          <a:prstGeom prst="rect">
            <a:avLst/>
          </a:prstGeom>
          <a:solidFill>
            <a:schemeClr val="tx2"/>
          </a:solidFill>
          <a:ln/>
        </p:spPr>
      </p:sp>
      <p:sp>
        <p:nvSpPr>
          <p:cNvPr id="12" name="Text 8"/>
          <p:cNvSpPr/>
          <p:nvPr/>
        </p:nvSpPr>
        <p:spPr>
          <a:xfrm>
            <a:off x="9533900" y="6473952"/>
            <a:ext cx="2292035" cy="310896"/>
          </a:xfrm>
          <a:prstGeom prst="rect">
            <a:avLst/>
          </a:prstGeom>
          <a:noFill/>
          <a:ln/>
        </p:spPr>
        <p:txBody>
          <a:bodyPr wrap="square" lIns="0" tIns="0" rIns="0" bIns="0" rtlCol="0" anchor="ctr"/>
          <a:lstStyle/>
          <a:p>
            <a:pPr algn="ctr" indent="0" marL="0">
              <a:buNone/>
            </a:pPr>
            <a:r>
              <a:rPr lang="en-US" sz="1300" b="1" dirty="0">
                <a:solidFill>
                  <a:schemeClr val="tx2"/>
                </a:solidFill>
              </a:rPr>
              <a:t>Penalties</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mitihoon.com/2026/01/23/611929/" TargetMode="External"/><Relationship Id="rId2" Type="http://schemas.openxmlformats.org/officeDocument/2006/relationships/hyperlink" Target="https://hoonsmart.com/archives/400329" TargetMode="External"/><Relationship Id="rId3" Type="http://schemas.openxmlformats.org/officeDocument/2006/relationships/hyperlink" Target="https://www.thansettakij.com/finance/stockmarket/654988" TargetMode="External"/><Relationship Id="rId4" Type="http://schemas.openxmlformats.org/officeDocument/2006/relationships/hyperlink" Target="https://www.thansettakij.com/finance/658785" TargetMode="External"/><Relationship Id="rId5" Type="http://schemas.openxmlformats.org/officeDocument/2006/relationships/hyperlink" Target="https://hoonsmart.com/archives/417813" TargetMode="External"/><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5.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7.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hoonsmart.com/archives/400329" TargetMode="External"/><Relationship Id="rId2" Type="http://schemas.openxmlformats.org/officeDocument/2006/relationships/hyperlink" Target="https://www.thansettakij.com/finance/658785" TargetMode="External"/><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GROUP ASSIGNMENT 2 (2026)</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(1992), as amended</a:t>
            </a:r>
            <a:endParaRPr lang="en-US" sz="1050" dirty="0"/>
          </a:p>
        </p:txBody>
      </p:sp>
      <p:sp>
        <p:nvSpPr>
          <p:cNvPr id="5" name="s1-subbar-1"/>
          <p:cNvSpPr/>
          <p:nvPr/>
        </p:nvSpPr>
        <p:spPr>
          <a:xfrm>
            <a:off x="365760" y="1353312"/>
            <a:ext cx="11460175" cy="347472"/>
          </a:xfrm>
          <a:prstGeom prst="rect">
            <a:avLst/>
          </a:prstGeom>
          <a:solidFill>
            <a:schemeClr val="tx2"/>
          </a:solidFill>
          <a:ln/>
        </p:spPr>
      </p:sp>
      <p:sp>
        <p:nvSpPr>
          <p:cNvPr id="6" name="s1-subbar-text-2"/>
          <p:cNvSpPr txBox="1"/>
          <p:nvPr/>
        </p:nvSpPr>
        <p:spPr>
          <a:xfrm>
            <a:off x="365760" y="1353312"/>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Group 3 · Group Members</a:t>
            </a:r>
            <a:endParaRPr lang="en-US" sz="1400" dirty="0"/>
          </a:p>
        </p:txBody>
      </p:sp>
      <p:graphicFrame>
        <p:nvGraphicFramePr>
          <p:cNvPr id="2" name="s1-table-3"/>
          <p:cNvGraphicFramePr>
            <a:graphicFrameLocks noGrp="1"/>
          </p:cNvGraphicFramePr>
          <p:nvPr>
            <p:extLst>
              <p:ext uri="{D42A27DB-BD31-4B8C-83A1-F6EECF244321}">
                <p14:modId xmlns:p14="http://schemas.microsoft.com/office/powerpoint/2010/main" val="1579011935"/>
              </p:ext>
            </p:extLst>
          </p:nvPr>
        </p:nvGraphicFramePr>
        <p:xfrm>
          <a:off x="365760" y="1792224"/>
          <a:ext cx="11460175" cy="914400"/>
        </p:xfrm>
        <a:graphic>
          <a:graphicData uri="http://schemas.openxmlformats.org/drawingml/2006/table">
            <a:tbl>
              <a:tblPr/>
              <a:tblGrid>
                <a:gridCol w="914400"/>
                <a:gridCol w="2194560"/>
                <a:gridCol w="5120640"/>
                <a:gridCol w="3230575"/>
              </a:tblGrid>
              <a:tr h="384048">
                <a:tc>
                  <a:txBody>
                    <a:bodyPr/>
                    <a:lstStyle/>
                    <a:p>
                      <a:pPr algn="ctr" indent="0" marL="0">
                        <a:buNone/>
                      </a:pPr>
                      <a:r>
                        <a:rPr lang="en-US" sz="1200" b="1" dirty="0">
                          <a:solidFill>
                            <a:schemeClr val="bg1"/>
                          </a:solidFill>
                        </a:rPr>
                        <a:t>No.</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Student ID</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Full Name</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Participation Rate (%)</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402336">
                <a:tc>
                  <a:txBody>
                    <a:bodyPr/>
                    <a:lstStyle/>
                    <a:p>
                      <a:pPr algn="ctr" indent="0" marL="0">
                        <a:buNone/>
                      </a:pPr>
                      <a:r>
                        <a:rPr lang="en-US" sz="1200" dirty="0">
                          <a:solidFill>
                            <a:schemeClr val="tx1"/>
                          </a:solidFill>
                        </a:rPr>
                        <a:t>1</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66011078</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Natachat Teecharcharn</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rPr>
                        <a:t>2</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66011097</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Mr. Nutdanai Jindadang</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402336">
                <a:tc>
                  <a:txBody>
                    <a:bodyPr/>
                    <a:lstStyle/>
                    <a:p>
                      <a:pPr algn="ctr" indent="0" marL="0">
                        <a:buNone/>
                      </a:pPr>
                      <a:r>
                        <a:rPr lang="en-US" sz="1200" dirty="0">
                          <a:solidFill>
                            <a:schemeClr val="tx1"/>
                          </a:solidFill>
                        </a:rPr>
                        <a:t>3</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66011104</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Miss Pamika Chantin</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rPr>
                        <a:t>4</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66011106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Mr. Panas Sri-Anant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402336">
                <a:tc>
                  <a:txBody>
                    <a:bodyPr/>
                    <a:lstStyle/>
                    <a:p>
                      <a:pPr algn="ctr" indent="0" marL="0">
                        <a:buNone/>
                      </a:pPr>
                      <a:r>
                        <a:rPr lang="en-US" sz="1200" dirty="0">
                          <a:solidFill>
                            <a:schemeClr val="tx1"/>
                          </a:solidFill>
                        </a:rPr>
                        <a:t>5</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66011126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Pasit Larpkittipanich</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rPr>
                        <a:t>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66011128</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Mr. Passakorn Laksanakorn</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bl>
          </a:graphicData>
        </a:graphic>
      </p:graphicFrame>
      <p:sp>
        <p:nvSpPr>
          <p:cNvPr id="8" name="s1-subbar-4"/>
          <p:cNvSpPr/>
          <p:nvPr/>
        </p:nvSpPr>
        <p:spPr>
          <a:xfrm>
            <a:off x="365760" y="4754880"/>
            <a:ext cx="11460175" cy="347472"/>
          </a:xfrm>
          <a:prstGeom prst="rect">
            <a:avLst/>
          </a:prstGeom>
          <a:solidFill>
            <a:schemeClr val="tx2"/>
          </a:solidFill>
          <a:ln/>
        </p:spPr>
      </p:sp>
      <p:sp>
        <p:nvSpPr>
          <p:cNvPr id="9" name="s1-subbar-text-5"/>
          <p:cNvSpPr txBox="1"/>
          <p:nvPr/>
        </p:nvSpPr>
        <p:spPr>
          <a:xfrm>
            <a:off x="365760" y="4754880"/>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Course Details</a:t>
            </a:r>
            <a:endParaRPr lang="en-US" sz="1400" dirty="0"/>
          </a:p>
        </p:txBody>
      </p:sp>
      <p:sp>
        <p:nvSpPr>
          <p:cNvPr id="10" name="s1-chip-6"/>
          <p:cNvSpPr/>
          <p:nvPr/>
        </p:nvSpPr>
        <p:spPr>
          <a:xfrm>
            <a:off x="365760" y="5193792"/>
            <a:ext cx="2762174" cy="1005840"/>
          </a:xfrm>
          <a:prstGeom prst="rect">
            <a:avLst/>
          </a:prstGeom>
          <a:solidFill>
            <a:schemeClr val="accent2"/>
          </a:solidFill>
          <a:ln/>
        </p:spPr>
      </p:sp>
      <p:sp>
        <p:nvSpPr>
          <p:cNvPr id="11" name="s1-chip-text-7"/>
          <p:cNvSpPr txBox="1"/>
          <p:nvPr/>
        </p:nvSpPr>
        <p:spPr>
          <a:xfrm>
            <a:off x="365760" y="5193792"/>
            <a:ext cx="2762174" cy="1005840"/>
          </a:xfrm>
          <a:prstGeom prst="rect">
            <a:avLst/>
          </a:prstGeom>
          <a:noFill/>
          <a:ln/>
        </p:spPr>
        <p:txBody>
          <a:bodyPr wrap="square" lIns="50800" tIns="50800" rIns="50800" bIns="50800" rtlCol="0" anchor="ctr"/>
          <a:lstStyle/>
          <a:p>
            <a:pPr algn="ctr" indent="0" marL="0">
              <a:buNone/>
            </a:pPr>
            <a:r>
              <a:rPr lang="en-US" sz="1200" dirty="0">
                <a:solidFill>
                  <a:schemeClr val="tx1"/>
                </a:solidFill>
              </a:rPr>
              <a:t>Course</a:t>
            </a:r>
            <a:endParaRPr lang="en-US" sz="1200" dirty="0"/>
          </a:p>
          <a:p>
            <a:pPr algn="ctr" indent="0" marL="0">
              <a:buNone/>
            </a:pPr>
            <a:r>
              <a:rPr lang="en-US" sz="1200" b="1" dirty="0">
                <a:solidFill>
                  <a:schemeClr val="tx2"/>
                </a:solidFill>
              </a:rPr>
              <a:t>Ethics and Law for Financial Engineers</a:t>
            </a:r>
            <a:endParaRPr lang="en-US" sz="1200" dirty="0"/>
          </a:p>
        </p:txBody>
      </p:sp>
      <p:sp>
        <p:nvSpPr>
          <p:cNvPr id="12" name="s1-chip-8"/>
          <p:cNvSpPr/>
          <p:nvPr/>
        </p:nvSpPr>
        <p:spPr>
          <a:xfrm>
            <a:off x="3265094" y="5193792"/>
            <a:ext cx="2762174" cy="1005840"/>
          </a:xfrm>
          <a:prstGeom prst="rect">
            <a:avLst/>
          </a:prstGeom>
          <a:solidFill>
            <a:schemeClr val="accent2"/>
          </a:solidFill>
          <a:ln/>
        </p:spPr>
      </p:sp>
      <p:sp>
        <p:nvSpPr>
          <p:cNvPr id="13" name="s1-chip-text-9"/>
          <p:cNvSpPr txBox="1"/>
          <p:nvPr/>
        </p:nvSpPr>
        <p:spPr>
          <a:xfrm>
            <a:off x="3265094" y="5193792"/>
            <a:ext cx="2762174" cy="1005840"/>
          </a:xfrm>
          <a:prstGeom prst="rect">
            <a:avLst/>
          </a:prstGeom>
          <a:noFill/>
          <a:ln/>
        </p:spPr>
        <p:txBody>
          <a:bodyPr wrap="square" lIns="50800" tIns="50800" rIns="50800" bIns="50800" rtlCol="0" anchor="ctr"/>
          <a:lstStyle/>
          <a:p>
            <a:pPr algn="ctr" indent="0" marL="0">
              <a:buNone/>
            </a:pPr>
            <a:r>
              <a:rPr lang="en-US" sz="1200" dirty="0">
                <a:solidFill>
                  <a:schemeClr val="tx1"/>
                </a:solidFill>
              </a:rPr>
              <a:t>Instructor</a:t>
            </a:r>
            <a:endParaRPr lang="en-US" sz="1200" dirty="0"/>
          </a:p>
          <a:p>
            <a:pPr algn="ctr" indent="0" marL="0">
              <a:buNone/>
            </a:pPr>
            <a:r>
              <a:rPr lang="en-US" sz="1200" b="1" dirty="0">
                <a:solidFill>
                  <a:schemeClr val="tx2"/>
                </a:solidFill>
              </a:rPr>
              <a:t>Dr. Chatchai Lapprathana</a:t>
            </a:r>
            <a:endParaRPr lang="en-US" sz="1200" dirty="0"/>
          </a:p>
        </p:txBody>
      </p:sp>
      <p:sp>
        <p:nvSpPr>
          <p:cNvPr id="14" name="s1-chip-10"/>
          <p:cNvSpPr/>
          <p:nvPr/>
        </p:nvSpPr>
        <p:spPr>
          <a:xfrm>
            <a:off x="6164428" y="5193792"/>
            <a:ext cx="2762174" cy="1005840"/>
          </a:xfrm>
          <a:prstGeom prst="rect">
            <a:avLst/>
          </a:prstGeom>
          <a:solidFill>
            <a:schemeClr val="accent2"/>
          </a:solidFill>
          <a:ln/>
        </p:spPr>
      </p:sp>
      <p:sp>
        <p:nvSpPr>
          <p:cNvPr id="15" name="s1-chip-text-11"/>
          <p:cNvSpPr txBox="1"/>
          <p:nvPr/>
        </p:nvSpPr>
        <p:spPr>
          <a:xfrm>
            <a:off x="6164428" y="5193792"/>
            <a:ext cx="2762174" cy="1005840"/>
          </a:xfrm>
          <a:prstGeom prst="rect">
            <a:avLst/>
          </a:prstGeom>
          <a:noFill/>
          <a:ln/>
        </p:spPr>
        <p:txBody>
          <a:bodyPr wrap="square" lIns="50800" tIns="50800" rIns="50800" bIns="50800" rtlCol="0" anchor="ctr"/>
          <a:lstStyle/>
          <a:p>
            <a:pPr algn="ctr" indent="0" marL="0">
              <a:buNone/>
            </a:pPr>
            <a:r>
              <a:rPr lang="en-US" sz="1200" dirty="0">
                <a:solidFill>
                  <a:schemeClr val="tx1"/>
                </a:solidFill>
              </a:rPr>
              <a:t>Submission date</a:t>
            </a:r>
            <a:endParaRPr lang="en-US" sz="1200" dirty="0"/>
          </a:p>
          <a:p>
            <a:pPr algn="ctr" indent="0" marL="0">
              <a:buNone/>
            </a:pPr>
            <a:r>
              <a:rPr lang="en-US" sz="1200" b="1" dirty="0">
                <a:solidFill>
                  <a:schemeClr val="tx2"/>
                </a:solidFill>
              </a:rPr>
              <a:t>21 October 2026</a:t>
            </a:r>
            <a:endParaRPr lang="en-US" sz="1200" dirty="0"/>
          </a:p>
        </p:txBody>
      </p:sp>
      <p:sp>
        <p:nvSpPr>
          <p:cNvPr id="16" name="s1-chip-12"/>
          <p:cNvSpPr/>
          <p:nvPr/>
        </p:nvSpPr>
        <p:spPr>
          <a:xfrm>
            <a:off x="9063761" y="5193792"/>
            <a:ext cx="2762174" cy="1005840"/>
          </a:xfrm>
          <a:prstGeom prst="rect">
            <a:avLst/>
          </a:prstGeom>
          <a:solidFill>
            <a:schemeClr val="accent2"/>
          </a:solidFill>
          <a:ln/>
        </p:spPr>
      </p:sp>
      <p:sp>
        <p:nvSpPr>
          <p:cNvPr id="17" name="s1-chip-text-13"/>
          <p:cNvSpPr txBox="1"/>
          <p:nvPr/>
        </p:nvSpPr>
        <p:spPr>
          <a:xfrm>
            <a:off x="9063761" y="5193792"/>
            <a:ext cx="2762174" cy="1005840"/>
          </a:xfrm>
          <a:prstGeom prst="rect">
            <a:avLst/>
          </a:prstGeom>
          <a:noFill/>
          <a:ln/>
        </p:spPr>
        <p:txBody>
          <a:bodyPr wrap="square" lIns="50800" tIns="50800" rIns="50800" bIns="50800" rtlCol="0" anchor="ctr"/>
          <a:lstStyle/>
          <a:p>
            <a:pPr algn="ctr" indent="0" marL="0">
              <a:buNone/>
            </a:pPr>
            <a:r>
              <a:rPr lang="en-US" sz="1200" dirty="0">
                <a:solidFill>
                  <a:schemeClr val="tx1"/>
                </a:solidFill>
              </a:rPr>
              <a:t>Case</a:t>
            </a:r>
            <a:endParaRPr lang="en-US" sz="1200" dirty="0"/>
          </a:p>
          <a:p>
            <a:pPr algn="ctr" indent="0" marL="0">
              <a:buNone/>
            </a:pPr>
            <a:r>
              <a:rPr lang="en-US" sz="1200" b="1" dirty="0">
                <a:solidFill>
                  <a:schemeClr val="tx2"/>
                </a:solidFill>
              </a:rPr>
              <a:t>TSR market manipulation</a:t>
            </a:r>
            <a:endParaRPr lang="en-US" sz="120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Manipulating the Price of TSR Shares</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Group 3 · Ethics and Law for Financial Engineers · 21 October 2026</a:t>
            </a:r>
            <a:endParaRPr lang="en-US" sz="1050" dirty="0"/>
          </a:p>
        </p:txBody>
      </p:sp>
      <p:sp>
        <p:nvSpPr>
          <p:cNvPr id="5" name="s2-subbar-1"/>
          <p:cNvSpPr/>
          <p:nvPr/>
        </p:nvSpPr>
        <p:spPr>
          <a:xfrm>
            <a:off x="365760" y="1353312"/>
            <a:ext cx="11460175" cy="347472"/>
          </a:xfrm>
          <a:prstGeom prst="rect">
            <a:avLst/>
          </a:prstGeom>
          <a:solidFill>
            <a:schemeClr val="tx2"/>
          </a:solidFill>
          <a:ln/>
        </p:spPr>
      </p:sp>
      <p:sp>
        <p:nvSpPr>
          <p:cNvPr id="6" name="s2-subbar-text-2"/>
          <p:cNvSpPr txBox="1"/>
          <p:nvPr/>
        </p:nvSpPr>
        <p:spPr>
          <a:xfrm>
            <a:off x="365760" y="1353312"/>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Securities and Exchange Act B.E. 2535 (1992) · Case Study</a:t>
            </a:r>
            <a:endParaRPr lang="en-US" sz="1400" dirty="0"/>
          </a:p>
        </p:txBody>
      </p:sp>
      <p:sp>
        <p:nvSpPr>
          <p:cNvPr id="7" name="s2-box-3"/>
          <p:cNvSpPr/>
          <p:nvPr/>
        </p:nvSpPr>
        <p:spPr>
          <a:xfrm>
            <a:off x="365760" y="1792224"/>
            <a:ext cx="6949440" cy="4562856"/>
          </a:xfrm>
          <a:prstGeom prst="rect">
            <a:avLst/>
          </a:prstGeom>
          <a:solidFill>
            <a:schemeClr val="bg2"/>
          </a:solidFill>
          <a:ln/>
        </p:spPr>
      </p:sp>
      <p:sp>
        <p:nvSpPr>
          <p:cNvPr id="8" name="s2-text-4"/>
          <p:cNvSpPr txBox="1"/>
          <p:nvPr/>
        </p:nvSpPr>
        <p:spPr>
          <a:xfrm>
            <a:off x="594360" y="1965960"/>
            <a:ext cx="6492240" cy="274320"/>
          </a:xfrm>
          <a:prstGeom prst="rect">
            <a:avLst/>
          </a:prstGeom>
          <a:noFill/>
          <a:ln/>
        </p:spPr>
        <p:txBody>
          <a:bodyPr wrap="square" lIns="0" tIns="0" rIns="0" bIns="0" rtlCol="0" anchor="t"/>
          <a:lstStyle/>
          <a:p>
            <a:pPr indent="0" marL="0">
              <a:buNone/>
            </a:pPr>
            <a:r>
              <a:rPr lang="en-US" sz="1300" b="1" dirty="0">
                <a:solidFill>
                  <a:schemeClr val="tx2"/>
                </a:solidFill>
              </a:rPr>
              <a:t>Legal scope</a:t>
            </a:r>
            <a:endParaRPr lang="en-US" sz="1300" dirty="0"/>
          </a:p>
        </p:txBody>
      </p:sp>
      <p:sp>
        <p:nvSpPr>
          <p:cNvPr id="9" name="s2-text-5"/>
          <p:cNvSpPr txBox="1"/>
          <p:nvPr/>
        </p:nvSpPr>
        <p:spPr>
          <a:xfrm>
            <a:off x="594360" y="2286000"/>
            <a:ext cx="6492240" cy="685800"/>
          </a:xfrm>
          <a:prstGeom prst="rect">
            <a:avLst/>
          </a:prstGeom>
          <a:noFill/>
          <a:ln/>
        </p:spPr>
        <p:txBody>
          <a:bodyPr wrap="square" lIns="0" tIns="0" rIns="0" bIns="0" rtlCol="0" anchor="t"/>
          <a:lstStyle/>
          <a:p>
            <a:pPr indent="0" marL="0">
              <a:buNone/>
            </a:pPr>
            <a:r>
              <a:rPr lang="en-US" sz="1200" dirty="0">
                <a:solidFill>
                  <a:schemeClr val="tx1"/>
                </a:solidFill>
              </a:rPr>
              <a:t>Unfair securities trading under Sections 244/3 and 244/5, the criminal penalties in Sections 296–296/2, and the civil sanction route in Sections 317/1–317/8.</a:t>
            </a:r>
            <a:endParaRPr lang="en-US" sz="1200" dirty="0"/>
          </a:p>
        </p:txBody>
      </p:sp>
      <p:sp>
        <p:nvSpPr>
          <p:cNvPr id="10" name="s2-text-6"/>
          <p:cNvSpPr txBox="1"/>
          <p:nvPr/>
        </p:nvSpPr>
        <p:spPr>
          <a:xfrm>
            <a:off x="594360" y="3108960"/>
            <a:ext cx="6492240" cy="274320"/>
          </a:xfrm>
          <a:prstGeom prst="rect">
            <a:avLst/>
          </a:prstGeom>
          <a:noFill/>
          <a:ln/>
        </p:spPr>
        <p:txBody>
          <a:bodyPr wrap="square" lIns="0" tIns="0" rIns="0" bIns="0" rtlCol="0" anchor="t"/>
          <a:lstStyle/>
          <a:p>
            <a:pPr indent="0" marL="0">
              <a:buNone/>
            </a:pPr>
            <a:r>
              <a:rPr lang="en-US" sz="1300" b="1" dirty="0">
                <a:solidFill>
                  <a:schemeClr val="tx2"/>
                </a:solidFill>
              </a:rPr>
              <a:t>The case at a glance</a:t>
            </a:r>
            <a:endParaRPr lang="en-US" sz="1300" dirty="0"/>
          </a:p>
        </p:txBody>
      </p:sp>
      <p:sp>
        <p:nvSpPr>
          <p:cNvPr id="11" name="s2-chip-7"/>
          <p:cNvSpPr/>
          <p:nvPr/>
        </p:nvSpPr>
        <p:spPr>
          <a:xfrm>
            <a:off x="594360" y="3474720"/>
            <a:ext cx="3177540" cy="960120"/>
          </a:xfrm>
          <a:prstGeom prst="rect">
            <a:avLst/>
          </a:prstGeom>
          <a:solidFill>
            <a:schemeClr val="accent2"/>
          </a:solidFill>
          <a:ln/>
        </p:spPr>
      </p:sp>
      <p:sp>
        <p:nvSpPr>
          <p:cNvPr id="12" name="s2-chip-text-8"/>
          <p:cNvSpPr txBox="1"/>
          <p:nvPr/>
        </p:nvSpPr>
        <p:spPr>
          <a:xfrm>
            <a:off x="594360" y="3474720"/>
            <a:ext cx="3177540" cy="960120"/>
          </a:xfrm>
          <a:prstGeom prst="rect">
            <a:avLst/>
          </a:prstGeom>
          <a:noFill/>
          <a:ln/>
        </p:spPr>
        <p:txBody>
          <a:bodyPr wrap="square" lIns="50800" tIns="50800" rIns="50800" bIns="50800" rtlCol="0" anchor="ctr"/>
          <a:lstStyle/>
          <a:p>
            <a:pPr algn="ctr" indent="0" marL="0">
              <a:buNone/>
            </a:pPr>
            <a:r>
              <a:rPr lang="en-US" sz="1200" dirty="0">
                <a:solidFill>
                  <a:schemeClr val="tx1"/>
                </a:solidFill>
              </a:rPr>
              <a:t>Conduct period</a:t>
            </a:r>
            <a:endParaRPr lang="en-US" sz="1200" dirty="0"/>
          </a:p>
          <a:p>
            <a:pPr algn="ctr" indent="0" marL="0">
              <a:buNone/>
            </a:pPr>
            <a:r>
              <a:rPr lang="en-US" sz="1200" b="1" dirty="0">
                <a:solidFill>
                  <a:schemeClr val="tx2"/>
                </a:solidFill>
              </a:rPr>
              <a:t>22 Jun – 31 Aug 2022</a:t>
            </a:r>
            <a:endParaRPr lang="en-US" sz="1200" dirty="0"/>
          </a:p>
        </p:txBody>
      </p:sp>
      <p:sp>
        <p:nvSpPr>
          <p:cNvPr id="13" name="s2-chip-9"/>
          <p:cNvSpPr/>
          <p:nvPr/>
        </p:nvSpPr>
        <p:spPr>
          <a:xfrm>
            <a:off x="3909060" y="3474720"/>
            <a:ext cx="3177540" cy="960120"/>
          </a:xfrm>
          <a:prstGeom prst="rect">
            <a:avLst/>
          </a:prstGeom>
          <a:solidFill>
            <a:schemeClr val="accent2"/>
          </a:solidFill>
          <a:ln/>
        </p:spPr>
      </p:sp>
      <p:sp>
        <p:nvSpPr>
          <p:cNvPr id="14" name="s2-chip-text-10"/>
          <p:cNvSpPr txBox="1"/>
          <p:nvPr/>
        </p:nvSpPr>
        <p:spPr>
          <a:xfrm>
            <a:off x="3909060" y="3474720"/>
            <a:ext cx="3177540" cy="960120"/>
          </a:xfrm>
          <a:prstGeom prst="rect">
            <a:avLst/>
          </a:prstGeom>
          <a:noFill/>
          <a:ln/>
        </p:spPr>
        <p:txBody>
          <a:bodyPr wrap="square" lIns="50800" tIns="50800" rIns="50800" bIns="50800" rtlCol="0" anchor="ctr"/>
          <a:lstStyle/>
          <a:p>
            <a:pPr algn="ctr" indent="0" marL="0">
              <a:buNone/>
            </a:pPr>
            <a:r>
              <a:rPr lang="en-US" sz="1200" dirty="0">
                <a:solidFill>
                  <a:schemeClr val="tx1"/>
                </a:solidFill>
              </a:rPr>
              <a:t>Trading days</a:t>
            </a:r>
            <a:endParaRPr lang="en-US" sz="1200" dirty="0"/>
          </a:p>
          <a:p>
            <a:pPr algn="ctr" indent="0" marL="0">
              <a:buNone/>
            </a:pPr>
            <a:r>
              <a:rPr lang="en-US" sz="1200" b="1" dirty="0">
                <a:solidFill>
                  <a:schemeClr val="tx2"/>
                </a:solidFill>
              </a:rPr>
              <a:t>47</a:t>
            </a:r>
            <a:endParaRPr lang="en-US" sz="1200" dirty="0"/>
          </a:p>
        </p:txBody>
      </p:sp>
      <p:sp>
        <p:nvSpPr>
          <p:cNvPr id="15" name="s2-chip-11"/>
          <p:cNvSpPr/>
          <p:nvPr/>
        </p:nvSpPr>
        <p:spPr>
          <a:xfrm>
            <a:off x="594360" y="4572000"/>
            <a:ext cx="3177540" cy="960120"/>
          </a:xfrm>
          <a:prstGeom prst="rect">
            <a:avLst/>
          </a:prstGeom>
          <a:solidFill>
            <a:schemeClr val="accent2"/>
          </a:solidFill>
          <a:ln/>
        </p:spPr>
      </p:sp>
      <p:sp>
        <p:nvSpPr>
          <p:cNvPr id="16" name="s2-chip-text-12"/>
          <p:cNvSpPr txBox="1"/>
          <p:nvPr/>
        </p:nvSpPr>
        <p:spPr>
          <a:xfrm>
            <a:off x="594360" y="4572000"/>
            <a:ext cx="3177540" cy="960120"/>
          </a:xfrm>
          <a:prstGeom prst="rect">
            <a:avLst/>
          </a:prstGeom>
          <a:noFill/>
          <a:ln/>
        </p:spPr>
        <p:txBody>
          <a:bodyPr wrap="square" lIns="50800" tIns="50800" rIns="50800" bIns="50800" rtlCol="0" anchor="ctr"/>
          <a:lstStyle/>
          <a:p>
            <a:pPr algn="ctr" indent="0" marL="0">
              <a:buNone/>
            </a:pPr>
            <a:r>
              <a:rPr lang="en-US" sz="1200" dirty="0">
                <a:solidFill>
                  <a:schemeClr val="tx1"/>
                </a:solidFill>
              </a:rPr>
              <a:t>Civil Sanction Committee (Jan 2026)</a:t>
            </a:r>
            <a:endParaRPr lang="en-US" sz="1200" dirty="0"/>
          </a:p>
          <a:p>
            <a:pPr algn="ctr" indent="0" marL="0">
              <a:buNone/>
            </a:pPr>
            <a:r>
              <a:rPr lang="en-US" sz="1200" b="1" dirty="0">
                <a:solidFill>
                  <a:schemeClr val="tx2"/>
                </a:solidFill>
              </a:rPr>
              <a:t>THB 32,327,329</a:t>
            </a:r>
            <a:endParaRPr lang="en-US" sz="1200" dirty="0"/>
          </a:p>
        </p:txBody>
      </p:sp>
      <p:sp>
        <p:nvSpPr>
          <p:cNvPr id="17" name="s2-chip-13"/>
          <p:cNvSpPr/>
          <p:nvPr/>
        </p:nvSpPr>
        <p:spPr>
          <a:xfrm>
            <a:off x="3909060" y="4572000"/>
            <a:ext cx="3177540" cy="960120"/>
          </a:xfrm>
          <a:prstGeom prst="rect">
            <a:avLst/>
          </a:prstGeom>
          <a:solidFill>
            <a:srgbClr val="FFF3DC"/>
          </a:solidFill>
          <a:ln w="12700">
            <a:solidFill>
              <a:schemeClr val="accent4"/>
            </a:solidFill>
            <a:prstDash val="solid"/>
          </a:ln>
        </p:spPr>
      </p:sp>
      <p:sp>
        <p:nvSpPr>
          <p:cNvPr id="18" name="s2-chip-text-14"/>
          <p:cNvSpPr txBox="1"/>
          <p:nvPr/>
        </p:nvSpPr>
        <p:spPr>
          <a:xfrm>
            <a:off x="3909060" y="4572000"/>
            <a:ext cx="3177540" cy="960120"/>
          </a:xfrm>
          <a:prstGeom prst="rect">
            <a:avLst/>
          </a:prstGeom>
          <a:noFill/>
          <a:ln/>
        </p:spPr>
        <p:txBody>
          <a:bodyPr wrap="square" lIns="50800" tIns="50800" rIns="50800" bIns="50800" rtlCol="0" anchor="ctr"/>
          <a:lstStyle/>
          <a:p>
            <a:pPr algn="ctr" indent="0" marL="0">
              <a:buNone/>
            </a:pPr>
            <a:r>
              <a:rPr lang="en-US" sz="1200" dirty="0">
                <a:solidFill>
                  <a:schemeClr val="tx1"/>
                </a:solidFill>
              </a:rPr>
              <a:t>Civil Court claim (May 2026)</a:t>
            </a:r>
            <a:endParaRPr lang="en-US" sz="1200" dirty="0"/>
          </a:p>
          <a:p>
            <a:pPr algn="ctr" indent="0" marL="0">
              <a:buNone/>
            </a:pPr>
            <a:r>
              <a:rPr lang="en-US" sz="1200" b="1" dirty="0">
                <a:solidFill>
                  <a:schemeClr val="tx2"/>
                </a:solidFill>
              </a:rPr>
              <a:t>THB 43,018,879.32</a:t>
            </a:r>
            <a:endParaRPr lang="en-US" sz="1200" dirty="0"/>
          </a:p>
        </p:txBody>
      </p:sp>
      <p:sp>
        <p:nvSpPr>
          <p:cNvPr id="19" name="s2-text-15"/>
          <p:cNvSpPr txBox="1"/>
          <p:nvPr/>
        </p:nvSpPr>
        <p:spPr>
          <a:xfrm>
            <a:off x="594360" y="5715000"/>
            <a:ext cx="6492240" cy="457200"/>
          </a:xfrm>
          <a:prstGeom prst="rect">
            <a:avLst/>
          </a:prstGeom>
          <a:noFill/>
          <a:ln/>
        </p:spPr>
        <p:txBody>
          <a:bodyPr wrap="square" lIns="0" tIns="0" rIns="0" bIns="0" rtlCol="0" anchor="t"/>
          <a:lstStyle/>
          <a:p>
            <a:pPr indent="0" marL="0">
              <a:buNone/>
            </a:pPr>
            <a:r>
              <a:rPr lang="en-US" sz="1050" i="1" dirty="0">
                <a:solidFill>
                  <a:schemeClr val="accent5"/>
                </a:solidFill>
              </a:rPr>
              <a:t>Facts as found by the SEC and the Civil Sanction Committee; no court judgment reported as of October 2026.</a:t>
            </a:r>
            <a:endParaRPr lang="en-US" sz="1050" dirty="0"/>
          </a:p>
        </p:txBody>
      </p:sp>
      <p:sp>
        <p:nvSpPr>
          <p:cNvPr id="20" name="s2-box-16"/>
          <p:cNvSpPr/>
          <p:nvPr/>
        </p:nvSpPr>
        <p:spPr>
          <a:xfrm>
            <a:off x="7452360" y="1792224"/>
            <a:ext cx="4373575" cy="4562856"/>
          </a:xfrm>
          <a:prstGeom prst="rect">
            <a:avLst/>
          </a:prstGeom>
          <a:solidFill>
            <a:schemeClr val="bg2"/>
          </a:solidFill>
          <a:ln/>
        </p:spPr>
      </p:sp>
      <p:sp>
        <p:nvSpPr>
          <p:cNvPr id="21" name="s2-text-17"/>
          <p:cNvSpPr txBox="1"/>
          <p:nvPr/>
        </p:nvSpPr>
        <p:spPr>
          <a:xfrm>
            <a:off x="7680960" y="1965960"/>
            <a:ext cx="3931920" cy="274320"/>
          </a:xfrm>
          <a:prstGeom prst="rect">
            <a:avLst/>
          </a:prstGeom>
          <a:noFill/>
          <a:ln/>
        </p:spPr>
        <p:txBody>
          <a:bodyPr wrap="square" lIns="0" tIns="0" rIns="0" bIns="0" rtlCol="0" anchor="t"/>
          <a:lstStyle/>
          <a:p>
            <a:pPr indent="0" marL="0">
              <a:buNone/>
            </a:pPr>
            <a:r>
              <a:rPr lang="en-US" sz="1300" b="1" dirty="0">
                <a:solidFill>
                  <a:schemeClr val="tx2"/>
                </a:solidFill>
              </a:rPr>
              <a:t>The pattern</a:t>
            </a:r>
            <a:endParaRPr lang="en-US" sz="1300" dirty="0"/>
          </a:p>
        </p:txBody>
      </p:sp>
      <p:sp>
        <p:nvSpPr>
          <p:cNvPr id="22" name="s2-line-18"/>
          <p:cNvSpPr/>
          <p:nvPr/>
        </p:nvSpPr>
        <p:spPr>
          <a:xfrm>
            <a:off x="7818120" y="5440680"/>
            <a:ext cx="3611880" cy="0"/>
          </a:xfrm>
          <a:prstGeom prst="line">
            <a:avLst/>
          </a:prstGeom>
          <a:noFill/>
          <a:ln w="12700">
            <a:solidFill>
              <a:schemeClr val="accent6"/>
            </a:solidFill>
            <a:prstDash val="solid"/>
          </a:ln>
        </p:spPr>
      </p:sp>
      <p:sp>
        <p:nvSpPr>
          <p:cNvPr id="23" name="s2-line-19"/>
          <p:cNvSpPr/>
          <p:nvPr/>
        </p:nvSpPr>
        <p:spPr>
          <a:xfrm>
            <a:off x="7998714" y="4905299"/>
            <a:ext cx="0" cy="432054"/>
          </a:xfrm>
          <a:prstGeom prst="line">
            <a:avLst/>
          </a:prstGeom>
          <a:noFill/>
          <a:ln w="15875">
            <a:solidFill>
              <a:schemeClr val="tx2"/>
            </a:solidFill>
            <a:prstDash val="solid"/>
          </a:ln>
        </p:spPr>
      </p:sp>
      <p:sp>
        <p:nvSpPr>
          <p:cNvPr id="24" name="s2-candle-20"/>
          <p:cNvSpPr/>
          <p:nvPr/>
        </p:nvSpPr>
        <p:spPr>
          <a:xfrm>
            <a:off x="7908417" y="5049317"/>
            <a:ext cx="180594" cy="172822"/>
          </a:xfrm>
          <a:prstGeom prst="rect">
            <a:avLst/>
          </a:prstGeom>
          <a:solidFill>
            <a:schemeClr val="tx2"/>
          </a:solidFill>
          <a:ln w="15875">
            <a:solidFill>
              <a:schemeClr val="tx2"/>
            </a:solidFill>
            <a:prstDash val="solid"/>
          </a:ln>
        </p:spPr>
      </p:sp>
      <p:sp>
        <p:nvSpPr>
          <p:cNvPr id="25" name="s2-line-21"/>
          <p:cNvSpPr/>
          <p:nvPr/>
        </p:nvSpPr>
        <p:spPr>
          <a:xfrm>
            <a:off x="8359902" y="4674870"/>
            <a:ext cx="0" cy="489661"/>
          </a:xfrm>
          <a:prstGeom prst="line">
            <a:avLst/>
          </a:prstGeom>
          <a:noFill/>
          <a:ln w="15875">
            <a:solidFill>
              <a:schemeClr val="tx2"/>
            </a:solidFill>
            <a:prstDash val="solid"/>
          </a:ln>
        </p:spPr>
      </p:sp>
      <p:sp>
        <p:nvSpPr>
          <p:cNvPr id="26" name="s2-candle-22"/>
          <p:cNvSpPr/>
          <p:nvPr/>
        </p:nvSpPr>
        <p:spPr>
          <a:xfrm>
            <a:off x="8269605" y="4818888"/>
            <a:ext cx="180594" cy="230429"/>
          </a:xfrm>
          <a:prstGeom prst="rect">
            <a:avLst/>
          </a:prstGeom>
          <a:solidFill>
            <a:schemeClr val="tx2"/>
          </a:solidFill>
          <a:ln w="15875">
            <a:solidFill>
              <a:schemeClr val="tx2"/>
            </a:solidFill>
            <a:prstDash val="solid"/>
          </a:ln>
        </p:spPr>
      </p:sp>
      <p:sp>
        <p:nvSpPr>
          <p:cNvPr id="27" name="s2-line-23"/>
          <p:cNvSpPr/>
          <p:nvPr/>
        </p:nvSpPr>
        <p:spPr>
          <a:xfrm>
            <a:off x="8721090" y="4674870"/>
            <a:ext cx="0" cy="374447"/>
          </a:xfrm>
          <a:prstGeom prst="line">
            <a:avLst/>
          </a:prstGeom>
          <a:noFill/>
          <a:ln w="15875">
            <a:solidFill>
              <a:schemeClr val="tx2"/>
            </a:solidFill>
            <a:prstDash val="solid"/>
          </a:ln>
        </p:spPr>
      </p:sp>
      <p:sp>
        <p:nvSpPr>
          <p:cNvPr id="28" name="s2-candle-24"/>
          <p:cNvSpPr/>
          <p:nvPr/>
        </p:nvSpPr>
        <p:spPr>
          <a:xfrm>
            <a:off x="8630793" y="4818888"/>
            <a:ext cx="180594" cy="115214"/>
          </a:xfrm>
          <a:prstGeom prst="rect">
            <a:avLst/>
          </a:prstGeom>
          <a:solidFill>
            <a:schemeClr val="bg1"/>
          </a:solidFill>
          <a:ln w="15875">
            <a:solidFill>
              <a:schemeClr val="tx2"/>
            </a:solidFill>
            <a:prstDash val="solid"/>
          </a:ln>
        </p:spPr>
      </p:sp>
      <p:sp>
        <p:nvSpPr>
          <p:cNvPr id="29" name="s2-line-25"/>
          <p:cNvSpPr/>
          <p:nvPr/>
        </p:nvSpPr>
        <p:spPr>
          <a:xfrm>
            <a:off x="9082278" y="4473245"/>
            <a:ext cx="0" cy="576072"/>
          </a:xfrm>
          <a:prstGeom prst="line">
            <a:avLst/>
          </a:prstGeom>
          <a:noFill/>
          <a:ln w="15875">
            <a:solidFill>
              <a:schemeClr val="tx2"/>
            </a:solidFill>
            <a:prstDash val="solid"/>
          </a:ln>
        </p:spPr>
      </p:sp>
      <p:sp>
        <p:nvSpPr>
          <p:cNvPr id="30" name="s2-candle-26"/>
          <p:cNvSpPr/>
          <p:nvPr/>
        </p:nvSpPr>
        <p:spPr>
          <a:xfrm>
            <a:off x="8991981" y="4617263"/>
            <a:ext cx="180594" cy="316840"/>
          </a:xfrm>
          <a:prstGeom prst="rect">
            <a:avLst/>
          </a:prstGeom>
          <a:solidFill>
            <a:schemeClr val="tx2"/>
          </a:solidFill>
          <a:ln w="15875">
            <a:solidFill>
              <a:schemeClr val="tx2"/>
            </a:solidFill>
            <a:prstDash val="solid"/>
          </a:ln>
        </p:spPr>
      </p:sp>
      <p:sp>
        <p:nvSpPr>
          <p:cNvPr id="31" name="s2-line-27"/>
          <p:cNvSpPr/>
          <p:nvPr/>
        </p:nvSpPr>
        <p:spPr>
          <a:xfrm>
            <a:off x="9443466" y="4242816"/>
            <a:ext cx="0" cy="489661"/>
          </a:xfrm>
          <a:prstGeom prst="line">
            <a:avLst/>
          </a:prstGeom>
          <a:noFill/>
          <a:ln w="15875">
            <a:solidFill>
              <a:schemeClr val="tx2"/>
            </a:solidFill>
            <a:prstDash val="solid"/>
          </a:ln>
        </p:spPr>
      </p:sp>
      <p:sp>
        <p:nvSpPr>
          <p:cNvPr id="32" name="s2-candle-28"/>
          <p:cNvSpPr/>
          <p:nvPr/>
        </p:nvSpPr>
        <p:spPr>
          <a:xfrm>
            <a:off x="9353169" y="4386834"/>
            <a:ext cx="180594" cy="230429"/>
          </a:xfrm>
          <a:prstGeom prst="rect">
            <a:avLst/>
          </a:prstGeom>
          <a:solidFill>
            <a:schemeClr val="tx2"/>
          </a:solidFill>
          <a:ln w="15875">
            <a:solidFill>
              <a:schemeClr val="tx2"/>
            </a:solidFill>
            <a:prstDash val="solid"/>
          </a:ln>
        </p:spPr>
      </p:sp>
      <p:sp>
        <p:nvSpPr>
          <p:cNvPr id="33" name="s2-line-29"/>
          <p:cNvSpPr/>
          <p:nvPr/>
        </p:nvSpPr>
        <p:spPr>
          <a:xfrm>
            <a:off x="9804654" y="4242816"/>
            <a:ext cx="0" cy="374447"/>
          </a:xfrm>
          <a:prstGeom prst="line">
            <a:avLst/>
          </a:prstGeom>
          <a:noFill/>
          <a:ln w="15875">
            <a:solidFill>
              <a:schemeClr val="tx2"/>
            </a:solidFill>
            <a:prstDash val="solid"/>
          </a:ln>
        </p:spPr>
      </p:sp>
      <p:sp>
        <p:nvSpPr>
          <p:cNvPr id="34" name="s2-candle-30"/>
          <p:cNvSpPr/>
          <p:nvPr/>
        </p:nvSpPr>
        <p:spPr>
          <a:xfrm>
            <a:off x="9714357" y="4386834"/>
            <a:ext cx="180594" cy="115214"/>
          </a:xfrm>
          <a:prstGeom prst="rect">
            <a:avLst/>
          </a:prstGeom>
          <a:solidFill>
            <a:schemeClr val="bg1"/>
          </a:solidFill>
          <a:ln w="15875">
            <a:solidFill>
              <a:schemeClr val="tx2"/>
            </a:solidFill>
            <a:prstDash val="solid"/>
          </a:ln>
        </p:spPr>
      </p:sp>
      <p:sp>
        <p:nvSpPr>
          <p:cNvPr id="35" name="s2-line-31"/>
          <p:cNvSpPr/>
          <p:nvPr/>
        </p:nvSpPr>
        <p:spPr>
          <a:xfrm>
            <a:off x="10165842" y="3954780"/>
            <a:ext cx="0" cy="662483"/>
          </a:xfrm>
          <a:prstGeom prst="line">
            <a:avLst/>
          </a:prstGeom>
          <a:noFill/>
          <a:ln w="15875">
            <a:solidFill>
              <a:schemeClr val="tx2"/>
            </a:solidFill>
            <a:prstDash val="solid"/>
          </a:ln>
        </p:spPr>
      </p:sp>
      <p:sp>
        <p:nvSpPr>
          <p:cNvPr id="36" name="s2-candle-32"/>
          <p:cNvSpPr/>
          <p:nvPr/>
        </p:nvSpPr>
        <p:spPr>
          <a:xfrm>
            <a:off x="10075545" y="4098798"/>
            <a:ext cx="180594" cy="403250"/>
          </a:xfrm>
          <a:prstGeom prst="rect">
            <a:avLst/>
          </a:prstGeom>
          <a:solidFill>
            <a:schemeClr val="tx2"/>
          </a:solidFill>
          <a:ln w="15875">
            <a:solidFill>
              <a:schemeClr val="tx2"/>
            </a:solidFill>
            <a:prstDash val="solid"/>
          </a:ln>
        </p:spPr>
      </p:sp>
      <p:sp>
        <p:nvSpPr>
          <p:cNvPr id="37" name="s2-line-33"/>
          <p:cNvSpPr/>
          <p:nvPr/>
        </p:nvSpPr>
        <p:spPr>
          <a:xfrm>
            <a:off x="10527030" y="3666744"/>
            <a:ext cx="0" cy="547268"/>
          </a:xfrm>
          <a:prstGeom prst="line">
            <a:avLst/>
          </a:prstGeom>
          <a:noFill/>
          <a:ln w="15875">
            <a:solidFill>
              <a:schemeClr val="tx2"/>
            </a:solidFill>
            <a:prstDash val="solid"/>
          </a:ln>
        </p:spPr>
      </p:sp>
      <p:sp>
        <p:nvSpPr>
          <p:cNvPr id="38" name="s2-candle-34"/>
          <p:cNvSpPr/>
          <p:nvPr/>
        </p:nvSpPr>
        <p:spPr>
          <a:xfrm>
            <a:off x="10436733" y="3810762"/>
            <a:ext cx="180594" cy="288036"/>
          </a:xfrm>
          <a:prstGeom prst="rect">
            <a:avLst/>
          </a:prstGeom>
          <a:solidFill>
            <a:schemeClr val="tx2"/>
          </a:solidFill>
          <a:ln w="15875">
            <a:solidFill>
              <a:schemeClr val="tx2"/>
            </a:solidFill>
            <a:prstDash val="solid"/>
          </a:ln>
        </p:spPr>
      </p:sp>
      <p:sp>
        <p:nvSpPr>
          <p:cNvPr id="39" name="s2-line-35"/>
          <p:cNvSpPr/>
          <p:nvPr/>
        </p:nvSpPr>
        <p:spPr>
          <a:xfrm>
            <a:off x="10888218" y="3349904"/>
            <a:ext cx="0" cy="576072"/>
          </a:xfrm>
          <a:prstGeom prst="line">
            <a:avLst/>
          </a:prstGeom>
          <a:noFill/>
          <a:ln w="15875">
            <a:solidFill>
              <a:schemeClr val="tx2"/>
            </a:solidFill>
            <a:prstDash val="solid"/>
          </a:ln>
        </p:spPr>
      </p:sp>
      <p:sp>
        <p:nvSpPr>
          <p:cNvPr id="40" name="s2-candle-36"/>
          <p:cNvSpPr/>
          <p:nvPr/>
        </p:nvSpPr>
        <p:spPr>
          <a:xfrm>
            <a:off x="10797921" y="3493922"/>
            <a:ext cx="180594" cy="316840"/>
          </a:xfrm>
          <a:prstGeom prst="rect">
            <a:avLst/>
          </a:prstGeom>
          <a:solidFill>
            <a:schemeClr val="tx2"/>
          </a:solidFill>
          <a:ln w="15875">
            <a:solidFill>
              <a:schemeClr val="tx2"/>
            </a:solidFill>
            <a:prstDash val="solid"/>
          </a:ln>
        </p:spPr>
      </p:sp>
      <p:sp>
        <p:nvSpPr>
          <p:cNvPr id="41" name="s2-line-37"/>
          <p:cNvSpPr/>
          <p:nvPr/>
        </p:nvSpPr>
        <p:spPr>
          <a:xfrm>
            <a:off x="11249406" y="2889047"/>
            <a:ext cx="0" cy="720090"/>
          </a:xfrm>
          <a:prstGeom prst="line">
            <a:avLst/>
          </a:prstGeom>
          <a:noFill/>
          <a:ln w="15875">
            <a:solidFill>
              <a:schemeClr val="tx2"/>
            </a:solidFill>
            <a:prstDash val="solid"/>
          </a:ln>
        </p:spPr>
      </p:sp>
      <p:sp>
        <p:nvSpPr>
          <p:cNvPr id="42" name="s2-candle-38"/>
          <p:cNvSpPr/>
          <p:nvPr/>
        </p:nvSpPr>
        <p:spPr>
          <a:xfrm>
            <a:off x="11159109" y="3033065"/>
            <a:ext cx="180594" cy="460858"/>
          </a:xfrm>
          <a:prstGeom prst="rect">
            <a:avLst/>
          </a:prstGeom>
          <a:solidFill>
            <a:schemeClr val="tx2"/>
          </a:solidFill>
          <a:ln w="15875">
            <a:solidFill>
              <a:schemeClr val="tx2"/>
            </a:solidFill>
            <a:prstDash val="solid"/>
          </a:ln>
        </p:spPr>
      </p:sp>
      <p:sp>
        <p:nvSpPr>
          <p:cNvPr id="43" name="s2-text-39"/>
          <p:cNvSpPr txBox="1"/>
          <p:nvPr/>
        </p:nvSpPr>
        <p:spPr>
          <a:xfrm>
            <a:off x="7680960" y="5669280"/>
            <a:ext cx="3931920" cy="457200"/>
          </a:xfrm>
          <a:prstGeom prst="rect">
            <a:avLst/>
          </a:prstGeom>
          <a:noFill/>
          <a:ln/>
        </p:spPr>
        <p:txBody>
          <a:bodyPr wrap="square" lIns="0" tIns="0" rIns="0" bIns="0" rtlCol="0" anchor="t"/>
          <a:lstStyle/>
          <a:p>
            <a:pPr indent="0" marL="0">
              <a:buNone/>
            </a:pPr>
            <a:r>
              <a:rPr lang="en-US" sz="1050" i="1" dirty="0">
                <a:solidFill>
                  <a:schemeClr val="accent5"/>
                </a:solidFill>
              </a:rPr>
              <a:t>Illustration: the price lifted step by step (not actual TSR data).</a:t>
            </a:r>
            <a:endParaRPr lang="en-US" sz="10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Roadmap: What We Will Cover</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(1992), as amended</a:t>
            </a:r>
            <a:endParaRPr lang="en-US" sz="1050" dirty="0"/>
          </a:p>
        </p:txBody>
      </p:sp>
      <p:sp>
        <p:nvSpPr>
          <p:cNvPr id="5" name="s3-subbar-1"/>
          <p:cNvSpPr/>
          <p:nvPr/>
        </p:nvSpPr>
        <p:spPr>
          <a:xfrm>
            <a:off x="365760" y="1353312"/>
            <a:ext cx="914400" cy="347472"/>
          </a:xfrm>
          <a:prstGeom prst="rect">
            <a:avLst/>
          </a:prstGeom>
          <a:solidFill>
            <a:schemeClr val="tx2"/>
          </a:solidFill>
          <a:ln/>
        </p:spPr>
      </p:sp>
      <p:sp>
        <p:nvSpPr>
          <p:cNvPr id="6" name="s3-subbar-text-2"/>
          <p:cNvSpPr txBox="1"/>
          <p:nvPr/>
        </p:nvSpPr>
        <p:spPr>
          <a:xfrm>
            <a:off x="365760" y="1353312"/>
            <a:ext cx="914400" cy="347472"/>
          </a:xfrm>
          <a:prstGeom prst="rect">
            <a:avLst/>
          </a:prstGeom>
          <a:noFill/>
          <a:ln/>
        </p:spPr>
        <p:txBody>
          <a:bodyPr wrap="square" lIns="0" tIns="0" rIns="0" bIns="0" rtlCol="0" anchor="ctr"/>
          <a:lstStyle/>
          <a:p>
            <a:pPr algn="ctr" indent="0" marL="0">
              <a:buNone/>
            </a:pPr>
            <a:r>
              <a:rPr lang="en-US" sz="1400" b="1" dirty="0">
                <a:solidFill>
                  <a:schemeClr val="bg1"/>
                </a:solidFill>
              </a:rPr>
              <a:t>Part</a:t>
            </a:r>
            <a:endParaRPr lang="en-US" sz="1400" dirty="0"/>
          </a:p>
        </p:txBody>
      </p:sp>
      <p:sp>
        <p:nvSpPr>
          <p:cNvPr id="7" name="s3-subbar-3"/>
          <p:cNvSpPr/>
          <p:nvPr/>
        </p:nvSpPr>
        <p:spPr>
          <a:xfrm>
            <a:off x="1417320" y="1353312"/>
            <a:ext cx="2011680" cy="347472"/>
          </a:xfrm>
          <a:prstGeom prst="rect">
            <a:avLst/>
          </a:prstGeom>
          <a:solidFill>
            <a:schemeClr val="tx2"/>
          </a:solidFill>
          <a:ln/>
        </p:spPr>
      </p:sp>
      <p:sp>
        <p:nvSpPr>
          <p:cNvPr id="8" name="s3-subbar-text-4"/>
          <p:cNvSpPr txBox="1"/>
          <p:nvPr/>
        </p:nvSpPr>
        <p:spPr>
          <a:xfrm>
            <a:off x="1417320" y="1353312"/>
            <a:ext cx="2011680" cy="347472"/>
          </a:xfrm>
          <a:prstGeom prst="rect">
            <a:avLst/>
          </a:prstGeom>
          <a:noFill/>
          <a:ln/>
        </p:spPr>
        <p:txBody>
          <a:bodyPr wrap="square" lIns="0" tIns="0" rIns="0" bIns="0" rtlCol="0" anchor="ctr"/>
          <a:lstStyle/>
          <a:p>
            <a:pPr algn="ctr" indent="0" marL="0">
              <a:buNone/>
            </a:pPr>
            <a:r>
              <a:rPr lang="en-US" sz="1400" b="1" dirty="0">
                <a:solidFill>
                  <a:schemeClr val="bg1"/>
                </a:solidFill>
              </a:rPr>
              <a:t>Topic</a:t>
            </a:r>
            <a:endParaRPr lang="en-US" sz="1400" dirty="0"/>
          </a:p>
        </p:txBody>
      </p:sp>
      <p:sp>
        <p:nvSpPr>
          <p:cNvPr id="9" name="s3-subbar-5"/>
          <p:cNvSpPr/>
          <p:nvPr/>
        </p:nvSpPr>
        <p:spPr>
          <a:xfrm>
            <a:off x="3566160" y="1353312"/>
            <a:ext cx="4937760" cy="347472"/>
          </a:xfrm>
          <a:prstGeom prst="rect">
            <a:avLst/>
          </a:prstGeom>
          <a:solidFill>
            <a:schemeClr val="tx2"/>
          </a:solidFill>
          <a:ln/>
        </p:spPr>
      </p:sp>
      <p:sp>
        <p:nvSpPr>
          <p:cNvPr id="10" name="s3-subbar-text-6"/>
          <p:cNvSpPr txBox="1"/>
          <p:nvPr/>
        </p:nvSpPr>
        <p:spPr>
          <a:xfrm>
            <a:off x="3566160" y="1353312"/>
            <a:ext cx="4937760" cy="347472"/>
          </a:xfrm>
          <a:prstGeom prst="rect">
            <a:avLst/>
          </a:prstGeom>
          <a:noFill/>
          <a:ln/>
        </p:spPr>
        <p:txBody>
          <a:bodyPr wrap="square" lIns="0" tIns="0" rIns="0" bIns="0" rtlCol="0" anchor="ctr"/>
          <a:lstStyle/>
          <a:p>
            <a:pPr algn="ctr" indent="0" marL="0">
              <a:buNone/>
            </a:pPr>
            <a:r>
              <a:rPr lang="en-US" sz="1400" b="1" dirty="0">
                <a:solidFill>
                  <a:schemeClr val="bg1"/>
                </a:solidFill>
              </a:rPr>
              <a:t>What we cover</a:t>
            </a:r>
            <a:endParaRPr lang="en-US" sz="1400" dirty="0"/>
          </a:p>
        </p:txBody>
      </p:sp>
      <p:sp>
        <p:nvSpPr>
          <p:cNvPr id="11" name="s3-subbar-7"/>
          <p:cNvSpPr/>
          <p:nvPr/>
        </p:nvSpPr>
        <p:spPr>
          <a:xfrm>
            <a:off x="8641080" y="1353312"/>
            <a:ext cx="3184855" cy="347472"/>
          </a:xfrm>
          <a:prstGeom prst="rect">
            <a:avLst/>
          </a:prstGeom>
          <a:solidFill>
            <a:schemeClr val="tx2"/>
          </a:solidFill>
          <a:ln/>
        </p:spPr>
      </p:sp>
      <p:sp>
        <p:nvSpPr>
          <p:cNvPr id="12" name="s3-subbar-text-8"/>
          <p:cNvSpPr txBox="1"/>
          <p:nvPr/>
        </p:nvSpPr>
        <p:spPr>
          <a:xfrm>
            <a:off x="8641080" y="1353312"/>
            <a:ext cx="3184855" cy="347472"/>
          </a:xfrm>
          <a:prstGeom prst="rect">
            <a:avLst/>
          </a:prstGeom>
          <a:noFill/>
          <a:ln/>
        </p:spPr>
        <p:txBody>
          <a:bodyPr wrap="square" lIns="0" tIns="0" rIns="0" bIns="0" rtlCol="0" anchor="ctr"/>
          <a:lstStyle/>
          <a:p>
            <a:pPr algn="ctr" indent="0" marL="0">
              <a:buNone/>
            </a:pPr>
            <a:r>
              <a:rPr lang="en-US" sz="1400" b="1" dirty="0">
                <a:solidFill>
                  <a:schemeClr val="bg1"/>
                </a:solidFill>
              </a:rPr>
              <a:t>Key sections of the Act</a:t>
            </a:r>
            <a:endParaRPr lang="en-US" sz="1400" dirty="0"/>
          </a:p>
        </p:txBody>
      </p:sp>
      <p:sp>
        <p:nvSpPr>
          <p:cNvPr id="13" name="s3-box-9"/>
          <p:cNvSpPr/>
          <p:nvPr/>
        </p:nvSpPr>
        <p:spPr>
          <a:xfrm>
            <a:off x="365760" y="1792224"/>
            <a:ext cx="914400" cy="839419"/>
          </a:xfrm>
          <a:prstGeom prst="rect">
            <a:avLst/>
          </a:prstGeom>
          <a:solidFill>
            <a:schemeClr val="accent2"/>
          </a:solidFill>
          <a:ln/>
        </p:spPr>
      </p:sp>
      <p:sp>
        <p:nvSpPr>
          <p:cNvPr id="14" name="s3-text-10"/>
          <p:cNvSpPr txBox="1"/>
          <p:nvPr/>
        </p:nvSpPr>
        <p:spPr>
          <a:xfrm>
            <a:off x="365760" y="1792224"/>
            <a:ext cx="914400" cy="839419"/>
          </a:xfrm>
          <a:prstGeom prst="rect">
            <a:avLst/>
          </a:prstGeom>
          <a:noFill/>
          <a:ln/>
        </p:spPr>
        <p:txBody>
          <a:bodyPr wrap="square" lIns="0" tIns="0" rIns="0" bIns="0" rtlCol="0" anchor="ctr"/>
          <a:lstStyle/>
          <a:p>
            <a:pPr algn="ctr" indent="0" marL="0">
              <a:buNone/>
            </a:pPr>
            <a:r>
              <a:rPr lang="en-US" sz="1600" b="1" dirty="0">
                <a:solidFill>
                  <a:schemeClr val="tx2"/>
                </a:solidFill>
              </a:rPr>
              <a:t>01</a:t>
            </a:r>
            <a:endParaRPr lang="en-US" sz="1600" dirty="0"/>
          </a:p>
        </p:txBody>
      </p:sp>
      <p:sp>
        <p:nvSpPr>
          <p:cNvPr id="15" name="s3-box-11"/>
          <p:cNvSpPr/>
          <p:nvPr/>
        </p:nvSpPr>
        <p:spPr>
          <a:xfrm>
            <a:off x="1417320" y="1792224"/>
            <a:ext cx="2011680" cy="839419"/>
          </a:xfrm>
          <a:prstGeom prst="rect">
            <a:avLst/>
          </a:prstGeom>
          <a:solidFill>
            <a:schemeClr val="bg2"/>
          </a:solidFill>
          <a:ln/>
        </p:spPr>
      </p:sp>
      <p:sp>
        <p:nvSpPr>
          <p:cNvPr id="16" name="s3-text-12"/>
          <p:cNvSpPr txBox="1"/>
          <p:nvPr/>
        </p:nvSpPr>
        <p:spPr>
          <a:xfrm>
            <a:off x="1600200" y="1792224"/>
            <a:ext cx="1737360" cy="839419"/>
          </a:xfrm>
          <a:prstGeom prst="rect">
            <a:avLst/>
          </a:prstGeom>
          <a:noFill/>
          <a:ln/>
        </p:spPr>
        <p:txBody>
          <a:bodyPr wrap="square" lIns="0" tIns="0" rIns="0" bIns="0" rtlCol="0" anchor="ctr"/>
          <a:lstStyle/>
          <a:p>
            <a:pPr indent="0" marL="0">
              <a:buNone/>
            </a:pPr>
            <a:r>
              <a:rPr lang="en-US" sz="1400" b="1" dirty="0">
                <a:solidFill>
                  <a:schemeClr val="tx2"/>
                </a:solidFill>
              </a:rPr>
              <a:t>News</a:t>
            </a:r>
            <a:endParaRPr lang="en-US" sz="1400" dirty="0"/>
          </a:p>
        </p:txBody>
      </p:sp>
      <p:sp>
        <p:nvSpPr>
          <p:cNvPr id="17" name="s3-box-13"/>
          <p:cNvSpPr/>
          <p:nvPr/>
        </p:nvSpPr>
        <p:spPr>
          <a:xfrm>
            <a:off x="3566160" y="1792224"/>
            <a:ext cx="4937760" cy="839419"/>
          </a:xfrm>
          <a:prstGeom prst="rect">
            <a:avLst/>
          </a:prstGeom>
          <a:solidFill>
            <a:schemeClr val="bg2"/>
          </a:solidFill>
          <a:ln/>
        </p:spPr>
      </p:sp>
      <p:sp>
        <p:nvSpPr>
          <p:cNvPr id="18" name="s3-text-14"/>
          <p:cNvSpPr txBox="1"/>
          <p:nvPr/>
        </p:nvSpPr>
        <p:spPr>
          <a:xfrm>
            <a:off x="3749040" y="1792224"/>
            <a:ext cx="4572000" cy="839419"/>
          </a:xfrm>
          <a:prstGeom prst="rect">
            <a:avLst/>
          </a:prstGeom>
          <a:noFill/>
          <a:ln/>
        </p:spPr>
        <p:txBody>
          <a:bodyPr wrap="square" lIns="0" tIns="0" rIns="0" bIns="0" rtlCol="0" anchor="ctr"/>
          <a:lstStyle/>
          <a:p>
            <a:pPr indent="0" marL="0">
              <a:buNone/>
            </a:pPr>
            <a:r>
              <a:rPr lang="en-US" sz="1200" dirty="0">
                <a:solidFill>
                  <a:schemeClr val="tx1"/>
                </a:solidFill>
              </a:rPr>
              <a:t>Sources (all dated 2026) and the key players in the case</a:t>
            </a:r>
            <a:endParaRPr lang="en-US" sz="1200" dirty="0"/>
          </a:p>
        </p:txBody>
      </p:sp>
      <p:sp>
        <p:nvSpPr>
          <p:cNvPr id="19" name="s3-box-15"/>
          <p:cNvSpPr/>
          <p:nvPr/>
        </p:nvSpPr>
        <p:spPr>
          <a:xfrm>
            <a:off x="8641080" y="1792224"/>
            <a:ext cx="3184855" cy="839419"/>
          </a:xfrm>
          <a:prstGeom prst="rect">
            <a:avLst/>
          </a:prstGeom>
          <a:solidFill>
            <a:schemeClr val="bg2"/>
          </a:solidFill>
          <a:ln/>
        </p:spPr>
      </p:sp>
      <p:sp>
        <p:nvSpPr>
          <p:cNvPr id="20" name="s3-text-16"/>
          <p:cNvSpPr txBox="1"/>
          <p:nvPr/>
        </p:nvSpPr>
        <p:spPr>
          <a:xfrm>
            <a:off x="8823960" y="1792224"/>
            <a:ext cx="2819095" cy="839419"/>
          </a:xfrm>
          <a:prstGeom prst="rect">
            <a:avLst/>
          </a:prstGeom>
          <a:noFill/>
          <a:ln/>
        </p:spPr>
        <p:txBody>
          <a:bodyPr wrap="square" lIns="0" tIns="0" rIns="0" bIns="0" rtlCol="0" anchor="ctr"/>
          <a:lstStyle/>
          <a:p>
            <a:pPr indent="0" marL="0">
              <a:buNone/>
            </a:pPr>
            <a:r>
              <a:rPr lang="en-US" sz="1200" dirty="0">
                <a:solidFill>
                  <a:schemeClr val="tx2"/>
                </a:solidFill>
              </a:rPr>
              <a:t>s.238 (scope of the Division)</a:t>
            </a:r>
            <a:endParaRPr lang="en-US" sz="1200" dirty="0"/>
          </a:p>
        </p:txBody>
      </p:sp>
      <p:sp>
        <p:nvSpPr>
          <p:cNvPr id="21" name="s3-box-17"/>
          <p:cNvSpPr/>
          <p:nvPr/>
        </p:nvSpPr>
        <p:spPr>
          <a:xfrm>
            <a:off x="365760" y="2723083"/>
            <a:ext cx="914400" cy="839419"/>
          </a:xfrm>
          <a:prstGeom prst="rect">
            <a:avLst/>
          </a:prstGeom>
          <a:solidFill>
            <a:schemeClr val="accent2"/>
          </a:solidFill>
          <a:ln/>
        </p:spPr>
      </p:sp>
      <p:sp>
        <p:nvSpPr>
          <p:cNvPr id="22" name="s3-text-18"/>
          <p:cNvSpPr txBox="1"/>
          <p:nvPr/>
        </p:nvSpPr>
        <p:spPr>
          <a:xfrm>
            <a:off x="365760" y="2723083"/>
            <a:ext cx="914400" cy="839419"/>
          </a:xfrm>
          <a:prstGeom prst="rect">
            <a:avLst/>
          </a:prstGeom>
          <a:noFill/>
          <a:ln/>
        </p:spPr>
        <p:txBody>
          <a:bodyPr wrap="square" lIns="0" tIns="0" rIns="0" bIns="0" rtlCol="0" anchor="ctr"/>
          <a:lstStyle/>
          <a:p>
            <a:pPr algn="ctr" indent="0" marL="0">
              <a:buNone/>
            </a:pPr>
            <a:r>
              <a:rPr lang="en-US" sz="1600" b="1" dirty="0">
                <a:solidFill>
                  <a:schemeClr val="tx2"/>
                </a:solidFill>
              </a:rPr>
              <a:t>02</a:t>
            </a:r>
            <a:endParaRPr lang="en-US" sz="1600" dirty="0"/>
          </a:p>
        </p:txBody>
      </p:sp>
      <p:sp>
        <p:nvSpPr>
          <p:cNvPr id="23" name="s3-box-19"/>
          <p:cNvSpPr/>
          <p:nvPr/>
        </p:nvSpPr>
        <p:spPr>
          <a:xfrm>
            <a:off x="1417320" y="2723083"/>
            <a:ext cx="2011680" cy="839419"/>
          </a:xfrm>
          <a:prstGeom prst="rect">
            <a:avLst/>
          </a:prstGeom>
          <a:solidFill>
            <a:schemeClr val="bg2"/>
          </a:solidFill>
          <a:ln/>
        </p:spPr>
      </p:sp>
      <p:sp>
        <p:nvSpPr>
          <p:cNvPr id="24" name="s3-text-20"/>
          <p:cNvSpPr txBox="1"/>
          <p:nvPr/>
        </p:nvSpPr>
        <p:spPr>
          <a:xfrm>
            <a:off x="1600200" y="2723083"/>
            <a:ext cx="1737360" cy="839419"/>
          </a:xfrm>
          <a:prstGeom prst="rect">
            <a:avLst/>
          </a:prstGeom>
          <a:noFill/>
          <a:ln/>
        </p:spPr>
        <p:txBody>
          <a:bodyPr wrap="square" lIns="0" tIns="0" rIns="0" bIns="0" rtlCol="0" anchor="ctr"/>
          <a:lstStyle/>
          <a:p>
            <a:pPr indent="0" marL="0">
              <a:buNone/>
            </a:pPr>
            <a:r>
              <a:rPr lang="en-US" sz="1400" b="1" dirty="0">
                <a:solidFill>
                  <a:schemeClr val="tx2"/>
                </a:solidFill>
              </a:rPr>
              <a:t>Facts</a:t>
            </a:r>
            <a:endParaRPr lang="en-US" sz="1400" dirty="0"/>
          </a:p>
        </p:txBody>
      </p:sp>
      <p:sp>
        <p:nvSpPr>
          <p:cNvPr id="25" name="s3-box-21"/>
          <p:cNvSpPr/>
          <p:nvPr/>
        </p:nvSpPr>
        <p:spPr>
          <a:xfrm>
            <a:off x="3566160" y="2723083"/>
            <a:ext cx="4937760" cy="839419"/>
          </a:xfrm>
          <a:prstGeom prst="rect">
            <a:avLst/>
          </a:prstGeom>
          <a:solidFill>
            <a:schemeClr val="bg2"/>
          </a:solidFill>
          <a:ln/>
        </p:spPr>
      </p:sp>
      <p:sp>
        <p:nvSpPr>
          <p:cNvPr id="26" name="s3-text-22"/>
          <p:cNvSpPr txBox="1"/>
          <p:nvPr/>
        </p:nvSpPr>
        <p:spPr>
          <a:xfrm>
            <a:off x="3749040" y="2723083"/>
            <a:ext cx="4572000" cy="839419"/>
          </a:xfrm>
          <a:prstGeom prst="rect">
            <a:avLst/>
          </a:prstGeom>
          <a:noFill/>
          <a:ln/>
        </p:spPr>
        <p:txBody>
          <a:bodyPr wrap="square" lIns="0" tIns="0" rIns="0" bIns="0" rtlCol="0" anchor="ctr"/>
          <a:lstStyle/>
          <a:p>
            <a:pPr indent="0" marL="0">
              <a:buNone/>
            </a:pPr>
            <a:r>
              <a:rPr lang="en-US" sz="1200" dirty="0">
                <a:solidFill>
                  <a:schemeClr val="tx1"/>
                </a:solidFill>
              </a:rPr>
              <a:t>What happened, when, and why: the conduct, the order book, the motive and the timeline</a:t>
            </a:r>
            <a:endParaRPr lang="en-US" sz="1200" dirty="0"/>
          </a:p>
        </p:txBody>
      </p:sp>
      <p:sp>
        <p:nvSpPr>
          <p:cNvPr id="27" name="s3-box-23"/>
          <p:cNvSpPr/>
          <p:nvPr/>
        </p:nvSpPr>
        <p:spPr>
          <a:xfrm>
            <a:off x="8641080" y="2723083"/>
            <a:ext cx="3184855" cy="839419"/>
          </a:xfrm>
          <a:prstGeom prst="rect">
            <a:avLst/>
          </a:prstGeom>
          <a:solidFill>
            <a:schemeClr val="bg2"/>
          </a:solidFill>
          <a:ln/>
        </p:spPr>
      </p:sp>
      <p:sp>
        <p:nvSpPr>
          <p:cNvPr id="28" name="s3-text-24"/>
          <p:cNvSpPr txBox="1"/>
          <p:nvPr/>
        </p:nvSpPr>
        <p:spPr>
          <a:xfrm>
            <a:off x="8823960" y="2723083"/>
            <a:ext cx="2819095" cy="839419"/>
          </a:xfrm>
          <a:prstGeom prst="rect">
            <a:avLst/>
          </a:prstGeom>
          <a:noFill/>
          <a:ln/>
        </p:spPr>
        <p:txBody>
          <a:bodyPr wrap="square" lIns="0" tIns="0" rIns="0" bIns="0" rtlCol="0" anchor="ctr"/>
          <a:lstStyle/>
          <a:p>
            <a:pPr indent="0" marL="0">
              <a:buNone/>
            </a:pPr>
            <a:r>
              <a:rPr lang="en-US" sz="1200" dirty="0">
                <a:solidFill>
                  <a:schemeClr val="tx2"/>
                </a:solidFill>
              </a:rPr>
              <a:t>Facts as found by the SEC and the CSC</a:t>
            </a:r>
            <a:endParaRPr lang="en-US" sz="1200" dirty="0"/>
          </a:p>
        </p:txBody>
      </p:sp>
      <p:sp>
        <p:nvSpPr>
          <p:cNvPr id="29" name="s3-box-25"/>
          <p:cNvSpPr/>
          <p:nvPr/>
        </p:nvSpPr>
        <p:spPr>
          <a:xfrm>
            <a:off x="365760" y="3653942"/>
            <a:ext cx="914400" cy="839419"/>
          </a:xfrm>
          <a:prstGeom prst="rect">
            <a:avLst/>
          </a:prstGeom>
          <a:solidFill>
            <a:schemeClr val="accent2"/>
          </a:solidFill>
          <a:ln/>
        </p:spPr>
      </p:sp>
      <p:sp>
        <p:nvSpPr>
          <p:cNvPr id="30" name="s3-text-26"/>
          <p:cNvSpPr txBox="1"/>
          <p:nvPr/>
        </p:nvSpPr>
        <p:spPr>
          <a:xfrm>
            <a:off x="365760" y="3653942"/>
            <a:ext cx="914400" cy="839419"/>
          </a:xfrm>
          <a:prstGeom prst="rect">
            <a:avLst/>
          </a:prstGeom>
          <a:noFill/>
          <a:ln/>
        </p:spPr>
        <p:txBody>
          <a:bodyPr wrap="square" lIns="0" tIns="0" rIns="0" bIns="0" rtlCol="0" anchor="ctr"/>
          <a:lstStyle/>
          <a:p>
            <a:pPr algn="ctr" indent="0" marL="0">
              <a:buNone/>
            </a:pPr>
            <a:r>
              <a:rPr lang="en-US" sz="1600" b="1" dirty="0">
                <a:solidFill>
                  <a:schemeClr val="tx2"/>
                </a:solidFill>
              </a:rPr>
              <a:t>03</a:t>
            </a:r>
            <a:endParaRPr lang="en-US" sz="1600" dirty="0"/>
          </a:p>
        </p:txBody>
      </p:sp>
      <p:sp>
        <p:nvSpPr>
          <p:cNvPr id="31" name="s3-box-27"/>
          <p:cNvSpPr/>
          <p:nvPr/>
        </p:nvSpPr>
        <p:spPr>
          <a:xfrm>
            <a:off x="1417320" y="3653942"/>
            <a:ext cx="2011680" cy="839419"/>
          </a:xfrm>
          <a:prstGeom prst="rect">
            <a:avLst/>
          </a:prstGeom>
          <a:solidFill>
            <a:schemeClr val="bg2"/>
          </a:solidFill>
          <a:ln/>
        </p:spPr>
      </p:sp>
      <p:sp>
        <p:nvSpPr>
          <p:cNvPr id="32" name="s3-text-28"/>
          <p:cNvSpPr txBox="1"/>
          <p:nvPr/>
        </p:nvSpPr>
        <p:spPr>
          <a:xfrm>
            <a:off x="1600200" y="3653942"/>
            <a:ext cx="1737360" cy="839419"/>
          </a:xfrm>
          <a:prstGeom prst="rect">
            <a:avLst/>
          </a:prstGeom>
          <a:noFill/>
          <a:ln/>
        </p:spPr>
        <p:txBody>
          <a:bodyPr wrap="square" lIns="0" tIns="0" rIns="0" bIns="0" rtlCol="0" anchor="ctr"/>
          <a:lstStyle/>
          <a:p>
            <a:pPr indent="0" marL="0">
              <a:buNone/>
            </a:pPr>
            <a:r>
              <a:rPr lang="en-US" sz="1400" b="1" dirty="0">
                <a:solidFill>
                  <a:schemeClr val="tx2"/>
                </a:solidFill>
              </a:rPr>
              <a:t>Law</a:t>
            </a:r>
            <a:endParaRPr lang="en-US" sz="1400" dirty="0"/>
          </a:p>
        </p:txBody>
      </p:sp>
      <p:sp>
        <p:nvSpPr>
          <p:cNvPr id="33" name="s3-box-29"/>
          <p:cNvSpPr/>
          <p:nvPr/>
        </p:nvSpPr>
        <p:spPr>
          <a:xfrm>
            <a:off x="3566160" y="3653942"/>
            <a:ext cx="4937760" cy="839419"/>
          </a:xfrm>
          <a:prstGeom prst="rect">
            <a:avLst/>
          </a:prstGeom>
          <a:solidFill>
            <a:schemeClr val="bg2"/>
          </a:solidFill>
          <a:ln/>
        </p:spPr>
      </p:sp>
      <p:sp>
        <p:nvSpPr>
          <p:cNvPr id="34" name="s3-text-30"/>
          <p:cNvSpPr txBox="1"/>
          <p:nvPr/>
        </p:nvSpPr>
        <p:spPr>
          <a:xfrm>
            <a:off x="3749040" y="3653942"/>
            <a:ext cx="4572000" cy="839419"/>
          </a:xfrm>
          <a:prstGeom prst="rect">
            <a:avLst/>
          </a:prstGeom>
          <a:noFill/>
          <a:ln/>
        </p:spPr>
        <p:txBody>
          <a:bodyPr wrap="square" lIns="0" tIns="0" rIns="0" bIns="0" rtlCol="0" anchor="ctr"/>
          <a:lstStyle/>
          <a:p>
            <a:pPr indent="0" marL="0">
              <a:buNone/>
            </a:pPr>
            <a:r>
              <a:rPr lang="en-US" sz="1200" dirty="0">
                <a:solidFill>
                  <a:schemeClr val="tx1"/>
                </a:solidFill>
              </a:rPr>
              <a:t>Market manipulation and the legal presumptions that prove it</a:t>
            </a:r>
            <a:endParaRPr lang="en-US" sz="1200" dirty="0"/>
          </a:p>
        </p:txBody>
      </p:sp>
      <p:sp>
        <p:nvSpPr>
          <p:cNvPr id="35" name="s3-box-31"/>
          <p:cNvSpPr/>
          <p:nvPr/>
        </p:nvSpPr>
        <p:spPr>
          <a:xfrm>
            <a:off x="8641080" y="3653942"/>
            <a:ext cx="3184855" cy="839419"/>
          </a:xfrm>
          <a:prstGeom prst="rect">
            <a:avLst/>
          </a:prstGeom>
          <a:solidFill>
            <a:schemeClr val="bg2"/>
          </a:solidFill>
          <a:ln/>
        </p:spPr>
      </p:sp>
      <p:sp>
        <p:nvSpPr>
          <p:cNvPr id="36" name="s3-text-32"/>
          <p:cNvSpPr txBox="1"/>
          <p:nvPr/>
        </p:nvSpPr>
        <p:spPr>
          <a:xfrm>
            <a:off x="8823960" y="3653942"/>
            <a:ext cx="2819095" cy="839419"/>
          </a:xfrm>
          <a:prstGeom prst="rect">
            <a:avLst/>
          </a:prstGeom>
          <a:noFill/>
          <a:ln/>
        </p:spPr>
        <p:txBody>
          <a:bodyPr wrap="square" lIns="0" tIns="0" rIns="0" bIns="0" rtlCol="0" anchor="ctr"/>
          <a:lstStyle/>
          <a:p>
            <a:pPr indent="0" marL="0">
              <a:buNone/>
            </a:pPr>
            <a:r>
              <a:rPr lang="en-US" sz="1200" dirty="0">
                <a:solidFill>
                  <a:schemeClr val="tx2"/>
                </a:solidFill>
              </a:rPr>
              <a:t>s.238, 244/3, 244/4, 244/5</a:t>
            </a:r>
            <a:endParaRPr lang="en-US" sz="1200" dirty="0"/>
          </a:p>
        </p:txBody>
      </p:sp>
      <p:sp>
        <p:nvSpPr>
          <p:cNvPr id="37" name="s3-box-33"/>
          <p:cNvSpPr/>
          <p:nvPr/>
        </p:nvSpPr>
        <p:spPr>
          <a:xfrm>
            <a:off x="365760" y="4584802"/>
            <a:ext cx="914400" cy="839419"/>
          </a:xfrm>
          <a:prstGeom prst="rect">
            <a:avLst/>
          </a:prstGeom>
          <a:solidFill>
            <a:schemeClr val="accent2"/>
          </a:solidFill>
          <a:ln/>
        </p:spPr>
      </p:sp>
      <p:sp>
        <p:nvSpPr>
          <p:cNvPr id="38" name="s3-text-34"/>
          <p:cNvSpPr txBox="1"/>
          <p:nvPr/>
        </p:nvSpPr>
        <p:spPr>
          <a:xfrm>
            <a:off x="365760" y="4584802"/>
            <a:ext cx="914400" cy="839419"/>
          </a:xfrm>
          <a:prstGeom prst="rect">
            <a:avLst/>
          </a:prstGeom>
          <a:noFill/>
          <a:ln/>
        </p:spPr>
        <p:txBody>
          <a:bodyPr wrap="square" lIns="0" tIns="0" rIns="0" bIns="0" rtlCol="0" anchor="ctr"/>
          <a:lstStyle/>
          <a:p>
            <a:pPr algn="ctr" indent="0" marL="0">
              <a:buNone/>
            </a:pPr>
            <a:r>
              <a:rPr lang="en-US" sz="1600" b="1" dirty="0">
                <a:solidFill>
                  <a:schemeClr val="tx2"/>
                </a:solidFill>
              </a:rPr>
              <a:t>04</a:t>
            </a:r>
            <a:endParaRPr lang="en-US" sz="1600" dirty="0"/>
          </a:p>
        </p:txBody>
      </p:sp>
      <p:sp>
        <p:nvSpPr>
          <p:cNvPr id="39" name="s3-box-35"/>
          <p:cNvSpPr/>
          <p:nvPr/>
        </p:nvSpPr>
        <p:spPr>
          <a:xfrm>
            <a:off x="1417320" y="4584802"/>
            <a:ext cx="2011680" cy="839419"/>
          </a:xfrm>
          <a:prstGeom prst="rect">
            <a:avLst/>
          </a:prstGeom>
          <a:solidFill>
            <a:schemeClr val="bg2"/>
          </a:solidFill>
          <a:ln/>
        </p:spPr>
      </p:sp>
      <p:sp>
        <p:nvSpPr>
          <p:cNvPr id="40" name="s3-text-36"/>
          <p:cNvSpPr txBox="1"/>
          <p:nvPr/>
        </p:nvSpPr>
        <p:spPr>
          <a:xfrm>
            <a:off x="1600200" y="4584802"/>
            <a:ext cx="1737360" cy="839419"/>
          </a:xfrm>
          <a:prstGeom prst="rect">
            <a:avLst/>
          </a:prstGeom>
          <a:noFill/>
          <a:ln/>
        </p:spPr>
        <p:txBody>
          <a:bodyPr wrap="square" lIns="0" tIns="0" rIns="0" bIns="0" rtlCol="0" anchor="ctr"/>
          <a:lstStyle/>
          <a:p>
            <a:pPr indent="0" marL="0">
              <a:buNone/>
            </a:pPr>
            <a:r>
              <a:rPr lang="en-US" sz="1400" b="1" dirty="0">
                <a:solidFill>
                  <a:schemeClr val="tx2"/>
                </a:solidFill>
              </a:rPr>
              <a:t>Analysis</a:t>
            </a:r>
            <a:endParaRPr lang="en-US" sz="1400" dirty="0"/>
          </a:p>
        </p:txBody>
      </p:sp>
      <p:sp>
        <p:nvSpPr>
          <p:cNvPr id="41" name="s3-box-37"/>
          <p:cNvSpPr/>
          <p:nvPr/>
        </p:nvSpPr>
        <p:spPr>
          <a:xfrm>
            <a:off x="3566160" y="4584802"/>
            <a:ext cx="4937760" cy="839419"/>
          </a:xfrm>
          <a:prstGeom prst="rect">
            <a:avLst/>
          </a:prstGeom>
          <a:solidFill>
            <a:schemeClr val="bg2"/>
          </a:solidFill>
          <a:ln/>
        </p:spPr>
      </p:sp>
      <p:sp>
        <p:nvSpPr>
          <p:cNvPr id="42" name="s3-text-38"/>
          <p:cNvSpPr txBox="1"/>
          <p:nvPr/>
        </p:nvSpPr>
        <p:spPr>
          <a:xfrm>
            <a:off x="3749040" y="4584802"/>
            <a:ext cx="4572000" cy="839419"/>
          </a:xfrm>
          <a:prstGeom prst="rect">
            <a:avLst/>
          </a:prstGeom>
          <a:noFill/>
          <a:ln/>
        </p:spPr>
        <p:txBody>
          <a:bodyPr wrap="square" lIns="0" tIns="0" rIns="0" bIns="0" rtlCol="0" anchor="ctr"/>
          <a:lstStyle/>
          <a:p>
            <a:pPr indent="0" marL="0">
              <a:buNone/>
            </a:pPr>
            <a:r>
              <a:rPr lang="en-US" sz="1200" dirty="0">
                <a:solidFill>
                  <a:schemeClr val="tx1"/>
                </a:solidFill>
              </a:rPr>
              <a:t>Element by element: does the conduct fit? Which other offences were considered?</a:t>
            </a:r>
            <a:endParaRPr lang="en-US" sz="1200" dirty="0"/>
          </a:p>
        </p:txBody>
      </p:sp>
      <p:sp>
        <p:nvSpPr>
          <p:cNvPr id="43" name="s3-box-39"/>
          <p:cNvSpPr/>
          <p:nvPr/>
        </p:nvSpPr>
        <p:spPr>
          <a:xfrm>
            <a:off x="8641080" y="4584802"/>
            <a:ext cx="3184855" cy="839419"/>
          </a:xfrm>
          <a:prstGeom prst="rect">
            <a:avLst/>
          </a:prstGeom>
          <a:solidFill>
            <a:schemeClr val="bg2"/>
          </a:solidFill>
          <a:ln/>
        </p:spPr>
      </p:sp>
      <p:sp>
        <p:nvSpPr>
          <p:cNvPr id="44" name="s3-text-40"/>
          <p:cNvSpPr txBox="1"/>
          <p:nvPr/>
        </p:nvSpPr>
        <p:spPr>
          <a:xfrm>
            <a:off x="8823960" y="4584802"/>
            <a:ext cx="2819095" cy="839419"/>
          </a:xfrm>
          <a:prstGeom prst="rect">
            <a:avLst/>
          </a:prstGeom>
          <a:noFill/>
          <a:ln/>
        </p:spPr>
        <p:txBody>
          <a:bodyPr wrap="square" lIns="0" tIns="0" rIns="0" bIns="0" rtlCol="0" anchor="ctr"/>
          <a:lstStyle/>
          <a:p>
            <a:pPr indent="0" marL="0">
              <a:buNone/>
            </a:pPr>
            <a:r>
              <a:rPr lang="en-US" sz="1200" dirty="0">
                <a:solidFill>
                  <a:schemeClr val="tx2"/>
                </a:solidFill>
              </a:rPr>
              <a:t>s.244/3 (1)(2); s.240–242, 244/6–244/7</a:t>
            </a:r>
            <a:endParaRPr lang="en-US" sz="1200" dirty="0"/>
          </a:p>
        </p:txBody>
      </p:sp>
      <p:sp>
        <p:nvSpPr>
          <p:cNvPr id="45" name="s3-box-41"/>
          <p:cNvSpPr/>
          <p:nvPr/>
        </p:nvSpPr>
        <p:spPr>
          <a:xfrm>
            <a:off x="365760" y="5515661"/>
            <a:ext cx="914400" cy="839419"/>
          </a:xfrm>
          <a:prstGeom prst="rect">
            <a:avLst/>
          </a:prstGeom>
          <a:solidFill>
            <a:schemeClr val="accent2"/>
          </a:solidFill>
          <a:ln/>
        </p:spPr>
      </p:sp>
      <p:sp>
        <p:nvSpPr>
          <p:cNvPr id="46" name="s3-text-42"/>
          <p:cNvSpPr txBox="1"/>
          <p:nvPr/>
        </p:nvSpPr>
        <p:spPr>
          <a:xfrm>
            <a:off x="365760" y="5515661"/>
            <a:ext cx="914400" cy="839419"/>
          </a:xfrm>
          <a:prstGeom prst="rect">
            <a:avLst/>
          </a:prstGeom>
          <a:noFill/>
          <a:ln/>
        </p:spPr>
        <p:txBody>
          <a:bodyPr wrap="square" lIns="0" tIns="0" rIns="0" bIns="0" rtlCol="0" anchor="ctr"/>
          <a:lstStyle/>
          <a:p>
            <a:pPr algn="ctr" indent="0" marL="0">
              <a:buNone/>
            </a:pPr>
            <a:r>
              <a:rPr lang="en-US" sz="1600" b="1" dirty="0">
                <a:solidFill>
                  <a:schemeClr val="tx2"/>
                </a:solidFill>
              </a:rPr>
              <a:t>05</a:t>
            </a:r>
            <a:endParaRPr lang="en-US" sz="1600" dirty="0"/>
          </a:p>
        </p:txBody>
      </p:sp>
      <p:sp>
        <p:nvSpPr>
          <p:cNvPr id="47" name="s3-box-43"/>
          <p:cNvSpPr/>
          <p:nvPr/>
        </p:nvSpPr>
        <p:spPr>
          <a:xfrm>
            <a:off x="1417320" y="5515661"/>
            <a:ext cx="2011680" cy="839419"/>
          </a:xfrm>
          <a:prstGeom prst="rect">
            <a:avLst/>
          </a:prstGeom>
          <a:solidFill>
            <a:schemeClr val="bg2"/>
          </a:solidFill>
          <a:ln/>
        </p:spPr>
      </p:sp>
      <p:sp>
        <p:nvSpPr>
          <p:cNvPr id="48" name="s3-text-44"/>
          <p:cNvSpPr txBox="1"/>
          <p:nvPr/>
        </p:nvSpPr>
        <p:spPr>
          <a:xfrm>
            <a:off x="1600200" y="5515661"/>
            <a:ext cx="1737360" cy="839419"/>
          </a:xfrm>
          <a:prstGeom prst="rect">
            <a:avLst/>
          </a:prstGeom>
          <a:noFill/>
          <a:ln/>
        </p:spPr>
        <p:txBody>
          <a:bodyPr wrap="square" lIns="0" tIns="0" rIns="0" bIns="0" rtlCol="0" anchor="ctr"/>
          <a:lstStyle/>
          <a:p>
            <a:pPr indent="0" marL="0">
              <a:buNone/>
            </a:pPr>
            <a:r>
              <a:rPr lang="en-US" sz="1400" b="1" dirty="0">
                <a:solidFill>
                  <a:schemeClr val="tx2"/>
                </a:solidFill>
              </a:rPr>
              <a:t>Penalties</a:t>
            </a:r>
            <a:endParaRPr lang="en-US" sz="1400" dirty="0"/>
          </a:p>
        </p:txBody>
      </p:sp>
      <p:sp>
        <p:nvSpPr>
          <p:cNvPr id="49" name="s3-box-45"/>
          <p:cNvSpPr/>
          <p:nvPr/>
        </p:nvSpPr>
        <p:spPr>
          <a:xfrm>
            <a:off x="3566160" y="5515661"/>
            <a:ext cx="4937760" cy="839419"/>
          </a:xfrm>
          <a:prstGeom prst="rect">
            <a:avLst/>
          </a:prstGeom>
          <a:solidFill>
            <a:schemeClr val="bg2"/>
          </a:solidFill>
          <a:ln/>
        </p:spPr>
      </p:sp>
      <p:sp>
        <p:nvSpPr>
          <p:cNvPr id="50" name="s3-text-46"/>
          <p:cNvSpPr txBox="1"/>
          <p:nvPr/>
        </p:nvSpPr>
        <p:spPr>
          <a:xfrm>
            <a:off x="3749040" y="5515661"/>
            <a:ext cx="4572000" cy="839419"/>
          </a:xfrm>
          <a:prstGeom prst="rect">
            <a:avLst/>
          </a:prstGeom>
          <a:noFill/>
          <a:ln/>
        </p:spPr>
        <p:txBody>
          <a:bodyPr wrap="square" lIns="0" tIns="0" rIns="0" bIns="0" rtlCol="0" anchor="ctr"/>
          <a:lstStyle/>
          <a:p>
            <a:pPr indent="0" marL="0">
              <a:buNone/>
            </a:pPr>
            <a:r>
              <a:rPr lang="en-US" sz="1200" dirty="0">
                <a:solidFill>
                  <a:schemeClr val="tx1"/>
                </a:solidFill>
              </a:rPr>
              <a:t>Criminal and civil sanctions, applied to TSR, and the parallel MSC case</a:t>
            </a:r>
            <a:endParaRPr lang="en-US" sz="1200" dirty="0"/>
          </a:p>
        </p:txBody>
      </p:sp>
      <p:sp>
        <p:nvSpPr>
          <p:cNvPr id="51" name="s3-box-47"/>
          <p:cNvSpPr/>
          <p:nvPr/>
        </p:nvSpPr>
        <p:spPr>
          <a:xfrm>
            <a:off x="8641080" y="5515661"/>
            <a:ext cx="3184855" cy="839419"/>
          </a:xfrm>
          <a:prstGeom prst="rect">
            <a:avLst/>
          </a:prstGeom>
          <a:solidFill>
            <a:schemeClr val="bg2"/>
          </a:solidFill>
          <a:ln/>
        </p:spPr>
      </p:sp>
      <p:sp>
        <p:nvSpPr>
          <p:cNvPr id="52" name="s3-text-48"/>
          <p:cNvSpPr txBox="1"/>
          <p:nvPr/>
        </p:nvSpPr>
        <p:spPr>
          <a:xfrm>
            <a:off x="8823960" y="5515661"/>
            <a:ext cx="2819095" cy="839419"/>
          </a:xfrm>
          <a:prstGeom prst="rect">
            <a:avLst/>
          </a:prstGeom>
          <a:noFill/>
          <a:ln/>
        </p:spPr>
        <p:txBody>
          <a:bodyPr wrap="square" lIns="0" tIns="0" rIns="0" bIns="0" rtlCol="0" anchor="ctr"/>
          <a:lstStyle/>
          <a:p>
            <a:pPr indent="0" marL="0">
              <a:buNone/>
            </a:pPr>
            <a:r>
              <a:rPr lang="en-US" sz="1200" dirty="0">
                <a:solidFill>
                  <a:schemeClr val="tx2"/>
                </a:solidFill>
              </a:rPr>
              <a:t>s.296–296/2, 297/1; s.317/1–317/8</a:t>
            </a:r>
            <a:endParaRPr lang="en-US" sz="120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News: Our Sources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Mitihoon (23 Jan 2026); Hoonsmart (24 Jan &amp; 11 May 2026); Thansettakij (26 Mar &amp; 11 May 2026)</a:t>
            </a:r>
            <a:endParaRPr lang="en-US" sz="1050" dirty="0"/>
          </a:p>
        </p:txBody>
      </p:sp>
      <p:graphicFrame>
        <p:nvGraphicFramePr>
          <p:cNvPr id="5" name="s4-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417320"/>
                <a:gridCol w="5394960"/>
                <a:gridCol w="4647895"/>
              </a:tblGrid>
              <a:tr h="365760">
                <a:tc>
                  <a:txBody>
                    <a:bodyPr/>
                    <a:lstStyle/>
                    <a:p>
                      <a:pPr algn="ctr" indent="0" marL="0">
                        <a:buNone/>
                      </a:pPr>
                      <a:r>
                        <a:rPr lang="en-US" sz="1100" b="1" dirty="0">
                          <a:solidFill>
                            <a:schemeClr val="bg1"/>
                          </a:solidFill>
                        </a:rPr>
                        <a:t>Date</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Outlet and headline</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URL</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603504">
                <a:tc>
                  <a:txBody>
                    <a:bodyPr/>
                    <a:lstStyle/>
                    <a:p>
                      <a:pPr indent="0" marL="0">
                        <a:buNone/>
                      </a:pPr>
                      <a:r>
                        <a:rPr lang="en-US" sz="1100" dirty="0">
                          <a:solidFill>
                            <a:schemeClr val="tx1"/>
                          </a:solidFill>
                        </a:rPr>
                        <a:t>23 Jan 2026</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b="1" dirty="0">
                          <a:solidFill>
                            <a:schemeClr val="tx2"/>
                          </a:solidFill>
                        </a:rPr>
                        <a:t>มิติหุ้น (Mitihoon)</a:t>
                      </a:r>
                      <a:endParaRPr lang="en-US" sz="1100" dirty="0"/>
                    </a:p>
                    <a:p>
                      <a:pPr indent="0" marL="0">
                        <a:buNone/>
                      </a:pPr>
                      <a:r>
                        <a:rPr lang="en-US" sz="1100" dirty="0">
                          <a:solidFill>
                            <a:schemeClr val="tx1"/>
                          </a:solidFill>
                        </a:rPr>
                        <a:t>ก.ล.ต. ใช้มาตรการลงโทษทางแพ่งกับผู้กระทำความผิด 1 ราย กรณีสร้างราคาหรือปริมาณการซื้อขายหุ้น TSR</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https://www.mitihoon.com/2026/01/23/611929/</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603504">
                <a:tc>
                  <a:txBody>
                    <a:bodyPr/>
                    <a:lstStyle/>
                    <a:p>
                      <a:pPr indent="0" marL="0">
                        <a:buNone/>
                      </a:pPr>
                      <a:r>
                        <a:rPr lang="en-US" sz="1100" b="1" dirty="0">
                          <a:solidFill>
                            <a:schemeClr val="tx1"/>
                          </a:solidFill>
                        </a:rPr>
                        <a:t>24 Jan 2026</a:t>
                      </a:r>
                      <a:endParaRPr lang="en-US" sz="1100" dirty="0"/>
                    </a:p>
                    <a:p>
                      <a:pPr indent="0" marL="0">
                        <a:buNone/>
                      </a:pPr>
                      <a:r>
                        <a:rPr lang="en-US" sz="1050" b="1" dirty="0">
                          <a:solidFill>
                            <a:schemeClr val="accent4"/>
                          </a:solidFill>
                        </a:rPr>
                        <a:t>MAIN NEWS</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c>
                  <a:txBody>
                    <a:bodyPr/>
                    <a:lstStyle/>
                    <a:p>
                      <a:pPr indent="0" marL="0">
                        <a:buNone/>
                      </a:pPr>
                      <a:r>
                        <a:rPr lang="en-US" sz="1100" b="1" dirty="0">
                          <a:solidFill>
                            <a:schemeClr val="tx2"/>
                          </a:solidFill>
                        </a:rPr>
                        <a:t>หุ้นสมาร์ท (Hoonsmart)</a:t>
                      </a:r>
                      <a:endParaRPr lang="en-US" sz="1100" dirty="0"/>
                    </a:p>
                    <a:p>
                      <a:pPr indent="0" marL="0">
                        <a:buNone/>
                      </a:pPr>
                      <a:r>
                        <a:rPr lang="en-US" sz="1100" dirty="0">
                          <a:solidFill>
                            <a:schemeClr val="tx1"/>
                          </a:solidFill>
                        </a:rPr>
                        <a:t>ก.ล.ต.สั่งปรับ “ภรัณยา รุจนพรพจี” กว่า 32 ลบ. ปั่นหุ้น TSR</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c>
                  <a:txBody>
                    <a:bodyPr/>
                    <a:lstStyle/>
                    <a:p>
                      <a:pPr indent="0" marL="0">
                        <a:buNone/>
                      </a:pPr>
                      <a:r>
                        <a:rPr lang="en-US" sz="1100" u="sng" dirty="0">
                          <a:solidFill>
                            <a:schemeClr val="tx2"/>
                          </a:solidFill>
                          <a:hlinkClick r:id="rId2"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r>
              <a:tr h="603504">
                <a:tc>
                  <a:txBody>
                    <a:bodyPr/>
                    <a:lstStyle/>
                    <a:p>
                      <a:pPr indent="0" marL="0">
                        <a:buNone/>
                      </a:pPr>
                      <a:r>
                        <a:rPr lang="en-US" sz="1100" dirty="0">
                          <a:solidFill>
                            <a:schemeClr val="tx1"/>
                          </a:solidFill>
                        </a:rPr>
                        <a:t>26 Mar 2026</a:t>
                      </a:r>
                      <a:endParaRPr lang="en-US" sz="1100" dirty="0"/>
                    </a:p>
                    <a:p>
                      <a:pPr indent="0" marL="0">
                        <a:buNone/>
                      </a:pPr>
                      <a:r>
                        <a:rPr lang="en-US" sz="1050" b="1" dirty="0">
                          <a:solidFill>
                            <a:schemeClr val="accent5"/>
                          </a:solidFill>
                        </a:rPr>
                        <a:t>Related case</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b="1" dirty="0">
                          <a:solidFill>
                            <a:schemeClr val="tx2"/>
                          </a:solidFill>
                        </a:rPr>
                        <a:t>ฐานเศรษฐกิจ (Thansettakij)</a:t>
                      </a:r>
                      <a:endParaRPr lang="en-US" sz="1100" dirty="0"/>
                    </a:p>
                    <a:p>
                      <a:pPr indent="0" marL="0">
                        <a:buNone/>
                      </a:pPr>
                      <a:r>
                        <a:rPr lang="en-US" sz="1100" dirty="0">
                          <a:solidFill>
                            <a:schemeClr val="tx1"/>
                          </a:solidFill>
                        </a:rPr>
                        <a:t>ก.ล.ต. ลงดาบ ‘ภรัณยา รุจนพรพจี’ กรณีปั่นหุ้น MSC</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3" invalidUrl="" action="" tgtFrame="" tooltip="" history="1" highlightClick="0" endSnd="0">
                            <a:extLst>
                              <a:ext uri="{A12FA001-AC4F-418D-AE19-62706E023703}">
                                <ahyp:hlinkClr xmlns:ahyp="http://schemas.microsoft.com/office/drawing/2018/hyperlinkcolor" val="tx"/>
                              </a:ext>
                            </a:extLst>
                          </a:hlinkClick>
                        </a:rPr>
                        <a:t>https://www.thansettakij.com/finance/stockmarket/654988</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603504">
                <a:tc>
                  <a:txBody>
                    <a:bodyPr/>
                    <a:lstStyle/>
                    <a:p>
                      <a:pPr indent="0" marL="0">
                        <a:buNone/>
                      </a:pPr>
                      <a:r>
                        <a:rPr lang="en-US" sz="1100" dirty="0">
                          <a:solidFill>
                            <a:schemeClr val="tx1"/>
                          </a:solidFill>
                        </a:rPr>
                        <a:t>11 May 2026</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00" b="1" dirty="0">
                          <a:solidFill>
                            <a:schemeClr val="tx2"/>
                          </a:solidFill>
                        </a:rPr>
                        <a:t>ฐานเศรษฐกิจ (Thansettakij)</a:t>
                      </a:r>
                      <a:endParaRPr lang="en-US" sz="1100" dirty="0"/>
                    </a:p>
                    <a:p>
                      <a:pPr indent="0" marL="0">
                        <a:buNone/>
                      </a:pPr>
                      <a:r>
                        <a:rPr lang="en-US" sz="1100" dirty="0">
                          <a:solidFill>
                            <a:schemeClr val="tx1"/>
                          </a:solidFill>
                        </a:rPr>
                        <a:t>ก.ล.ต. ส่งฟ้อง ‘ภรัณยา รุจนพรพจี’ คดีปั่นหุ้น TSR เรียกชำระ 43 ล้านบาท</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00" u="sng" dirty="0">
                          <a:solidFill>
                            <a:schemeClr val="tx2"/>
                          </a:solidFill>
                          <a:hlinkClick r:id="rId4" invalidUrl="" action="" tgtFrame="" tooltip="" history="1" highlightClick="0" endSnd="0">
                            <a:extLst>
                              <a:ext uri="{A12FA001-AC4F-418D-AE19-62706E023703}">
                                <ahyp:hlinkClr xmlns:ahyp="http://schemas.microsoft.com/office/drawing/2018/hyperlinkcolor" val="tx"/>
                              </a:ext>
                            </a:extLst>
                          </a:hlinkClick>
                        </a:rPr>
                        <a:t>https://www.thansettakij.com/finance/658785</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603504">
                <a:tc>
                  <a:txBody>
                    <a:bodyPr/>
                    <a:lstStyle/>
                    <a:p>
                      <a:pPr indent="0" marL="0">
                        <a:buNone/>
                      </a:pPr>
                      <a:r>
                        <a:rPr lang="en-US" sz="1100" dirty="0">
                          <a:solidFill>
                            <a:schemeClr val="tx1"/>
                          </a:solidFill>
                        </a:rPr>
                        <a:t>11 May 2026</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b="1" dirty="0">
                          <a:solidFill>
                            <a:schemeClr val="tx2"/>
                          </a:solidFill>
                        </a:rPr>
                        <a:t>หุ้นสมาร์ท (Hoonsmart)</a:t>
                      </a:r>
                      <a:endParaRPr lang="en-US" sz="1100" dirty="0"/>
                    </a:p>
                    <a:p>
                      <a:pPr indent="0" marL="0">
                        <a:buNone/>
                      </a:pPr>
                      <a:r>
                        <a:rPr lang="en-US" sz="1100" dirty="0">
                          <a:solidFill>
                            <a:schemeClr val="tx1"/>
                          </a:solidFill>
                        </a:rPr>
                        <a:t>ก.ล.ต.ขออัยการฟ้อง คดีสร้างราคาหุ้น TSR</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5" invalidUrl="" action="" tgtFrame="" tooltip="" history="1" highlightClick="0" endSnd="0">
                            <a:extLst>
                              <a:ext uri="{A12FA001-AC4F-418D-AE19-62706E023703}">
                                <ahyp:hlinkClr xmlns:ahyp="http://schemas.microsoft.com/office/drawing/2018/hyperlinkcolor" val="tx"/>
                              </a:ext>
                            </a:extLst>
                          </a:hlinkClick>
                        </a:rPr>
                        <a:t>https://hoonsmart.com/archives/417813</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6" name="s4-box-2"/>
          <p:cNvSpPr/>
          <p:nvPr/>
        </p:nvSpPr>
        <p:spPr>
          <a:xfrm>
            <a:off x="365760" y="5074920"/>
            <a:ext cx="5661508" cy="1051560"/>
          </a:xfrm>
          <a:prstGeom prst="rect">
            <a:avLst/>
          </a:prstGeom>
          <a:solidFill>
            <a:schemeClr val="bg2"/>
          </a:solidFill>
          <a:ln/>
        </p:spPr>
      </p:sp>
      <p:sp>
        <p:nvSpPr>
          <p:cNvPr id="7" name="s4-text-3"/>
          <p:cNvSpPr txBox="1"/>
          <p:nvPr/>
        </p:nvSpPr>
        <p:spPr>
          <a:xfrm>
            <a:off x="548640" y="5074920"/>
            <a:ext cx="5295748" cy="1051560"/>
          </a:xfrm>
          <a:prstGeom prst="rect">
            <a:avLst/>
          </a:prstGeom>
          <a:noFill/>
          <a:ln/>
        </p:spPr>
        <p:txBody>
          <a:bodyPr wrap="square" lIns="0" tIns="0" rIns="0" bIns="0" rtlCol="0" anchor="ctr"/>
          <a:lstStyle/>
          <a:p>
            <a:pPr indent="0" marL="0">
              <a:spcAft>
                <a:spcPts val="300"/>
              </a:spcAft>
              <a:buNone/>
            </a:pPr>
            <a:r>
              <a:rPr lang="en-US" sz="1300" b="1" dirty="0">
                <a:solidFill>
                  <a:schemeClr val="tx2"/>
                </a:solidFill>
              </a:rPr>
              <a:t>Why Hoonsmart (24 Jan 2026) is our main news</a:t>
            </a:r>
            <a:endParaRPr lang="en-US" sz="1200" dirty="0"/>
          </a:p>
          <a:p>
            <a:pPr indent="0" marL="0">
              <a:spcAft>
                <a:spcPts val="300"/>
              </a:spcAft>
              <a:buNone/>
            </a:pPr>
            <a:r>
              <a:rPr lang="en-US" sz="1200" dirty="0">
                <a:solidFill>
                  <a:schemeClr val="tx1"/>
                </a:solidFill>
              </a:rPr>
              <a:t>The most complete account: period, conduct, motive and the sections the SEC cited. Every source is dated after 1 January 2026.</a:t>
            </a:r>
            <a:endParaRPr lang="en-US" sz="1200" dirty="0"/>
          </a:p>
        </p:txBody>
      </p:sp>
      <p:sp>
        <p:nvSpPr>
          <p:cNvPr id="8" name="s4-box-4"/>
          <p:cNvSpPr/>
          <p:nvPr/>
        </p:nvSpPr>
        <p:spPr>
          <a:xfrm>
            <a:off x="6164428" y="5074920"/>
            <a:ext cx="5661508" cy="1051560"/>
          </a:xfrm>
          <a:prstGeom prst="rect">
            <a:avLst/>
          </a:prstGeom>
          <a:solidFill>
            <a:schemeClr val="bg2"/>
          </a:solidFill>
          <a:ln/>
        </p:spPr>
      </p:sp>
      <p:sp>
        <p:nvSpPr>
          <p:cNvPr id="9" name="s4-text-5"/>
          <p:cNvSpPr txBox="1"/>
          <p:nvPr/>
        </p:nvSpPr>
        <p:spPr>
          <a:xfrm>
            <a:off x="6347308" y="5074920"/>
            <a:ext cx="5295748" cy="1051560"/>
          </a:xfrm>
          <a:prstGeom prst="rect">
            <a:avLst/>
          </a:prstGeom>
          <a:noFill/>
          <a:ln/>
        </p:spPr>
        <p:txBody>
          <a:bodyPr wrap="square" lIns="0" tIns="0" rIns="0" bIns="0" rtlCol="0" anchor="ctr"/>
          <a:lstStyle/>
          <a:p>
            <a:pPr indent="0" marL="0">
              <a:spcAft>
                <a:spcPts val="300"/>
              </a:spcAft>
              <a:buNone/>
            </a:pPr>
            <a:r>
              <a:rPr lang="en-US" sz="1300" b="1" dirty="0">
                <a:solidFill>
                  <a:schemeClr val="tx2"/>
                </a:solidFill>
              </a:rPr>
              <a:t>Law used in this presentation</a:t>
            </a:r>
            <a:endParaRPr lang="en-US" sz="1200" dirty="0"/>
          </a:p>
          <a:p>
            <a:pPr indent="0" marL="0">
              <a:spcAft>
                <a:spcPts val="300"/>
              </a:spcAft>
              <a:buNone/>
            </a:pPr>
            <a:r>
              <a:rPr lang="en-US" sz="1200" dirty="0">
                <a:solidFill>
                  <a:schemeClr val="tx1"/>
                </a:solidFill>
              </a:rPr>
              <a:t>Securities and Exchange Act B.E. 2535 (1992), as amended (course English translation): ss.238–244/7, 296–296/2, 317/1–317/8.</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Players: Who’s Who in the Case</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(24 Jan 2026); Thansettakij (11 May 2026); Securities and Exchange Act s.317/3</a:t>
            </a:r>
            <a:endParaRPr lang="en-US" sz="1050" dirty="0"/>
          </a:p>
        </p:txBody>
      </p:sp>
      <p:sp>
        <p:nvSpPr>
          <p:cNvPr id="5" name="s5-subbar-1"/>
          <p:cNvSpPr/>
          <p:nvPr/>
        </p:nvSpPr>
        <p:spPr>
          <a:xfrm>
            <a:off x="365760" y="1353312"/>
            <a:ext cx="5661508" cy="347472"/>
          </a:xfrm>
          <a:prstGeom prst="rect">
            <a:avLst/>
          </a:prstGeom>
          <a:solidFill>
            <a:schemeClr val="tx2"/>
          </a:solidFill>
          <a:ln/>
        </p:spPr>
      </p:sp>
      <p:sp>
        <p:nvSpPr>
          <p:cNvPr id="6" name="s5-subbar-text-2"/>
          <p:cNvSpPr txBox="1"/>
          <p:nvPr/>
        </p:nvSpPr>
        <p:spPr>
          <a:xfrm>
            <a:off x="365760" y="1353312"/>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The People and Companies</a:t>
            </a:r>
            <a:endParaRPr lang="en-US" sz="1400" dirty="0"/>
          </a:p>
        </p:txBody>
      </p:sp>
      <p:sp>
        <p:nvSpPr>
          <p:cNvPr id="7" name="s5-subbar-3"/>
          <p:cNvSpPr/>
          <p:nvPr/>
        </p:nvSpPr>
        <p:spPr>
          <a:xfrm>
            <a:off x="6164428" y="1353312"/>
            <a:ext cx="5661508" cy="347472"/>
          </a:xfrm>
          <a:prstGeom prst="rect">
            <a:avLst/>
          </a:prstGeom>
          <a:solidFill>
            <a:schemeClr val="tx2"/>
          </a:solidFill>
          <a:ln/>
        </p:spPr>
      </p:sp>
      <p:sp>
        <p:nvSpPr>
          <p:cNvPr id="8" name="s5-subbar-text-4"/>
          <p:cNvSpPr txBox="1"/>
          <p:nvPr/>
        </p:nvSpPr>
        <p:spPr>
          <a:xfrm>
            <a:off x="6164428" y="1353312"/>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The Authorities</a:t>
            </a:r>
            <a:endParaRPr lang="en-US" sz="1400" dirty="0"/>
          </a:p>
        </p:txBody>
      </p:sp>
      <p:sp>
        <p:nvSpPr>
          <p:cNvPr id="9" name="s5-box-5"/>
          <p:cNvSpPr/>
          <p:nvPr/>
        </p:nvSpPr>
        <p:spPr>
          <a:xfrm>
            <a:off x="365760" y="1792224"/>
            <a:ext cx="5661508" cy="1371600"/>
          </a:xfrm>
          <a:prstGeom prst="rect">
            <a:avLst/>
          </a:prstGeom>
          <a:solidFill>
            <a:schemeClr val="bg2"/>
          </a:solidFill>
          <a:ln/>
        </p:spPr>
      </p:sp>
      <p:sp>
        <p:nvSpPr>
          <p:cNvPr id="10" name="s5-icon-bg-6"/>
          <p:cNvSpPr/>
          <p:nvPr/>
        </p:nvSpPr>
        <p:spPr>
          <a:xfrm>
            <a:off x="640080" y="2157984"/>
            <a:ext cx="640080" cy="640080"/>
          </a:xfrm>
          <a:prstGeom prst="ellipse">
            <a:avLst/>
          </a:prstGeom>
          <a:solidFill>
            <a:schemeClr val="tx2"/>
          </a:solidFill>
          <a:ln/>
        </p:spPr>
      </p:sp>
      <p:pic>
        <p:nvPicPr>
          <p:cNvPr id="11" name="s5-icon-7" descr="preencoded.png">    </p:cNvPr>
          <p:cNvPicPr>
            <a:picLocks noChangeAspect="1"/>
          </p:cNvPicPr>
          <p:nvPr/>
        </p:nvPicPr>
        <p:blipFill>
          <a:blip r:embed="rId1"/>
          <a:stretch>
            <a:fillRect/>
          </a:stretch>
        </p:blipFill>
        <p:spPr>
          <a:xfrm>
            <a:off x="800100" y="2318004"/>
            <a:ext cx="320040" cy="320040"/>
          </a:xfrm>
          <a:prstGeom prst="rect">
            <a:avLst/>
          </a:prstGeom>
        </p:spPr>
      </p:pic>
      <p:sp>
        <p:nvSpPr>
          <p:cNvPr id="12" name="s5-text-8"/>
          <p:cNvSpPr txBox="1"/>
          <p:nvPr/>
        </p:nvSpPr>
        <p:spPr>
          <a:xfrm>
            <a:off x="1508760" y="1993392"/>
            <a:ext cx="4289908" cy="292608"/>
          </a:xfrm>
          <a:prstGeom prst="rect">
            <a:avLst/>
          </a:prstGeom>
          <a:noFill/>
          <a:ln/>
        </p:spPr>
        <p:txBody>
          <a:bodyPr wrap="square" lIns="0" tIns="0" rIns="0" bIns="0" rtlCol="0" anchor="t"/>
          <a:lstStyle/>
          <a:p>
            <a:pPr indent="0" marL="0">
              <a:buNone/>
            </a:pPr>
            <a:r>
              <a:rPr lang="en-US" sz="1300" b="1" dirty="0">
                <a:solidFill>
                  <a:schemeClr val="tx2"/>
                </a:solidFill>
              </a:rPr>
              <a:t>The alleged offender</a:t>
            </a:r>
            <a:endParaRPr lang="en-US" sz="1300" dirty="0"/>
          </a:p>
        </p:txBody>
      </p:sp>
      <p:sp>
        <p:nvSpPr>
          <p:cNvPr id="13" name="s5-text-9"/>
          <p:cNvSpPr txBox="1"/>
          <p:nvPr/>
        </p:nvSpPr>
        <p:spPr>
          <a:xfrm>
            <a:off x="1508760" y="2322576"/>
            <a:ext cx="4289908" cy="731520"/>
          </a:xfrm>
          <a:prstGeom prst="rect">
            <a:avLst/>
          </a:prstGeom>
          <a:noFill/>
          <a:ln/>
        </p:spPr>
        <p:txBody>
          <a:bodyPr wrap="square" lIns="0" tIns="0" rIns="0" bIns="0" rtlCol="0" anchor="t"/>
          <a:lstStyle/>
          <a:p>
            <a:pPr indent="0" marL="0">
              <a:buNone/>
            </a:pPr>
            <a:r>
              <a:rPr lang="en-US" sz="1200" dirty="0">
                <a:solidFill>
                  <a:schemeClr val="tx1"/>
                </a:solidFill>
              </a:rPr>
              <a:t>นางสาวภรัณยา รุจนพรพจี, an individual investor reported as a major shareholder of SABUY</a:t>
            </a:r>
            <a:endParaRPr lang="en-US" sz="1200" dirty="0"/>
          </a:p>
        </p:txBody>
      </p:sp>
      <p:sp>
        <p:nvSpPr>
          <p:cNvPr id="14" name="s5-box-10"/>
          <p:cNvSpPr/>
          <p:nvPr/>
        </p:nvSpPr>
        <p:spPr>
          <a:xfrm>
            <a:off x="365760" y="3273552"/>
            <a:ext cx="5661508" cy="1371600"/>
          </a:xfrm>
          <a:prstGeom prst="rect">
            <a:avLst/>
          </a:prstGeom>
          <a:solidFill>
            <a:schemeClr val="bg2"/>
          </a:solidFill>
          <a:ln/>
        </p:spPr>
      </p:sp>
      <p:sp>
        <p:nvSpPr>
          <p:cNvPr id="15" name="s5-icon-bg-11"/>
          <p:cNvSpPr/>
          <p:nvPr/>
        </p:nvSpPr>
        <p:spPr>
          <a:xfrm>
            <a:off x="640080" y="3639312"/>
            <a:ext cx="640080" cy="640080"/>
          </a:xfrm>
          <a:prstGeom prst="ellipse">
            <a:avLst/>
          </a:prstGeom>
          <a:solidFill>
            <a:schemeClr val="tx2"/>
          </a:solidFill>
          <a:ln/>
        </p:spPr>
      </p:sp>
      <p:pic>
        <p:nvPicPr>
          <p:cNvPr id="16" name="s5-icon-12" descr="preencoded.png">    </p:cNvPr>
          <p:cNvPicPr>
            <a:picLocks noChangeAspect="1"/>
          </p:cNvPicPr>
          <p:nvPr/>
        </p:nvPicPr>
        <p:blipFill>
          <a:blip r:embed="rId2"/>
          <a:stretch>
            <a:fillRect/>
          </a:stretch>
        </p:blipFill>
        <p:spPr>
          <a:xfrm>
            <a:off x="800100" y="3799332"/>
            <a:ext cx="320040" cy="320040"/>
          </a:xfrm>
          <a:prstGeom prst="rect">
            <a:avLst/>
          </a:prstGeom>
        </p:spPr>
      </p:pic>
      <p:sp>
        <p:nvSpPr>
          <p:cNvPr id="17" name="s5-text-13"/>
          <p:cNvSpPr txBox="1"/>
          <p:nvPr/>
        </p:nvSpPr>
        <p:spPr>
          <a:xfrm>
            <a:off x="1508760" y="3474720"/>
            <a:ext cx="4289908" cy="292608"/>
          </a:xfrm>
          <a:prstGeom prst="rect">
            <a:avLst/>
          </a:prstGeom>
          <a:noFill/>
          <a:ln/>
        </p:spPr>
        <p:txBody>
          <a:bodyPr wrap="square" lIns="0" tIns="0" rIns="0" bIns="0" rtlCol="0" anchor="t"/>
          <a:lstStyle/>
          <a:p>
            <a:pPr indent="0" marL="0">
              <a:buNone/>
            </a:pPr>
            <a:r>
              <a:rPr lang="en-US" sz="1300" b="1" dirty="0">
                <a:solidFill>
                  <a:schemeClr val="tx2"/>
                </a:solidFill>
              </a:rPr>
              <a:t>The stock</a:t>
            </a:r>
            <a:endParaRPr lang="en-US" sz="1300" dirty="0"/>
          </a:p>
        </p:txBody>
      </p:sp>
      <p:sp>
        <p:nvSpPr>
          <p:cNvPr id="18" name="s5-text-14"/>
          <p:cNvSpPr txBox="1"/>
          <p:nvPr/>
        </p:nvSpPr>
        <p:spPr>
          <a:xfrm>
            <a:off x="1508760" y="3803904"/>
            <a:ext cx="4289908" cy="731520"/>
          </a:xfrm>
          <a:prstGeom prst="rect">
            <a:avLst/>
          </a:prstGeom>
          <a:noFill/>
          <a:ln/>
        </p:spPr>
        <p:txBody>
          <a:bodyPr wrap="square" lIns="0" tIns="0" rIns="0" bIns="0" rtlCol="0" anchor="t"/>
          <a:lstStyle/>
          <a:p>
            <a:pPr indent="0" marL="0">
              <a:buNone/>
            </a:pPr>
            <a:r>
              <a:rPr lang="en-US" sz="1200" dirty="0">
                <a:solidFill>
                  <a:schemeClr val="tx1"/>
                </a:solidFill>
              </a:rPr>
              <a:t>TSR: Thiensurat PCL (now TSR Living Solution PCL), listed on the SET</a:t>
            </a:r>
            <a:endParaRPr lang="en-US" sz="1200" dirty="0"/>
          </a:p>
        </p:txBody>
      </p:sp>
      <p:sp>
        <p:nvSpPr>
          <p:cNvPr id="19" name="s5-box-15"/>
          <p:cNvSpPr/>
          <p:nvPr/>
        </p:nvSpPr>
        <p:spPr>
          <a:xfrm>
            <a:off x="365760" y="4754880"/>
            <a:ext cx="5661508" cy="1371600"/>
          </a:xfrm>
          <a:prstGeom prst="rect">
            <a:avLst/>
          </a:prstGeom>
          <a:solidFill>
            <a:schemeClr val="bg2"/>
          </a:solidFill>
          <a:ln/>
        </p:spPr>
      </p:sp>
      <p:sp>
        <p:nvSpPr>
          <p:cNvPr id="20" name="s5-icon-bg-16"/>
          <p:cNvSpPr/>
          <p:nvPr/>
        </p:nvSpPr>
        <p:spPr>
          <a:xfrm>
            <a:off x="640080" y="5120640"/>
            <a:ext cx="640080" cy="640080"/>
          </a:xfrm>
          <a:prstGeom prst="ellipse">
            <a:avLst/>
          </a:prstGeom>
          <a:solidFill>
            <a:schemeClr val="tx2"/>
          </a:solidFill>
          <a:ln/>
        </p:spPr>
      </p:sp>
      <p:pic>
        <p:nvPicPr>
          <p:cNvPr id="21" name="s5-icon-17" descr="preencoded.png">    </p:cNvPr>
          <p:cNvPicPr>
            <a:picLocks noChangeAspect="1"/>
          </p:cNvPicPr>
          <p:nvPr/>
        </p:nvPicPr>
        <p:blipFill>
          <a:blip r:embed="rId3"/>
          <a:stretch>
            <a:fillRect/>
          </a:stretch>
        </p:blipFill>
        <p:spPr>
          <a:xfrm>
            <a:off x="800100" y="5280660"/>
            <a:ext cx="320040" cy="320040"/>
          </a:xfrm>
          <a:prstGeom prst="rect">
            <a:avLst/>
          </a:prstGeom>
        </p:spPr>
      </p:pic>
      <p:sp>
        <p:nvSpPr>
          <p:cNvPr id="22" name="s5-text-18"/>
          <p:cNvSpPr txBox="1"/>
          <p:nvPr/>
        </p:nvSpPr>
        <p:spPr>
          <a:xfrm>
            <a:off x="1508760" y="4956048"/>
            <a:ext cx="4289908" cy="292608"/>
          </a:xfrm>
          <a:prstGeom prst="rect">
            <a:avLst/>
          </a:prstGeom>
          <a:noFill/>
          <a:ln/>
        </p:spPr>
        <p:txBody>
          <a:bodyPr wrap="square" lIns="0" tIns="0" rIns="0" bIns="0" rtlCol="0" anchor="t"/>
          <a:lstStyle/>
          <a:p>
            <a:pPr indent="0" marL="0">
              <a:buNone/>
            </a:pPr>
            <a:r>
              <a:rPr lang="en-US" sz="1300" b="1" dirty="0">
                <a:solidFill>
                  <a:schemeClr val="tx2"/>
                </a:solidFill>
              </a:rPr>
              <a:t>The beneficiary</a:t>
            </a:r>
            <a:endParaRPr lang="en-US" sz="1300" dirty="0"/>
          </a:p>
        </p:txBody>
      </p:sp>
      <p:sp>
        <p:nvSpPr>
          <p:cNvPr id="23" name="s5-text-19"/>
          <p:cNvSpPr txBox="1"/>
          <p:nvPr/>
        </p:nvSpPr>
        <p:spPr>
          <a:xfrm>
            <a:off x="1508760" y="5285232"/>
            <a:ext cx="4289908" cy="731520"/>
          </a:xfrm>
          <a:prstGeom prst="rect">
            <a:avLst/>
          </a:prstGeom>
          <a:noFill/>
          <a:ln/>
        </p:spPr>
        <p:txBody>
          <a:bodyPr wrap="square" lIns="0" tIns="0" rIns="0" bIns="0" rtlCol="0" anchor="t"/>
          <a:lstStyle/>
          <a:p>
            <a:pPr indent="0" marL="0">
              <a:buNone/>
            </a:pPr>
            <a:r>
              <a:rPr lang="en-US" sz="1200" dirty="0">
                <a:solidFill>
                  <a:schemeClr val="tx1"/>
                </a:solidFill>
              </a:rPr>
              <a:t>SABUY: Sabuy Technology PCL, which held TSR shares as an investment</a:t>
            </a:r>
            <a:endParaRPr lang="en-US" sz="1200" dirty="0"/>
          </a:p>
        </p:txBody>
      </p:sp>
      <p:sp>
        <p:nvSpPr>
          <p:cNvPr id="24" name="s5-box-20"/>
          <p:cNvSpPr/>
          <p:nvPr/>
        </p:nvSpPr>
        <p:spPr>
          <a:xfrm>
            <a:off x="6164428" y="1792224"/>
            <a:ext cx="5661508" cy="1371600"/>
          </a:xfrm>
          <a:prstGeom prst="rect">
            <a:avLst/>
          </a:prstGeom>
          <a:solidFill>
            <a:schemeClr val="bg2"/>
          </a:solidFill>
          <a:ln/>
        </p:spPr>
      </p:sp>
      <p:sp>
        <p:nvSpPr>
          <p:cNvPr id="25" name="s5-icon-bg-21"/>
          <p:cNvSpPr/>
          <p:nvPr/>
        </p:nvSpPr>
        <p:spPr>
          <a:xfrm>
            <a:off x="6438748" y="2157984"/>
            <a:ext cx="640080" cy="640080"/>
          </a:xfrm>
          <a:prstGeom prst="ellipse">
            <a:avLst/>
          </a:prstGeom>
          <a:solidFill>
            <a:schemeClr val="tx2"/>
          </a:solidFill>
          <a:ln/>
        </p:spPr>
      </p:sp>
      <p:pic>
        <p:nvPicPr>
          <p:cNvPr id="26" name="s5-icon-22" descr="preencoded.png">    </p:cNvPr>
          <p:cNvPicPr>
            <a:picLocks noChangeAspect="1"/>
          </p:cNvPicPr>
          <p:nvPr/>
        </p:nvPicPr>
        <p:blipFill>
          <a:blip r:embed="rId4"/>
          <a:stretch>
            <a:fillRect/>
          </a:stretch>
        </p:blipFill>
        <p:spPr>
          <a:xfrm>
            <a:off x="6598768" y="2318004"/>
            <a:ext cx="320040" cy="320040"/>
          </a:xfrm>
          <a:prstGeom prst="rect">
            <a:avLst/>
          </a:prstGeom>
        </p:spPr>
      </p:pic>
      <p:sp>
        <p:nvSpPr>
          <p:cNvPr id="27" name="s5-text-23"/>
          <p:cNvSpPr txBox="1"/>
          <p:nvPr/>
        </p:nvSpPr>
        <p:spPr>
          <a:xfrm>
            <a:off x="7307428" y="1993392"/>
            <a:ext cx="4289908" cy="292608"/>
          </a:xfrm>
          <a:prstGeom prst="rect">
            <a:avLst/>
          </a:prstGeom>
          <a:noFill/>
          <a:ln/>
        </p:spPr>
        <p:txBody>
          <a:bodyPr wrap="square" lIns="0" tIns="0" rIns="0" bIns="0" rtlCol="0" anchor="t"/>
          <a:lstStyle/>
          <a:p>
            <a:pPr indent="0" marL="0">
              <a:buNone/>
            </a:pPr>
            <a:r>
              <a:rPr lang="en-US" sz="1300" b="1" dirty="0">
                <a:solidFill>
                  <a:schemeClr val="tx2"/>
                </a:solidFill>
              </a:rPr>
              <a:t>The detector</a:t>
            </a:r>
            <a:endParaRPr lang="en-US" sz="1300" dirty="0"/>
          </a:p>
        </p:txBody>
      </p:sp>
      <p:sp>
        <p:nvSpPr>
          <p:cNvPr id="28" name="s5-text-24"/>
          <p:cNvSpPr txBox="1"/>
          <p:nvPr/>
        </p:nvSpPr>
        <p:spPr>
          <a:xfrm>
            <a:off x="7307428" y="2322576"/>
            <a:ext cx="4289908" cy="731520"/>
          </a:xfrm>
          <a:prstGeom prst="rect">
            <a:avLst/>
          </a:prstGeom>
          <a:noFill/>
          <a:ln/>
        </p:spPr>
        <p:txBody>
          <a:bodyPr wrap="square" lIns="0" tIns="0" rIns="0" bIns="0" rtlCol="0" anchor="t"/>
          <a:lstStyle/>
          <a:p>
            <a:pPr indent="0" marL="0">
              <a:buNone/>
            </a:pPr>
            <a:r>
              <a:rPr lang="en-US" sz="1200" dirty="0">
                <a:solidFill>
                  <a:schemeClr val="tx1"/>
                </a:solidFill>
              </a:rPr>
              <a:t>Stock Exchange of Thailand: flagged the trading and referred it to the SEC (Oct 2022)</a:t>
            </a:r>
            <a:endParaRPr lang="en-US" sz="1200" dirty="0"/>
          </a:p>
        </p:txBody>
      </p:sp>
      <p:sp>
        <p:nvSpPr>
          <p:cNvPr id="29" name="s5-box-25"/>
          <p:cNvSpPr/>
          <p:nvPr/>
        </p:nvSpPr>
        <p:spPr>
          <a:xfrm>
            <a:off x="6164428" y="3273552"/>
            <a:ext cx="5661508" cy="1371600"/>
          </a:xfrm>
          <a:prstGeom prst="rect">
            <a:avLst/>
          </a:prstGeom>
          <a:solidFill>
            <a:schemeClr val="bg2"/>
          </a:solidFill>
          <a:ln/>
        </p:spPr>
      </p:sp>
      <p:sp>
        <p:nvSpPr>
          <p:cNvPr id="30" name="s5-icon-bg-26"/>
          <p:cNvSpPr/>
          <p:nvPr/>
        </p:nvSpPr>
        <p:spPr>
          <a:xfrm>
            <a:off x="6438748" y="3639312"/>
            <a:ext cx="640080" cy="640080"/>
          </a:xfrm>
          <a:prstGeom prst="ellipse">
            <a:avLst/>
          </a:prstGeom>
          <a:solidFill>
            <a:schemeClr val="tx2"/>
          </a:solidFill>
          <a:ln/>
        </p:spPr>
      </p:sp>
      <p:pic>
        <p:nvPicPr>
          <p:cNvPr id="31" name="s5-icon-27" descr="preencoded.png">    </p:cNvPr>
          <p:cNvPicPr>
            <a:picLocks noChangeAspect="1"/>
          </p:cNvPicPr>
          <p:nvPr/>
        </p:nvPicPr>
        <p:blipFill>
          <a:blip r:embed="rId5"/>
          <a:stretch>
            <a:fillRect/>
          </a:stretch>
        </p:blipFill>
        <p:spPr>
          <a:xfrm>
            <a:off x="6598768" y="3799332"/>
            <a:ext cx="320040" cy="320040"/>
          </a:xfrm>
          <a:prstGeom prst="rect">
            <a:avLst/>
          </a:prstGeom>
        </p:spPr>
      </p:pic>
      <p:sp>
        <p:nvSpPr>
          <p:cNvPr id="32" name="s5-text-28"/>
          <p:cNvSpPr txBox="1"/>
          <p:nvPr/>
        </p:nvSpPr>
        <p:spPr>
          <a:xfrm>
            <a:off x="7307428" y="3474720"/>
            <a:ext cx="4289908" cy="292608"/>
          </a:xfrm>
          <a:prstGeom prst="rect">
            <a:avLst/>
          </a:prstGeom>
          <a:noFill/>
          <a:ln/>
        </p:spPr>
        <p:txBody>
          <a:bodyPr wrap="square" lIns="0" tIns="0" rIns="0" bIns="0" rtlCol="0" anchor="t"/>
          <a:lstStyle/>
          <a:p>
            <a:pPr indent="0" marL="0">
              <a:buNone/>
            </a:pPr>
            <a:r>
              <a:rPr lang="en-US" sz="1300" b="1" dirty="0">
                <a:solidFill>
                  <a:schemeClr val="tx2"/>
                </a:solidFill>
              </a:rPr>
              <a:t>The enforcers</a:t>
            </a:r>
            <a:endParaRPr lang="en-US" sz="1300" dirty="0"/>
          </a:p>
        </p:txBody>
      </p:sp>
      <p:sp>
        <p:nvSpPr>
          <p:cNvPr id="33" name="s5-text-29"/>
          <p:cNvSpPr txBox="1"/>
          <p:nvPr/>
        </p:nvSpPr>
        <p:spPr>
          <a:xfrm>
            <a:off x="7307428" y="3803904"/>
            <a:ext cx="4289908" cy="731520"/>
          </a:xfrm>
          <a:prstGeom prst="rect">
            <a:avLst/>
          </a:prstGeom>
          <a:noFill/>
          <a:ln/>
        </p:spPr>
        <p:txBody>
          <a:bodyPr wrap="square" lIns="0" tIns="0" rIns="0" bIns="0" rtlCol="0" anchor="t"/>
          <a:lstStyle/>
          <a:p>
            <a:pPr indent="0" marL="0">
              <a:buNone/>
            </a:pPr>
            <a:r>
              <a:rPr lang="en-US" sz="1200" dirty="0">
                <a:solidFill>
                  <a:schemeClr val="tx1"/>
                </a:solidFill>
              </a:rPr>
              <a:t>SEC Office investigates; the Civil Sanction Committee (CSC), chaired by the Attorney-General (s.317/3), sets civil sanctions</a:t>
            </a:r>
            <a:endParaRPr lang="en-US" sz="1200" dirty="0"/>
          </a:p>
        </p:txBody>
      </p:sp>
      <p:sp>
        <p:nvSpPr>
          <p:cNvPr id="34" name="s5-box-30"/>
          <p:cNvSpPr/>
          <p:nvPr/>
        </p:nvSpPr>
        <p:spPr>
          <a:xfrm>
            <a:off x="6164428" y="4754880"/>
            <a:ext cx="5661508" cy="1371600"/>
          </a:xfrm>
          <a:prstGeom prst="rect">
            <a:avLst/>
          </a:prstGeom>
          <a:solidFill>
            <a:schemeClr val="bg2"/>
          </a:solidFill>
          <a:ln/>
        </p:spPr>
      </p:sp>
      <p:sp>
        <p:nvSpPr>
          <p:cNvPr id="35" name="s5-icon-bg-31"/>
          <p:cNvSpPr/>
          <p:nvPr/>
        </p:nvSpPr>
        <p:spPr>
          <a:xfrm>
            <a:off x="6438748" y="5120640"/>
            <a:ext cx="640080" cy="640080"/>
          </a:xfrm>
          <a:prstGeom prst="ellipse">
            <a:avLst/>
          </a:prstGeom>
          <a:solidFill>
            <a:schemeClr val="tx2"/>
          </a:solidFill>
          <a:ln/>
        </p:spPr>
      </p:sp>
      <p:pic>
        <p:nvPicPr>
          <p:cNvPr id="36" name="s5-icon-32" descr="preencoded.png">    </p:cNvPr>
          <p:cNvPicPr>
            <a:picLocks noChangeAspect="1"/>
          </p:cNvPicPr>
          <p:nvPr/>
        </p:nvPicPr>
        <p:blipFill>
          <a:blip r:embed="rId6"/>
          <a:stretch>
            <a:fillRect/>
          </a:stretch>
        </p:blipFill>
        <p:spPr>
          <a:xfrm>
            <a:off x="6598768" y="5280660"/>
            <a:ext cx="320040" cy="320040"/>
          </a:xfrm>
          <a:prstGeom prst="rect">
            <a:avLst/>
          </a:prstGeom>
        </p:spPr>
      </p:pic>
      <p:sp>
        <p:nvSpPr>
          <p:cNvPr id="37" name="s5-text-33"/>
          <p:cNvSpPr txBox="1"/>
          <p:nvPr/>
        </p:nvSpPr>
        <p:spPr>
          <a:xfrm>
            <a:off x="7307428" y="4956048"/>
            <a:ext cx="4289908" cy="292608"/>
          </a:xfrm>
          <a:prstGeom prst="rect">
            <a:avLst/>
          </a:prstGeom>
          <a:noFill/>
          <a:ln/>
        </p:spPr>
        <p:txBody>
          <a:bodyPr wrap="square" lIns="0" tIns="0" rIns="0" bIns="0" rtlCol="0" anchor="t"/>
          <a:lstStyle/>
          <a:p>
            <a:pPr indent="0" marL="0">
              <a:buNone/>
            </a:pPr>
            <a:r>
              <a:rPr lang="en-US" sz="1300" b="1" dirty="0">
                <a:solidFill>
                  <a:schemeClr val="tx2"/>
                </a:solidFill>
              </a:rPr>
              <a:t>The next stage</a:t>
            </a:r>
            <a:endParaRPr lang="en-US" sz="1300" dirty="0"/>
          </a:p>
        </p:txBody>
      </p:sp>
      <p:sp>
        <p:nvSpPr>
          <p:cNvPr id="38" name="s5-text-34"/>
          <p:cNvSpPr txBox="1"/>
          <p:nvPr/>
        </p:nvSpPr>
        <p:spPr>
          <a:xfrm>
            <a:off x="7307428" y="5285232"/>
            <a:ext cx="4289908" cy="731520"/>
          </a:xfrm>
          <a:prstGeom prst="rect">
            <a:avLst/>
          </a:prstGeom>
          <a:noFill/>
          <a:ln/>
        </p:spPr>
        <p:txBody>
          <a:bodyPr wrap="square" lIns="0" tIns="0" rIns="0" bIns="0" rtlCol="0" anchor="t"/>
          <a:lstStyle/>
          <a:p>
            <a:pPr indent="0" marL="0">
              <a:buNone/>
            </a:pPr>
            <a:r>
              <a:rPr lang="en-US" sz="1200" dirty="0">
                <a:solidFill>
                  <a:schemeClr val="tx1"/>
                </a:solidFill>
              </a:rPr>
              <a:t>Public prosecutor and Civil Court; AMLO for money-laundering review</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Facts: What Happened</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(24 Jan 2026); Mitihoon (23 Jan 2026)</a:t>
            </a:r>
            <a:endParaRPr lang="en-US" sz="1050" dirty="0"/>
          </a:p>
        </p:txBody>
      </p:sp>
      <p:sp>
        <p:nvSpPr>
          <p:cNvPr id="5" name="s6-subbar-1"/>
          <p:cNvSpPr/>
          <p:nvPr/>
        </p:nvSpPr>
        <p:spPr>
          <a:xfrm>
            <a:off x="365760" y="1353312"/>
            <a:ext cx="2834640" cy="347472"/>
          </a:xfrm>
          <a:prstGeom prst="rect">
            <a:avLst/>
          </a:prstGeom>
          <a:solidFill>
            <a:schemeClr val="tx2"/>
          </a:solidFill>
          <a:ln/>
        </p:spPr>
      </p:sp>
      <p:sp>
        <p:nvSpPr>
          <p:cNvPr id="6" name="s6-subbar-text-2"/>
          <p:cNvSpPr txBox="1"/>
          <p:nvPr/>
        </p:nvSpPr>
        <p:spPr>
          <a:xfrm>
            <a:off x="365760" y="1353312"/>
            <a:ext cx="2834640" cy="347472"/>
          </a:xfrm>
          <a:prstGeom prst="rect">
            <a:avLst/>
          </a:prstGeom>
          <a:noFill/>
          <a:ln/>
        </p:spPr>
        <p:txBody>
          <a:bodyPr wrap="square" lIns="0" tIns="0" rIns="0" bIns="0" rtlCol="0" anchor="ctr"/>
          <a:lstStyle/>
          <a:p>
            <a:pPr algn="ctr" indent="0" marL="0">
              <a:buNone/>
            </a:pPr>
            <a:r>
              <a:rPr lang="en-US" sz="1400" b="1" dirty="0">
                <a:solidFill>
                  <a:schemeClr val="bg1"/>
                </a:solidFill>
              </a:rPr>
              <a:t>Period</a:t>
            </a:r>
            <a:endParaRPr lang="en-US" sz="1400" dirty="0"/>
          </a:p>
        </p:txBody>
      </p:sp>
      <p:sp>
        <p:nvSpPr>
          <p:cNvPr id="7" name="s6-subbar-3"/>
          <p:cNvSpPr/>
          <p:nvPr/>
        </p:nvSpPr>
        <p:spPr>
          <a:xfrm>
            <a:off x="3337560" y="1353312"/>
            <a:ext cx="5516575" cy="347472"/>
          </a:xfrm>
          <a:prstGeom prst="rect">
            <a:avLst/>
          </a:prstGeom>
          <a:solidFill>
            <a:schemeClr val="tx2"/>
          </a:solidFill>
          <a:ln/>
        </p:spPr>
      </p:sp>
      <p:sp>
        <p:nvSpPr>
          <p:cNvPr id="8" name="s6-subbar-text-4"/>
          <p:cNvSpPr txBox="1"/>
          <p:nvPr/>
        </p:nvSpPr>
        <p:spPr>
          <a:xfrm>
            <a:off x="3337560" y="1353312"/>
            <a:ext cx="5516575" cy="347472"/>
          </a:xfrm>
          <a:prstGeom prst="rect">
            <a:avLst/>
          </a:prstGeom>
          <a:noFill/>
          <a:ln/>
        </p:spPr>
        <p:txBody>
          <a:bodyPr wrap="square" lIns="0" tIns="0" rIns="0" bIns="0" rtlCol="0" anchor="ctr"/>
          <a:lstStyle/>
          <a:p>
            <a:pPr algn="ctr" indent="0" marL="0">
              <a:buNone/>
            </a:pPr>
            <a:r>
              <a:rPr lang="en-US" sz="1400" b="1" dirty="0">
                <a:solidFill>
                  <a:schemeClr val="bg1"/>
                </a:solidFill>
              </a:rPr>
              <a:t>Conduct</a:t>
            </a:r>
            <a:endParaRPr lang="en-US" sz="1400" dirty="0"/>
          </a:p>
        </p:txBody>
      </p:sp>
      <p:sp>
        <p:nvSpPr>
          <p:cNvPr id="9" name="s6-subbar-5"/>
          <p:cNvSpPr/>
          <p:nvPr/>
        </p:nvSpPr>
        <p:spPr>
          <a:xfrm>
            <a:off x="8991295" y="1353312"/>
            <a:ext cx="2834640" cy="347472"/>
          </a:xfrm>
          <a:prstGeom prst="rect">
            <a:avLst/>
          </a:prstGeom>
          <a:solidFill>
            <a:schemeClr val="tx2"/>
          </a:solidFill>
          <a:ln/>
        </p:spPr>
      </p:sp>
      <p:sp>
        <p:nvSpPr>
          <p:cNvPr id="10" name="s6-subbar-text-6"/>
          <p:cNvSpPr txBox="1"/>
          <p:nvPr/>
        </p:nvSpPr>
        <p:spPr>
          <a:xfrm>
            <a:off x="8991295" y="1353312"/>
            <a:ext cx="2834640" cy="347472"/>
          </a:xfrm>
          <a:prstGeom prst="rect">
            <a:avLst/>
          </a:prstGeom>
          <a:noFill/>
          <a:ln/>
        </p:spPr>
        <p:txBody>
          <a:bodyPr wrap="square" lIns="0" tIns="0" rIns="0" bIns="0" rtlCol="0" anchor="ctr"/>
          <a:lstStyle/>
          <a:p>
            <a:pPr algn="ctr" indent="0" marL="0">
              <a:buNone/>
            </a:pPr>
            <a:r>
              <a:rPr lang="en-US" sz="1400" b="1" dirty="0">
                <a:solidFill>
                  <a:schemeClr val="bg1"/>
                </a:solidFill>
              </a:rPr>
              <a:t>Result</a:t>
            </a:r>
            <a:endParaRPr lang="en-US" sz="1400" dirty="0"/>
          </a:p>
        </p:txBody>
      </p:sp>
      <p:sp>
        <p:nvSpPr>
          <p:cNvPr id="11" name="s6-box-7"/>
          <p:cNvSpPr/>
          <p:nvPr/>
        </p:nvSpPr>
        <p:spPr>
          <a:xfrm>
            <a:off x="365760" y="1792224"/>
            <a:ext cx="2834640" cy="4334256"/>
          </a:xfrm>
          <a:prstGeom prst="rect">
            <a:avLst/>
          </a:prstGeom>
          <a:solidFill>
            <a:schemeClr val="bg2"/>
          </a:solidFill>
          <a:ln/>
        </p:spPr>
      </p:sp>
      <p:sp>
        <p:nvSpPr>
          <p:cNvPr id="12" name="s6-text-8"/>
          <p:cNvSpPr txBox="1"/>
          <p:nvPr/>
        </p:nvSpPr>
        <p:spPr>
          <a:xfrm>
            <a:off x="365760" y="1920240"/>
            <a:ext cx="2834640" cy="731520"/>
          </a:xfrm>
          <a:prstGeom prst="rect">
            <a:avLst/>
          </a:prstGeom>
          <a:noFill/>
          <a:ln/>
        </p:spPr>
        <p:txBody>
          <a:bodyPr wrap="square" lIns="0" tIns="0" rIns="0" bIns="0" rtlCol="0" anchor="ctr"/>
          <a:lstStyle/>
          <a:p>
            <a:pPr algn="ctr" indent="0" marL="0">
              <a:buNone/>
            </a:pPr>
            <a:r>
              <a:rPr lang="en-US" sz="4400" b="1" dirty="0">
                <a:solidFill>
                  <a:schemeClr val="tx2"/>
                </a:solidFill>
              </a:rPr>
              <a:t>47</a:t>
            </a:r>
            <a:endParaRPr lang="en-US" sz="4400" dirty="0"/>
          </a:p>
        </p:txBody>
      </p:sp>
      <p:sp>
        <p:nvSpPr>
          <p:cNvPr id="13" name="s6-text-9"/>
          <p:cNvSpPr txBox="1"/>
          <p:nvPr/>
        </p:nvSpPr>
        <p:spPr>
          <a:xfrm>
            <a:off x="365760" y="2651760"/>
            <a:ext cx="2834640" cy="274320"/>
          </a:xfrm>
          <a:prstGeom prst="rect">
            <a:avLst/>
          </a:prstGeom>
          <a:noFill/>
          <a:ln/>
        </p:spPr>
        <p:txBody>
          <a:bodyPr wrap="square" lIns="0" tIns="0" rIns="0" bIns="0" rtlCol="0" anchor="t"/>
          <a:lstStyle/>
          <a:p>
            <a:pPr algn="ctr" indent="0" marL="0">
              <a:buNone/>
            </a:pPr>
            <a:r>
              <a:rPr lang="en-US" sz="1300" b="1" dirty="0">
                <a:solidFill>
                  <a:schemeClr val="tx2"/>
                </a:solidFill>
              </a:rPr>
              <a:t>trading days</a:t>
            </a:r>
            <a:endParaRPr lang="en-US" sz="1300" dirty="0"/>
          </a:p>
        </p:txBody>
      </p:sp>
      <p:sp>
        <p:nvSpPr>
          <p:cNvPr id="14" name="s6-chip-10"/>
          <p:cNvSpPr/>
          <p:nvPr/>
        </p:nvSpPr>
        <p:spPr>
          <a:xfrm>
            <a:off x="548640" y="3154680"/>
            <a:ext cx="2468880" cy="777240"/>
          </a:xfrm>
          <a:prstGeom prst="rect">
            <a:avLst/>
          </a:prstGeom>
          <a:solidFill>
            <a:schemeClr val="accent2"/>
          </a:solidFill>
          <a:ln/>
        </p:spPr>
      </p:sp>
      <p:sp>
        <p:nvSpPr>
          <p:cNvPr id="15" name="s6-chip-text-11"/>
          <p:cNvSpPr txBox="1"/>
          <p:nvPr/>
        </p:nvSpPr>
        <p:spPr>
          <a:xfrm>
            <a:off x="548640" y="3154680"/>
            <a:ext cx="2468880" cy="777240"/>
          </a:xfrm>
          <a:prstGeom prst="rect">
            <a:avLst/>
          </a:prstGeom>
          <a:noFill/>
          <a:ln/>
        </p:spPr>
        <p:txBody>
          <a:bodyPr wrap="square" lIns="50800" tIns="50800" rIns="50800" bIns="50800" rtlCol="0" anchor="ctr"/>
          <a:lstStyle/>
          <a:p>
            <a:pPr algn="ctr" indent="0" marL="0">
              <a:buNone/>
            </a:pPr>
            <a:r>
              <a:rPr lang="en-US" sz="1200" dirty="0">
                <a:solidFill>
                  <a:schemeClr val="tx1"/>
                </a:solidFill>
              </a:rPr>
              <a:t>Conduct period</a:t>
            </a:r>
            <a:endParaRPr lang="en-US" sz="1200" dirty="0"/>
          </a:p>
          <a:p>
            <a:pPr algn="ctr" indent="0" marL="0">
              <a:buNone/>
            </a:pPr>
            <a:r>
              <a:rPr lang="en-US" sz="1200" b="1" dirty="0">
                <a:solidFill>
                  <a:schemeClr val="tx2"/>
                </a:solidFill>
              </a:rPr>
              <a:t>22 Jun – 31 Aug 2022</a:t>
            </a:r>
            <a:endParaRPr lang="en-US" sz="1200" dirty="0"/>
          </a:p>
        </p:txBody>
      </p:sp>
      <p:sp>
        <p:nvSpPr>
          <p:cNvPr id="16" name="s6-chip-12"/>
          <p:cNvSpPr/>
          <p:nvPr/>
        </p:nvSpPr>
        <p:spPr>
          <a:xfrm>
            <a:off x="548640" y="4069080"/>
            <a:ext cx="2468880" cy="777240"/>
          </a:xfrm>
          <a:prstGeom prst="rect">
            <a:avLst/>
          </a:prstGeom>
          <a:solidFill>
            <a:schemeClr val="accent2"/>
          </a:solidFill>
          <a:ln/>
        </p:spPr>
      </p:sp>
      <p:sp>
        <p:nvSpPr>
          <p:cNvPr id="17" name="s6-chip-text-13"/>
          <p:cNvSpPr txBox="1"/>
          <p:nvPr/>
        </p:nvSpPr>
        <p:spPr>
          <a:xfrm>
            <a:off x="548640" y="4069080"/>
            <a:ext cx="2468880" cy="777240"/>
          </a:xfrm>
          <a:prstGeom prst="rect">
            <a:avLst/>
          </a:prstGeom>
          <a:noFill/>
          <a:ln/>
        </p:spPr>
        <p:txBody>
          <a:bodyPr wrap="square" lIns="50800" tIns="50800" rIns="50800" bIns="50800" rtlCol="0" anchor="ctr"/>
          <a:lstStyle/>
          <a:p>
            <a:pPr algn="ctr" indent="0" marL="0">
              <a:buNone/>
            </a:pPr>
            <a:r>
              <a:rPr lang="en-US" sz="1200" dirty="0">
                <a:solidFill>
                  <a:schemeClr val="tx1"/>
                </a:solidFill>
              </a:rPr>
              <a:t>Stock</a:t>
            </a:r>
            <a:endParaRPr lang="en-US" sz="1200" dirty="0"/>
          </a:p>
          <a:p>
            <a:pPr algn="ctr" indent="0" marL="0">
              <a:buNone/>
            </a:pPr>
            <a:r>
              <a:rPr lang="en-US" sz="1200" b="1" dirty="0">
                <a:solidFill>
                  <a:schemeClr val="tx2"/>
                </a:solidFill>
              </a:rPr>
              <a:t>TSR, listed on the SET</a:t>
            </a:r>
            <a:endParaRPr lang="en-US" sz="1200" dirty="0"/>
          </a:p>
        </p:txBody>
      </p:sp>
      <p:sp>
        <p:nvSpPr>
          <p:cNvPr id="18" name="s6-text-14"/>
          <p:cNvSpPr txBox="1"/>
          <p:nvPr/>
        </p:nvSpPr>
        <p:spPr>
          <a:xfrm>
            <a:off x="548640" y="5029200"/>
            <a:ext cx="2468880" cy="914400"/>
          </a:xfrm>
          <a:prstGeom prst="rect">
            <a:avLst/>
          </a:prstGeom>
          <a:noFill/>
          <a:ln/>
        </p:spPr>
        <p:txBody>
          <a:bodyPr wrap="square" lIns="0" tIns="0" rIns="0" bIns="0" rtlCol="0" anchor="t"/>
          <a:lstStyle/>
          <a:p>
            <a:pPr indent="0" marL="0">
              <a:buNone/>
            </a:pPr>
            <a:r>
              <a:rPr lang="en-US" sz="1050" i="1" dirty="0">
                <a:solidFill>
                  <a:schemeClr val="accent5"/>
                </a:solidFill>
              </a:rPr>
              <a:t>Facts as found by the SEC and the Civil Sanction Committee; no court has ruled yet.</a:t>
            </a:r>
            <a:endParaRPr lang="en-US" sz="1050" dirty="0"/>
          </a:p>
        </p:txBody>
      </p:sp>
      <p:sp>
        <p:nvSpPr>
          <p:cNvPr id="19" name="s6-box-15"/>
          <p:cNvSpPr/>
          <p:nvPr/>
        </p:nvSpPr>
        <p:spPr>
          <a:xfrm>
            <a:off x="3337560" y="1792224"/>
            <a:ext cx="5516575" cy="4334256"/>
          </a:xfrm>
          <a:prstGeom prst="rect">
            <a:avLst/>
          </a:prstGeom>
          <a:solidFill>
            <a:schemeClr val="bg2"/>
          </a:solidFill>
          <a:ln/>
        </p:spPr>
      </p:sp>
      <p:sp>
        <p:nvSpPr>
          <p:cNvPr id="20" name="s6-box-16"/>
          <p:cNvSpPr/>
          <p:nvPr/>
        </p:nvSpPr>
        <p:spPr>
          <a:xfrm>
            <a:off x="3520440" y="1975104"/>
            <a:ext cx="5150815" cy="1600200"/>
          </a:xfrm>
          <a:prstGeom prst="rect">
            <a:avLst/>
          </a:prstGeom>
          <a:solidFill>
            <a:schemeClr val="bg1"/>
          </a:solidFill>
          <a:ln w="12700">
            <a:solidFill>
              <a:schemeClr val="accent6"/>
            </a:solidFill>
            <a:prstDash val="solid"/>
          </a:ln>
        </p:spPr>
      </p:sp>
      <p:sp>
        <p:nvSpPr>
          <p:cNvPr id="21" name="s6-icon-bg-17"/>
          <p:cNvSpPr/>
          <p:nvPr/>
        </p:nvSpPr>
        <p:spPr>
          <a:xfrm>
            <a:off x="3749040" y="2432304"/>
            <a:ext cx="685800" cy="685800"/>
          </a:xfrm>
          <a:prstGeom prst="ellipse">
            <a:avLst/>
          </a:prstGeom>
          <a:solidFill>
            <a:schemeClr val="tx2"/>
          </a:solidFill>
          <a:ln/>
        </p:spPr>
      </p:sp>
      <p:pic>
        <p:nvPicPr>
          <p:cNvPr id="22" name="s6-icon-18" descr="preencoded.png">    </p:cNvPr>
          <p:cNvPicPr>
            <a:picLocks noChangeAspect="1"/>
          </p:cNvPicPr>
          <p:nvPr/>
        </p:nvPicPr>
        <p:blipFill>
          <a:blip r:embed="rId1"/>
          <a:stretch>
            <a:fillRect/>
          </a:stretch>
        </p:blipFill>
        <p:spPr>
          <a:xfrm>
            <a:off x="3920490" y="2603754"/>
            <a:ext cx="342900" cy="342900"/>
          </a:xfrm>
          <a:prstGeom prst="rect">
            <a:avLst/>
          </a:prstGeom>
        </p:spPr>
      </p:pic>
      <p:sp>
        <p:nvSpPr>
          <p:cNvPr id="23" name="s6-text-19"/>
          <p:cNvSpPr txBox="1"/>
          <p:nvPr/>
        </p:nvSpPr>
        <p:spPr>
          <a:xfrm>
            <a:off x="4663440" y="2203704"/>
            <a:ext cx="3779215" cy="292608"/>
          </a:xfrm>
          <a:prstGeom prst="rect">
            <a:avLst/>
          </a:prstGeom>
          <a:noFill/>
          <a:ln/>
        </p:spPr>
        <p:txBody>
          <a:bodyPr wrap="square" lIns="0" tIns="0" rIns="0" bIns="0" rtlCol="0" anchor="t"/>
          <a:lstStyle/>
          <a:p>
            <a:pPr indent="0" marL="0">
              <a:buNone/>
            </a:pPr>
            <a:r>
              <a:rPr lang="en-US" sz="1300" b="1" dirty="0">
                <a:solidFill>
                  <a:schemeClr val="tx2"/>
                </a:solidFill>
              </a:rPr>
              <a:t>1 · Hitting the offer (เคาะซื้อ)</a:t>
            </a:r>
            <a:endParaRPr lang="en-US" sz="1300" dirty="0"/>
          </a:p>
        </p:txBody>
      </p:sp>
      <p:sp>
        <p:nvSpPr>
          <p:cNvPr id="24" name="s6-text-20"/>
          <p:cNvSpPr txBox="1"/>
          <p:nvPr/>
        </p:nvSpPr>
        <p:spPr>
          <a:xfrm>
            <a:off x="4663440" y="2569464"/>
            <a:ext cx="3779215" cy="822960"/>
          </a:xfrm>
          <a:prstGeom prst="rect">
            <a:avLst/>
          </a:prstGeom>
          <a:noFill/>
          <a:ln/>
        </p:spPr>
        <p:txBody>
          <a:bodyPr wrap="square" lIns="0" tIns="0" rIns="0" bIns="0" rtlCol="0" anchor="t"/>
          <a:lstStyle/>
          <a:p>
            <a:pPr indent="0" marL="0">
              <a:buNone/>
            </a:pPr>
            <a:r>
              <a:rPr lang="en-US" sz="1200" dirty="0">
                <a:solidFill>
                  <a:schemeClr val="tx1"/>
                </a:solidFill>
              </a:rPr>
              <a:t>Placed buy orders against the sell side, sweeping the offers continuously to push the price up.</a:t>
            </a:r>
            <a:endParaRPr lang="en-US" sz="1200" dirty="0"/>
          </a:p>
        </p:txBody>
      </p:sp>
      <p:sp>
        <p:nvSpPr>
          <p:cNvPr id="25" name="s6-box-21"/>
          <p:cNvSpPr/>
          <p:nvPr/>
        </p:nvSpPr>
        <p:spPr>
          <a:xfrm>
            <a:off x="3520440" y="3758184"/>
            <a:ext cx="5150815" cy="1600200"/>
          </a:xfrm>
          <a:prstGeom prst="rect">
            <a:avLst/>
          </a:prstGeom>
          <a:solidFill>
            <a:schemeClr val="bg1"/>
          </a:solidFill>
          <a:ln w="12700">
            <a:solidFill>
              <a:schemeClr val="accent6"/>
            </a:solidFill>
            <a:prstDash val="solid"/>
          </a:ln>
        </p:spPr>
      </p:sp>
      <p:sp>
        <p:nvSpPr>
          <p:cNvPr id="26" name="s6-icon-bg-22"/>
          <p:cNvSpPr/>
          <p:nvPr/>
        </p:nvSpPr>
        <p:spPr>
          <a:xfrm>
            <a:off x="3749040" y="4215384"/>
            <a:ext cx="685800" cy="685800"/>
          </a:xfrm>
          <a:prstGeom prst="ellipse">
            <a:avLst/>
          </a:prstGeom>
          <a:solidFill>
            <a:schemeClr val="tx2"/>
          </a:solidFill>
          <a:ln/>
        </p:spPr>
      </p:sp>
      <p:pic>
        <p:nvPicPr>
          <p:cNvPr id="27" name="s6-icon-23" descr="preencoded.png">    </p:cNvPr>
          <p:cNvPicPr>
            <a:picLocks noChangeAspect="1"/>
          </p:cNvPicPr>
          <p:nvPr/>
        </p:nvPicPr>
        <p:blipFill>
          <a:blip r:embed="rId2"/>
          <a:stretch>
            <a:fillRect/>
          </a:stretch>
        </p:blipFill>
        <p:spPr>
          <a:xfrm>
            <a:off x="3920490" y="4386834"/>
            <a:ext cx="342900" cy="342900"/>
          </a:xfrm>
          <a:prstGeom prst="rect">
            <a:avLst/>
          </a:prstGeom>
        </p:spPr>
      </p:pic>
      <p:sp>
        <p:nvSpPr>
          <p:cNvPr id="28" name="s6-text-24"/>
          <p:cNvSpPr txBox="1"/>
          <p:nvPr/>
        </p:nvSpPr>
        <p:spPr>
          <a:xfrm>
            <a:off x="4663440" y="3986784"/>
            <a:ext cx="3779215" cy="292608"/>
          </a:xfrm>
          <a:prstGeom prst="rect">
            <a:avLst/>
          </a:prstGeom>
          <a:noFill/>
          <a:ln/>
        </p:spPr>
        <p:txBody>
          <a:bodyPr wrap="square" lIns="0" tIns="0" rIns="0" bIns="0" rtlCol="0" anchor="t"/>
          <a:lstStyle/>
          <a:p>
            <a:pPr indent="0" marL="0">
              <a:buNone/>
            </a:pPr>
            <a:r>
              <a:rPr lang="en-US" sz="1300" b="1" dirty="0">
                <a:solidFill>
                  <a:schemeClr val="tx2"/>
                </a:solidFill>
              </a:rPr>
              <a:t>2 · Holding the bid (ครอง Bid)</a:t>
            </a:r>
            <a:endParaRPr lang="en-US" sz="1300" dirty="0"/>
          </a:p>
        </p:txBody>
      </p:sp>
      <p:sp>
        <p:nvSpPr>
          <p:cNvPr id="29" name="s6-text-25"/>
          <p:cNvSpPr txBox="1"/>
          <p:nvPr/>
        </p:nvSpPr>
        <p:spPr>
          <a:xfrm>
            <a:off x="4663440" y="4352544"/>
            <a:ext cx="3779215" cy="822960"/>
          </a:xfrm>
          <a:prstGeom prst="rect">
            <a:avLst/>
          </a:prstGeom>
          <a:noFill/>
          <a:ln/>
        </p:spPr>
        <p:txBody>
          <a:bodyPr wrap="square" lIns="0" tIns="0" rIns="0" bIns="0" rtlCol="0" anchor="t"/>
          <a:lstStyle/>
          <a:p>
            <a:pPr indent="0" marL="0">
              <a:buNone/>
            </a:pPr>
            <a:r>
              <a:rPr lang="en-US" sz="1200" dirty="0">
                <a:solidFill>
                  <a:schemeClr val="tx1"/>
                </a:solidFill>
              </a:rPr>
              <a:t>Kept large buy orders at the 1st and 2nd best bid prices, so other buyers had to pay more.</a:t>
            </a:r>
            <a:endParaRPr lang="en-US" sz="1200" dirty="0"/>
          </a:p>
        </p:txBody>
      </p:sp>
      <p:sp>
        <p:nvSpPr>
          <p:cNvPr id="30" name="s6-text-26"/>
          <p:cNvSpPr txBox="1"/>
          <p:nvPr/>
        </p:nvSpPr>
        <p:spPr>
          <a:xfrm>
            <a:off x="3520440" y="5596128"/>
            <a:ext cx="5150815" cy="365760"/>
          </a:xfrm>
          <a:prstGeom prst="rect">
            <a:avLst/>
          </a:prstGeom>
          <a:noFill/>
          <a:ln/>
        </p:spPr>
        <p:txBody>
          <a:bodyPr wrap="square" lIns="0" tIns="0" rIns="0" bIns="0" rtlCol="0" anchor="ctr"/>
          <a:lstStyle/>
          <a:p>
            <a:pPr indent="0" marL="0">
              <a:buNone/>
            </a:pPr>
            <a:r>
              <a:rPr lang="en-US" sz="1200" i="1" dirty="0">
                <a:solidFill>
                  <a:schemeClr val="accent5"/>
                </a:solidFill>
              </a:rPr>
              <a:t>Both patterns were repeated day after day across the whole 47-day period.</a:t>
            </a:r>
            <a:endParaRPr lang="en-US" sz="1200" dirty="0"/>
          </a:p>
        </p:txBody>
      </p:sp>
      <p:sp>
        <p:nvSpPr>
          <p:cNvPr id="31" name="s6-box-27"/>
          <p:cNvSpPr/>
          <p:nvPr/>
        </p:nvSpPr>
        <p:spPr>
          <a:xfrm>
            <a:off x="8991295" y="1792224"/>
            <a:ext cx="2834640" cy="4334256"/>
          </a:xfrm>
          <a:prstGeom prst="rect">
            <a:avLst/>
          </a:prstGeom>
          <a:solidFill>
            <a:schemeClr val="bg2"/>
          </a:solidFill>
          <a:ln/>
        </p:spPr>
      </p:sp>
      <p:sp>
        <p:nvSpPr>
          <p:cNvPr id="32" name="s6-box-28"/>
          <p:cNvSpPr/>
          <p:nvPr/>
        </p:nvSpPr>
        <p:spPr>
          <a:xfrm>
            <a:off x="9174175" y="1975104"/>
            <a:ext cx="2468880" cy="1828800"/>
          </a:xfrm>
          <a:prstGeom prst="rect">
            <a:avLst/>
          </a:prstGeom>
          <a:solidFill>
            <a:srgbClr val="FFF3DC"/>
          </a:solidFill>
          <a:ln w="12700">
            <a:solidFill>
              <a:schemeClr val="accent4"/>
            </a:solidFill>
            <a:prstDash val="solid"/>
          </a:ln>
        </p:spPr>
      </p:sp>
      <p:sp>
        <p:nvSpPr>
          <p:cNvPr id="33" name="s6-text-29"/>
          <p:cNvSpPr txBox="1"/>
          <p:nvPr/>
        </p:nvSpPr>
        <p:spPr>
          <a:xfrm>
            <a:off x="9311335" y="1975104"/>
            <a:ext cx="2194560" cy="1828800"/>
          </a:xfrm>
          <a:prstGeom prst="rect">
            <a:avLst/>
          </a:prstGeom>
          <a:noFill/>
          <a:ln/>
        </p:spPr>
        <p:txBody>
          <a:bodyPr wrap="square" lIns="0" tIns="0" rIns="0" bIns="0" rtlCol="0" anchor="ctr"/>
          <a:lstStyle/>
          <a:p>
            <a:pPr indent="0" marL="0">
              <a:spcAft>
                <a:spcPts val="400"/>
              </a:spcAft>
              <a:buNone/>
            </a:pPr>
            <a:r>
              <a:rPr lang="en-US" sz="1300" b="1" dirty="0">
                <a:solidFill>
                  <a:schemeClr val="tx2"/>
                </a:solidFill>
              </a:rPr>
              <a:t>Price effect</a:t>
            </a:r>
            <a:endParaRPr lang="en-US" sz="1200" dirty="0"/>
          </a:p>
          <a:p>
            <a:pPr indent="0" marL="0">
              <a:spcAft>
                <a:spcPts val="400"/>
              </a:spcAft>
              <a:buNone/>
            </a:pPr>
            <a:r>
              <a:rPr lang="en-US" sz="1200" dirty="0">
                <a:solidFill>
                  <a:schemeClr val="tx1"/>
                </a:solidFill>
              </a:rPr>
              <a:t>TSR’s price rose step by step, driven by her orders rather than genuine demand.</a:t>
            </a:r>
            <a:endParaRPr lang="en-US" sz="1200" dirty="0"/>
          </a:p>
        </p:txBody>
      </p:sp>
      <p:sp>
        <p:nvSpPr>
          <p:cNvPr id="34" name="s6-text-30"/>
          <p:cNvSpPr txBox="1"/>
          <p:nvPr/>
        </p:nvSpPr>
        <p:spPr>
          <a:xfrm>
            <a:off x="9174175" y="3977640"/>
            <a:ext cx="2468880" cy="274320"/>
          </a:xfrm>
          <a:prstGeom prst="rect">
            <a:avLst/>
          </a:prstGeom>
          <a:noFill/>
          <a:ln/>
        </p:spPr>
        <p:txBody>
          <a:bodyPr wrap="square" lIns="0" tIns="0" rIns="0" bIns="0" rtlCol="0" anchor="t"/>
          <a:lstStyle/>
          <a:p>
            <a:pPr indent="0" marL="0">
              <a:buNone/>
            </a:pPr>
            <a:r>
              <a:rPr lang="en-US" sz="1300" b="1" dirty="0">
                <a:solidFill>
                  <a:schemeClr val="tx2"/>
                </a:solidFill>
              </a:rPr>
              <a:t>Used later in</a:t>
            </a:r>
            <a:endParaRPr lang="en-US" sz="1300" dirty="0"/>
          </a:p>
        </p:txBody>
      </p:sp>
      <p:sp>
        <p:nvSpPr>
          <p:cNvPr id="35" name="s6-chip-31"/>
          <p:cNvSpPr/>
          <p:nvPr/>
        </p:nvSpPr>
        <p:spPr>
          <a:xfrm>
            <a:off x="9174175" y="4315968"/>
            <a:ext cx="2468880" cy="777240"/>
          </a:xfrm>
          <a:prstGeom prst="rect">
            <a:avLst/>
          </a:prstGeom>
          <a:solidFill>
            <a:schemeClr val="accent2"/>
          </a:solidFill>
          <a:ln/>
        </p:spPr>
      </p:sp>
      <p:sp>
        <p:nvSpPr>
          <p:cNvPr id="36" name="s6-chip-text-32"/>
          <p:cNvSpPr txBox="1"/>
          <p:nvPr/>
        </p:nvSpPr>
        <p:spPr>
          <a:xfrm>
            <a:off x="9174175" y="4315968"/>
            <a:ext cx="2468880" cy="777240"/>
          </a:xfrm>
          <a:prstGeom prst="rect">
            <a:avLst/>
          </a:prstGeom>
          <a:noFill/>
          <a:ln/>
        </p:spPr>
        <p:txBody>
          <a:bodyPr wrap="square" lIns="50800" tIns="50800" rIns="50800" bIns="50800" rtlCol="0" anchor="ctr"/>
          <a:lstStyle/>
          <a:p>
            <a:pPr algn="ctr" indent="0" marL="0">
              <a:buNone/>
            </a:pPr>
            <a:r>
              <a:rPr lang="en-US" sz="1200" dirty="0">
                <a:solidFill>
                  <a:schemeClr val="tx1"/>
                </a:solidFill>
              </a:rPr>
              <a:t>Law</a:t>
            </a:r>
            <a:endParaRPr lang="en-US" sz="1200" dirty="0"/>
          </a:p>
          <a:p>
            <a:pPr algn="ctr" indent="0" marL="0">
              <a:buNone/>
            </a:pPr>
            <a:r>
              <a:rPr lang="en-US" sz="1200" b="1" dirty="0">
                <a:solidFill>
                  <a:schemeClr val="tx2"/>
                </a:solidFill>
              </a:rPr>
              <a:t>s.244/5(5): obstructing others</a:t>
            </a:r>
            <a:endParaRPr lang="en-US" sz="1200" dirty="0"/>
          </a:p>
        </p:txBody>
      </p:sp>
      <p:sp>
        <p:nvSpPr>
          <p:cNvPr id="37" name="s6-chip-33"/>
          <p:cNvSpPr/>
          <p:nvPr/>
        </p:nvSpPr>
        <p:spPr>
          <a:xfrm>
            <a:off x="9174175" y="5184648"/>
            <a:ext cx="2468880" cy="777240"/>
          </a:xfrm>
          <a:prstGeom prst="rect">
            <a:avLst/>
          </a:prstGeom>
          <a:solidFill>
            <a:schemeClr val="accent2"/>
          </a:solidFill>
          <a:ln/>
        </p:spPr>
      </p:sp>
      <p:sp>
        <p:nvSpPr>
          <p:cNvPr id="38" name="s6-chip-text-34"/>
          <p:cNvSpPr txBox="1"/>
          <p:nvPr/>
        </p:nvSpPr>
        <p:spPr>
          <a:xfrm>
            <a:off x="9174175" y="5184648"/>
            <a:ext cx="2468880" cy="777240"/>
          </a:xfrm>
          <a:prstGeom prst="rect">
            <a:avLst/>
          </a:prstGeom>
          <a:noFill/>
          <a:ln/>
        </p:spPr>
        <p:txBody>
          <a:bodyPr wrap="square" lIns="50800" tIns="50800" rIns="50800" bIns="50800" rtlCol="0" anchor="ctr"/>
          <a:lstStyle/>
          <a:p>
            <a:pPr algn="ctr" indent="0" marL="0">
              <a:buNone/>
            </a:pPr>
            <a:r>
              <a:rPr lang="en-US" sz="1200" dirty="0">
                <a:solidFill>
                  <a:schemeClr val="tx1"/>
                </a:solidFill>
              </a:rPr>
              <a:t>Analysis</a:t>
            </a:r>
            <a:endParaRPr lang="en-US" sz="1200" dirty="0"/>
          </a:p>
          <a:p>
            <a:pPr algn="ctr" indent="0" marL="0">
              <a:buNone/>
            </a:pPr>
            <a:r>
              <a:rPr lang="en-US" sz="1200" b="1" dirty="0">
                <a:solidFill>
                  <a:schemeClr val="tx2"/>
                </a:solidFill>
              </a:rPr>
              <a:t>s.244/3 (1) and (2)</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Facts: Inside the Order Book</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Group 3 illustration of the conduct described in Hoonsmart (24 Jan 2026)</a:t>
            </a:r>
            <a:endParaRPr lang="en-US" sz="1050" dirty="0"/>
          </a:p>
        </p:txBody>
      </p:sp>
      <p:sp>
        <p:nvSpPr>
          <p:cNvPr id="5" name="s7-subbar-1"/>
          <p:cNvSpPr/>
          <p:nvPr/>
        </p:nvSpPr>
        <p:spPr>
          <a:xfrm>
            <a:off x="365760" y="1353312"/>
            <a:ext cx="5486400" cy="347472"/>
          </a:xfrm>
          <a:prstGeom prst="rect">
            <a:avLst/>
          </a:prstGeom>
          <a:solidFill>
            <a:schemeClr val="tx2"/>
          </a:solidFill>
          <a:ln/>
        </p:spPr>
      </p:sp>
      <p:sp>
        <p:nvSpPr>
          <p:cNvPr id="6" name="s7-subbar-text-2"/>
          <p:cNvSpPr txBox="1"/>
          <p:nvPr/>
        </p:nvSpPr>
        <p:spPr>
          <a:xfrm>
            <a:off x="365760" y="1353312"/>
            <a:ext cx="5486400" cy="347472"/>
          </a:xfrm>
          <a:prstGeom prst="rect">
            <a:avLst/>
          </a:prstGeom>
          <a:noFill/>
          <a:ln/>
        </p:spPr>
        <p:txBody>
          <a:bodyPr wrap="square" lIns="0" tIns="0" rIns="0" bIns="0" rtlCol="0" anchor="ctr"/>
          <a:lstStyle/>
          <a:p>
            <a:pPr algn="ctr" indent="0" marL="0">
              <a:buNone/>
            </a:pPr>
            <a:r>
              <a:rPr lang="en-US" sz="1400" b="1" dirty="0">
                <a:solidFill>
                  <a:schemeClr val="bg1"/>
                </a:solidFill>
              </a:rPr>
              <a:t>Hypothetical Order Book</a:t>
            </a:r>
            <a:endParaRPr lang="en-US" sz="1400" dirty="0"/>
          </a:p>
        </p:txBody>
      </p:sp>
      <p:graphicFrame>
        <p:nvGraphicFramePr>
          <p:cNvPr id="8" name="s7-table-3"/>
          <p:cNvGraphicFramePr>
            <a:graphicFrameLocks noGrp="1"/>
          </p:cNvGraphicFramePr>
          <p:nvPr>
            <p:extLst>
              <p:ext uri="{D42A27DB-BD31-4B8C-83A1-F6EECF244321}">
                <p14:modId xmlns:p14="http://schemas.microsoft.com/office/powerpoint/2010/main" val="1579011935"/>
              </p:ext>
            </p:extLst>
          </p:nvPr>
        </p:nvGraphicFramePr>
        <p:xfrm>
          <a:off x="365760" y="1792224"/>
          <a:ext cx="5486400" cy="914400"/>
        </p:xfrm>
        <a:graphic>
          <a:graphicData uri="http://schemas.openxmlformats.org/drawingml/2006/table">
            <a:tbl>
              <a:tblPr/>
              <a:tblGrid>
                <a:gridCol w="1371600"/>
                <a:gridCol w="1371600"/>
                <a:gridCol w="1371600"/>
                <a:gridCol w="1371600"/>
              </a:tblGrid>
              <a:tr h="384048">
                <a:tc>
                  <a:txBody>
                    <a:bodyPr/>
                    <a:lstStyle/>
                    <a:p>
                      <a:pPr algn="ctr" indent="0" marL="0">
                        <a:buNone/>
                      </a:pPr>
                      <a:r>
                        <a:rPr lang="en-US" sz="1200" b="1" dirty="0">
                          <a:solidFill>
                            <a:schemeClr val="bg1"/>
                          </a:solidFill>
                        </a:rPr>
                        <a:t>Bid volume</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Bid</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Offer</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Offer volume</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457200">
                <a:tc>
                  <a:txBody>
                    <a:bodyPr/>
                    <a:lstStyle/>
                    <a:p>
                      <a:pPr algn="ctr" indent="0" marL="0">
                        <a:buNone/>
                      </a:pPr>
                      <a:r>
                        <a:rPr lang="en-US" sz="1200" b="1" dirty="0">
                          <a:solidFill>
                            <a:schemeClr val="accent4"/>
                          </a:solidFill>
                        </a:rPr>
                        <a:t>2,500,000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c>
                  <a:txBody>
                    <a:bodyPr/>
                    <a:lstStyle/>
                    <a:p>
                      <a:pPr algn="ctr" indent="0" marL="0">
                        <a:buNone/>
                      </a:pPr>
                      <a:r>
                        <a:rPr lang="en-US" sz="1200" b="1" dirty="0">
                          <a:solidFill>
                            <a:schemeClr val="accent4"/>
                          </a:solidFill>
                        </a:rPr>
                        <a:t>3.80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c>
                  <a:txBody>
                    <a:bodyPr/>
                    <a:lstStyle/>
                    <a:p>
                      <a:pPr algn="ctr" indent="0" marL="0">
                        <a:buNone/>
                      </a:pPr>
                      <a:r>
                        <a:rPr lang="en-US" sz="1200" dirty="0">
                          <a:solidFill>
                            <a:schemeClr val="tx1"/>
                          </a:solidFill>
                        </a:rPr>
                        <a:t>3.82</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40,000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algn="ctr" indent="0" marL="0">
                        <a:buNone/>
                      </a:pPr>
                      <a:r>
                        <a:rPr lang="en-US" sz="1200" b="1" dirty="0">
                          <a:solidFill>
                            <a:schemeClr val="accent4"/>
                          </a:solidFill>
                        </a:rPr>
                        <a:t>1,800,000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c>
                  <a:txBody>
                    <a:bodyPr/>
                    <a:lstStyle/>
                    <a:p>
                      <a:pPr algn="ctr" indent="0" marL="0">
                        <a:buNone/>
                      </a:pPr>
                      <a:r>
                        <a:rPr lang="en-US" sz="1200" b="1" dirty="0">
                          <a:solidFill>
                            <a:schemeClr val="accent4"/>
                          </a:solidFill>
                        </a:rPr>
                        <a:t>3.78</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c>
                  <a:txBody>
                    <a:bodyPr/>
                    <a:lstStyle/>
                    <a:p>
                      <a:pPr algn="ctr" indent="0" marL="0">
                        <a:buNone/>
                      </a:pPr>
                      <a:r>
                        <a:rPr lang="en-US" sz="1200" dirty="0">
                          <a:solidFill>
                            <a:schemeClr val="tx1"/>
                          </a:solidFill>
                        </a:rPr>
                        <a:t>3.84</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55,000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457200">
                <a:tc>
                  <a:txBody>
                    <a:bodyPr/>
                    <a:lstStyle/>
                    <a:p>
                      <a:pPr algn="ctr" indent="0" marL="0">
                        <a:buNone/>
                      </a:pPr>
                      <a:r>
                        <a:rPr lang="en-US" sz="1200" dirty="0">
                          <a:solidFill>
                            <a:schemeClr val="tx1"/>
                          </a:solidFill>
                        </a:rPr>
                        <a:t>60,000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3.76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3.86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chemeClr val="tx1"/>
                          </a:solidFill>
                        </a:rPr>
                        <a:t>45,000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3.74</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3.88</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70,000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457200">
                <a:tc>
                  <a:txBody>
                    <a:bodyPr/>
                    <a:lstStyle/>
                    <a:p>
                      <a:pPr algn="ctr" indent="0" marL="0">
                        <a:buNone/>
                      </a:pPr>
                      <a:r>
                        <a:rPr lang="en-US" sz="1200" dirty="0">
                          <a:solidFill>
                            <a:schemeClr val="tx1"/>
                          </a:solidFill>
                        </a:rPr>
                        <a:t>30,000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3.72</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3.90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25,000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8" name="s7-box-4"/>
          <p:cNvSpPr/>
          <p:nvPr/>
        </p:nvSpPr>
        <p:spPr>
          <a:xfrm>
            <a:off x="365760" y="4599432"/>
            <a:ext cx="256032" cy="256032"/>
          </a:xfrm>
          <a:prstGeom prst="rect">
            <a:avLst/>
          </a:prstGeom>
          <a:solidFill>
            <a:srgbClr val="FFF3DC"/>
          </a:solidFill>
          <a:ln w="12700">
            <a:solidFill>
              <a:schemeClr val="accent4"/>
            </a:solidFill>
            <a:prstDash val="solid"/>
          </a:ln>
        </p:spPr>
      </p:sp>
      <p:sp>
        <p:nvSpPr>
          <p:cNvPr id="9" name="s7-text-5"/>
          <p:cNvSpPr txBox="1"/>
          <p:nvPr/>
        </p:nvSpPr>
        <p:spPr>
          <a:xfrm>
            <a:off x="749808" y="4572000"/>
            <a:ext cx="5102352" cy="310896"/>
          </a:xfrm>
          <a:prstGeom prst="rect">
            <a:avLst/>
          </a:prstGeom>
          <a:noFill/>
          <a:ln/>
        </p:spPr>
        <p:txBody>
          <a:bodyPr wrap="square" lIns="0" tIns="0" rIns="0" bIns="0" rtlCol="0" anchor="ctr"/>
          <a:lstStyle/>
          <a:p>
            <a:pPr indent="0" marL="0">
              <a:buNone/>
            </a:pPr>
            <a:r>
              <a:rPr lang="en-US" sz="1200" dirty="0">
                <a:solidFill>
                  <a:schemeClr val="tx1"/>
                </a:solidFill>
              </a:rPr>
              <a:t>Her large bid orders at levels 1 and 2</a:t>
            </a:r>
            <a:endParaRPr lang="en-US" sz="1200" dirty="0"/>
          </a:p>
        </p:txBody>
      </p:sp>
      <p:sp>
        <p:nvSpPr>
          <p:cNvPr id="10" name="s7-box-6"/>
          <p:cNvSpPr/>
          <p:nvPr/>
        </p:nvSpPr>
        <p:spPr>
          <a:xfrm>
            <a:off x="365760" y="5010912"/>
            <a:ext cx="5486400" cy="1115568"/>
          </a:xfrm>
          <a:prstGeom prst="rect">
            <a:avLst/>
          </a:prstGeom>
          <a:solidFill>
            <a:schemeClr val="bg2"/>
          </a:solidFill>
          <a:ln/>
        </p:spPr>
      </p:sp>
      <p:sp>
        <p:nvSpPr>
          <p:cNvPr id="11" name="s7-text-7"/>
          <p:cNvSpPr txBox="1"/>
          <p:nvPr/>
        </p:nvSpPr>
        <p:spPr>
          <a:xfrm>
            <a:off x="548640" y="5010912"/>
            <a:ext cx="5120640" cy="1115568"/>
          </a:xfrm>
          <a:prstGeom prst="rect">
            <a:avLst/>
          </a:prstGeom>
          <a:noFill/>
          <a:ln/>
        </p:spPr>
        <p:txBody>
          <a:bodyPr wrap="square" lIns="0" tIns="0" rIns="0" bIns="0" rtlCol="0" anchor="ctr"/>
          <a:lstStyle/>
          <a:p>
            <a:pPr indent="0" marL="0">
              <a:spcAft>
                <a:spcPts val="300"/>
              </a:spcAft>
              <a:buNone/>
            </a:pPr>
            <a:r>
              <a:rPr lang="en-US" sz="1300" b="1" dirty="0">
                <a:solidFill>
                  <a:schemeClr val="tx2"/>
                </a:solidFill>
              </a:rPr>
              <a:t>Reading the board</a:t>
            </a:r>
            <a:endParaRPr lang="en-US" sz="1200" dirty="0"/>
          </a:p>
          <a:p>
            <a:pPr indent="0" marL="0">
              <a:spcAft>
                <a:spcPts val="300"/>
              </a:spcAft>
              <a:buNone/>
            </a:pPr>
            <a:r>
              <a:rPr lang="en-US" sz="1200" dirty="0">
                <a:solidFill>
                  <a:schemeClr val="tx1"/>
                </a:solidFill>
              </a:rPr>
              <a:t>Left = Bid (buyers’ orders) · Right = Offer (sellers’ orders).</a:t>
            </a:r>
            <a:endParaRPr lang="en-US" sz="1200" dirty="0"/>
          </a:p>
          <a:p>
            <a:pPr indent="0" marL="0">
              <a:spcAft>
                <a:spcPts val="300"/>
              </a:spcAft>
              <a:buNone/>
            </a:pPr>
            <a:r>
              <a:rPr lang="en-US" sz="1050" i="1" dirty="0">
                <a:solidFill>
                  <a:schemeClr val="accent5"/>
                </a:solidFill>
              </a:rPr>
              <a:t>Illustration only: the numbers are hypothetical, not actual TSR data.</a:t>
            </a:r>
            <a:endParaRPr lang="en-US" sz="1200" dirty="0"/>
          </a:p>
        </p:txBody>
      </p:sp>
      <p:sp>
        <p:nvSpPr>
          <p:cNvPr id="12" name="s7-subbar-8"/>
          <p:cNvSpPr/>
          <p:nvPr/>
        </p:nvSpPr>
        <p:spPr>
          <a:xfrm>
            <a:off x="5989320" y="1353312"/>
            <a:ext cx="5836615" cy="347472"/>
          </a:xfrm>
          <a:prstGeom prst="rect">
            <a:avLst/>
          </a:prstGeom>
          <a:solidFill>
            <a:schemeClr val="tx2"/>
          </a:solidFill>
          <a:ln/>
        </p:spPr>
      </p:sp>
      <p:sp>
        <p:nvSpPr>
          <p:cNvPr id="13" name="s7-subbar-text-9"/>
          <p:cNvSpPr txBox="1"/>
          <p:nvPr/>
        </p:nvSpPr>
        <p:spPr>
          <a:xfrm>
            <a:off x="5989320" y="1353312"/>
            <a:ext cx="5836615" cy="347472"/>
          </a:xfrm>
          <a:prstGeom prst="rect">
            <a:avLst/>
          </a:prstGeom>
          <a:noFill/>
          <a:ln/>
        </p:spPr>
        <p:txBody>
          <a:bodyPr wrap="square" lIns="0" tIns="0" rIns="0" bIns="0" rtlCol="0" anchor="ctr"/>
          <a:lstStyle/>
          <a:p>
            <a:pPr algn="ctr" indent="0" marL="0">
              <a:buNone/>
            </a:pPr>
            <a:r>
              <a:rPr lang="en-US" sz="1400" b="1" dirty="0">
                <a:solidFill>
                  <a:schemeClr val="bg1"/>
                </a:solidFill>
              </a:rPr>
              <a:t>How the Pattern Works</a:t>
            </a:r>
            <a:endParaRPr lang="en-US" sz="1400" dirty="0"/>
          </a:p>
        </p:txBody>
      </p:sp>
      <p:sp>
        <p:nvSpPr>
          <p:cNvPr id="14" name="s7-box-10"/>
          <p:cNvSpPr/>
          <p:nvPr/>
        </p:nvSpPr>
        <p:spPr>
          <a:xfrm>
            <a:off x="5989320" y="1792224"/>
            <a:ext cx="5836615" cy="1371600"/>
          </a:xfrm>
          <a:prstGeom prst="rect">
            <a:avLst/>
          </a:prstGeom>
          <a:solidFill>
            <a:schemeClr val="bg2"/>
          </a:solidFill>
          <a:ln/>
        </p:spPr>
      </p:sp>
      <p:sp>
        <p:nvSpPr>
          <p:cNvPr id="15" name="s7-num-11"/>
          <p:cNvSpPr/>
          <p:nvPr/>
        </p:nvSpPr>
        <p:spPr>
          <a:xfrm>
            <a:off x="6263640" y="2194560"/>
            <a:ext cx="566928" cy="566928"/>
          </a:xfrm>
          <a:prstGeom prst="ellipse">
            <a:avLst/>
          </a:prstGeom>
          <a:solidFill>
            <a:schemeClr val="tx2"/>
          </a:solidFill>
          <a:ln/>
        </p:spPr>
      </p:sp>
      <p:sp>
        <p:nvSpPr>
          <p:cNvPr id="16" name="s7-num-text-12"/>
          <p:cNvSpPr txBox="1"/>
          <p:nvPr/>
        </p:nvSpPr>
        <p:spPr>
          <a:xfrm>
            <a:off x="6263640" y="21945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7" name="s7-text-13"/>
          <p:cNvSpPr txBox="1"/>
          <p:nvPr/>
        </p:nvSpPr>
        <p:spPr>
          <a:xfrm>
            <a:off x="7086600" y="2020824"/>
            <a:ext cx="4510735" cy="292608"/>
          </a:xfrm>
          <a:prstGeom prst="rect">
            <a:avLst/>
          </a:prstGeom>
          <a:noFill/>
          <a:ln/>
        </p:spPr>
        <p:txBody>
          <a:bodyPr wrap="square" lIns="0" tIns="0" rIns="0" bIns="0" rtlCol="0" anchor="t"/>
          <a:lstStyle/>
          <a:p>
            <a:pPr indent="0" marL="0">
              <a:buNone/>
            </a:pPr>
            <a:r>
              <a:rPr lang="en-US" sz="1300" b="1" dirty="0">
                <a:solidFill>
                  <a:schemeClr val="tx2"/>
                </a:solidFill>
              </a:rPr>
              <a:t>Sweep</a:t>
            </a:r>
            <a:endParaRPr lang="en-US" sz="1300" dirty="0"/>
          </a:p>
        </p:txBody>
      </p:sp>
      <p:sp>
        <p:nvSpPr>
          <p:cNvPr id="18" name="s7-text-14"/>
          <p:cNvSpPr txBox="1"/>
          <p:nvPr/>
        </p:nvSpPr>
        <p:spPr>
          <a:xfrm>
            <a:off x="7086600" y="2359152"/>
            <a:ext cx="4510735" cy="640080"/>
          </a:xfrm>
          <a:prstGeom prst="rect">
            <a:avLst/>
          </a:prstGeom>
          <a:noFill/>
          <a:ln/>
        </p:spPr>
        <p:txBody>
          <a:bodyPr wrap="square" lIns="0" tIns="0" rIns="0" bIns="0" rtlCol="0" anchor="t"/>
          <a:lstStyle/>
          <a:p>
            <a:pPr indent="0" marL="0">
              <a:buNone/>
            </a:pPr>
            <a:r>
              <a:rPr lang="en-US" sz="1200" dirty="0">
                <a:solidFill>
                  <a:schemeClr val="tx1"/>
                </a:solidFill>
              </a:rPr>
              <a:t>She buys up every offer at 3.82, so the last traded price ticks up.</a:t>
            </a:r>
            <a:endParaRPr lang="en-US" sz="1200" dirty="0"/>
          </a:p>
        </p:txBody>
      </p:sp>
      <p:sp>
        <p:nvSpPr>
          <p:cNvPr id="19" name="s7-box-15"/>
          <p:cNvSpPr/>
          <p:nvPr/>
        </p:nvSpPr>
        <p:spPr>
          <a:xfrm>
            <a:off x="5989320" y="3273552"/>
            <a:ext cx="5836615" cy="1371600"/>
          </a:xfrm>
          <a:prstGeom prst="rect">
            <a:avLst/>
          </a:prstGeom>
          <a:solidFill>
            <a:schemeClr val="bg2"/>
          </a:solidFill>
          <a:ln/>
        </p:spPr>
      </p:sp>
      <p:sp>
        <p:nvSpPr>
          <p:cNvPr id="20" name="s7-num-16"/>
          <p:cNvSpPr/>
          <p:nvPr/>
        </p:nvSpPr>
        <p:spPr>
          <a:xfrm>
            <a:off x="6263640" y="3675888"/>
            <a:ext cx="566928" cy="566928"/>
          </a:xfrm>
          <a:prstGeom prst="ellipse">
            <a:avLst/>
          </a:prstGeom>
          <a:solidFill>
            <a:schemeClr val="tx2"/>
          </a:solidFill>
          <a:ln/>
        </p:spPr>
      </p:sp>
      <p:sp>
        <p:nvSpPr>
          <p:cNvPr id="21" name="s7-num-text-17"/>
          <p:cNvSpPr txBox="1"/>
          <p:nvPr/>
        </p:nvSpPr>
        <p:spPr>
          <a:xfrm>
            <a:off x="6263640" y="3675888"/>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2" name="s7-text-18"/>
          <p:cNvSpPr txBox="1"/>
          <p:nvPr/>
        </p:nvSpPr>
        <p:spPr>
          <a:xfrm>
            <a:off x="7086600" y="3502152"/>
            <a:ext cx="4510735" cy="292608"/>
          </a:xfrm>
          <a:prstGeom prst="rect">
            <a:avLst/>
          </a:prstGeom>
          <a:noFill/>
          <a:ln/>
        </p:spPr>
        <p:txBody>
          <a:bodyPr wrap="square" lIns="0" tIns="0" rIns="0" bIns="0" rtlCol="0" anchor="t"/>
          <a:lstStyle/>
          <a:p>
            <a:pPr indent="0" marL="0">
              <a:buNone/>
            </a:pPr>
            <a:r>
              <a:rPr lang="en-US" sz="1300" b="1" dirty="0">
                <a:solidFill>
                  <a:schemeClr val="tx2"/>
                </a:solidFill>
              </a:rPr>
              <a:t>Wall</a:t>
            </a:r>
            <a:endParaRPr lang="en-US" sz="1300" dirty="0"/>
          </a:p>
        </p:txBody>
      </p:sp>
      <p:sp>
        <p:nvSpPr>
          <p:cNvPr id="23" name="s7-text-19"/>
          <p:cNvSpPr txBox="1"/>
          <p:nvPr/>
        </p:nvSpPr>
        <p:spPr>
          <a:xfrm>
            <a:off x="7086600" y="3840480"/>
            <a:ext cx="4510735" cy="640080"/>
          </a:xfrm>
          <a:prstGeom prst="rect">
            <a:avLst/>
          </a:prstGeom>
          <a:noFill/>
          <a:ln/>
        </p:spPr>
        <p:txBody>
          <a:bodyPr wrap="square" lIns="0" tIns="0" rIns="0" bIns="0" rtlCol="0" anchor="t"/>
          <a:lstStyle/>
          <a:p>
            <a:pPr indent="0" marL="0">
              <a:buNone/>
            </a:pPr>
            <a:r>
              <a:rPr lang="en-US" sz="1200" dirty="0">
                <a:solidFill>
                  <a:schemeClr val="tx1"/>
                </a:solidFill>
              </a:rPr>
              <a:t>She parks huge bids at 3.80 and 3.78; the board shows ‘strong demand’.</a:t>
            </a:r>
            <a:endParaRPr lang="en-US" sz="1200" dirty="0"/>
          </a:p>
        </p:txBody>
      </p:sp>
      <p:sp>
        <p:nvSpPr>
          <p:cNvPr id="24" name="s7-box-20"/>
          <p:cNvSpPr/>
          <p:nvPr/>
        </p:nvSpPr>
        <p:spPr>
          <a:xfrm>
            <a:off x="5989320" y="4754880"/>
            <a:ext cx="5836615" cy="1371600"/>
          </a:xfrm>
          <a:prstGeom prst="rect">
            <a:avLst/>
          </a:prstGeom>
          <a:solidFill>
            <a:schemeClr val="bg2"/>
          </a:solidFill>
          <a:ln/>
        </p:spPr>
      </p:sp>
      <p:sp>
        <p:nvSpPr>
          <p:cNvPr id="25" name="s7-num-21"/>
          <p:cNvSpPr/>
          <p:nvPr/>
        </p:nvSpPr>
        <p:spPr>
          <a:xfrm>
            <a:off x="6263640" y="5157216"/>
            <a:ext cx="566928" cy="566928"/>
          </a:xfrm>
          <a:prstGeom prst="ellipse">
            <a:avLst/>
          </a:prstGeom>
          <a:solidFill>
            <a:schemeClr val="tx2"/>
          </a:solidFill>
          <a:ln/>
        </p:spPr>
      </p:sp>
      <p:sp>
        <p:nvSpPr>
          <p:cNvPr id="26" name="s7-num-text-22"/>
          <p:cNvSpPr txBox="1"/>
          <p:nvPr/>
        </p:nvSpPr>
        <p:spPr>
          <a:xfrm>
            <a:off x="6263640" y="5157216"/>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7" name="s7-text-23"/>
          <p:cNvSpPr txBox="1"/>
          <p:nvPr/>
        </p:nvSpPr>
        <p:spPr>
          <a:xfrm>
            <a:off x="7086600" y="4983480"/>
            <a:ext cx="4510735" cy="292608"/>
          </a:xfrm>
          <a:prstGeom prst="rect">
            <a:avLst/>
          </a:prstGeom>
          <a:noFill/>
          <a:ln/>
        </p:spPr>
        <p:txBody>
          <a:bodyPr wrap="square" lIns="0" tIns="0" rIns="0" bIns="0" rtlCol="0" anchor="t"/>
          <a:lstStyle/>
          <a:p>
            <a:pPr indent="0" marL="0">
              <a:buNone/>
            </a:pPr>
            <a:r>
              <a:rPr lang="en-US" sz="1300" b="1" dirty="0">
                <a:solidFill>
                  <a:schemeClr val="tx2"/>
                </a:solidFill>
              </a:rPr>
              <a:t>Squeeze</a:t>
            </a:r>
            <a:endParaRPr lang="en-US" sz="1300" dirty="0"/>
          </a:p>
        </p:txBody>
      </p:sp>
      <p:sp>
        <p:nvSpPr>
          <p:cNvPr id="28" name="s7-text-24"/>
          <p:cNvSpPr txBox="1"/>
          <p:nvPr/>
        </p:nvSpPr>
        <p:spPr>
          <a:xfrm>
            <a:off x="7086600" y="5321808"/>
            <a:ext cx="4510735" cy="640080"/>
          </a:xfrm>
          <a:prstGeom prst="rect">
            <a:avLst/>
          </a:prstGeom>
          <a:noFill/>
          <a:ln/>
        </p:spPr>
        <p:txBody>
          <a:bodyPr wrap="square" lIns="0" tIns="0" rIns="0" bIns="0" rtlCol="0" anchor="t"/>
          <a:lstStyle/>
          <a:p>
            <a:pPr indent="0" marL="0">
              <a:buNone/>
            </a:pPr>
            <a:r>
              <a:rPr lang="en-US" sz="1200" dirty="0">
                <a:solidFill>
                  <a:schemeClr val="tx1"/>
                </a:solidFill>
              </a:rPr>
              <a:t>Real buyers cannot get filled at the bid, so they pay the offer or higher. Repeat.</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Facts: The Motive — Why Push TSR Up?</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(24 Jan 2026); Mitihoon (23 Jan 2026); Securities and Exchange Act s.244/3(2)</a:t>
            </a:r>
            <a:endParaRPr lang="en-US" sz="1050" dirty="0"/>
          </a:p>
        </p:txBody>
      </p:sp>
      <p:sp>
        <p:nvSpPr>
          <p:cNvPr id="5" name="s8-subbar-1"/>
          <p:cNvSpPr/>
          <p:nvPr/>
        </p:nvSpPr>
        <p:spPr>
          <a:xfrm>
            <a:off x="365760" y="1353312"/>
            <a:ext cx="11460175" cy="347472"/>
          </a:xfrm>
          <a:prstGeom prst="rect">
            <a:avLst/>
          </a:prstGeom>
          <a:solidFill>
            <a:schemeClr val="tx2"/>
          </a:solidFill>
          <a:ln/>
        </p:spPr>
      </p:sp>
      <p:sp>
        <p:nvSpPr>
          <p:cNvPr id="6" name="s8-subbar-text-2"/>
          <p:cNvSpPr txBox="1"/>
          <p:nvPr/>
        </p:nvSpPr>
        <p:spPr>
          <a:xfrm>
            <a:off x="365760" y="1353312"/>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Motive 1 · Make SABUY’s Profit Look Better</a:t>
            </a:r>
            <a:endParaRPr lang="en-US" sz="1400" dirty="0"/>
          </a:p>
        </p:txBody>
      </p:sp>
      <p:sp>
        <p:nvSpPr>
          <p:cNvPr id="7" name="s8-box-3"/>
          <p:cNvSpPr/>
          <p:nvPr/>
        </p:nvSpPr>
        <p:spPr>
          <a:xfrm>
            <a:off x="365760" y="1792224"/>
            <a:ext cx="2522144" cy="1371600"/>
          </a:xfrm>
          <a:prstGeom prst="rect">
            <a:avLst/>
          </a:prstGeom>
          <a:solidFill>
            <a:schemeClr val="bg2"/>
          </a:solidFill>
          <a:ln/>
        </p:spPr>
      </p:sp>
      <p:sp>
        <p:nvSpPr>
          <p:cNvPr id="8" name="s8-text-4"/>
          <p:cNvSpPr txBox="1"/>
          <p:nvPr/>
        </p:nvSpPr>
        <p:spPr>
          <a:xfrm>
            <a:off x="548640" y="1975104"/>
            <a:ext cx="2156384" cy="548640"/>
          </a:xfrm>
          <a:prstGeom prst="rect">
            <a:avLst/>
          </a:prstGeom>
          <a:noFill/>
          <a:ln/>
        </p:spPr>
        <p:txBody>
          <a:bodyPr wrap="square" lIns="0" tIns="0" rIns="0" bIns="0" rtlCol="0" anchor="ctr"/>
          <a:lstStyle/>
          <a:p>
            <a:pPr indent="0" marL="0">
              <a:buNone/>
            </a:pPr>
            <a:r>
              <a:rPr lang="en-US" sz="1300" b="1" dirty="0">
                <a:solidFill>
                  <a:schemeClr val="tx2"/>
                </a:solidFill>
              </a:rPr>
              <a:t>Push TSR’s price up</a:t>
            </a:r>
            <a:endParaRPr lang="en-US" sz="1300" dirty="0"/>
          </a:p>
        </p:txBody>
      </p:sp>
      <p:sp>
        <p:nvSpPr>
          <p:cNvPr id="9" name="s8-text-5"/>
          <p:cNvSpPr txBox="1"/>
          <p:nvPr/>
        </p:nvSpPr>
        <p:spPr>
          <a:xfrm>
            <a:off x="548640" y="2569464"/>
            <a:ext cx="2156384" cy="457200"/>
          </a:xfrm>
          <a:prstGeom prst="rect">
            <a:avLst/>
          </a:prstGeom>
          <a:noFill/>
          <a:ln/>
        </p:spPr>
        <p:txBody>
          <a:bodyPr wrap="square" lIns="0" tIns="0" rIns="0" bIns="0" rtlCol="0" anchor="t"/>
          <a:lstStyle/>
          <a:p>
            <a:pPr indent="0" marL="0">
              <a:buNone/>
            </a:pPr>
            <a:r>
              <a:rPr lang="en-US" sz="1200" dirty="0">
                <a:solidFill>
                  <a:schemeClr val="tx1"/>
                </a:solidFill>
              </a:rPr>
              <a:t>Buy-side pressure from 22 Jun 2022</a:t>
            </a:r>
            <a:endParaRPr lang="en-US" sz="1200" dirty="0"/>
          </a:p>
        </p:txBody>
      </p:sp>
      <p:sp>
        <p:nvSpPr>
          <p:cNvPr id="10" name="s8-arrow-6"/>
          <p:cNvSpPr/>
          <p:nvPr/>
        </p:nvSpPr>
        <p:spPr>
          <a:xfrm>
            <a:off x="2970200" y="2313432"/>
            <a:ext cx="292608" cy="329184"/>
          </a:xfrm>
          <a:prstGeom prst="rightArrow">
            <a:avLst/>
          </a:prstGeom>
          <a:solidFill>
            <a:schemeClr val="tx2"/>
          </a:solidFill>
          <a:ln/>
        </p:spPr>
      </p:sp>
      <p:sp>
        <p:nvSpPr>
          <p:cNvPr id="11" name="s8-box-7"/>
          <p:cNvSpPr/>
          <p:nvPr/>
        </p:nvSpPr>
        <p:spPr>
          <a:xfrm>
            <a:off x="3345104" y="1792224"/>
            <a:ext cx="2522144" cy="1371600"/>
          </a:xfrm>
          <a:prstGeom prst="rect">
            <a:avLst/>
          </a:prstGeom>
          <a:solidFill>
            <a:schemeClr val="bg2"/>
          </a:solidFill>
          <a:ln/>
        </p:spPr>
      </p:sp>
      <p:sp>
        <p:nvSpPr>
          <p:cNvPr id="12" name="s8-text-8"/>
          <p:cNvSpPr txBox="1"/>
          <p:nvPr/>
        </p:nvSpPr>
        <p:spPr>
          <a:xfrm>
            <a:off x="3527984" y="1975104"/>
            <a:ext cx="2156384" cy="548640"/>
          </a:xfrm>
          <a:prstGeom prst="rect">
            <a:avLst/>
          </a:prstGeom>
          <a:noFill/>
          <a:ln/>
        </p:spPr>
        <p:txBody>
          <a:bodyPr wrap="square" lIns="0" tIns="0" rIns="0" bIns="0" rtlCol="0" anchor="ctr"/>
          <a:lstStyle/>
          <a:p>
            <a:pPr indent="0" marL="0">
              <a:buNone/>
            </a:pPr>
            <a:r>
              <a:rPr lang="en-US" sz="1300" b="1" dirty="0">
                <a:solidFill>
                  <a:schemeClr val="tx2"/>
                </a:solidFill>
              </a:rPr>
              <a:t>Quarter-end: 30 Jun 2022</a:t>
            </a:r>
            <a:endParaRPr lang="en-US" sz="1300" dirty="0"/>
          </a:p>
        </p:txBody>
      </p:sp>
      <p:sp>
        <p:nvSpPr>
          <p:cNvPr id="13" name="s8-text-9"/>
          <p:cNvSpPr txBox="1"/>
          <p:nvPr/>
        </p:nvSpPr>
        <p:spPr>
          <a:xfrm>
            <a:off x="3527984" y="2569464"/>
            <a:ext cx="2156384" cy="457200"/>
          </a:xfrm>
          <a:prstGeom prst="rect">
            <a:avLst/>
          </a:prstGeom>
          <a:noFill/>
          <a:ln/>
        </p:spPr>
        <p:txBody>
          <a:bodyPr wrap="square" lIns="0" tIns="0" rIns="0" bIns="0" rtlCol="0" anchor="t"/>
          <a:lstStyle/>
          <a:p>
            <a:pPr indent="0" marL="0">
              <a:buNone/>
            </a:pPr>
            <a:r>
              <a:rPr lang="en-US" sz="1200" dirty="0">
                <a:solidFill>
                  <a:schemeClr val="tx1"/>
                </a:solidFill>
              </a:rPr>
              <a:t>Q2/2022 closes 8 days later</a:t>
            </a:r>
            <a:endParaRPr lang="en-US" sz="1200" dirty="0"/>
          </a:p>
        </p:txBody>
      </p:sp>
      <p:sp>
        <p:nvSpPr>
          <p:cNvPr id="14" name="s8-arrow-10"/>
          <p:cNvSpPr/>
          <p:nvPr/>
        </p:nvSpPr>
        <p:spPr>
          <a:xfrm>
            <a:off x="5949544" y="2313432"/>
            <a:ext cx="292608" cy="329184"/>
          </a:xfrm>
          <a:prstGeom prst="rightArrow">
            <a:avLst/>
          </a:prstGeom>
          <a:solidFill>
            <a:schemeClr val="tx2"/>
          </a:solidFill>
          <a:ln/>
        </p:spPr>
      </p:sp>
      <p:sp>
        <p:nvSpPr>
          <p:cNvPr id="15" name="s8-box-11"/>
          <p:cNvSpPr/>
          <p:nvPr/>
        </p:nvSpPr>
        <p:spPr>
          <a:xfrm>
            <a:off x="6324448" y="1792224"/>
            <a:ext cx="2522144" cy="1371600"/>
          </a:xfrm>
          <a:prstGeom prst="rect">
            <a:avLst/>
          </a:prstGeom>
          <a:solidFill>
            <a:schemeClr val="bg2"/>
          </a:solidFill>
          <a:ln/>
        </p:spPr>
      </p:sp>
      <p:sp>
        <p:nvSpPr>
          <p:cNvPr id="16" name="s8-text-12"/>
          <p:cNvSpPr txBox="1"/>
          <p:nvPr/>
        </p:nvSpPr>
        <p:spPr>
          <a:xfrm>
            <a:off x="6507328" y="1975104"/>
            <a:ext cx="2156384" cy="548640"/>
          </a:xfrm>
          <a:prstGeom prst="rect">
            <a:avLst/>
          </a:prstGeom>
          <a:noFill/>
          <a:ln/>
        </p:spPr>
        <p:txBody>
          <a:bodyPr wrap="square" lIns="0" tIns="0" rIns="0" bIns="0" rtlCol="0" anchor="ctr"/>
          <a:lstStyle/>
          <a:p>
            <a:pPr indent="0" marL="0">
              <a:buNone/>
            </a:pPr>
            <a:r>
              <a:rPr lang="en-US" sz="1300" b="1" dirty="0">
                <a:solidFill>
                  <a:schemeClr val="tx2"/>
                </a:solidFill>
              </a:rPr>
              <a:t>SABUY re-measures TSR</a:t>
            </a:r>
            <a:endParaRPr lang="en-US" sz="1300" dirty="0"/>
          </a:p>
        </p:txBody>
      </p:sp>
      <p:sp>
        <p:nvSpPr>
          <p:cNvPr id="17" name="s8-text-13"/>
          <p:cNvSpPr txBox="1"/>
          <p:nvPr/>
        </p:nvSpPr>
        <p:spPr>
          <a:xfrm>
            <a:off x="6507328" y="2569464"/>
            <a:ext cx="2156384" cy="457200"/>
          </a:xfrm>
          <a:prstGeom prst="rect">
            <a:avLst/>
          </a:prstGeom>
          <a:noFill/>
          <a:ln/>
        </p:spPr>
        <p:txBody>
          <a:bodyPr wrap="square" lIns="0" tIns="0" rIns="0" bIns="0" rtlCol="0" anchor="t"/>
          <a:lstStyle/>
          <a:p>
            <a:pPr indent="0" marL="0">
              <a:buNone/>
            </a:pPr>
            <a:r>
              <a:rPr lang="en-US" sz="1200" dirty="0">
                <a:solidFill>
                  <a:schemeClr val="tx1"/>
                </a:solidFill>
              </a:rPr>
              <a:t>Investment carried at fair value</a:t>
            </a:r>
            <a:endParaRPr lang="en-US" sz="1200" dirty="0"/>
          </a:p>
        </p:txBody>
      </p:sp>
      <p:sp>
        <p:nvSpPr>
          <p:cNvPr id="18" name="s8-arrow-14"/>
          <p:cNvSpPr/>
          <p:nvPr/>
        </p:nvSpPr>
        <p:spPr>
          <a:xfrm>
            <a:off x="8928887" y="2313432"/>
            <a:ext cx="292608" cy="329184"/>
          </a:xfrm>
          <a:prstGeom prst="rightArrow">
            <a:avLst/>
          </a:prstGeom>
          <a:solidFill>
            <a:schemeClr val="tx2"/>
          </a:solidFill>
          <a:ln/>
        </p:spPr>
      </p:sp>
      <p:sp>
        <p:nvSpPr>
          <p:cNvPr id="19" name="s8-box-15"/>
          <p:cNvSpPr/>
          <p:nvPr/>
        </p:nvSpPr>
        <p:spPr>
          <a:xfrm>
            <a:off x="9303791" y="1792224"/>
            <a:ext cx="2522144" cy="1371600"/>
          </a:xfrm>
          <a:prstGeom prst="rect">
            <a:avLst/>
          </a:prstGeom>
          <a:solidFill>
            <a:srgbClr val="FFF3DC"/>
          </a:solidFill>
          <a:ln w="12700">
            <a:solidFill>
              <a:schemeClr val="accent4"/>
            </a:solidFill>
            <a:prstDash val="solid"/>
          </a:ln>
        </p:spPr>
      </p:sp>
      <p:sp>
        <p:nvSpPr>
          <p:cNvPr id="20" name="s8-text-16"/>
          <p:cNvSpPr txBox="1"/>
          <p:nvPr/>
        </p:nvSpPr>
        <p:spPr>
          <a:xfrm>
            <a:off x="9486671" y="1975104"/>
            <a:ext cx="2156384" cy="548640"/>
          </a:xfrm>
          <a:prstGeom prst="rect">
            <a:avLst/>
          </a:prstGeom>
          <a:noFill/>
          <a:ln/>
        </p:spPr>
        <p:txBody>
          <a:bodyPr wrap="square" lIns="0" tIns="0" rIns="0" bIns="0" rtlCol="0" anchor="ctr"/>
          <a:lstStyle/>
          <a:p>
            <a:pPr indent="0" marL="0">
              <a:buNone/>
            </a:pPr>
            <a:r>
              <a:rPr lang="en-US" sz="1300" b="1" dirty="0">
                <a:solidFill>
                  <a:schemeClr val="tx2"/>
                </a:solidFill>
              </a:rPr>
              <a:t>Paper gain in Q2 profit</a:t>
            </a:r>
            <a:endParaRPr lang="en-US" sz="1300" dirty="0"/>
          </a:p>
        </p:txBody>
      </p:sp>
      <p:sp>
        <p:nvSpPr>
          <p:cNvPr id="21" name="s8-text-17"/>
          <p:cNvSpPr txBox="1"/>
          <p:nvPr/>
        </p:nvSpPr>
        <p:spPr>
          <a:xfrm>
            <a:off x="9486671" y="2569464"/>
            <a:ext cx="2156384" cy="457200"/>
          </a:xfrm>
          <a:prstGeom prst="rect">
            <a:avLst/>
          </a:prstGeom>
          <a:noFill/>
          <a:ln/>
        </p:spPr>
        <p:txBody>
          <a:bodyPr wrap="square" lIns="0" tIns="0" rIns="0" bIns="0" rtlCol="0" anchor="t"/>
          <a:lstStyle/>
          <a:p>
            <a:pPr indent="0" marL="0">
              <a:buNone/>
            </a:pPr>
            <a:r>
              <a:rPr lang="en-US" sz="1200" dirty="0">
                <a:solidFill>
                  <a:schemeClr val="tx1"/>
                </a:solidFill>
              </a:rPr>
              <a:t>Earnings look better, nothing sold</a:t>
            </a:r>
            <a:endParaRPr lang="en-US" sz="1200" dirty="0"/>
          </a:p>
        </p:txBody>
      </p:sp>
      <p:sp>
        <p:nvSpPr>
          <p:cNvPr id="22" name="s8-subbar-18"/>
          <p:cNvSpPr/>
          <p:nvPr/>
        </p:nvSpPr>
        <p:spPr>
          <a:xfrm>
            <a:off x="365760" y="3346704"/>
            <a:ext cx="5661508" cy="347472"/>
          </a:xfrm>
          <a:prstGeom prst="rect">
            <a:avLst/>
          </a:prstGeom>
          <a:solidFill>
            <a:schemeClr val="tx2"/>
          </a:solidFill>
          <a:ln/>
        </p:spPr>
      </p:sp>
      <p:sp>
        <p:nvSpPr>
          <p:cNvPr id="23" name="s8-subbar-text-19"/>
          <p:cNvSpPr txBox="1"/>
          <p:nvPr/>
        </p:nvSpPr>
        <p:spPr>
          <a:xfrm>
            <a:off x="365760" y="3346704"/>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Motive 2 · Trading Profit</a:t>
            </a:r>
            <a:endParaRPr lang="en-US" sz="1400" dirty="0"/>
          </a:p>
        </p:txBody>
      </p:sp>
      <p:sp>
        <p:nvSpPr>
          <p:cNvPr id="24" name="s8-subbar-20"/>
          <p:cNvSpPr/>
          <p:nvPr/>
        </p:nvSpPr>
        <p:spPr>
          <a:xfrm>
            <a:off x="6164428" y="3346704"/>
            <a:ext cx="5661508" cy="347472"/>
          </a:xfrm>
          <a:prstGeom prst="rect">
            <a:avLst/>
          </a:prstGeom>
          <a:solidFill>
            <a:schemeClr val="tx2"/>
          </a:solidFill>
          <a:ln/>
        </p:spPr>
      </p:sp>
      <p:sp>
        <p:nvSpPr>
          <p:cNvPr id="25" name="s8-subbar-text-21"/>
          <p:cNvSpPr txBox="1"/>
          <p:nvPr/>
        </p:nvSpPr>
        <p:spPr>
          <a:xfrm>
            <a:off x="6164428" y="3346704"/>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Why It Matters in Law</a:t>
            </a:r>
            <a:endParaRPr lang="en-US" sz="1400" dirty="0"/>
          </a:p>
        </p:txBody>
      </p:sp>
      <p:sp>
        <p:nvSpPr>
          <p:cNvPr id="26" name="s8-box-22"/>
          <p:cNvSpPr/>
          <p:nvPr/>
        </p:nvSpPr>
        <p:spPr>
          <a:xfrm>
            <a:off x="365760" y="3785616"/>
            <a:ext cx="5661508" cy="2340864"/>
          </a:xfrm>
          <a:prstGeom prst="rect">
            <a:avLst/>
          </a:prstGeom>
          <a:solidFill>
            <a:schemeClr val="bg2"/>
          </a:solidFill>
          <a:ln/>
        </p:spPr>
      </p:sp>
      <p:sp>
        <p:nvSpPr>
          <p:cNvPr id="27" name="s8-text-23"/>
          <p:cNvSpPr txBox="1"/>
          <p:nvPr/>
        </p:nvSpPr>
        <p:spPr>
          <a:xfrm>
            <a:off x="594360" y="4151376"/>
            <a:ext cx="5204308" cy="411480"/>
          </a:xfrm>
          <a:prstGeom prst="rect">
            <a:avLst/>
          </a:prstGeom>
          <a:noFill/>
          <a:ln/>
        </p:spPr>
        <p:txBody>
          <a:bodyPr wrap="square" lIns="0" tIns="0" rIns="0" bIns="0" rtlCol="0" anchor="t"/>
          <a:lstStyle/>
          <a:p>
            <a:pPr indent="0" marL="0">
              <a:buNone/>
            </a:pPr>
            <a:r>
              <a:rPr lang="en-US" sz="1200" dirty="0">
                <a:solidFill>
                  <a:schemeClr val="tx1"/>
                </a:solidFill>
              </a:rPr>
              <a:t>Profit from the price spread: buy low, lift the price, then sell higher.</a:t>
            </a:r>
            <a:endParaRPr lang="en-US" sz="1200" dirty="0"/>
          </a:p>
        </p:txBody>
      </p:sp>
      <p:sp>
        <p:nvSpPr>
          <p:cNvPr id="28" name="s8-box-24"/>
          <p:cNvSpPr/>
          <p:nvPr/>
        </p:nvSpPr>
        <p:spPr>
          <a:xfrm>
            <a:off x="594360" y="4837176"/>
            <a:ext cx="1463040" cy="731520"/>
          </a:xfrm>
          <a:prstGeom prst="rect">
            <a:avLst/>
          </a:prstGeom>
          <a:solidFill>
            <a:schemeClr val="accent2"/>
          </a:solidFill>
          <a:ln/>
        </p:spPr>
      </p:sp>
      <p:sp>
        <p:nvSpPr>
          <p:cNvPr id="29" name="s8-text-25"/>
          <p:cNvSpPr txBox="1"/>
          <p:nvPr/>
        </p:nvSpPr>
        <p:spPr>
          <a:xfrm>
            <a:off x="594360" y="4837176"/>
            <a:ext cx="1463040" cy="731520"/>
          </a:xfrm>
          <a:prstGeom prst="rect">
            <a:avLst/>
          </a:prstGeom>
          <a:noFill/>
          <a:ln/>
        </p:spPr>
        <p:txBody>
          <a:bodyPr wrap="square" lIns="0" tIns="0" rIns="0" bIns="0" rtlCol="0" anchor="ctr"/>
          <a:lstStyle/>
          <a:p>
            <a:pPr algn="ctr" indent="0" marL="0">
              <a:buNone/>
            </a:pPr>
            <a:r>
              <a:rPr lang="en-US" sz="1200" b="1" dirty="0">
                <a:solidFill>
                  <a:schemeClr val="tx2"/>
                </a:solidFill>
              </a:rPr>
              <a:t>Buy low</a:t>
            </a:r>
            <a:endParaRPr lang="en-US" sz="1200" dirty="0"/>
          </a:p>
        </p:txBody>
      </p:sp>
      <p:sp>
        <p:nvSpPr>
          <p:cNvPr id="30" name="s8-arrow-26"/>
          <p:cNvSpPr/>
          <p:nvPr/>
        </p:nvSpPr>
        <p:spPr>
          <a:xfrm>
            <a:off x="2124037" y="5065776"/>
            <a:ext cx="274320" cy="274320"/>
          </a:xfrm>
          <a:prstGeom prst="rightArrow">
            <a:avLst/>
          </a:prstGeom>
          <a:solidFill>
            <a:schemeClr val="tx2"/>
          </a:solidFill>
          <a:ln/>
        </p:spPr>
      </p:sp>
      <p:sp>
        <p:nvSpPr>
          <p:cNvPr id="31" name="s8-box-27"/>
          <p:cNvSpPr/>
          <p:nvPr/>
        </p:nvSpPr>
        <p:spPr>
          <a:xfrm>
            <a:off x="2464994" y="4837176"/>
            <a:ext cx="1463040" cy="731520"/>
          </a:xfrm>
          <a:prstGeom prst="rect">
            <a:avLst/>
          </a:prstGeom>
          <a:solidFill>
            <a:schemeClr val="accent2"/>
          </a:solidFill>
          <a:ln/>
        </p:spPr>
      </p:sp>
      <p:sp>
        <p:nvSpPr>
          <p:cNvPr id="32" name="s8-text-28"/>
          <p:cNvSpPr txBox="1"/>
          <p:nvPr/>
        </p:nvSpPr>
        <p:spPr>
          <a:xfrm>
            <a:off x="2464994" y="4837176"/>
            <a:ext cx="1463040" cy="731520"/>
          </a:xfrm>
          <a:prstGeom prst="rect">
            <a:avLst/>
          </a:prstGeom>
          <a:noFill/>
          <a:ln/>
        </p:spPr>
        <p:txBody>
          <a:bodyPr wrap="square" lIns="0" tIns="0" rIns="0" bIns="0" rtlCol="0" anchor="ctr"/>
          <a:lstStyle/>
          <a:p>
            <a:pPr algn="ctr" indent="0" marL="0">
              <a:buNone/>
            </a:pPr>
            <a:r>
              <a:rPr lang="en-US" sz="1200" b="1" dirty="0">
                <a:solidFill>
                  <a:schemeClr val="tx2"/>
                </a:solidFill>
              </a:rPr>
              <a:t>Lift the price</a:t>
            </a:r>
            <a:endParaRPr lang="en-US" sz="1200" dirty="0"/>
          </a:p>
        </p:txBody>
      </p:sp>
      <p:sp>
        <p:nvSpPr>
          <p:cNvPr id="33" name="s8-arrow-29"/>
          <p:cNvSpPr/>
          <p:nvPr/>
        </p:nvSpPr>
        <p:spPr>
          <a:xfrm>
            <a:off x="3994671" y="5065776"/>
            <a:ext cx="274320" cy="274320"/>
          </a:xfrm>
          <a:prstGeom prst="rightArrow">
            <a:avLst/>
          </a:prstGeom>
          <a:solidFill>
            <a:schemeClr val="tx2"/>
          </a:solidFill>
          <a:ln/>
        </p:spPr>
      </p:sp>
      <p:sp>
        <p:nvSpPr>
          <p:cNvPr id="34" name="s8-box-30"/>
          <p:cNvSpPr/>
          <p:nvPr/>
        </p:nvSpPr>
        <p:spPr>
          <a:xfrm>
            <a:off x="4335628" y="4837176"/>
            <a:ext cx="1463040" cy="731520"/>
          </a:xfrm>
          <a:prstGeom prst="rect">
            <a:avLst/>
          </a:prstGeom>
          <a:solidFill>
            <a:schemeClr val="accent2"/>
          </a:solidFill>
          <a:ln/>
        </p:spPr>
      </p:sp>
      <p:sp>
        <p:nvSpPr>
          <p:cNvPr id="35" name="s8-text-31"/>
          <p:cNvSpPr txBox="1"/>
          <p:nvPr/>
        </p:nvSpPr>
        <p:spPr>
          <a:xfrm>
            <a:off x="4335628" y="4837176"/>
            <a:ext cx="1463040" cy="731520"/>
          </a:xfrm>
          <a:prstGeom prst="rect">
            <a:avLst/>
          </a:prstGeom>
          <a:noFill/>
          <a:ln/>
        </p:spPr>
        <p:txBody>
          <a:bodyPr wrap="square" lIns="0" tIns="0" rIns="0" bIns="0" rtlCol="0" anchor="ctr"/>
          <a:lstStyle/>
          <a:p>
            <a:pPr algn="ctr" indent="0" marL="0">
              <a:buNone/>
            </a:pPr>
            <a:r>
              <a:rPr lang="en-US" sz="1200" b="1" dirty="0">
                <a:solidFill>
                  <a:schemeClr val="tx2"/>
                </a:solidFill>
              </a:rPr>
              <a:t>Sell higher</a:t>
            </a:r>
            <a:endParaRPr lang="en-US" sz="1200" dirty="0"/>
          </a:p>
        </p:txBody>
      </p:sp>
      <p:sp>
        <p:nvSpPr>
          <p:cNvPr id="36" name="s8-box-32"/>
          <p:cNvSpPr/>
          <p:nvPr/>
        </p:nvSpPr>
        <p:spPr>
          <a:xfrm>
            <a:off x="6164428" y="3785616"/>
            <a:ext cx="5661508" cy="2340864"/>
          </a:xfrm>
          <a:prstGeom prst="rect">
            <a:avLst/>
          </a:prstGeom>
          <a:solidFill>
            <a:srgbClr val="E6F2E7"/>
          </a:solidFill>
          <a:ln w="12700">
            <a:solidFill>
              <a:schemeClr val="accent3"/>
            </a:solidFill>
            <a:prstDash val="solid"/>
          </a:ln>
        </p:spPr>
      </p:sp>
      <p:sp>
        <p:nvSpPr>
          <p:cNvPr id="37" name="s8-text-33"/>
          <p:cNvSpPr txBox="1"/>
          <p:nvPr/>
        </p:nvSpPr>
        <p:spPr>
          <a:xfrm>
            <a:off x="6393028" y="3785616"/>
            <a:ext cx="5204308" cy="2340864"/>
          </a:xfrm>
          <a:prstGeom prst="rect">
            <a:avLst/>
          </a:prstGeom>
          <a:noFill/>
          <a:ln/>
        </p:spPr>
        <p:txBody>
          <a:bodyPr wrap="square" lIns="0" tIns="0" rIns="0" bIns="0" rtlCol="0" anchor="ctr"/>
          <a:lstStyle/>
          <a:p>
            <a:pPr indent="0" marL="0">
              <a:spcAft>
                <a:spcPts val="600"/>
              </a:spcAft>
              <a:buNone/>
            </a:pPr>
            <a:r>
              <a:rPr lang="en-US" sz="1300" b="1" dirty="0">
                <a:solidFill>
                  <a:schemeClr val="accent3"/>
                </a:solidFill>
              </a:rPr>
              <a:t>Motive is evidence of intent</a:t>
            </a:r>
            <a:endParaRPr lang="en-US" sz="1200" dirty="0"/>
          </a:p>
          <a:p>
            <a:pPr indent="0" marL="0">
              <a:spcAft>
                <a:spcPts val="600"/>
              </a:spcAft>
              <a:buNone/>
            </a:pPr>
            <a:r>
              <a:rPr lang="en-US" sz="1200" dirty="0">
                <a:solidFill>
                  <a:schemeClr val="tx1"/>
                </a:solidFill>
              </a:rPr>
              <a:t>A clear motive is evidence of intent, the key element of Section 244/3(2).</a:t>
            </a:r>
            <a:endParaRPr lang="en-US" sz="1200" dirty="0"/>
          </a:p>
          <a:p>
            <a:pPr indent="0" marL="0">
              <a:spcAft>
                <a:spcPts val="600"/>
              </a:spcAft>
              <a:buNone/>
            </a:pPr>
            <a:r>
              <a:rPr lang="en-US" sz="1200" i="1" dirty="0">
                <a:solidFill>
                  <a:schemeClr val="accent5"/>
                </a:solidFill>
              </a:rPr>
              <a:t>“… on a continued basis with an intent to cause the price or the volume of such securities trading to be inconsistent with the normal market condition.”</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Facts: Timeline of the Case</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Mitihoon (23 Jan 2026); Hoonsmart (24 Jan &amp; 11 May 2026); Thansettakij (26 Mar &amp; 11 May 2026)</a:t>
            </a:r>
            <a:endParaRPr lang="en-US" sz="1050" dirty="0"/>
          </a:p>
        </p:txBody>
      </p:sp>
      <p:sp>
        <p:nvSpPr>
          <p:cNvPr id="5" name="s9-subbar-1"/>
          <p:cNvSpPr/>
          <p:nvPr/>
        </p:nvSpPr>
        <p:spPr>
          <a:xfrm>
            <a:off x="365760" y="1353312"/>
            <a:ext cx="5120640" cy="347472"/>
          </a:xfrm>
          <a:prstGeom prst="rect">
            <a:avLst/>
          </a:prstGeom>
          <a:solidFill>
            <a:schemeClr val="tx2"/>
          </a:solidFill>
          <a:ln/>
        </p:spPr>
      </p:sp>
      <p:sp>
        <p:nvSpPr>
          <p:cNvPr id="6" name="s9-subbar-text-2"/>
          <p:cNvSpPr txBox="1"/>
          <p:nvPr/>
        </p:nvSpPr>
        <p:spPr>
          <a:xfrm>
            <a:off x="365760" y="1353312"/>
            <a:ext cx="5120640" cy="347472"/>
          </a:xfrm>
          <a:prstGeom prst="rect">
            <a:avLst/>
          </a:prstGeom>
          <a:noFill/>
          <a:ln/>
        </p:spPr>
        <p:txBody>
          <a:bodyPr wrap="square" lIns="0" tIns="0" rIns="0" bIns="0" rtlCol="0" anchor="ctr"/>
          <a:lstStyle/>
          <a:p>
            <a:pPr algn="ctr" indent="0" marL="0">
              <a:buNone/>
            </a:pPr>
            <a:r>
              <a:rPr lang="en-US" sz="1400" b="1" dirty="0">
                <a:solidFill>
                  <a:schemeClr val="bg1"/>
                </a:solidFill>
              </a:rPr>
              <a:t>2022 · The Conduct</a:t>
            </a:r>
            <a:endParaRPr lang="en-US" sz="1400" dirty="0"/>
          </a:p>
        </p:txBody>
      </p:sp>
      <p:sp>
        <p:nvSpPr>
          <p:cNvPr id="7" name="s9-subbar-3"/>
          <p:cNvSpPr/>
          <p:nvPr/>
        </p:nvSpPr>
        <p:spPr>
          <a:xfrm>
            <a:off x="6705295" y="1353312"/>
            <a:ext cx="5120640" cy="347472"/>
          </a:xfrm>
          <a:prstGeom prst="rect">
            <a:avLst/>
          </a:prstGeom>
          <a:solidFill>
            <a:schemeClr val="tx2"/>
          </a:solidFill>
          <a:ln/>
        </p:spPr>
      </p:sp>
      <p:sp>
        <p:nvSpPr>
          <p:cNvPr id="8" name="s9-subbar-text-4"/>
          <p:cNvSpPr txBox="1"/>
          <p:nvPr/>
        </p:nvSpPr>
        <p:spPr>
          <a:xfrm>
            <a:off x="6705295" y="1353312"/>
            <a:ext cx="5120640" cy="347472"/>
          </a:xfrm>
          <a:prstGeom prst="rect">
            <a:avLst/>
          </a:prstGeom>
          <a:noFill/>
          <a:ln/>
        </p:spPr>
        <p:txBody>
          <a:bodyPr wrap="square" lIns="0" tIns="0" rIns="0" bIns="0" rtlCol="0" anchor="ctr"/>
          <a:lstStyle/>
          <a:p>
            <a:pPr algn="ctr" indent="0" marL="0">
              <a:buNone/>
            </a:pPr>
            <a:r>
              <a:rPr lang="en-US" sz="1400" b="1" dirty="0">
                <a:solidFill>
                  <a:schemeClr val="bg1"/>
                </a:solidFill>
              </a:rPr>
              <a:t>2026 · Enforcement</a:t>
            </a:r>
            <a:endParaRPr lang="en-US" sz="1400" dirty="0"/>
          </a:p>
        </p:txBody>
      </p:sp>
      <p:sp>
        <p:nvSpPr>
          <p:cNvPr id="9" name="s9-box-5"/>
          <p:cNvSpPr/>
          <p:nvPr/>
        </p:nvSpPr>
        <p:spPr>
          <a:xfrm>
            <a:off x="365760" y="1792224"/>
            <a:ext cx="5120640" cy="3401568"/>
          </a:xfrm>
          <a:prstGeom prst="rect">
            <a:avLst/>
          </a:prstGeom>
          <a:solidFill>
            <a:schemeClr val="bg2"/>
          </a:solidFill>
          <a:ln/>
        </p:spPr>
      </p:sp>
      <p:sp>
        <p:nvSpPr>
          <p:cNvPr id="10" name="s9-box-6"/>
          <p:cNvSpPr/>
          <p:nvPr/>
        </p:nvSpPr>
        <p:spPr>
          <a:xfrm>
            <a:off x="6705295" y="1792224"/>
            <a:ext cx="5120640" cy="3401568"/>
          </a:xfrm>
          <a:prstGeom prst="rect">
            <a:avLst/>
          </a:prstGeom>
          <a:solidFill>
            <a:schemeClr val="bg2"/>
          </a:solidFill>
          <a:ln/>
        </p:spPr>
      </p:sp>
      <p:sp>
        <p:nvSpPr>
          <p:cNvPr id="11" name="s9-line-7"/>
          <p:cNvSpPr/>
          <p:nvPr/>
        </p:nvSpPr>
        <p:spPr>
          <a:xfrm>
            <a:off x="502920" y="3493008"/>
            <a:ext cx="4846320" cy="0"/>
          </a:xfrm>
          <a:prstGeom prst="line">
            <a:avLst/>
          </a:prstGeom>
          <a:noFill/>
          <a:ln w="25400">
            <a:solidFill>
              <a:schemeClr val="tx2"/>
            </a:solidFill>
            <a:prstDash val="solid"/>
          </a:ln>
        </p:spPr>
      </p:sp>
      <p:sp>
        <p:nvSpPr>
          <p:cNvPr id="12" name="s9-line-8"/>
          <p:cNvSpPr/>
          <p:nvPr/>
        </p:nvSpPr>
        <p:spPr>
          <a:xfrm>
            <a:off x="6842455" y="3493008"/>
            <a:ext cx="4846320" cy="0"/>
          </a:xfrm>
          <a:prstGeom prst="line">
            <a:avLst/>
          </a:prstGeom>
          <a:noFill/>
          <a:ln w="25400">
            <a:solidFill>
              <a:schemeClr val="tx2"/>
            </a:solidFill>
            <a:prstDash val="solid"/>
          </a:ln>
        </p:spPr>
      </p:sp>
      <p:sp>
        <p:nvSpPr>
          <p:cNvPr id="13" name="s9-line-9"/>
          <p:cNvSpPr/>
          <p:nvPr/>
        </p:nvSpPr>
        <p:spPr>
          <a:xfrm>
            <a:off x="5532120" y="3493008"/>
            <a:ext cx="1127455" cy="0"/>
          </a:xfrm>
          <a:prstGeom prst="line">
            <a:avLst/>
          </a:prstGeom>
          <a:noFill/>
          <a:ln w="19050">
            <a:solidFill>
              <a:schemeClr val="accent5"/>
            </a:solidFill>
            <a:prstDash val="dash"/>
          </a:ln>
        </p:spPr>
      </p:sp>
      <p:sp>
        <p:nvSpPr>
          <p:cNvPr id="14" name="s9-text-10"/>
          <p:cNvSpPr txBox="1"/>
          <p:nvPr/>
        </p:nvSpPr>
        <p:spPr>
          <a:xfrm>
            <a:off x="5486400" y="3108960"/>
            <a:ext cx="1218895" cy="292608"/>
          </a:xfrm>
          <a:prstGeom prst="rect">
            <a:avLst/>
          </a:prstGeom>
          <a:noFill/>
          <a:ln/>
        </p:spPr>
        <p:txBody>
          <a:bodyPr wrap="square" lIns="0" tIns="0" rIns="0" bIns="0" rtlCol="0" anchor="t"/>
          <a:lstStyle/>
          <a:p>
            <a:pPr algn="ctr" indent="0" marL="0">
              <a:buNone/>
            </a:pPr>
            <a:r>
              <a:rPr lang="en-US" sz="1300" b="1" dirty="0">
                <a:solidFill>
                  <a:schemeClr val="tx2"/>
                </a:solidFill>
              </a:rPr>
              <a:t>~3 yrs</a:t>
            </a:r>
            <a:endParaRPr lang="en-US" sz="1300" dirty="0"/>
          </a:p>
        </p:txBody>
      </p:sp>
      <p:sp>
        <p:nvSpPr>
          <p:cNvPr id="15" name="s9-text-11"/>
          <p:cNvSpPr txBox="1"/>
          <p:nvPr/>
        </p:nvSpPr>
        <p:spPr>
          <a:xfrm>
            <a:off x="5486400" y="3602736"/>
            <a:ext cx="1218895" cy="274320"/>
          </a:xfrm>
          <a:prstGeom prst="rect">
            <a:avLst/>
          </a:prstGeom>
          <a:noFill/>
          <a:ln/>
        </p:spPr>
        <p:txBody>
          <a:bodyPr wrap="square" lIns="0" tIns="0" rIns="0" bIns="0" rtlCol="0" anchor="t"/>
          <a:lstStyle/>
          <a:p>
            <a:pPr algn="ctr" indent="0" marL="0">
              <a:buNone/>
            </a:pPr>
            <a:r>
              <a:rPr lang="en-US" sz="1050" dirty="0">
                <a:solidFill>
                  <a:schemeClr val="accent5"/>
                </a:solidFill>
              </a:rPr>
              <a:t>investigation</a:t>
            </a:r>
            <a:endParaRPr lang="en-US" sz="1050" dirty="0"/>
          </a:p>
        </p:txBody>
      </p:sp>
      <p:sp>
        <p:nvSpPr>
          <p:cNvPr id="16" name="s9-line-12"/>
          <p:cNvSpPr/>
          <p:nvPr/>
        </p:nvSpPr>
        <p:spPr>
          <a:xfrm>
            <a:off x="1051560" y="3264408"/>
            <a:ext cx="0" cy="228600"/>
          </a:xfrm>
          <a:prstGeom prst="line">
            <a:avLst/>
          </a:prstGeom>
          <a:noFill/>
          <a:ln w="15875">
            <a:solidFill>
              <a:schemeClr val="tx2"/>
            </a:solidFill>
            <a:prstDash val="solid"/>
          </a:ln>
        </p:spPr>
      </p:sp>
      <p:sp>
        <p:nvSpPr>
          <p:cNvPr id="17" name="s9-box-13"/>
          <p:cNvSpPr/>
          <p:nvPr/>
        </p:nvSpPr>
        <p:spPr>
          <a:xfrm>
            <a:off x="502920" y="2075688"/>
            <a:ext cx="2331720" cy="1188720"/>
          </a:xfrm>
          <a:prstGeom prst="rect">
            <a:avLst/>
          </a:prstGeom>
          <a:solidFill>
            <a:schemeClr val="bg1"/>
          </a:solidFill>
          <a:ln w="12700">
            <a:solidFill>
              <a:schemeClr val="accent6"/>
            </a:solidFill>
            <a:prstDash val="solid"/>
          </a:ln>
        </p:spPr>
      </p:sp>
      <p:sp>
        <p:nvSpPr>
          <p:cNvPr id="18" name="s9-text-14"/>
          <p:cNvSpPr txBox="1"/>
          <p:nvPr/>
        </p:nvSpPr>
        <p:spPr>
          <a:xfrm>
            <a:off x="612648" y="214884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22 Jun 2022</a:t>
            </a:r>
            <a:endParaRPr lang="en-US" sz="1200" dirty="0"/>
          </a:p>
          <a:p>
            <a:pPr indent="0" marL="0">
              <a:spcAft>
                <a:spcPts val="300"/>
              </a:spcAft>
              <a:buNone/>
            </a:pPr>
            <a:r>
              <a:rPr lang="en-US" sz="1200" dirty="0">
                <a:solidFill>
                  <a:schemeClr val="tx1"/>
                </a:solidFill>
              </a:rPr>
              <a:t>Manipulation of TSR begins</a:t>
            </a:r>
            <a:endParaRPr lang="en-US" sz="1200" dirty="0"/>
          </a:p>
        </p:txBody>
      </p:sp>
      <p:sp>
        <p:nvSpPr>
          <p:cNvPr id="19" name="s9-node-15"/>
          <p:cNvSpPr/>
          <p:nvPr/>
        </p:nvSpPr>
        <p:spPr>
          <a:xfrm>
            <a:off x="941832" y="3383280"/>
            <a:ext cx="219456" cy="219456"/>
          </a:xfrm>
          <a:prstGeom prst="ellipse">
            <a:avLst/>
          </a:prstGeom>
          <a:solidFill>
            <a:schemeClr val="tx2"/>
          </a:solidFill>
          <a:ln w="19050">
            <a:solidFill>
              <a:schemeClr val="bg1"/>
            </a:solidFill>
            <a:prstDash val="solid"/>
          </a:ln>
        </p:spPr>
      </p:sp>
      <p:sp>
        <p:nvSpPr>
          <p:cNvPr id="20" name="s9-line-16"/>
          <p:cNvSpPr/>
          <p:nvPr/>
        </p:nvSpPr>
        <p:spPr>
          <a:xfrm>
            <a:off x="2331720" y="3493008"/>
            <a:ext cx="0" cy="228600"/>
          </a:xfrm>
          <a:prstGeom prst="line">
            <a:avLst/>
          </a:prstGeom>
          <a:noFill/>
          <a:ln w="15875">
            <a:solidFill>
              <a:schemeClr val="tx2"/>
            </a:solidFill>
            <a:prstDash val="solid"/>
          </a:ln>
        </p:spPr>
      </p:sp>
      <p:sp>
        <p:nvSpPr>
          <p:cNvPr id="21" name="s9-box-17"/>
          <p:cNvSpPr/>
          <p:nvPr/>
        </p:nvSpPr>
        <p:spPr>
          <a:xfrm>
            <a:off x="502920" y="3721608"/>
            <a:ext cx="2331720" cy="1188720"/>
          </a:xfrm>
          <a:prstGeom prst="rect">
            <a:avLst/>
          </a:prstGeom>
          <a:solidFill>
            <a:schemeClr val="bg1"/>
          </a:solidFill>
          <a:ln w="12700">
            <a:solidFill>
              <a:schemeClr val="accent6"/>
            </a:solidFill>
            <a:prstDash val="solid"/>
          </a:ln>
        </p:spPr>
      </p:sp>
      <p:sp>
        <p:nvSpPr>
          <p:cNvPr id="22" name="s9-text-18"/>
          <p:cNvSpPr txBox="1"/>
          <p:nvPr/>
        </p:nvSpPr>
        <p:spPr>
          <a:xfrm>
            <a:off x="612648" y="379476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30 Jun 2022</a:t>
            </a:r>
            <a:endParaRPr lang="en-US" sz="1200" dirty="0"/>
          </a:p>
          <a:p>
            <a:pPr indent="0" marL="0">
              <a:spcAft>
                <a:spcPts val="300"/>
              </a:spcAft>
              <a:buNone/>
            </a:pPr>
            <a:r>
              <a:rPr lang="en-US" sz="1200" dirty="0">
                <a:solidFill>
                  <a:schemeClr val="tx1"/>
                </a:solidFill>
              </a:rPr>
              <a:t>Q2/2022 quarter-end: SABUY values its TSR shares</a:t>
            </a:r>
            <a:endParaRPr lang="en-US" sz="1200" dirty="0"/>
          </a:p>
        </p:txBody>
      </p:sp>
      <p:sp>
        <p:nvSpPr>
          <p:cNvPr id="23" name="s9-node-19"/>
          <p:cNvSpPr/>
          <p:nvPr/>
        </p:nvSpPr>
        <p:spPr>
          <a:xfrm>
            <a:off x="2221992" y="3383280"/>
            <a:ext cx="219456" cy="219456"/>
          </a:xfrm>
          <a:prstGeom prst="ellipse">
            <a:avLst/>
          </a:prstGeom>
          <a:solidFill>
            <a:schemeClr val="tx2"/>
          </a:solidFill>
          <a:ln w="19050">
            <a:solidFill>
              <a:schemeClr val="bg1"/>
            </a:solidFill>
            <a:prstDash val="solid"/>
          </a:ln>
        </p:spPr>
      </p:sp>
      <p:sp>
        <p:nvSpPr>
          <p:cNvPr id="24" name="s9-line-20"/>
          <p:cNvSpPr/>
          <p:nvPr/>
        </p:nvSpPr>
        <p:spPr>
          <a:xfrm>
            <a:off x="3611880" y="3264408"/>
            <a:ext cx="0" cy="228600"/>
          </a:xfrm>
          <a:prstGeom prst="line">
            <a:avLst/>
          </a:prstGeom>
          <a:noFill/>
          <a:ln w="15875">
            <a:solidFill>
              <a:schemeClr val="tx2"/>
            </a:solidFill>
            <a:prstDash val="solid"/>
          </a:ln>
        </p:spPr>
      </p:sp>
      <p:sp>
        <p:nvSpPr>
          <p:cNvPr id="25" name="s9-box-21"/>
          <p:cNvSpPr/>
          <p:nvPr/>
        </p:nvSpPr>
        <p:spPr>
          <a:xfrm>
            <a:off x="3017520" y="2075688"/>
            <a:ext cx="2331720" cy="1188720"/>
          </a:xfrm>
          <a:prstGeom prst="rect">
            <a:avLst/>
          </a:prstGeom>
          <a:solidFill>
            <a:schemeClr val="bg1"/>
          </a:solidFill>
          <a:ln w="12700">
            <a:solidFill>
              <a:schemeClr val="accent6"/>
            </a:solidFill>
            <a:prstDash val="solid"/>
          </a:ln>
        </p:spPr>
      </p:sp>
      <p:sp>
        <p:nvSpPr>
          <p:cNvPr id="26" name="s9-text-22"/>
          <p:cNvSpPr txBox="1"/>
          <p:nvPr/>
        </p:nvSpPr>
        <p:spPr>
          <a:xfrm>
            <a:off x="3127248" y="214884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31 Aug 2022</a:t>
            </a:r>
            <a:endParaRPr lang="en-US" sz="1200" dirty="0"/>
          </a:p>
          <a:p>
            <a:pPr indent="0" marL="0">
              <a:spcAft>
                <a:spcPts val="300"/>
              </a:spcAft>
              <a:buNone/>
            </a:pPr>
            <a:r>
              <a:rPr lang="en-US" sz="1200" dirty="0">
                <a:solidFill>
                  <a:schemeClr val="tx1"/>
                </a:solidFill>
              </a:rPr>
              <a:t>Conduct ends after 47 trading days</a:t>
            </a:r>
            <a:endParaRPr lang="en-US" sz="1200" dirty="0"/>
          </a:p>
        </p:txBody>
      </p:sp>
      <p:sp>
        <p:nvSpPr>
          <p:cNvPr id="27" name="s9-node-23"/>
          <p:cNvSpPr/>
          <p:nvPr/>
        </p:nvSpPr>
        <p:spPr>
          <a:xfrm>
            <a:off x="3502152" y="3383280"/>
            <a:ext cx="219456" cy="219456"/>
          </a:xfrm>
          <a:prstGeom prst="ellipse">
            <a:avLst/>
          </a:prstGeom>
          <a:solidFill>
            <a:schemeClr val="tx2"/>
          </a:solidFill>
          <a:ln w="19050">
            <a:solidFill>
              <a:schemeClr val="bg1"/>
            </a:solidFill>
            <a:prstDash val="solid"/>
          </a:ln>
        </p:spPr>
      </p:sp>
      <p:sp>
        <p:nvSpPr>
          <p:cNvPr id="28" name="s9-line-24"/>
          <p:cNvSpPr/>
          <p:nvPr/>
        </p:nvSpPr>
        <p:spPr>
          <a:xfrm>
            <a:off x="4892040" y="3493008"/>
            <a:ext cx="0" cy="228600"/>
          </a:xfrm>
          <a:prstGeom prst="line">
            <a:avLst/>
          </a:prstGeom>
          <a:noFill/>
          <a:ln w="15875">
            <a:solidFill>
              <a:schemeClr val="tx2"/>
            </a:solidFill>
            <a:prstDash val="solid"/>
          </a:ln>
        </p:spPr>
      </p:sp>
      <p:sp>
        <p:nvSpPr>
          <p:cNvPr id="29" name="s9-box-25"/>
          <p:cNvSpPr/>
          <p:nvPr/>
        </p:nvSpPr>
        <p:spPr>
          <a:xfrm>
            <a:off x="3017520" y="3721608"/>
            <a:ext cx="2331720" cy="1188720"/>
          </a:xfrm>
          <a:prstGeom prst="rect">
            <a:avLst/>
          </a:prstGeom>
          <a:solidFill>
            <a:schemeClr val="bg1"/>
          </a:solidFill>
          <a:ln w="12700">
            <a:solidFill>
              <a:schemeClr val="accent6"/>
            </a:solidFill>
            <a:prstDash val="solid"/>
          </a:ln>
        </p:spPr>
      </p:sp>
      <p:sp>
        <p:nvSpPr>
          <p:cNvPr id="30" name="s9-text-26"/>
          <p:cNvSpPr txBox="1"/>
          <p:nvPr/>
        </p:nvSpPr>
        <p:spPr>
          <a:xfrm>
            <a:off x="3127248" y="379476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Oct 2022</a:t>
            </a:r>
            <a:endParaRPr lang="en-US" sz="1200" dirty="0"/>
          </a:p>
          <a:p>
            <a:pPr indent="0" marL="0">
              <a:spcAft>
                <a:spcPts val="300"/>
              </a:spcAft>
              <a:buNone/>
            </a:pPr>
            <a:r>
              <a:rPr lang="en-US" sz="1200" dirty="0">
                <a:solidFill>
                  <a:schemeClr val="tx1"/>
                </a:solidFill>
              </a:rPr>
              <a:t>SET refers the case to the SEC</a:t>
            </a:r>
            <a:endParaRPr lang="en-US" sz="1200" dirty="0"/>
          </a:p>
        </p:txBody>
      </p:sp>
      <p:sp>
        <p:nvSpPr>
          <p:cNvPr id="31" name="s9-node-27"/>
          <p:cNvSpPr/>
          <p:nvPr/>
        </p:nvSpPr>
        <p:spPr>
          <a:xfrm>
            <a:off x="4782312" y="3383280"/>
            <a:ext cx="219456" cy="219456"/>
          </a:xfrm>
          <a:prstGeom prst="ellipse">
            <a:avLst/>
          </a:prstGeom>
          <a:solidFill>
            <a:schemeClr val="tx2"/>
          </a:solidFill>
          <a:ln w="19050">
            <a:solidFill>
              <a:schemeClr val="bg1"/>
            </a:solidFill>
            <a:prstDash val="solid"/>
          </a:ln>
        </p:spPr>
      </p:sp>
      <p:sp>
        <p:nvSpPr>
          <p:cNvPr id="32" name="s9-line-28"/>
          <p:cNvSpPr/>
          <p:nvPr/>
        </p:nvSpPr>
        <p:spPr>
          <a:xfrm>
            <a:off x="7391095" y="3264408"/>
            <a:ext cx="0" cy="228600"/>
          </a:xfrm>
          <a:prstGeom prst="line">
            <a:avLst/>
          </a:prstGeom>
          <a:noFill/>
          <a:ln w="15875">
            <a:solidFill>
              <a:schemeClr val="tx2"/>
            </a:solidFill>
            <a:prstDash val="solid"/>
          </a:ln>
        </p:spPr>
      </p:sp>
      <p:sp>
        <p:nvSpPr>
          <p:cNvPr id="33" name="s9-box-29"/>
          <p:cNvSpPr/>
          <p:nvPr/>
        </p:nvSpPr>
        <p:spPr>
          <a:xfrm>
            <a:off x="6842455" y="2075688"/>
            <a:ext cx="2331720" cy="1188720"/>
          </a:xfrm>
          <a:prstGeom prst="rect">
            <a:avLst/>
          </a:prstGeom>
          <a:solidFill>
            <a:schemeClr val="bg1"/>
          </a:solidFill>
          <a:ln w="12700">
            <a:solidFill>
              <a:schemeClr val="accent6"/>
            </a:solidFill>
            <a:prstDash val="solid"/>
          </a:ln>
        </p:spPr>
      </p:sp>
      <p:sp>
        <p:nvSpPr>
          <p:cNvPr id="34" name="s9-text-30"/>
          <p:cNvSpPr txBox="1"/>
          <p:nvPr/>
        </p:nvSpPr>
        <p:spPr>
          <a:xfrm>
            <a:off x="6952183" y="214884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23 Jan 2026</a:t>
            </a:r>
            <a:endParaRPr lang="en-US" sz="1200" dirty="0"/>
          </a:p>
          <a:p>
            <a:pPr indent="0" marL="0">
              <a:spcAft>
                <a:spcPts val="300"/>
              </a:spcAft>
              <a:buNone/>
            </a:pPr>
            <a:r>
              <a:rPr lang="en-US" sz="1200" dirty="0">
                <a:solidFill>
                  <a:schemeClr val="tx1"/>
                </a:solidFill>
              </a:rPr>
              <a:t>CSC civil sanction: THB 32.3M, 6-month trading ban, 12-month director ban</a:t>
            </a:r>
            <a:endParaRPr lang="en-US" sz="1200" dirty="0"/>
          </a:p>
        </p:txBody>
      </p:sp>
      <p:sp>
        <p:nvSpPr>
          <p:cNvPr id="35" name="s9-node-31"/>
          <p:cNvSpPr/>
          <p:nvPr/>
        </p:nvSpPr>
        <p:spPr>
          <a:xfrm>
            <a:off x="7281367" y="3383280"/>
            <a:ext cx="219456" cy="219456"/>
          </a:xfrm>
          <a:prstGeom prst="ellipse">
            <a:avLst/>
          </a:prstGeom>
          <a:solidFill>
            <a:schemeClr val="tx2"/>
          </a:solidFill>
          <a:ln w="19050">
            <a:solidFill>
              <a:schemeClr val="bg1"/>
            </a:solidFill>
            <a:prstDash val="solid"/>
          </a:ln>
        </p:spPr>
      </p:sp>
      <p:sp>
        <p:nvSpPr>
          <p:cNvPr id="36" name="s9-line-32"/>
          <p:cNvSpPr/>
          <p:nvPr/>
        </p:nvSpPr>
        <p:spPr>
          <a:xfrm>
            <a:off x="9265615" y="3493008"/>
            <a:ext cx="0" cy="228600"/>
          </a:xfrm>
          <a:prstGeom prst="line">
            <a:avLst/>
          </a:prstGeom>
          <a:noFill/>
          <a:ln w="15875">
            <a:solidFill>
              <a:schemeClr val="tx2"/>
            </a:solidFill>
            <a:prstDash val="solid"/>
          </a:ln>
        </p:spPr>
      </p:sp>
      <p:sp>
        <p:nvSpPr>
          <p:cNvPr id="37" name="s9-box-33"/>
          <p:cNvSpPr/>
          <p:nvPr/>
        </p:nvSpPr>
        <p:spPr>
          <a:xfrm>
            <a:off x="8099755" y="3721608"/>
            <a:ext cx="2331720" cy="1188720"/>
          </a:xfrm>
          <a:prstGeom prst="rect">
            <a:avLst/>
          </a:prstGeom>
          <a:solidFill>
            <a:schemeClr val="bg1"/>
          </a:solidFill>
          <a:ln w="12700">
            <a:solidFill>
              <a:schemeClr val="accent6"/>
            </a:solidFill>
            <a:prstDash val="solid"/>
          </a:ln>
        </p:spPr>
      </p:sp>
      <p:sp>
        <p:nvSpPr>
          <p:cNvPr id="38" name="s9-text-34"/>
          <p:cNvSpPr txBox="1"/>
          <p:nvPr/>
        </p:nvSpPr>
        <p:spPr>
          <a:xfrm>
            <a:off x="8209483" y="379476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26 Mar 2026</a:t>
            </a:r>
            <a:endParaRPr lang="en-US" sz="1200" dirty="0"/>
          </a:p>
          <a:p>
            <a:pPr indent="0" marL="0">
              <a:spcAft>
                <a:spcPts val="300"/>
              </a:spcAft>
              <a:buNone/>
            </a:pPr>
            <a:r>
              <a:rPr lang="en-US" sz="1200" dirty="0">
                <a:solidFill>
                  <a:schemeClr val="tx1"/>
                </a:solidFill>
              </a:rPr>
              <a:t>Parallel MSC case sent to court (THB 332.3M)</a:t>
            </a:r>
            <a:endParaRPr lang="en-US" sz="1200" dirty="0"/>
          </a:p>
        </p:txBody>
      </p:sp>
      <p:sp>
        <p:nvSpPr>
          <p:cNvPr id="39" name="s9-node-35"/>
          <p:cNvSpPr/>
          <p:nvPr/>
        </p:nvSpPr>
        <p:spPr>
          <a:xfrm>
            <a:off x="9155887" y="3383280"/>
            <a:ext cx="219456" cy="219456"/>
          </a:xfrm>
          <a:prstGeom prst="ellipse">
            <a:avLst/>
          </a:prstGeom>
          <a:solidFill>
            <a:schemeClr val="tx2"/>
          </a:solidFill>
          <a:ln w="19050">
            <a:solidFill>
              <a:schemeClr val="bg1"/>
            </a:solidFill>
            <a:prstDash val="solid"/>
          </a:ln>
        </p:spPr>
      </p:sp>
      <p:sp>
        <p:nvSpPr>
          <p:cNvPr id="40" name="s9-line-36"/>
          <p:cNvSpPr/>
          <p:nvPr/>
        </p:nvSpPr>
        <p:spPr>
          <a:xfrm>
            <a:off x="11140135" y="3264408"/>
            <a:ext cx="0" cy="228600"/>
          </a:xfrm>
          <a:prstGeom prst="line">
            <a:avLst/>
          </a:prstGeom>
          <a:noFill/>
          <a:ln w="15875">
            <a:solidFill>
              <a:schemeClr val="tx2"/>
            </a:solidFill>
            <a:prstDash val="solid"/>
          </a:ln>
        </p:spPr>
      </p:sp>
      <p:sp>
        <p:nvSpPr>
          <p:cNvPr id="41" name="s9-box-37"/>
          <p:cNvSpPr/>
          <p:nvPr/>
        </p:nvSpPr>
        <p:spPr>
          <a:xfrm>
            <a:off x="9357055" y="2075688"/>
            <a:ext cx="2331720" cy="1188720"/>
          </a:xfrm>
          <a:prstGeom prst="rect">
            <a:avLst/>
          </a:prstGeom>
          <a:solidFill>
            <a:srgbClr val="FFF3DC"/>
          </a:solidFill>
          <a:ln w="12700">
            <a:solidFill>
              <a:schemeClr val="accent4"/>
            </a:solidFill>
            <a:prstDash val="solid"/>
          </a:ln>
        </p:spPr>
      </p:sp>
      <p:sp>
        <p:nvSpPr>
          <p:cNvPr id="42" name="s9-text-38"/>
          <p:cNvSpPr txBox="1"/>
          <p:nvPr/>
        </p:nvSpPr>
        <p:spPr>
          <a:xfrm>
            <a:off x="9466783" y="214884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11 May 2026</a:t>
            </a:r>
            <a:endParaRPr lang="en-US" sz="1200" dirty="0"/>
          </a:p>
          <a:p>
            <a:pPr indent="0" marL="0">
              <a:spcAft>
                <a:spcPts val="300"/>
              </a:spcAft>
              <a:buNone/>
            </a:pPr>
            <a:r>
              <a:rPr lang="en-US" sz="1200" dirty="0">
                <a:solidFill>
                  <a:schemeClr val="tx1"/>
                </a:solidFill>
              </a:rPr>
              <a:t>She refuses; SEC asks the prosecutor to sue for THB 43.0M + interest; AMLO notified</a:t>
            </a:r>
            <a:endParaRPr lang="en-US" sz="1200" dirty="0"/>
          </a:p>
        </p:txBody>
      </p:sp>
      <p:sp>
        <p:nvSpPr>
          <p:cNvPr id="43" name="s9-node-39"/>
          <p:cNvSpPr/>
          <p:nvPr/>
        </p:nvSpPr>
        <p:spPr>
          <a:xfrm>
            <a:off x="11030407" y="3383280"/>
            <a:ext cx="219456" cy="219456"/>
          </a:xfrm>
          <a:prstGeom prst="ellipse">
            <a:avLst/>
          </a:prstGeom>
          <a:solidFill>
            <a:schemeClr val="accent4"/>
          </a:solidFill>
          <a:ln w="19050">
            <a:solidFill>
              <a:schemeClr val="bg1"/>
            </a:solidFill>
            <a:prstDash val="solid"/>
          </a:ln>
        </p:spPr>
      </p:sp>
      <p:sp>
        <p:nvSpPr>
          <p:cNvPr id="44" name="s9-box-40"/>
          <p:cNvSpPr/>
          <p:nvPr/>
        </p:nvSpPr>
        <p:spPr>
          <a:xfrm>
            <a:off x="365760" y="5330952"/>
            <a:ext cx="11460175" cy="795528"/>
          </a:xfrm>
          <a:prstGeom prst="rect">
            <a:avLst/>
          </a:prstGeom>
          <a:solidFill>
            <a:srgbClr val="FFF3DC"/>
          </a:solidFill>
          <a:ln w="12700">
            <a:solidFill>
              <a:schemeClr val="accent4"/>
            </a:solidFill>
            <a:prstDash val="solid"/>
          </a:ln>
        </p:spPr>
      </p:sp>
      <p:sp>
        <p:nvSpPr>
          <p:cNvPr id="45" name="s9-text-41"/>
          <p:cNvSpPr txBox="1"/>
          <p:nvPr/>
        </p:nvSpPr>
        <p:spPr>
          <a:xfrm>
            <a:off x="594360" y="5330952"/>
            <a:ext cx="11002975" cy="795528"/>
          </a:xfrm>
          <a:prstGeom prst="rect">
            <a:avLst/>
          </a:prstGeom>
          <a:noFill/>
          <a:ln/>
        </p:spPr>
        <p:txBody>
          <a:bodyPr wrap="square" lIns="0" tIns="0" rIns="0" bIns="0" rtlCol="0" anchor="ctr"/>
          <a:lstStyle/>
          <a:p>
            <a:pPr indent="0" marL="0">
              <a:spcAft>
                <a:spcPts val="300"/>
              </a:spcAft>
              <a:buNone/>
            </a:pPr>
            <a:r>
              <a:rPr lang="en-US" sz="1200" b="1" dirty="0">
                <a:solidFill>
                  <a:schemeClr val="accent4"/>
                </a:solidFill>
              </a:rPr>
              <a:t>Status: no court judgment reported as of October 2026.</a:t>
            </a:r>
            <a:endParaRPr lang="en-US" sz="1200" dirty="0"/>
          </a:p>
          <a:p>
            <a:pPr indent="0" marL="0">
              <a:spcAft>
                <a:spcPts val="300"/>
              </a:spcAft>
              <a:buNone/>
            </a:pPr>
            <a:r>
              <a:rPr lang="en-US" sz="1200" dirty="0">
                <a:solidFill>
                  <a:schemeClr val="tx1"/>
                </a:solidFill>
              </a:rPr>
              <a:t>All facts are as found by the SEC and the CSC. About three years passed between the SET referral (Oct 2022) and the CSC decision (Jan 2026).</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Law: Section 244/3 — Market Manipulation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ss.238, 244/3, 296, 296/1</a:t>
            </a:r>
            <a:endParaRPr lang="en-US" sz="1050" dirty="0"/>
          </a:p>
        </p:txBody>
      </p:sp>
      <p:sp>
        <p:nvSpPr>
          <p:cNvPr id="5" name="s10-box-1"/>
          <p:cNvSpPr/>
          <p:nvPr/>
        </p:nvSpPr>
        <p:spPr>
          <a:xfrm>
            <a:off x="365760" y="1353312"/>
            <a:ext cx="11460175" cy="502920"/>
          </a:xfrm>
          <a:prstGeom prst="rect">
            <a:avLst/>
          </a:prstGeom>
          <a:solidFill>
            <a:schemeClr val="bg2"/>
          </a:solidFill>
          <a:ln/>
        </p:spPr>
      </p:sp>
      <p:sp>
        <p:nvSpPr>
          <p:cNvPr id="6" name="s10-text-2"/>
          <p:cNvSpPr txBox="1"/>
          <p:nvPr/>
        </p:nvSpPr>
        <p:spPr>
          <a:xfrm>
            <a:off x="548640" y="1353312"/>
            <a:ext cx="11094415" cy="502920"/>
          </a:xfrm>
          <a:prstGeom prst="rect">
            <a:avLst/>
          </a:prstGeom>
          <a:noFill/>
          <a:ln/>
        </p:spPr>
        <p:txBody>
          <a:bodyPr wrap="square" lIns="0" tIns="0" rIns="0" bIns="0" rtlCol="0" anchor="ctr"/>
          <a:lstStyle/>
          <a:p>
            <a:pPr indent="0" marL="0">
              <a:buNone/>
            </a:pPr>
            <a:r>
              <a:rPr lang="en-US" sz="1200" b="1" dirty="0">
                <a:solidFill>
                  <a:schemeClr val="tx2"/>
                </a:solidFill>
              </a:rPr>
              <a:t>Scope, s.238: </a:t>
            </a:r>
            <a:pPr indent="0" marL="0">
              <a:buNone/>
            </a:pPr>
            <a:r>
              <a:rPr lang="en-US" sz="1200" dirty="0">
                <a:solidFill>
                  <a:schemeClr val="tx1"/>
                </a:solidFill>
              </a:rPr>
              <a:t>the Division applies to listed securities and securities traded in the over-the-counter centre. TSR is listed on the SET, so it is in scope.</a:t>
            </a:r>
            <a:endParaRPr lang="en-US" sz="1200" dirty="0"/>
          </a:p>
        </p:txBody>
      </p:sp>
      <p:sp>
        <p:nvSpPr>
          <p:cNvPr id="7" name="s10-subbar-3"/>
          <p:cNvSpPr/>
          <p:nvPr/>
        </p:nvSpPr>
        <p:spPr>
          <a:xfrm>
            <a:off x="365760" y="1993392"/>
            <a:ext cx="5661508" cy="347472"/>
          </a:xfrm>
          <a:prstGeom prst="rect">
            <a:avLst/>
          </a:prstGeom>
          <a:solidFill>
            <a:schemeClr val="tx2"/>
          </a:solidFill>
          <a:ln/>
        </p:spPr>
      </p:sp>
      <p:sp>
        <p:nvSpPr>
          <p:cNvPr id="8" name="s10-subbar-text-4"/>
          <p:cNvSpPr txBox="1"/>
          <p:nvPr/>
        </p:nvSpPr>
        <p:spPr>
          <a:xfrm>
            <a:off x="365760" y="1993392"/>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Section 244/3 (1) · Misleading Others</a:t>
            </a:r>
            <a:endParaRPr lang="en-US" sz="1400" dirty="0"/>
          </a:p>
        </p:txBody>
      </p:sp>
      <p:sp>
        <p:nvSpPr>
          <p:cNvPr id="9" name="s10-box-5"/>
          <p:cNvSpPr/>
          <p:nvPr/>
        </p:nvSpPr>
        <p:spPr>
          <a:xfrm>
            <a:off x="365760" y="2432304"/>
            <a:ext cx="5661508" cy="3694176"/>
          </a:xfrm>
          <a:prstGeom prst="rect">
            <a:avLst/>
          </a:prstGeom>
          <a:solidFill>
            <a:schemeClr val="bg2"/>
          </a:solidFill>
          <a:ln/>
        </p:spPr>
      </p:sp>
      <p:sp>
        <p:nvSpPr>
          <p:cNvPr id="10" name="s10-text-6"/>
          <p:cNvSpPr txBox="1"/>
          <p:nvPr/>
        </p:nvSpPr>
        <p:spPr>
          <a:xfrm>
            <a:off x="594360" y="2569464"/>
            <a:ext cx="5204308" cy="274320"/>
          </a:xfrm>
          <a:prstGeom prst="rect">
            <a:avLst/>
          </a:prstGeom>
          <a:noFill/>
          <a:ln/>
        </p:spPr>
        <p:txBody>
          <a:bodyPr wrap="square" lIns="0" tIns="0" rIns="0" bIns="0" rtlCol="0" anchor="t"/>
          <a:lstStyle/>
          <a:p>
            <a:pPr indent="0" marL="0">
              <a:buNone/>
            </a:pPr>
            <a:r>
              <a:rPr lang="en-US" sz="1300" b="1" dirty="0">
                <a:solidFill>
                  <a:schemeClr val="tx2"/>
                </a:solidFill>
              </a:rPr>
              <a:t>Statutory text</a:t>
            </a:r>
            <a:endParaRPr lang="en-US" sz="1300" dirty="0"/>
          </a:p>
        </p:txBody>
      </p:sp>
      <p:sp>
        <p:nvSpPr>
          <p:cNvPr id="11" name="s10-text-7"/>
          <p:cNvSpPr txBox="1"/>
          <p:nvPr/>
        </p:nvSpPr>
        <p:spPr>
          <a:xfrm>
            <a:off x="594360" y="2871216"/>
            <a:ext cx="5204308" cy="822960"/>
          </a:xfrm>
          <a:prstGeom prst="rect">
            <a:avLst/>
          </a:prstGeom>
          <a:noFill/>
          <a:ln/>
        </p:spPr>
        <p:txBody>
          <a:bodyPr wrap="square" lIns="0" tIns="0" rIns="0" bIns="0" rtlCol="0" anchor="t"/>
          <a:lstStyle/>
          <a:p>
            <a:pPr indent="0" marL="0">
              <a:buNone/>
            </a:pPr>
            <a:r>
              <a:rPr lang="en-US" sz="1200" i="1" dirty="0">
                <a:solidFill>
                  <a:schemeClr val="tx1"/>
                </a:solidFill>
              </a:rPr>
              <a:t>“placing a trading order or trading securities in such a way that misleads other persons regarding the price or volume of the securities trading”</a:t>
            </a:r>
            <a:endParaRPr lang="en-US" sz="1200" dirty="0"/>
          </a:p>
        </p:txBody>
      </p:sp>
      <p:sp>
        <p:nvSpPr>
          <p:cNvPr id="12" name="s10-text-8"/>
          <p:cNvSpPr txBox="1"/>
          <p:nvPr/>
        </p:nvSpPr>
        <p:spPr>
          <a:xfrm>
            <a:off x="594360" y="3730752"/>
            <a:ext cx="5204308" cy="274320"/>
          </a:xfrm>
          <a:prstGeom prst="rect">
            <a:avLst/>
          </a:prstGeom>
          <a:noFill/>
          <a:ln/>
        </p:spPr>
        <p:txBody>
          <a:bodyPr wrap="square" lIns="0" tIns="0" rIns="0" bIns="0" rtlCol="0" anchor="t"/>
          <a:lstStyle/>
          <a:p>
            <a:pPr indent="0" marL="0">
              <a:buNone/>
            </a:pPr>
            <a:r>
              <a:rPr lang="en-US" sz="1300" b="1" dirty="0">
                <a:solidFill>
                  <a:schemeClr val="tx2"/>
                </a:solidFill>
              </a:rPr>
              <a:t>What it targets</a:t>
            </a:r>
            <a:endParaRPr lang="en-US" sz="1300" dirty="0"/>
          </a:p>
        </p:txBody>
      </p:sp>
      <p:sp>
        <p:nvSpPr>
          <p:cNvPr id="13" name="s10-text-9"/>
          <p:cNvSpPr txBox="1"/>
          <p:nvPr/>
        </p:nvSpPr>
        <p:spPr>
          <a:xfrm>
            <a:off x="594360" y="4032504"/>
            <a:ext cx="5204308" cy="457200"/>
          </a:xfrm>
          <a:prstGeom prst="rect">
            <a:avLst/>
          </a:prstGeom>
          <a:noFill/>
          <a:ln/>
        </p:spPr>
        <p:txBody>
          <a:bodyPr wrap="square" lIns="0" tIns="0" rIns="0" bIns="0" rtlCol="0" anchor="t"/>
          <a:lstStyle/>
          <a:p>
            <a:pPr indent="0" marL="0">
              <a:buNone/>
            </a:pPr>
            <a:r>
              <a:rPr lang="en-US" sz="1200" dirty="0">
                <a:solidFill>
                  <a:schemeClr val="tx1"/>
                </a:solidFill>
              </a:rPr>
              <a:t>The effect: other investors are misled about the price or volume.</a:t>
            </a:r>
            <a:endParaRPr lang="en-US" sz="1200" dirty="0"/>
          </a:p>
        </p:txBody>
      </p:sp>
      <p:sp>
        <p:nvSpPr>
          <p:cNvPr id="14" name="s10-text-10"/>
          <p:cNvSpPr txBox="1"/>
          <p:nvPr/>
        </p:nvSpPr>
        <p:spPr>
          <a:xfrm>
            <a:off x="594360" y="4535424"/>
            <a:ext cx="5204308" cy="274320"/>
          </a:xfrm>
          <a:prstGeom prst="rect">
            <a:avLst/>
          </a:prstGeom>
          <a:noFill/>
          <a:ln/>
        </p:spPr>
        <p:txBody>
          <a:bodyPr wrap="square" lIns="0" tIns="0" rIns="0" bIns="0" rtlCol="0" anchor="t"/>
          <a:lstStyle/>
          <a:p>
            <a:pPr indent="0" marL="0">
              <a:buNone/>
            </a:pPr>
            <a:r>
              <a:rPr lang="en-US" sz="1300" b="1" dirty="0">
                <a:solidFill>
                  <a:schemeClr val="tx2"/>
                </a:solidFill>
              </a:rPr>
              <a:t>In the TSR case</a:t>
            </a:r>
            <a:endParaRPr lang="en-US" sz="1300" dirty="0"/>
          </a:p>
        </p:txBody>
      </p:sp>
      <p:sp>
        <p:nvSpPr>
          <p:cNvPr id="15" name="s10-text-11"/>
          <p:cNvSpPr txBox="1"/>
          <p:nvPr/>
        </p:nvSpPr>
        <p:spPr>
          <a:xfrm>
            <a:off x="594360" y="4837176"/>
            <a:ext cx="5204308" cy="457200"/>
          </a:xfrm>
          <a:prstGeom prst="rect">
            <a:avLst/>
          </a:prstGeom>
          <a:noFill/>
          <a:ln/>
        </p:spPr>
        <p:txBody>
          <a:bodyPr wrap="square" lIns="0" tIns="0" rIns="0" bIns="0" rtlCol="0" anchor="t"/>
          <a:lstStyle/>
          <a:p>
            <a:pPr indent="0" marL="0">
              <a:buNone/>
            </a:pPr>
            <a:r>
              <a:rPr lang="en-US" sz="1200" dirty="0">
                <a:solidFill>
                  <a:schemeClr val="tx1"/>
                </a:solidFill>
              </a:rPr>
              <a:t>Investors saw ‘strong demand’ on the board that her own orders created.</a:t>
            </a:r>
            <a:endParaRPr lang="en-US" sz="1200" dirty="0"/>
          </a:p>
        </p:txBody>
      </p:sp>
      <p:sp>
        <p:nvSpPr>
          <p:cNvPr id="16" name="s10-chip-12"/>
          <p:cNvSpPr/>
          <p:nvPr/>
        </p:nvSpPr>
        <p:spPr>
          <a:xfrm>
            <a:off x="594360" y="5358384"/>
            <a:ext cx="5204308" cy="658368"/>
          </a:xfrm>
          <a:prstGeom prst="rect">
            <a:avLst/>
          </a:prstGeom>
          <a:solidFill>
            <a:schemeClr val="accent2"/>
          </a:solidFill>
          <a:ln/>
        </p:spPr>
      </p:sp>
      <p:sp>
        <p:nvSpPr>
          <p:cNvPr id="17" name="s10-chip-text-13"/>
          <p:cNvSpPr txBox="1"/>
          <p:nvPr/>
        </p:nvSpPr>
        <p:spPr>
          <a:xfrm>
            <a:off x="594360" y="5358384"/>
            <a:ext cx="5204308" cy="658368"/>
          </a:xfrm>
          <a:prstGeom prst="rect">
            <a:avLst/>
          </a:prstGeom>
          <a:noFill/>
          <a:ln/>
        </p:spPr>
        <p:txBody>
          <a:bodyPr wrap="square" lIns="50800" tIns="50800" rIns="50800" bIns="50800" rtlCol="0" anchor="ctr"/>
          <a:lstStyle/>
          <a:p>
            <a:pPr algn="ctr" indent="0" marL="0">
              <a:buNone/>
            </a:pPr>
            <a:r>
              <a:rPr lang="en-US" sz="1200" dirty="0">
                <a:solidFill>
                  <a:schemeClr val="tx1"/>
                </a:solidFill>
              </a:rPr>
              <a:t>Penalty: s.296</a:t>
            </a:r>
            <a:endParaRPr lang="en-US" sz="1200" dirty="0"/>
          </a:p>
          <a:p>
            <a:pPr algn="ctr" indent="0" marL="0">
              <a:buNone/>
            </a:pPr>
            <a:r>
              <a:rPr lang="en-US" sz="1200" b="1" dirty="0">
                <a:solidFill>
                  <a:schemeClr val="tx2"/>
                </a:solidFill>
              </a:rPr>
              <a:t>≤ 2 years’ prison, or a fine of THB 0.5M – 2M, or both</a:t>
            </a:r>
            <a:endParaRPr lang="en-US" sz="1200" dirty="0"/>
          </a:p>
        </p:txBody>
      </p:sp>
      <p:sp>
        <p:nvSpPr>
          <p:cNvPr id="18" name="s10-subbar-14"/>
          <p:cNvSpPr/>
          <p:nvPr/>
        </p:nvSpPr>
        <p:spPr>
          <a:xfrm>
            <a:off x="6164428" y="1993392"/>
            <a:ext cx="5661508" cy="347472"/>
          </a:xfrm>
          <a:prstGeom prst="rect">
            <a:avLst/>
          </a:prstGeom>
          <a:solidFill>
            <a:schemeClr val="tx2"/>
          </a:solidFill>
          <a:ln/>
        </p:spPr>
      </p:sp>
      <p:sp>
        <p:nvSpPr>
          <p:cNvPr id="19" name="s10-subbar-text-15"/>
          <p:cNvSpPr txBox="1"/>
          <p:nvPr/>
        </p:nvSpPr>
        <p:spPr>
          <a:xfrm>
            <a:off x="6164428" y="1993392"/>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Section 244/3 (2) · Continuous Trading with Intent</a:t>
            </a:r>
            <a:endParaRPr lang="en-US" sz="1400" dirty="0"/>
          </a:p>
        </p:txBody>
      </p:sp>
      <p:sp>
        <p:nvSpPr>
          <p:cNvPr id="20" name="s10-box-16"/>
          <p:cNvSpPr/>
          <p:nvPr/>
        </p:nvSpPr>
        <p:spPr>
          <a:xfrm>
            <a:off x="6164428" y="2432304"/>
            <a:ext cx="5661508" cy="3694176"/>
          </a:xfrm>
          <a:prstGeom prst="rect">
            <a:avLst/>
          </a:prstGeom>
          <a:solidFill>
            <a:schemeClr val="bg2"/>
          </a:solidFill>
          <a:ln/>
        </p:spPr>
      </p:sp>
      <p:sp>
        <p:nvSpPr>
          <p:cNvPr id="21" name="s10-text-17"/>
          <p:cNvSpPr txBox="1"/>
          <p:nvPr/>
        </p:nvSpPr>
        <p:spPr>
          <a:xfrm>
            <a:off x="6393028" y="2569464"/>
            <a:ext cx="5204308" cy="274320"/>
          </a:xfrm>
          <a:prstGeom prst="rect">
            <a:avLst/>
          </a:prstGeom>
          <a:noFill/>
          <a:ln/>
        </p:spPr>
        <p:txBody>
          <a:bodyPr wrap="square" lIns="0" tIns="0" rIns="0" bIns="0" rtlCol="0" anchor="t"/>
          <a:lstStyle/>
          <a:p>
            <a:pPr indent="0" marL="0">
              <a:buNone/>
            </a:pPr>
            <a:r>
              <a:rPr lang="en-US" sz="1300" b="1" dirty="0">
                <a:solidFill>
                  <a:schemeClr val="tx2"/>
                </a:solidFill>
              </a:rPr>
              <a:t>Statutory text</a:t>
            </a:r>
            <a:endParaRPr lang="en-US" sz="1300" dirty="0"/>
          </a:p>
        </p:txBody>
      </p:sp>
      <p:sp>
        <p:nvSpPr>
          <p:cNvPr id="22" name="s10-text-18"/>
          <p:cNvSpPr txBox="1"/>
          <p:nvPr/>
        </p:nvSpPr>
        <p:spPr>
          <a:xfrm>
            <a:off x="6393028" y="2871216"/>
            <a:ext cx="5204308" cy="822960"/>
          </a:xfrm>
          <a:prstGeom prst="rect">
            <a:avLst/>
          </a:prstGeom>
          <a:noFill/>
          <a:ln/>
        </p:spPr>
        <p:txBody>
          <a:bodyPr wrap="square" lIns="0" tIns="0" rIns="0" bIns="0" rtlCol="0" anchor="t"/>
          <a:lstStyle/>
          <a:p>
            <a:pPr indent="0" marL="0">
              <a:buNone/>
            </a:pPr>
            <a:r>
              <a:rPr lang="en-US" sz="1200" i="1" dirty="0">
                <a:solidFill>
                  <a:schemeClr val="tx1"/>
                </a:solidFill>
              </a:rPr>
              <a:t>“placing a securities trading order or trading securities on a continued basis with an intent to cause the price or the volume of such securities trading to be inconsistent with the normal market condition”</a:t>
            </a:r>
            <a:endParaRPr lang="en-US" sz="1200" dirty="0"/>
          </a:p>
        </p:txBody>
      </p:sp>
      <p:sp>
        <p:nvSpPr>
          <p:cNvPr id="23" name="s10-text-19"/>
          <p:cNvSpPr txBox="1"/>
          <p:nvPr/>
        </p:nvSpPr>
        <p:spPr>
          <a:xfrm>
            <a:off x="6393028" y="3730752"/>
            <a:ext cx="5204308" cy="274320"/>
          </a:xfrm>
          <a:prstGeom prst="rect">
            <a:avLst/>
          </a:prstGeom>
          <a:noFill/>
          <a:ln/>
        </p:spPr>
        <p:txBody>
          <a:bodyPr wrap="square" lIns="0" tIns="0" rIns="0" bIns="0" rtlCol="0" anchor="t"/>
          <a:lstStyle/>
          <a:p>
            <a:pPr indent="0" marL="0">
              <a:buNone/>
            </a:pPr>
            <a:r>
              <a:rPr lang="en-US" sz="1300" b="1" dirty="0">
                <a:solidFill>
                  <a:schemeClr val="tx2"/>
                </a:solidFill>
              </a:rPr>
              <a:t>What it targets</a:t>
            </a:r>
            <a:endParaRPr lang="en-US" sz="1300" dirty="0"/>
          </a:p>
        </p:txBody>
      </p:sp>
      <p:sp>
        <p:nvSpPr>
          <p:cNvPr id="24" name="s10-text-20"/>
          <p:cNvSpPr txBox="1"/>
          <p:nvPr/>
        </p:nvSpPr>
        <p:spPr>
          <a:xfrm>
            <a:off x="6393028" y="4032504"/>
            <a:ext cx="5204308" cy="457200"/>
          </a:xfrm>
          <a:prstGeom prst="rect">
            <a:avLst/>
          </a:prstGeom>
          <a:noFill/>
          <a:ln/>
        </p:spPr>
        <p:txBody>
          <a:bodyPr wrap="square" lIns="0" tIns="0" rIns="0" bIns="0" rtlCol="0" anchor="t"/>
          <a:lstStyle/>
          <a:p>
            <a:pPr indent="0" marL="0">
              <a:buNone/>
            </a:pPr>
            <a:r>
              <a:rPr lang="en-US" sz="1200" dirty="0">
                <a:solidFill>
                  <a:schemeClr val="tx1"/>
                </a:solidFill>
              </a:rPr>
              <a:t>The conduct and the mind: continuous orders, with intent to make price or volume abnormal.</a:t>
            </a:r>
            <a:endParaRPr lang="en-US" sz="1200" dirty="0"/>
          </a:p>
        </p:txBody>
      </p:sp>
      <p:sp>
        <p:nvSpPr>
          <p:cNvPr id="25" name="s10-text-21"/>
          <p:cNvSpPr txBox="1"/>
          <p:nvPr/>
        </p:nvSpPr>
        <p:spPr>
          <a:xfrm>
            <a:off x="6393028" y="4535424"/>
            <a:ext cx="5204308" cy="274320"/>
          </a:xfrm>
          <a:prstGeom prst="rect">
            <a:avLst/>
          </a:prstGeom>
          <a:noFill/>
          <a:ln/>
        </p:spPr>
        <p:txBody>
          <a:bodyPr wrap="square" lIns="0" tIns="0" rIns="0" bIns="0" rtlCol="0" anchor="t"/>
          <a:lstStyle/>
          <a:p>
            <a:pPr indent="0" marL="0">
              <a:buNone/>
            </a:pPr>
            <a:r>
              <a:rPr lang="en-US" sz="1300" b="1" dirty="0">
                <a:solidFill>
                  <a:schemeClr val="tx2"/>
                </a:solidFill>
              </a:rPr>
              <a:t>In the TSR case</a:t>
            </a:r>
            <a:endParaRPr lang="en-US" sz="1300" dirty="0"/>
          </a:p>
        </p:txBody>
      </p:sp>
      <p:sp>
        <p:nvSpPr>
          <p:cNvPr id="26" name="s10-text-22"/>
          <p:cNvSpPr txBox="1"/>
          <p:nvPr/>
        </p:nvSpPr>
        <p:spPr>
          <a:xfrm>
            <a:off x="6393028" y="4837176"/>
            <a:ext cx="5204308" cy="457200"/>
          </a:xfrm>
          <a:prstGeom prst="rect">
            <a:avLst/>
          </a:prstGeom>
          <a:noFill/>
          <a:ln/>
        </p:spPr>
        <p:txBody>
          <a:bodyPr wrap="square" lIns="0" tIns="0" rIns="0" bIns="0" rtlCol="0" anchor="t"/>
          <a:lstStyle/>
          <a:p>
            <a:pPr indent="0" marL="0">
              <a:buNone/>
            </a:pPr>
            <a:r>
              <a:rPr lang="en-US" sz="1200" dirty="0">
                <a:solidFill>
                  <a:schemeClr val="tx1"/>
                </a:solidFill>
              </a:rPr>
              <a:t>47 trading days of orders, with a quarter-end motive to lift TSR.</a:t>
            </a:r>
            <a:endParaRPr lang="en-US" sz="1200" dirty="0"/>
          </a:p>
        </p:txBody>
      </p:sp>
      <p:sp>
        <p:nvSpPr>
          <p:cNvPr id="27" name="s10-chip-23"/>
          <p:cNvSpPr/>
          <p:nvPr/>
        </p:nvSpPr>
        <p:spPr>
          <a:xfrm>
            <a:off x="6393028" y="5358384"/>
            <a:ext cx="5204308" cy="658368"/>
          </a:xfrm>
          <a:prstGeom prst="rect">
            <a:avLst/>
          </a:prstGeom>
          <a:solidFill>
            <a:srgbClr val="FFF3DC"/>
          </a:solidFill>
          <a:ln w="12700">
            <a:solidFill>
              <a:schemeClr val="accent4"/>
            </a:solidFill>
            <a:prstDash val="solid"/>
          </a:ln>
        </p:spPr>
      </p:sp>
      <p:sp>
        <p:nvSpPr>
          <p:cNvPr id="28" name="s10-chip-text-24"/>
          <p:cNvSpPr txBox="1"/>
          <p:nvPr/>
        </p:nvSpPr>
        <p:spPr>
          <a:xfrm>
            <a:off x="6393028" y="5358384"/>
            <a:ext cx="5204308" cy="658368"/>
          </a:xfrm>
          <a:prstGeom prst="rect">
            <a:avLst/>
          </a:prstGeom>
          <a:noFill/>
          <a:ln/>
        </p:spPr>
        <p:txBody>
          <a:bodyPr wrap="square" lIns="50800" tIns="50800" rIns="50800" bIns="50800" rtlCol="0" anchor="ctr"/>
          <a:lstStyle/>
          <a:p>
            <a:pPr algn="ctr" indent="0" marL="0">
              <a:buNone/>
            </a:pPr>
            <a:r>
              <a:rPr lang="en-US" sz="1200" dirty="0">
                <a:solidFill>
                  <a:schemeClr val="accent4"/>
                </a:solidFill>
              </a:rPr>
              <a:t>Penalty: s.296/1 (heavier)</a:t>
            </a:r>
            <a:endParaRPr lang="en-US" sz="1200" dirty="0"/>
          </a:p>
          <a:p>
            <a:pPr algn="ctr" indent="0" marL="0">
              <a:buNone/>
            </a:pPr>
            <a:r>
              <a:rPr lang="en-US" sz="1200" b="1" dirty="0">
                <a:solidFill>
                  <a:schemeClr val="tx2"/>
                </a:solidFill>
              </a:rPr>
              <a:t>≤ 5 years’ prison, or a fine of THB 1M – 5M, or both</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Law: Section 244/5 — Legal Presumptions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ss.244/4, 244/5; Hoonsmart (24 Jan 2026)</a:t>
            </a:r>
            <a:endParaRPr lang="en-US" sz="1050" dirty="0"/>
          </a:p>
        </p:txBody>
      </p:sp>
      <p:sp>
        <p:nvSpPr>
          <p:cNvPr id="5" name="s11-subbar-1"/>
          <p:cNvSpPr/>
          <p:nvPr/>
        </p:nvSpPr>
        <p:spPr>
          <a:xfrm>
            <a:off x="365760" y="1353312"/>
            <a:ext cx="7223760" cy="347472"/>
          </a:xfrm>
          <a:prstGeom prst="rect">
            <a:avLst/>
          </a:prstGeom>
          <a:solidFill>
            <a:schemeClr val="tx2"/>
          </a:solidFill>
          <a:ln/>
        </p:spPr>
      </p:sp>
      <p:sp>
        <p:nvSpPr>
          <p:cNvPr id="6" name="s11-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Acts Presumed to Be Manipulation · s.244/5</a:t>
            </a:r>
            <a:endParaRPr lang="en-US" sz="1400" dirty="0"/>
          </a:p>
        </p:txBody>
      </p:sp>
      <p:sp>
        <p:nvSpPr>
          <p:cNvPr id="7" name="s11-box-3"/>
          <p:cNvSpPr/>
          <p:nvPr/>
        </p:nvSpPr>
        <p:spPr>
          <a:xfrm>
            <a:off x="365760" y="1792224"/>
            <a:ext cx="548640" cy="786384"/>
          </a:xfrm>
          <a:prstGeom prst="rect">
            <a:avLst/>
          </a:prstGeom>
          <a:solidFill>
            <a:schemeClr val="accent2"/>
          </a:solidFill>
          <a:ln/>
        </p:spPr>
      </p:sp>
      <p:sp>
        <p:nvSpPr>
          <p:cNvPr id="8" name="s11-text-4"/>
          <p:cNvSpPr txBox="1"/>
          <p:nvPr/>
        </p:nvSpPr>
        <p:spPr>
          <a:xfrm>
            <a:off x="365760" y="1792224"/>
            <a:ext cx="548640" cy="786384"/>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9" name="s11-box-5"/>
          <p:cNvSpPr/>
          <p:nvPr/>
        </p:nvSpPr>
        <p:spPr>
          <a:xfrm>
            <a:off x="1005840" y="1792224"/>
            <a:ext cx="6583680" cy="786384"/>
          </a:xfrm>
          <a:prstGeom prst="rect">
            <a:avLst/>
          </a:prstGeom>
          <a:solidFill>
            <a:schemeClr val="bg2"/>
          </a:solidFill>
          <a:ln/>
        </p:spPr>
      </p:sp>
      <p:sp>
        <p:nvSpPr>
          <p:cNvPr id="10" name="s11-text-6"/>
          <p:cNvSpPr txBox="1"/>
          <p:nvPr/>
        </p:nvSpPr>
        <p:spPr>
          <a:xfrm>
            <a:off x="1188720" y="1792224"/>
            <a:ext cx="6217920" cy="786384"/>
          </a:xfrm>
          <a:prstGeom prst="rect">
            <a:avLst/>
          </a:prstGeom>
          <a:noFill/>
          <a:ln/>
        </p:spPr>
        <p:txBody>
          <a:bodyPr wrap="square" lIns="0" tIns="0" rIns="0" bIns="0" rtlCol="0" anchor="ctr"/>
          <a:lstStyle/>
          <a:p>
            <a:pPr indent="0" marL="0">
              <a:buNone/>
            </a:pPr>
            <a:r>
              <a:rPr lang="en-US" sz="1200" dirty="0">
                <a:solidFill>
                  <a:schemeClr val="tx1"/>
                </a:solidFill>
              </a:rPr>
              <a:t>Trades with no change in beneficial ownership</a:t>
            </a:r>
            <a:endParaRPr lang="en-US" sz="1200" dirty="0"/>
          </a:p>
        </p:txBody>
      </p:sp>
      <p:sp>
        <p:nvSpPr>
          <p:cNvPr id="11" name="s11-box-7"/>
          <p:cNvSpPr/>
          <p:nvPr/>
        </p:nvSpPr>
        <p:spPr>
          <a:xfrm>
            <a:off x="365760" y="2679192"/>
            <a:ext cx="548640" cy="786384"/>
          </a:xfrm>
          <a:prstGeom prst="rect">
            <a:avLst/>
          </a:prstGeom>
          <a:solidFill>
            <a:schemeClr val="accent2"/>
          </a:solidFill>
          <a:ln/>
        </p:spPr>
      </p:sp>
      <p:sp>
        <p:nvSpPr>
          <p:cNvPr id="12" name="s11-text-8"/>
          <p:cNvSpPr txBox="1"/>
          <p:nvPr/>
        </p:nvSpPr>
        <p:spPr>
          <a:xfrm>
            <a:off x="365760" y="2679192"/>
            <a:ext cx="548640" cy="786384"/>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3" name="s11-box-9"/>
          <p:cNvSpPr/>
          <p:nvPr/>
        </p:nvSpPr>
        <p:spPr>
          <a:xfrm>
            <a:off x="1005840" y="2679192"/>
            <a:ext cx="6583680" cy="786384"/>
          </a:xfrm>
          <a:prstGeom prst="rect">
            <a:avLst/>
          </a:prstGeom>
          <a:solidFill>
            <a:schemeClr val="bg2"/>
          </a:solidFill>
          <a:ln/>
        </p:spPr>
      </p:sp>
      <p:sp>
        <p:nvSpPr>
          <p:cNvPr id="14" name="s11-text-10"/>
          <p:cNvSpPr txBox="1"/>
          <p:nvPr/>
        </p:nvSpPr>
        <p:spPr>
          <a:xfrm>
            <a:off x="1188720" y="2679192"/>
            <a:ext cx="6217920" cy="786384"/>
          </a:xfrm>
          <a:prstGeom prst="rect">
            <a:avLst/>
          </a:prstGeom>
          <a:noFill/>
          <a:ln/>
        </p:spPr>
        <p:txBody>
          <a:bodyPr wrap="square" lIns="0" tIns="0" rIns="0" bIns="0" rtlCol="0" anchor="ctr"/>
          <a:lstStyle/>
          <a:p>
            <a:pPr indent="0" marL="0">
              <a:buNone/>
            </a:pPr>
            <a:r>
              <a:rPr lang="en-US" sz="1200" dirty="0">
                <a:solidFill>
                  <a:schemeClr val="tx1"/>
                </a:solidFill>
              </a:rPr>
              <a:t>Buying while you or an associate sell a similar amount, at a similar price and time</a:t>
            </a:r>
            <a:endParaRPr lang="en-US" sz="1200" dirty="0"/>
          </a:p>
        </p:txBody>
      </p:sp>
      <p:sp>
        <p:nvSpPr>
          <p:cNvPr id="15" name="s11-box-11"/>
          <p:cNvSpPr/>
          <p:nvPr/>
        </p:nvSpPr>
        <p:spPr>
          <a:xfrm>
            <a:off x="365760" y="3566160"/>
            <a:ext cx="548640" cy="786384"/>
          </a:xfrm>
          <a:prstGeom prst="rect">
            <a:avLst/>
          </a:prstGeom>
          <a:solidFill>
            <a:schemeClr val="accent2"/>
          </a:solidFill>
          <a:ln/>
        </p:spPr>
      </p:sp>
      <p:sp>
        <p:nvSpPr>
          <p:cNvPr id="16" name="s11-text-12"/>
          <p:cNvSpPr txBox="1"/>
          <p:nvPr/>
        </p:nvSpPr>
        <p:spPr>
          <a:xfrm>
            <a:off x="365760" y="3566160"/>
            <a:ext cx="548640" cy="786384"/>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7" name="s11-box-13"/>
          <p:cNvSpPr/>
          <p:nvPr/>
        </p:nvSpPr>
        <p:spPr>
          <a:xfrm>
            <a:off x="1005840" y="3566160"/>
            <a:ext cx="6583680" cy="786384"/>
          </a:xfrm>
          <a:prstGeom prst="rect">
            <a:avLst/>
          </a:prstGeom>
          <a:solidFill>
            <a:schemeClr val="bg2"/>
          </a:solidFill>
          <a:ln/>
        </p:spPr>
      </p:sp>
      <p:sp>
        <p:nvSpPr>
          <p:cNvPr id="18" name="s11-text-14"/>
          <p:cNvSpPr txBox="1"/>
          <p:nvPr/>
        </p:nvSpPr>
        <p:spPr>
          <a:xfrm>
            <a:off x="1188720" y="3566160"/>
            <a:ext cx="6217920" cy="786384"/>
          </a:xfrm>
          <a:prstGeom prst="rect">
            <a:avLst/>
          </a:prstGeom>
          <a:noFill/>
          <a:ln/>
        </p:spPr>
        <p:txBody>
          <a:bodyPr wrap="square" lIns="0" tIns="0" rIns="0" bIns="0" rtlCol="0" anchor="ctr"/>
          <a:lstStyle/>
          <a:p>
            <a:pPr indent="0" marL="0">
              <a:buNone/>
            </a:pPr>
            <a:r>
              <a:rPr lang="en-US" sz="1200" dirty="0">
                <a:solidFill>
                  <a:schemeClr val="tx1"/>
                </a:solidFill>
              </a:rPr>
              <a:t>Selling while you or an associate buy a similar amount, at a similar price and time</a:t>
            </a:r>
            <a:endParaRPr lang="en-US" sz="1200" dirty="0"/>
          </a:p>
        </p:txBody>
      </p:sp>
      <p:sp>
        <p:nvSpPr>
          <p:cNvPr id="19" name="s11-box-15"/>
          <p:cNvSpPr/>
          <p:nvPr/>
        </p:nvSpPr>
        <p:spPr>
          <a:xfrm>
            <a:off x="365760" y="4453128"/>
            <a:ext cx="548640" cy="786384"/>
          </a:xfrm>
          <a:prstGeom prst="rect">
            <a:avLst/>
          </a:prstGeom>
          <a:solidFill>
            <a:srgbClr val="FFF3DC"/>
          </a:solidFill>
          <a:ln w="12700">
            <a:solidFill>
              <a:schemeClr val="accent4"/>
            </a:solidFill>
            <a:prstDash val="solid"/>
          </a:ln>
        </p:spPr>
      </p:sp>
      <p:sp>
        <p:nvSpPr>
          <p:cNvPr id="20" name="s11-text-16"/>
          <p:cNvSpPr txBox="1"/>
          <p:nvPr/>
        </p:nvSpPr>
        <p:spPr>
          <a:xfrm>
            <a:off x="365760" y="4453128"/>
            <a:ext cx="548640" cy="786384"/>
          </a:xfrm>
          <a:prstGeom prst="rect">
            <a:avLst/>
          </a:prstGeom>
          <a:noFill/>
          <a:ln/>
        </p:spPr>
        <p:txBody>
          <a:bodyPr wrap="square" lIns="0" tIns="0" rIns="0" bIns="0" rtlCol="0" anchor="ctr"/>
          <a:lstStyle/>
          <a:p>
            <a:pPr algn="ctr" indent="0" marL="0">
              <a:buNone/>
            </a:pPr>
            <a:r>
              <a:rPr lang="en-US" sz="1600" b="1" dirty="0">
                <a:solidFill>
                  <a:schemeClr val="accent4"/>
                </a:solidFill>
              </a:rPr>
              <a:t>4</a:t>
            </a:r>
            <a:endParaRPr lang="en-US" sz="1600" dirty="0"/>
          </a:p>
        </p:txBody>
      </p:sp>
      <p:sp>
        <p:nvSpPr>
          <p:cNvPr id="21" name="s11-box-17"/>
          <p:cNvSpPr/>
          <p:nvPr/>
        </p:nvSpPr>
        <p:spPr>
          <a:xfrm>
            <a:off x="1005840" y="4453128"/>
            <a:ext cx="6583680" cy="786384"/>
          </a:xfrm>
          <a:prstGeom prst="rect">
            <a:avLst/>
          </a:prstGeom>
          <a:solidFill>
            <a:srgbClr val="FFF3DC"/>
          </a:solidFill>
          <a:ln w="12700">
            <a:solidFill>
              <a:schemeClr val="accent4"/>
            </a:solidFill>
            <a:prstDash val="solid"/>
          </a:ln>
        </p:spPr>
      </p:sp>
      <p:sp>
        <p:nvSpPr>
          <p:cNvPr id="22" name="s11-text-18"/>
          <p:cNvSpPr txBox="1"/>
          <p:nvPr/>
        </p:nvSpPr>
        <p:spPr>
          <a:xfrm>
            <a:off x="1188720" y="4453128"/>
            <a:ext cx="5029200" cy="786384"/>
          </a:xfrm>
          <a:prstGeom prst="rect">
            <a:avLst/>
          </a:prstGeom>
          <a:noFill/>
          <a:ln/>
        </p:spPr>
        <p:txBody>
          <a:bodyPr wrap="square" lIns="0" tIns="0" rIns="0" bIns="0" rtlCol="0" anchor="ctr"/>
          <a:lstStyle/>
          <a:p>
            <a:pPr indent="0" marL="0">
              <a:buNone/>
            </a:pPr>
            <a:r>
              <a:rPr lang="en-US" sz="1200" dirty="0">
                <a:solidFill>
                  <a:schemeClr val="tx1"/>
                </a:solidFill>
              </a:rPr>
              <a:t>Placing, modifying or cancelling orders in the pre-open or pre-close to push the opening or closing price</a:t>
            </a:r>
            <a:endParaRPr lang="en-US" sz="1200" dirty="0"/>
          </a:p>
        </p:txBody>
      </p:sp>
      <p:sp>
        <p:nvSpPr>
          <p:cNvPr id="23" name="s11-box-19"/>
          <p:cNvSpPr/>
          <p:nvPr/>
        </p:nvSpPr>
        <p:spPr>
          <a:xfrm>
            <a:off x="6446520" y="4700016"/>
            <a:ext cx="960120" cy="292608"/>
          </a:xfrm>
          <a:prstGeom prst="rect">
            <a:avLst/>
          </a:prstGeom>
          <a:solidFill>
            <a:schemeClr val="accent4"/>
          </a:solidFill>
          <a:ln/>
        </p:spPr>
      </p:sp>
      <p:sp>
        <p:nvSpPr>
          <p:cNvPr id="24" name="s11-text-20"/>
          <p:cNvSpPr txBox="1"/>
          <p:nvPr/>
        </p:nvSpPr>
        <p:spPr>
          <a:xfrm>
            <a:off x="6446520" y="4700016"/>
            <a:ext cx="960120" cy="292608"/>
          </a:xfrm>
          <a:prstGeom prst="rect">
            <a:avLst/>
          </a:prstGeom>
          <a:noFill/>
          <a:ln/>
        </p:spPr>
        <p:txBody>
          <a:bodyPr wrap="square" lIns="0" tIns="0" rIns="0" bIns="0" rtlCol="0" anchor="ctr"/>
          <a:lstStyle/>
          <a:p>
            <a:pPr algn="ctr" indent="0" marL="0">
              <a:buNone/>
            </a:pPr>
            <a:r>
              <a:rPr lang="en-US" sz="1050" b="1" dirty="0">
                <a:solidFill>
                  <a:schemeClr val="bg1"/>
                </a:solidFill>
              </a:rPr>
              <a:t>CITED</a:t>
            </a:r>
            <a:endParaRPr lang="en-US" sz="1050" dirty="0"/>
          </a:p>
        </p:txBody>
      </p:sp>
      <p:sp>
        <p:nvSpPr>
          <p:cNvPr id="25" name="s11-box-21"/>
          <p:cNvSpPr/>
          <p:nvPr/>
        </p:nvSpPr>
        <p:spPr>
          <a:xfrm>
            <a:off x="365760" y="5340096"/>
            <a:ext cx="548640" cy="786384"/>
          </a:xfrm>
          <a:prstGeom prst="rect">
            <a:avLst/>
          </a:prstGeom>
          <a:solidFill>
            <a:srgbClr val="FFF3DC"/>
          </a:solidFill>
          <a:ln w="12700">
            <a:solidFill>
              <a:schemeClr val="accent4"/>
            </a:solidFill>
            <a:prstDash val="solid"/>
          </a:ln>
        </p:spPr>
      </p:sp>
      <p:sp>
        <p:nvSpPr>
          <p:cNvPr id="26" name="s11-text-22"/>
          <p:cNvSpPr txBox="1"/>
          <p:nvPr/>
        </p:nvSpPr>
        <p:spPr>
          <a:xfrm>
            <a:off x="365760" y="5340096"/>
            <a:ext cx="548640" cy="786384"/>
          </a:xfrm>
          <a:prstGeom prst="rect">
            <a:avLst/>
          </a:prstGeom>
          <a:noFill/>
          <a:ln/>
        </p:spPr>
        <p:txBody>
          <a:bodyPr wrap="square" lIns="0" tIns="0" rIns="0" bIns="0" rtlCol="0" anchor="ctr"/>
          <a:lstStyle/>
          <a:p>
            <a:pPr algn="ctr" indent="0" marL="0">
              <a:buNone/>
            </a:pPr>
            <a:r>
              <a:rPr lang="en-US" sz="1600" b="1" dirty="0">
                <a:solidFill>
                  <a:schemeClr val="accent4"/>
                </a:solidFill>
              </a:rPr>
              <a:t>5</a:t>
            </a:r>
            <a:endParaRPr lang="en-US" sz="1600" dirty="0"/>
          </a:p>
        </p:txBody>
      </p:sp>
      <p:sp>
        <p:nvSpPr>
          <p:cNvPr id="27" name="s11-box-23"/>
          <p:cNvSpPr/>
          <p:nvPr/>
        </p:nvSpPr>
        <p:spPr>
          <a:xfrm>
            <a:off x="1005840" y="5340096"/>
            <a:ext cx="6583680" cy="786384"/>
          </a:xfrm>
          <a:prstGeom prst="rect">
            <a:avLst/>
          </a:prstGeom>
          <a:solidFill>
            <a:srgbClr val="FFF3DC"/>
          </a:solidFill>
          <a:ln w="12700">
            <a:solidFill>
              <a:schemeClr val="accent4"/>
            </a:solidFill>
            <a:prstDash val="solid"/>
          </a:ln>
        </p:spPr>
      </p:sp>
      <p:sp>
        <p:nvSpPr>
          <p:cNvPr id="28" name="s11-text-24"/>
          <p:cNvSpPr txBox="1"/>
          <p:nvPr/>
        </p:nvSpPr>
        <p:spPr>
          <a:xfrm>
            <a:off x="1188720" y="5340096"/>
            <a:ext cx="5029200" cy="786384"/>
          </a:xfrm>
          <a:prstGeom prst="rect">
            <a:avLst/>
          </a:prstGeom>
          <a:noFill/>
          <a:ln/>
        </p:spPr>
        <p:txBody>
          <a:bodyPr wrap="square" lIns="0" tIns="0" rIns="0" bIns="0" rtlCol="0" anchor="ctr"/>
          <a:lstStyle/>
          <a:p>
            <a:pPr indent="0" marL="0">
              <a:buNone/>
            </a:pPr>
            <a:r>
              <a:rPr lang="en-US" sz="1200" dirty="0">
                <a:solidFill>
                  <a:schemeClr val="tx1"/>
                </a:solidFill>
              </a:rPr>
              <a:t>Placing, modifying or cancelling orders that obstruct others, forcing them to trade at a worse price</a:t>
            </a:r>
            <a:endParaRPr lang="en-US" sz="1200" dirty="0"/>
          </a:p>
        </p:txBody>
      </p:sp>
      <p:sp>
        <p:nvSpPr>
          <p:cNvPr id="29" name="s11-box-25"/>
          <p:cNvSpPr/>
          <p:nvPr/>
        </p:nvSpPr>
        <p:spPr>
          <a:xfrm>
            <a:off x="6446520" y="5586984"/>
            <a:ext cx="960120" cy="292608"/>
          </a:xfrm>
          <a:prstGeom prst="rect">
            <a:avLst/>
          </a:prstGeom>
          <a:solidFill>
            <a:schemeClr val="accent4"/>
          </a:solidFill>
          <a:ln/>
        </p:spPr>
      </p:sp>
      <p:sp>
        <p:nvSpPr>
          <p:cNvPr id="30" name="s11-text-26"/>
          <p:cNvSpPr txBox="1"/>
          <p:nvPr/>
        </p:nvSpPr>
        <p:spPr>
          <a:xfrm>
            <a:off x="6446520" y="5586984"/>
            <a:ext cx="960120" cy="292608"/>
          </a:xfrm>
          <a:prstGeom prst="rect">
            <a:avLst/>
          </a:prstGeom>
          <a:noFill/>
          <a:ln/>
        </p:spPr>
        <p:txBody>
          <a:bodyPr wrap="square" lIns="0" tIns="0" rIns="0" bIns="0" rtlCol="0" anchor="ctr"/>
          <a:lstStyle/>
          <a:p>
            <a:pPr algn="ctr" indent="0" marL="0">
              <a:buNone/>
            </a:pPr>
            <a:r>
              <a:rPr lang="en-US" sz="1050" b="1" dirty="0">
                <a:solidFill>
                  <a:schemeClr val="bg1"/>
                </a:solidFill>
              </a:rPr>
              <a:t>CITED</a:t>
            </a:r>
            <a:endParaRPr lang="en-US" sz="1050" dirty="0"/>
          </a:p>
        </p:txBody>
      </p:sp>
      <p:sp>
        <p:nvSpPr>
          <p:cNvPr id="31" name="s11-subbar-27"/>
          <p:cNvSpPr/>
          <p:nvPr/>
        </p:nvSpPr>
        <p:spPr>
          <a:xfrm>
            <a:off x="7726680" y="1353312"/>
            <a:ext cx="4099255" cy="347472"/>
          </a:xfrm>
          <a:prstGeom prst="rect">
            <a:avLst/>
          </a:prstGeom>
          <a:solidFill>
            <a:schemeClr val="tx2"/>
          </a:solidFill>
          <a:ln/>
        </p:spPr>
      </p:sp>
      <p:sp>
        <p:nvSpPr>
          <p:cNvPr id="32" name="s11-subbar-text-28"/>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Why It Matters</a:t>
            </a:r>
            <a:endParaRPr lang="en-US" sz="1400" dirty="0"/>
          </a:p>
        </p:txBody>
      </p:sp>
      <p:sp>
        <p:nvSpPr>
          <p:cNvPr id="33" name="s11-box-29"/>
          <p:cNvSpPr/>
          <p:nvPr/>
        </p:nvSpPr>
        <p:spPr>
          <a:xfrm>
            <a:off x="7726680" y="1792224"/>
            <a:ext cx="4099255" cy="2103120"/>
          </a:xfrm>
          <a:prstGeom prst="rect">
            <a:avLst/>
          </a:prstGeom>
          <a:solidFill>
            <a:schemeClr val="bg2"/>
          </a:solidFill>
          <a:ln/>
        </p:spPr>
      </p:sp>
      <p:sp>
        <p:nvSpPr>
          <p:cNvPr id="34" name="s11-text-30"/>
          <p:cNvSpPr txBox="1"/>
          <p:nvPr/>
        </p:nvSpPr>
        <p:spPr>
          <a:xfrm>
            <a:off x="7955280" y="1901952"/>
            <a:ext cx="3642055" cy="1143000"/>
          </a:xfrm>
          <a:prstGeom prst="rect">
            <a:avLst/>
          </a:prstGeom>
          <a:noFill/>
          <a:ln/>
        </p:spPr>
        <p:txBody>
          <a:bodyPr wrap="square" lIns="0" tIns="0" rIns="0" bIns="0" rtlCol="0" anchor="ctr"/>
          <a:lstStyle/>
          <a:p>
            <a:pPr indent="0" marL="0">
              <a:spcAft>
                <a:spcPts val="400"/>
              </a:spcAft>
              <a:buNone/>
            </a:pPr>
            <a:r>
              <a:rPr lang="en-US" sz="1300" b="1" dirty="0">
                <a:solidFill>
                  <a:schemeClr val="tx2"/>
                </a:solidFill>
              </a:rPr>
              <a:t>The burden shifts.</a:t>
            </a:r>
            <a:endParaRPr lang="en-US" sz="1200" dirty="0"/>
          </a:p>
          <a:p>
            <a:pPr indent="0" marL="0">
              <a:spcAft>
                <a:spcPts val="400"/>
              </a:spcAft>
              <a:buNone/>
            </a:pPr>
            <a:r>
              <a:rPr lang="en-US" sz="1200" dirty="0">
                <a:solidFill>
                  <a:schemeClr val="tx1"/>
                </a:solidFill>
              </a:rPr>
              <a:t>Once the SEC proves conduct (4) or (5), the law presumes the ‘misleading’ or ‘abnormal price’ element of s.244/3. She must rebut it.</a:t>
            </a:r>
            <a:endParaRPr lang="en-US" sz="1200" dirty="0"/>
          </a:p>
        </p:txBody>
      </p:sp>
      <p:sp>
        <p:nvSpPr>
          <p:cNvPr id="35" name="s11-chip-31"/>
          <p:cNvSpPr/>
          <p:nvPr/>
        </p:nvSpPr>
        <p:spPr>
          <a:xfrm>
            <a:off x="7955280" y="3118104"/>
            <a:ext cx="3642055" cy="640080"/>
          </a:xfrm>
          <a:prstGeom prst="rect">
            <a:avLst/>
          </a:prstGeom>
          <a:solidFill>
            <a:srgbClr val="FFF3DC"/>
          </a:solidFill>
          <a:ln w="12700">
            <a:solidFill>
              <a:schemeClr val="accent4"/>
            </a:solidFill>
            <a:prstDash val="solid"/>
          </a:ln>
        </p:spPr>
      </p:sp>
      <p:sp>
        <p:nvSpPr>
          <p:cNvPr id="36" name="s11-chip-text-32"/>
          <p:cNvSpPr txBox="1"/>
          <p:nvPr/>
        </p:nvSpPr>
        <p:spPr>
          <a:xfrm>
            <a:off x="7955280" y="3118104"/>
            <a:ext cx="3642055" cy="640080"/>
          </a:xfrm>
          <a:prstGeom prst="rect">
            <a:avLst/>
          </a:prstGeom>
          <a:noFill/>
          <a:ln/>
        </p:spPr>
        <p:txBody>
          <a:bodyPr wrap="square" lIns="50800" tIns="50800" rIns="50800" bIns="50800" rtlCol="0" anchor="ctr"/>
          <a:lstStyle/>
          <a:p>
            <a:pPr algn="ctr" indent="0" marL="0">
              <a:buNone/>
            </a:pPr>
            <a:r>
              <a:rPr lang="en-US" sz="1200" dirty="0">
                <a:solidFill>
                  <a:schemeClr val="tx1"/>
                </a:solidFill>
              </a:rPr>
              <a:t>Cited by the SEC</a:t>
            </a:r>
            <a:endParaRPr lang="en-US" sz="1200" dirty="0"/>
          </a:p>
          <a:p>
            <a:pPr algn="ctr" indent="0" marL="0">
              <a:buNone/>
            </a:pPr>
            <a:r>
              <a:rPr lang="en-US" sz="1200" b="1" dirty="0">
                <a:solidFill>
                  <a:schemeClr val="tx2"/>
                </a:solidFill>
              </a:rPr>
              <a:t>s.244/5 (4) and (5)</a:t>
            </a:r>
            <a:endParaRPr lang="en-US" sz="1200" dirty="0"/>
          </a:p>
        </p:txBody>
      </p:sp>
      <p:sp>
        <p:nvSpPr>
          <p:cNvPr id="37" name="s11-subbar-33"/>
          <p:cNvSpPr/>
          <p:nvPr/>
        </p:nvSpPr>
        <p:spPr>
          <a:xfrm>
            <a:off x="7726680" y="4032504"/>
            <a:ext cx="4099255" cy="347472"/>
          </a:xfrm>
          <a:prstGeom prst="rect">
            <a:avLst/>
          </a:prstGeom>
          <a:solidFill>
            <a:schemeClr val="tx2"/>
          </a:solidFill>
          <a:ln/>
        </p:spPr>
      </p:sp>
      <p:sp>
        <p:nvSpPr>
          <p:cNvPr id="38" name="s11-subbar-text-34"/>
          <p:cNvSpPr txBox="1"/>
          <p:nvPr/>
        </p:nvSpPr>
        <p:spPr>
          <a:xfrm>
            <a:off x="7726680" y="4032504"/>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Exceptions · s.244/4</a:t>
            </a:r>
            <a:endParaRPr lang="en-US" sz="1400" dirty="0"/>
          </a:p>
        </p:txBody>
      </p:sp>
      <p:sp>
        <p:nvSpPr>
          <p:cNvPr id="39" name="s11-box-35"/>
          <p:cNvSpPr/>
          <p:nvPr/>
        </p:nvSpPr>
        <p:spPr>
          <a:xfrm>
            <a:off x="7726680" y="4471416"/>
            <a:ext cx="4099255" cy="1655064"/>
          </a:xfrm>
          <a:prstGeom prst="rect">
            <a:avLst/>
          </a:prstGeom>
          <a:solidFill>
            <a:schemeClr val="bg2"/>
          </a:solidFill>
          <a:ln/>
        </p:spPr>
      </p:sp>
      <p:sp>
        <p:nvSpPr>
          <p:cNvPr id="40" name="s11-text-36"/>
          <p:cNvSpPr txBox="1"/>
          <p:nvPr/>
        </p:nvSpPr>
        <p:spPr>
          <a:xfrm>
            <a:off x="7955280" y="4471416"/>
            <a:ext cx="3642055" cy="1655064"/>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chemeClr val="tx1"/>
                </a:solidFill>
              </a:rPr>
              <a:t>Price stabilisation under an underwriting agreement</a:t>
            </a:r>
            <a:endParaRPr lang="en-US" sz="1200" dirty="0"/>
          </a:p>
          <a:p>
            <a:pPr marL="342900" indent="-342900">
              <a:spcAft>
                <a:spcPts val="300"/>
              </a:spcAft>
              <a:buSzPct val="100000"/>
              <a:buChar char="•"/>
            </a:pPr>
            <a:r>
              <a:rPr lang="en-US" sz="1200" dirty="0">
                <a:solidFill>
                  <a:schemeClr val="tx1"/>
                </a:solidFill>
              </a:rPr>
              <a:t>Share repurchase projects</a:t>
            </a:r>
            <a:endParaRPr lang="en-US" sz="1200" dirty="0"/>
          </a:p>
          <a:p>
            <a:pPr marL="342900" indent="-342900">
              <a:spcAft>
                <a:spcPts val="300"/>
              </a:spcAft>
              <a:buSzPct val="100000"/>
              <a:buChar char="•"/>
            </a:pPr>
            <a:r>
              <a:rPr lang="en-US" sz="1200" dirty="0">
                <a:solidFill>
                  <a:schemeClr val="tx1"/>
                </a:solidFill>
              </a:rPr>
              <a:t>Trades under SEC notification rules</a:t>
            </a:r>
            <a:endParaRPr lang="en-US" sz="1200" dirty="0"/>
          </a:p>
          <a:p>
            <a:pPr indent="0" marL="0">
              <a:spcAft>
                <a:spcPts val="300"/>
              </a:spcAft>
              <a:buNone/>
            </a:pPr>
            <a:r>
              <a:rPr lang="en-US" sz="1200" b="1" dirty="0">
                <a:solidFill>
                  <a:schemeClr val="tx2"/>
                </a:solidFill>
              </a:rPr>
              <a:t>None applies to TSR.</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Analysis: Applying Section 244/3 (1)</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ss.238, 244/3(1), 244/5(5); Criminal Code s.59; Hoonsmart (24 Jan 2026)</a:t>
            </a:r>
            <a:endParaRPr lang="en-US" sz="1050" dirty="0"/>
          </a:p>
        </p:txBody>
      </p:sp>
      <p:graphicFrame>
        <p:nvGraphicFramePr>
          <p:cNvPr id="13" name="s12-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3017520"/>
                <a:gridCol w="6492240"/>
                <a:gridCol w="1950415"/>
              </a:tblGrid>
              <a:tr h="384048">
                <a:tc>
                  <a:txBody>
                    <a:bodyPr/>
                    <a:lstStyle/>
                    <a:p>
                      <a:pPr algn="ctr" indent="0" marL="0">
                        <a:buNone/>
                      </a:pPr>
                      <a:r>
                        <a:rPr lang="en-US" sz="1200" b="1" dirty="0">
                          <a:solidFill>
                            <a:schemeClr val="bg1"/>
                          </a:solidFill>
                        </a:rPr>
                        <a:t>Element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Facts in the TSR case</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Result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603504">
                <a:tc>
                  <a:txBody>
                    <a:bodyPr/>
                    <a:lstStyle/>
                    <a:p>
                      <a:pPr indent="0" marL="0">
                        <a:buNone/>
                      </a:pPr>
                      <a:r>
                        <a:rPr lang="en-US" sz="1200" b="1" dirty="0">
                          <a:solidFill>
                            <a:schemeClr val="tx2"/>
                          </a:solidFill>
                        </a:rPr>
                        <a:t>Any person</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An individual: นางสาวภรัณยา รุจนพรพจี</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3"/>
                          </a:solidFill>
                        </a:rPr>
                        <a:t>Met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6F2E7"/>
                    </a:solidFill>
                  </a:tcPr>
                </a:tc>
              </a:tr>
              <a:tr h="603504">
                <a:tc>
                  <a:txBody>
                    <a:bodyPr/>
                    <a:lstStyle/>
                    <a:p>
                      <a:pPr indent="0" marL="0">
                        <a:buNone/>
                      </a:pPr>
                      <a:r>
                        <a:rPr lang="en-US" sz="1200" b="1" dirty="0">
                          <a:solidFill>
                            <a:schemeClr val="tx2"/>
                          </a:solidFill>
                        </a:rPr>
                        <a:t>Listed security (s.238)</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TSR shares, listed on the SET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b="1" dirty="0">
                          <a:solidFill>
                            <a:schemeClr val="accent3"/>
                          </a:solidFill>
                        </a:rPr>
                        <a:t>Met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6F2E7"/>
                    </a:solidFill>
                  </a:tcPr>
                </a:tc>
              </a:tr>
              <a:tr h="603504">
                <a:tc>
                  <a:txBody>
                    <a:bodyPr/>
                    <a:lstStyle/>
                    <a:p>
                      <a:pPr indent="0" marL="0">
                        <a:buNone/>
                      </a:pPr>
                      <a:r>
                        <a:rPr lang="en-US" sz="1200" b="1" dirty="0">
                          <a:solidFill>
                            <a:schemeClr val="tx2"/>
                          </a:solidFill>
                        </a:rPr>
                        <a:t>Placing orders or trading</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Buy orders hitting the offers; large bids at levels 1–2</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3"/>
                          </a:solidFill>
                        </a:rPr>
                        <a:t>Met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6F2E7"/>
                    </a:solidFill>
                  </a:tcPr>
                </a:tc>
              </a:tr>
              <a:tr h="603504">
                <a:tc>
                  <a:txBody>
                    <a:bodyPr/>
                    <a:lstStyle/>
                    <a:p>
                      <a:pPr indent="0" marL="0">
                        <a:buNone/>
                      </a:pPr>
                      <a:r>
                        <a:rPr lang="en-US" sz="1200" b="1" dirty="0">
                          <a:solidFill>
                            <a:schemeClr val="tx2"/>
                          </a:solidFill>
                        </a:rPr>
                        <a:t>Misleads others on price or volume</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Investors saw ‘strong demand’ that was artificial; presumption s.244/5(5)</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b="1" dirty="0">
                          <a:solidFill>
                            <a:schemeClr val="accent3"/>
                          </a:solidFill>
                        </a:rPr>
                        <a:t>Met (presumed)</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6F2E7"/>
                    </a:solidFill>
                  </a:tcPr>
                </a:tc>
              </a:tr>
              <a:tr h="603504">
                <a:tc>
                  <a:txBody>
                    <a:bodyPr/>
                    <a:lstStyle/>
                    <a:p>
                      <a:pPr indent="0" marL="0">
                        <a:buNone/>
                      </a:pPr>
                      <a:r>
                        <a:rPr lang="en-US" sz="1200" b="1" dirty="0">
                          <a:solidFill>
                            <a:schemeClr val="tx2"/>
                          </a:solidFill>
                        </a:rPr>
                        <a:t>Intent (Criminal Code s.59)</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Repeated for 47 trading days with a clear financial motive</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3"/>
                          </a:solidFill>
                        </a:rPr>
                        <a:t>Likely met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6F2E7"/>
                    </a:solidFill>
                  </a:tcPr>
                </a:tc>
              </a:tr>
            </a:tbl>
          </a:graphicData>
        </a:graphic>
      </p:graphicFrame>
      <p:sp>
        <p:nvSpPr>
          <p:cNvPr id="6" name="s12-box-2"/>
          <p:cNvSpPr/>
          <p:nvPr/>
        </p:nvSpPr>
        <p:spPr>
          <a:xfrm>
            <a:off x="365760" y="4937760"/>
            <a:ext cx="7589520" cy="1188720"/>
          </a:xfrm>
          <a:prstGeom prst="rect">
            <a:avLst/>
          </a:prstGeom>
          <a:solidFill>
            <a:srgbClr val="E6F2E7"/>
          </a:solidFill>
          <a:ln w="12700">
            <a:solidFill>
              <a:schemeClr val="accent3"/>
            </a:solidFill>
            <a:prstDash val="solid"/>
          </a:ln>
        </p:spPr>
      </p:sp>
      <p:sp>
        <p:nvSpPr>
          <p:cNvPr id="7" name="s12-text-3"/>
          <p:cNvSpPr txBox="1"/>
          <p:nvPr/>
        </p:nvSpPr>
        <p:spPr>
          <a:xfrm>
            <a:off x="594360" y="4937760"/>
            <a:ext cx="7132320" cy="1188720"/>
          </a:xfrm>
          <a:prstGeom prst="rect">
            <a:avLst/>
          </a:prstGeom>
          <a:noFill/>
          <a:ln/>
        </p:spPr>
        <p:txBody>
          <a:bodyPr wrap="square" lIns="0" tIns="0" rIns="0" bIns="0" rtlCol="0" anchor="ctr"/>
          <a:lstStyle/>
          <a:p>
            <a:pPr indent="0" marL="0">
              <a:spcAft>
                <a:spcPts val="300"/>
              </a:spcAft>
              <a:buNone/>
            </a:pPr>
            <a:r>
              <a:rPr lang="en-US" sz="1300" b="1" dirty="0">
                <a:solidFill>
                  <a:schemeClr val="accent3"/>
                </a:solidFill>
              </a:rPr>
              <a:t>Conclusion</a:t>
            </a:r>
            <a:endParaRPr lang="en-US" sz="1200" dirty="0"/>
          </a:p>
          <a:p>
            <a:pPr indent="0" marL="0">
              <a:spcAft>
                <a:spcPts val="300"/>
              </a:spcAft>
              <a:buNone/>
            </a:pPr>
            <a:r>
              <a:rPr lang="en-US" sz="1200" dirty="0">
                <a:solidFill>
                  <a:schemeClr val="tx1"/>
                </a:solidFill>
              </a:rPr>
              <a:t>All elements of s.244/3(1) are satisfied, so the criminal penalty in s.296 or the civil sanction in s.317/1(1) applies.</a:t>
            </a:r>
            <a:endParaRPr lang="en-US" sz="1200" dirty="0"/>
          </a:p>
        </p:txBody>
      </p:sp>
      <p:sp>
        <p:nvSpPr>
          <p:cNvPr id="8" name="s12-chip-4"/>
          <p:cNvSpPr/>
          <p:nvPr/>
        </p:nvSpPr>
        <p:spPr>
          <a:xfrm>
            <a:off x="8092440" y="4937760"/>
            <a:ext cx="3733495" cy="1188720"/>
          </a:xfrm>
          <a:prstGeom prst="rect">
            <a:avLst/>
          </a:prstGeom>
          <a:solidFill>
            <a:schemeClr val="accent2"/>
          </a:solidFill>
          <a:ln/>
        </p:spPr>
      </p:sp>
      <p:sp>
        <p:nvSpPr>
          <p:cNvPr id="9" name="s12-chip-text-5"/>
          <p:cNvSpPr txBox="1"/>
          <p:nvPr/>
        </p:nvSpPr>
        <p:spPr>
          <a:xfrm>
            <a:off x="8092440" y="4937760"/>
            <a:ext cx="3733495" cy="1188720"/>
          </a:xfrm>
          <a:prstGeom prst="rect">
            <a:avLst/>
          </a:prstGeom>
          <a:noFill/>
          <a:ln/>
        </p:spPr>
        <p:txBody>
          <a:bodyPr wrap="square" lIns="50800" tIns="50800" rIns="50800" bIns="50800" rtlCol="0" anchor="ctr"/>
          <a:lstStyle/>
          <a:p>
            <a:pPr algn="ctr" indent="0" marL="0">
              <a:buNone/>
            </a:pPr>
            <a:r>
              <a:rPr lang="en-US" sz="1200" dirty="0">
                <a:solidFill>
                  <a:schemeClr val="tx1"/>
                </a:solidFill>
              </a:rPr>
              <a:t>Presumption relied on</a:t>
            </a:r>
            <a:endParaRPr lang="en-US" sz="1200" dirty="0"/>
          </a:p>
          <a:p>
            <a:pPr algn="ctr" indent="0" marL="0">
              <a:buNone/>
            </a:pPr>
            <a:r>
              <a:rPr lang="en-US" sz="1200" b="1" dirty="0">
                <a:solidFill>
                  <a:schemeClr val="tx2"/>
                </a:solidFill>
              </a:rPr>
              <a:t>s.244/5(5): obstructing others</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Analysis: Applying Section 244/3 (2)</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ss.244/3(2), 244/5(4)(5), 296/1; Hoonsmart (24 Jan 2026)</a:t>
            </a:r>
            <a:endParaRPr lang="en-US" sz="1050" dirty="0"/>
          </a:p>
        </p:txBody>
      </p:sp>
      <p:graphicFrame>
        <p:nvGraphicFramePr>
          <p:cNvPr id="14" name="s13-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3017520"/>
                <a:gridCol w="6492240"/>
                <a:gridCol w="1950415"/>
              </a:tblGrid>
              <a:tr h="384048">
                <a:tc>
                  <a:txBody>
                    <a:bodyPr/>
                    <a:lstStyle/>
                    <a:p>
                      <a:pPr algn="ctr" indent="0" marL="0">
                        <a:buNone/>
                      </a:pPr>
                      <a:r>
                        <a:rPr lang="en-US" sz="1200" b="1" dirty="0">
                          <a:solidFill>
                            <a:schemeClr val="bg1"/>
                          </a:solidFill>
                        </a:rPr>
                        <a:t>Element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Facts in the TSR case</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Result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841248">
                <a:tc>
                  <a:txBody>
                    <a:bodyPr/>
                    <a:lstStyle/>
                    <a:p>
                      <a:pPr indent="0" marL="0">
                        <a:buNone/>
                      </a:pPr>
                      <a:r>
                        <a:rPr lang="en-US" sz="1200" b="1" dirty="0">
                          <a:solidFill>
                            <a:schemeClr val="tx2"/>
                          </a:solidFill>
                        </a:rPr>
                        <a:t>Placing orders or trading</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Same conduct as in s.244/3(1): hitting the offers and walling the bids</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3"/>
                          </a:solidFill>
                        </a:rPr>
                        <a:t>Met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6F2E7"/>
                    </a:solidFill>
                  </a:tcPr>
                </a:tc>
              </a:tr>
              <a:tr h="841248">
                <a:tc>
                  <a:txBody>
                    <a:bodyPr/>
                    <a:lstStyle/>
                    <a:p>
                      <a:pPr indent="0" marL="0">
                        <a:buNone/>
                      </a:pPr>
                      <a:r>
                        <a:rPr lang="en-US" sz="1200" b="1" dirty="0">
                          <a:solidFill>
                            <a:schemeClr val="tx2"/>
                          </a:solidFill>
                        </a:rPr>
                        <a:t>On a continued basis</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Day after day for 47 trading days (22 Jun – 31 Aug 2022)</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b="1" dirty="0">
                          <a:solidFill>
                            <a:schemeClr val="accent3"/>
                          </a:solidFill>
                        </a:rPr>
                        <a:t>Met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6F2E7"/>
                    </a:solidFill>
                  </a:tcPr>
                </a:tc>
              </a:tr>
              <a:tr h="841248">
                <a:tc>
                  <a:txBody>
                    <a:bodyPr/>
                    <a:lstStyle/>
                    <a:p>
                      <a:pPr indent="0" marL="0">
                        <a:buNone/>
                      </a:pPr>
                      <a:r>
                        <a:rPr lang="en-US" sz="1200" b="1" dirty="0">
                          <a:solidFill>
                            <a:schemeClr val="tx2"/>
                          </a:solidFill>
                        </a:rPr>
                        <a:t>Intent to make price or volume abnormal</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Goal: lift TSR for SABUY’s Q2 fair-value gain and a trading profit; presumptions s.244/5(4)(5)</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3"/>
                          </a:solidFill>
                        </a:rPr>
                        <a:t>Met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6F2E7"/>
                    </a:solidFill>
                  </a:tcPr>
                </a:tc>
              </a:tr>
            </a:tbl>
          </a:graphicData>
        </a:graphic>
      </p:graphicFrame>
      <p:sp>
        <p:nvSpPr>
          <p:cNvPr id="6" name="s13-box-2"/>
          <p:cNvSpPr/>
          <p:nvPr/>
        </p:nvSpPr>
        <p:spPr>
          <a:xfrm>
            <a:off x="365760" y="4443984"/>
            <a:ext cx="5661508" cy="1682496"/>
          </a:xfrm>
          <a:prstGeom prst="rect">
            <a:avLst/>
          </a:prstGeom>
          <a:solidFill>
            <a:srgbClr val="FFF3DC"/>
          </a:solidFill>
          <a:ln w="12700">
            <a:solidFill>
              <a:schemeClr val="accent4"/>
            </a:solidFill>
            <a:prstDash val="solid"/>
          </a:ln>
        </p:spPr>
      </p:sp>
      <p:sp>
        <p:nvSpPr>
          <p:cNvPr id="7" name="s13-text-3"/>
          <p:cNvSpPr txBox="1"/>
          <p:nvPr/>
        </p:nvSpPr>
        <p:spPr>
          <a:xfrm>
            <a:off x="594360" y="4443984"/>
            <a:ext cx="5204308" cy="1682496"/>
          </a:xfrm>
          <a:prstGeom prst="rect">
            <a:avLst/>
          </a:prstGeom>
          <a:noFill/>
          <a:ln/>
        </p:spPr>
        <p:txBody>
          <a:bodyPr wrap="square" lIns="0" tIns="0" rIns="0" bIns="0" rtlCol="0" anchor="ctr"/>
          <a:lstStyle/>
          <a:p>
            <a:pPr indent="0" marL="0">
              <a:spcAft>
                <a:spcPts val="400"/>
              </a:spcAft>
              <a:buNone/>
            </a:pPr>
            <a:r>
              <a:rPr lang="en-US" sz="1300" b="1" dirty="0">
                <a:solidFill>
                  <a:schemeClr val="accent4"/>
                </a:solidFill>
              </a:rPr>
              <a:t>Our inference</a:t>
            </a:r>
            <a:endParaRPr lang="en-US" sz="1200" dirty="0"/>
          </a:p>
          <a:p>
            <a:pPr indent="0" marL="0">
              <a:spcAft>
                <a:spcPts val="400"/>
              </a:spcAft>
              <a:buNone/>
            </a:pPr>
            <a:r>
              <a:rPr lang="en-US" sz="1200" dirty="0">
                <a:solidFill>
                  <a:schemeClr val="tx1"/>
                </a:solidFill>
              </a:rPr>
              <a:t>The news gives no pre-open or pre-close detail, but the SEC cited s.244/5(4). We infer orders aimed at the closing price, especially at quarter-end (30 Jun 2022).</a:t>
            </a:r>
            <a:endParaRPr lang="en-US" sz="1200" dirty="0"/>
          </a:p>
        </p:txBody>
      </p:sp>
      <p:sp>
        <p:nvSpPr>
          <p:cNvPr id="8" name="s13-box-4"/>
          <p:cNvSpPr/>
          <p:nvPr/>
        </p:nvSpPr>
        <p:spPr>
          <a:xfrm>
            <a:off x="6164428" y="4443984"/>
            <a:ext cx="5661508" cy="1682496"/>
          </a:xfrm>
          <a:prstGeom prst="rect">
            <a:avLst/>
          </a:prstGeom>
          <a:solidFill>
            <a:srgbClr val="E6F2E7"/>
          </a:solidFill>
          <a:ln w="12700">
            <a:solidFill>
              <a:schemeClr val="accent3"/>
            </a:solidFill>
            <a:prstDash val="solid"/>
          </a:ln>
        </p:spPr>
      </p:sp>
      <p:sp>
        <p:nvSpPr>
          <p:cNvPr id="9" name="s13-text-5"/>
          <p:cNvSpPr txBox="1"/>
          <p:nvPr/>
        </p:nvSpPr>
        <p:spPr>
          <a:xfrm>
            <a:off x="6393028" y="4443984"/>
            <a:ext cx="5204308" cy="1682496"/>
          </a:xfrm>
          <a:prstGeom prst="rect">
            <a:avLst/>
          </a:prstGeom>
          <a:noFill/>
          <a:ln/>
        </p:spPr>
        <p:txBody>
          <a:bodyPr wrap="square" lIns="0" tIns="0" rIns="0" bIns="0" rtlCol="0" anchor="ctr"/>
          <a:lstStyle/>
          <a:p>
            <a:pPr indent="0" marL="0">
              <a:spcAft>
                <a:spcPts val="400"/>
              </a:spcAft>
              <a:buNone/>
            </a:pPr>
            <a:r>
              <a:rPr lang="en-US" sz="1300" b="1" dirty="0">
                <a:solidFill>
                  <a:schemeClr val="accent3"/>
                </a:solidFill>
              </a:rPr>
              <a:t>Conclusion</a:t>
            </a:r>
            <a:endParaRPr lang="en-US" sz="1200" dirty="0"/>
          </a:p>
          <a:p>
            <a:pPr indent="0" marL="0">
              <a:spcAft>
                <a:spcPts val="400"/>
              </a:spcAft>
              <a:buNone/>
            </a:pPr>
            <a:r>
              <a:rPr lang="en-US" sz="1200" dirty="0">
                <a:solidFill>
                  <a:schemeClr val="tx1"/>
                </a:solidFill>
              </a:rPr>
              <a:t>The conduct fits both (1) and (2), matching the SEC’s charge: s.244/3(1)(2) with s.244/5(4)(5).</a:t>
            </a:r>
            <a:endParaRPr lang="en-US" sz="1200" dirty="0"/>
          </a:p>
          <a:p>
            <a:pPr indent="0" marL="0">
              <a:spcAft>
                <a:spcPts val="400"/>
              </a:spcAft>
              <a:buNone/>
            </a:pPr>
            <a:r>
              <a:rPr lang="en-US" sz="1200" dirty="0">
                <a:solidFill>
                  <a:schemeClr val="accent5"/>
                </a:solidFill>
              </a:rPr>
              <a:t>Heavier route for (2): s.296/1 (criminal) or s.317/1(1) (civil).</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Analysis: Other Offences Considered</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ss.240, 241, 242, 244/3, 244/5, 244/6, 244/7, 296–296/2</a:t>
            </a:r>
            <a:endParaRPr lang="en-US" sz="1050" dirty="0"/>
          </a:p>
        </p:txBody>
      </p:sp>
      <p:graphicFrame>
        <p:nvGraphicFramePr>
          <p:cNvPr id="15" name="s14-table-1"/>
          <p:cNvGraphicFramePr>
            <a:graphicFrameLocks noGrp="1"/>
          </p:cNvGraphicFramePr>
          <p:nvPr>
            <p:extLst>
              <p:ext uri="{D42A27DB-BD31-4B8C-83A1-F6EECF244321}">
                <p14:modId xmlns:p14="http://schemas.microsoft.com/office/powerpoint/2010/main" val="1579011935"/>
              </p:ext>
            </p:extLst>
          </p:nvPr>
        </p:nvGraphicFramePr>
        <p:xfrm>
          <a:off x="365760" y="1353312"/>
          <a:ext cx="7680960" cy="914400"/>
        </p:xfrm>
        <a:graphic>
          <a:graphicData uri="http://schemas.openxmlformats.org/drawingml/2006/table">
            <a:tbl>
              <a:tblPr/>
              <a:tblGrid>
                <a:gridCol w="1051560"/>
                <a:gridCol w="3154680"/>
                <a:gridCol w="2286000"/>
                <a:gridCol w="1188720"/>
              </a:tblGrid>
              <a:tr h="384048">
                <a:tc>
                  <a:txBody>
                    <a:bodyPr/>
                    <a:lstStyle/>
                    <a:p>
                      <a:pPr algn="ctr" indent="0" marL="0">
                        <a:buNone/>
                      </a:pPr>
                      <a:r>
                        <a:rPr lang="en-US" sz="1200" b="1" dirty="0">
                          <a:solidFill>
                            <a:schemeClr val="bg1"/>
                          </a:solidFill>
                        </a:rPr>
                        <a:t>Section</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Offence</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In the TSR news</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Result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749808">
                <a:tc>
                  <a:txBody>
                    <a:bodyPr/>
                    <a:lstStyle/>
                    <a:p>
                      <a:pPr algn="ctr" indent="0" marL="0">
                        <a:buNone/>
                      </a:pPr>
                      <a:r>
                        <a:rPr lang="en-US" sz="1200" b="1" dirty="0">
                          <a:solidFill>
                            <a:schemeClr val="tx2"/>
                          </a:solidFill>
                        </a:rPr>
                        <a:t>s.240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False or misleading statements likely to affect the price</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 false information was spread</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5"/>
                          </a:solidFill>
                        </a:rPr>
                        <a:t>Ruled out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749808">
                <a:tc>
                  <a:txBody>
                    <a:bodyPr/>
                    <a:lstStyle/>
                    <a:p>
                      <a:pPr algn="ctr" indent="0" marL="0">
                        <a:buNone/>
                      </a:pPr>
                      <a:r>
                        <a:rPr lang="en-US" sz="1200" b="1" dirty="0">
                          <a:solidFill>
                            <a:schemeClr val="tx2"/>
                          </a:solidFill>
                        </a:rPr>
                        <a:t>s.241</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Misleading analysis or forecast given to the public</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No analysis or forecast involved</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b="1" dirty="0">
                          <a:solidFill>
                            <a:schemeClr val="accent5"/>
                          </a:solidFill>
                        </a:rPr>
                        <a:t>Ruled out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749808">
                <a:tc>
                  <a:txBody>
                    <a:bodyPr/>
                    <a:lstStyle/>
                    <a:p>
                      <a:pPr algn="ctr" indent="0" marL="0">
                        <a:buNone/>
                      </a:pPr>
                      <a:r>
                        <a:rPr lang="en-US" sz="1200" b="1" dirty="0">
                          <a:solidFill>
                            <a:schemeClr val="tx2"/>
                          </a:solidFill>
                        </a:rPr>
                        <a:t>s.242</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Trading on inside information</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 inside information alleged</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5"/>
                          </a:solidFill>
                        </a:rPr>
                        <a:t>Ruled out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749808">
                <a:tc>
                  <a:txBody>
                    <a:bodyPr/>
                    <a:lstStyle/>
                    <a:p>
                      <a:pPr algn="ctr" indent="0" marL="0">
                        <a:buNone/>
                      </a:pPr>
                      <a:r>
                        <a:rPr lang="en-US" sz="1200" b="1" dirty="0">
                          <a:solidFill>
                            <a:schemeClr val="tx2"/>
                          </a:solidFill>
                        </a:rPr>
                        <a:t>s.244/6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Presumed principal: shared or borrowed accounts, paying for others</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No shared or borrowed accounts reported</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b="1" dirty="0">
                          <a:solidFill>
                            <a:schemeClr val="accent5"/>
                          </a:solidFill>
                        </a:rPr>
                        <a:t>Ruled out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749808">
                <a:tc>
                  <a:txBody>
                    <a:bodyPr/>
                    <a:lstStyle/>
                    <a:p>
                      <a:pPr algn="ctr" indent="0" marL="0">
                        <a:buNone/>
                      </a:pPr>
                      <a:r>
                        <a:rPr lang="en-US" sz="1200" b="1" dirty="0">
                          <a:solidFill>
                            <a:schemeClr val="tx2"/>
                          </a:solidFill>
                        </a:rPr>
                        <a:t>s.244/7</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Orders that delay or disrupt the trading system</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 delay to the trading system</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5"/>
                          </a:solidFill>
                        </a:rPr>
                        <a:t>Ruled out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bl>
          </a:graphicData>
        </a:graphic>
      </p:graphicFrame>
      <p:sp>
        <p:nvSpPr>
          <p:cNvPr id="6" name="s14-subbar-2"/>
          <p:cNvSpPr/>
          <p:nvPr/>
        </p:nvSpPr>
        <p:spPr>
          <a:xfrm>
            <a:off x="8183880" y="1353312"/>
            <a:ext cx="3642055" cy="347472"/>
          </a:xfrm>
          <a:prstGeom prst="rect">
            <a:avLst/>
          </a:prstGeom>
          <a:solidFill>
            <a:schemeClr val="tx2"/>
          </a:solidFill>
          <a:ln/>
        </p:spPr>
      </p:sp>
      <p:sp>
        <p:nvSpPr>
          <p:cNvPr id="7" name="s14-subbar-text-3"/>
          <p:cNvSpPr txBox="1"/>
          <p:nvPr/>
        </p:nvSpPr>
        <p:spPr>
          <a:xfrm>
            <a:off x="8183880" y="1353312"/>
            <a:ext cx="3642055" cy="347472"/>
          </a:xfrm>
          <a:prstGeom prst="rect">
            <a:avLst/>
          </a:prstGeom>
          <a:noFill/>
          <a:ln/>
        </p:spPr>
        <p:txBody>
          <a:bodyPr wrap="square" lIns="0" tIns="0" rIns="0" bIns="0" rtlCol="0" anchor="ctr"/>
          <a:lstStyle/>
          <a:p>
            <a:pPr algn="ctr" indent="0" marL="0">
              <a:buNone/>
            </a:pPr>
            <a:r>
              <a:rPr lang="en-US" sz="1400" b="1" dirty="0">
                <a:solidFill>
                  <a:schemeClr val="bg1"/>
                </a:solidFill>
              </a:rPr>
              <a:t>Offences Actually Charged</a:t>
            </a:r>
            <a:endParaRPr lang="en-US" sz="1400" dirty="0"/>
          </a:p>
        </p:txBody>
      </p:sp>
      <p:sp>
        <p:nvSpPr>
          <p:cNvPr id="8" name="s14-box-4"/>
          <p:cNvSpPr/>
          <p:nvPr/>
        </p:nvSpPr>
        <p:spPr>
          <a:xfrm>
            <a:off x="8183880" y="1792224"/>
            <a:ext cx="3642055" cy="2194560"/>
          </a:xfrm>
          <a:prstGeom prst="rect">
            <a:avLst/>
          </a:prstGeom>
          <a:solidFill>
            <a:srgbClr val="E6F2E7"/>
          </a:solidFill>
          <a:ln w="12700">
            <a:solidFill>
              <a:schemeClr val="accent3"/>
            </a:solidFill>
            <a:prstDash val="solid"/>
          </a:ln>
        </p:spPr>
      </p:sp>
      <p:sp>
        <p:nvSpPr>
          <p:cNvPr id="9" name="s14-icon-bg-5"/>
          <p:cNvSpPr/>
          <p:nvPr/>
        </p:nvSpPr>
        <p:spPr>
          <a:xfrm>
            <a:off x="8412480" y="2020824"/>
            <a:ext cx="548640" cy="548640"/>
          </a:xfrm>
          <a:prstGeom prst="ellipse">
            <a:avLst/>
          </a:prstGeom>
          <a:solidFill>
            <a:schemeClr val="accent3"/>
          </a:solidFill>
          <a:ln/>
        </p:spPr>
      </p:sp>
      <p:pic>
        <p:nvPicPr>
          <p:cNvPr id="10" name="s14-icon-6" descr="preencoded.png">    </p:cNvPr>
          <p:cNvPicPr>
            <a:picLocks noChangeAspect="1"/>
          </p:cNvPicPr>
          <p:nvPr/>
        </p:nvPicPr>
        <p:blipFill>
          <a:blip r:embed="rId1"/>
          <a:stretch>
            <a:fillRect/>
          </a:stretch>
        </p:blipFill>
        <p:spPr>
          <a:xfrm>
            <a:off x="8549640" y="2157984"/>
            <a:ext cx="274320" cy="274320"/>
          </a:xfrm>
          <a:prstGeom prst="rect">
            <a:avLst/>
          </a:prstGeom>
        </p:spPr>
      </p:pic>
      <p:sp>
        <p:nvSpPr>
          <p:cNvPr id="11" name="s14-text-7"/>
          <p:cNvSpPr txBox="1"/>
          <p:nvPr/>
        </p:nvSpPr>
        <p:spPr>
          <a:xfrm>
            <a:off x="9098280" y="2020824"/>
            <a:ext cx="2544775" cy="548640"/>
          </a:xfrm>
          <a:prstGeom prst="rect">
            <a:avLst/>
          </a:prstGeom>
          <a:noFill/>
          <a:ln/>
        </p:spPr>
        <p:txBody>
          <a:bodyPr wrap="square" lIns="0" tIns="0" rIns="0" bIns="0" rtlCol="0" anchor="ctr"/>
          <a:lstStyle/>
          <a:p>
            <a:pPr indent="0" marL="0">
              <a:buNone/>
            </a:pPr>
            <a:r>
              <a:rPr lang="en-US" sz="1800" b="1" dirty="0">
                <a:solidFill>
                  <a:schemeClr val="accent3"/>
                </a:solidFill>
              </a:rPr>
              <a:t>s.244/3 (1)(2)</a:t>
            </a:r>
            <a:endParaRPr lang="en-US" sz="1800" dirty="0"/>
          </a:p>
        </p:txBody>
      </p:sp>
      <p:sp>
        <p:nvSpPr>
          <p:cNvPr id="12" name="s14-text-8"/>
          <p:cNvSpPr txBox="1"/>
          <p:nvPr/>
        </p:nvSpPr>
        <p:spPr>
          <a:xfrm>
            <a:off x="8412480" y="2706624"/>
            <a:ext cx="3184855" cy="1143000"/>
          </a:xfrm>
          <a:prstGeom prst="rect">
            <a:avLst/>
          </a:prstGeom>
          <a:noFill/>
          <a:ln/>
        </p:spPr>
        <p:txBody>
          <a:bodyPr wrap="square" lIns="0" tIns="0" rIns="0" bIns="0" rtlCol="0" anchor="t"/>
          <a:lstStyle/>
          <a:p>
            <a:pPr indent="0" marL="0">
              <a:spcAft>
                <a:spcPts val="300"/>
              </a:spcAft>
              <a:buNone/>
            </a:pPr>
            <a:r>
              <a:rPr lang="en-US" sz="1200" b="1" dirty="0">
                <a:solidFill>
                  <a:schemeClr val="tx2"/>
                </a:solidFill>
              </a:rPr>
              <a:t>with presumptions s.244/5 (4)(5)</a:t>
            </a:r>
            <a:endParaRPr lang="en-US" sz="1200" dirty="0"/>
          </a:p>
          <a:p>
            <a:pPr indent="0" marL="0">
              <a:spcAft>
                <a:spcPts val="300"/>
              </a:spcAft>
              <a:buNone/>
            </a:pPr>
            <a:r>
              <a:rPr lang="en-US" sz="1200" dirty="0">
                <a:solidFill>
                  <a:schemeClr val="tx1"/>
                </a:solidFill>
              </a:rPr>
              <a:t>Matches the SEC’s charge in the news.</a:t>
            </a:r>
            <a:endParaRPr lang="en-US" sz="1200" dirty="0"/>
          </a:p>
        </p:txBody>
      </p:sp>
      <p:sp>
        <p:nvSpPr>
          <p:cNvPr id="13" name="s14-box-9"/>
          <p:cNvSpPr/>
          <p:nvPr/>
        </p:nvSpPr>
        <p:spPr>
          <a:xfrm>
            <a:off x="8183880" y="4123944"/>
            <a:ext cx="3642055" cy="1362456"/>
          </a:xfrm>
          <a:prstGeom prst="rect">
            <a:avLst/>
          </a:prstGeom>
          <a:solidFill>
            <a:schemeClr val="bg2"/>
          </a:solidFill>
          <a:ln/>
        </p:spPr>
      </p:sp>
      <p:sp>
        <p:nvSpPr>
          <p:cNvPr id="14" name="s14-text-10"/>
          <p:cNvSpPr txBox="1"/>
          <p:nvPr/>
        </p:nvSpPr>
        <p:spPr>
          <a:xfrm>
            <a:off x="8412480" y="4123944"/>
            <a:ext cx="3184855" cy="1362456"/>
          </a:xfrm>
          <a:prstGeom prst="rect">
            <a:avLst/>
          </a:prstGeom>
          <a:noFill/>
          <a:ln/>
        </p:spPr>
        <p:txBody>
          <a:bodyPr wrap="square" lIns="0" tIns="0" rIns="0" bIns="0" rtlCol="0" anchor="ctr"/>
          <a:lstStyle/>
          <a:p>
            <a:pPr indent="0" marL="0">
              <a:spcAft>
                <a:spcPts val="300"/>
              </a:spcAft>
              <a:buNone/>
            </a:pPr>
            <a:r>
              <a:rPr lang="en-US" sz="1300" b="1" dirty="0">
                <a:solidFill>
                  <a:schemeClr val="tx2"/>
                </a:solidFill>
              </a:rPr>
              <a:t>Penalty sections that follow</a:t>
            </a:r>
            <a:endParaRPr lang="en-US" sz="1200" dirty="0"/>
          </a:p>
          <a:p>
            <a:pPr indent="0" marL="0">
              <a:spcAft>
                <a:spcPts val="300"/>
              </a:spcAft>
              <a:buNone/>
            </a:pPr>
            <a:r>
              <a:rPr lang="en-US" sz="1200" dirty="0">
                <a:solidFill>
                  <a:schemeClr val="tx1"/>
                </a:solidFill>
              </a:rPr>
              <a:t>s.296 for (1) · s.296/1 for (2) · s.296/2 if a benefit was gained</a:t>
            </a:r>
            <a:endParaRPr lang="en-US" sz="1200" dirty="0"/>
          </a:p>
        </p:txBody>
      </p:sp>
      <p:sp>
        <p:nvSpPr>
          <p:cNvPr id="15" name="s14-box-11"/>
          <p:cNvSpPr/>
          <p:nvPr/>
        </p:nvSpPr>
        <p:spPr>
          <a:xfrm>
            <a:off x="365760" y="5623560"/>
            <a:ext cx="11460175" cy="502920"/>
          </a:xfrm>
          <a:prstGeom prst="rect">
            <a:avLst/>
          </a:prstGeom>
          <a:solidFill>
            <a:schemeClr val="bg2"/>
          </a:solidFill>
          <a:ln/>
        </p:spPr>
      </p:sp>
      <p:sp>
        <p:nvSpPr>
          <p:cNvPr id="16" name="s14-text-12"/>
          <p:cNvSpPr txBox="1"/>
          <p:nvPr/>
        </p:nvSpPr>
        <p:spPr>
          <a:xfrm>
            <a:off x="548640" y="5623560"/>
            <a:ext cx="11094415" cy="502920"/>
          </a:xfrm>
          <a:prstGeom prst="rect">
            <a:avLst/>
          </a:prstGeom>
          <a:noFill/>
          <a:ln/>
        </p:spPr>
        <p:txBody>
          <a:bodyPr wrap="square" lIns="0" tIns="0" rIns="0" bIns="0" rtlCol="0" anchor="ctr"/>
          <a:lstStyle/>
          <a:p>
            <a:pPr indent="0" marL="0">
              <a:buNone/>
            </a:pPr>
            <a:r>
              <a:rPr lang="en-US" sz="1200" b="1" dirty="0">
                <a:solidFill>
                  <a:schemeClr val="tx2"/>
                </a:solidFill>
              </a:rPr>
              <a:t>Method: </a:t>
            </a:r>
            <a:pPr indent="0" marL="0">
              <a:buNone/>
            </a:pPr>
            <a:r>
              <a:rPr lang="en-US" sz="1200" dirty="0">
                <a:solidFill>
                  <a:schemeClr val="tx1"/>
                </a:solidFill>
              </a:rPr>
              <a:t>we checked every other offence in Division 1 (Sections 238–244/7) against the facts reported in the news.</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Penalties: Criminal Penalties, s.296 – 296/2</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ss.296, 296/1, 296/2, 297/1; Thansettakij (11 May 2026)</a:t>
            </a:r>
            <a:endParaRPr lang="en-US" sz="1050" dirty="0"/>
          </a:p>
        </p:txBody>
      </p:sp>
      <p:sp>
        <p:nvSpPr>
          <p:cNvPr id="5" name="s15-subbar-1"/>
          <p:cNvSpPr/>
          <p:nvPr/>
        </p:nvSpPr>
        <p:spPr>
          <a:xfrm>
            <a:off x="365760" y="1353312"/>
            <a:ext cx="3728618" cy="347472"/>
          </a:xfrm>
          <a:prstGeom prst="rect">
            <a:avLst/>
          </a:prstGeom>
          <a:solidFill>
            <a:schemeClr val="tx2"/>
          </a:solidFill>
          <a:ln/>
        </p:spPr>
      </p:sp>
      <p:sp>
        <p:nvSpPr>
          <p:cNvPr id="6" name="s15-subbar-text-2"/>
          <p:cNvSpPr txBox="1"/>
          <p:nvPr/>
        </p:nvSpPr>
        <p:spPr>
          <a:xfrm>
            <a:off x="365760" y="1353312"/>
            <a:ext cx="3728618" cy="347472"/>
          </a:xfrm>
          <a:prstGeom prst="rect">
            <a:avLst/>
          </a:prstGeom>
          <a:noFill/>
          <a:ln/>
        </p:spPr>
        <p:txBody>
          <a:bodyPr wrap="square" lIns="0" tIns="0" rIns="0" bIns="0" rtlCol="0" anchor="ctr"/>
          <a:lstStyle/>
          <a:p>
            <a:pPr algn="ctr" indent="0" marL="0">
              <a:buNone/>
            </a:pPr>
            <a:r>
              <a:rPr lang="en-US" sz="1400" b="1" dirty="0">
                <a:solidFill>
                  <a:schemeClr val="bg1"/>
                </a:solidFill>
              </a:rPr>
              <a:t>Section 296</a:t>
            </a:r>
            <a:endParaRPr lang="en-US" sz="1400" dirty="0"/>
          </a:p>
        </p:txBody>
      </p:sp>
      <p:sp>
        <p:nvSpPr>
          <p:cNvPr id="7" name="s15-box-3"/>
          <p:cNvSpPr/>
          <p:nvPr/>
        </p:nvSpPr>
        <p:spPr>
          <a:xfrm>
            <a:off x="365760" y="1792224"/>
            <a:ext cx="3728618" cy="2240280"/>
          </a:xfrm>
          <a:prstGeom prst="rect">
            <a:avLst/>
          </a:prstGeom>
          <a:solidFill>
            <a:schemeClr val="bg2"/>
          </a:solidFill>
          <a:ln/>
        </p:spPr>
      </p:sp>
      <p:sp>
        <p:nvSpPr>
          <p:cNvPr id="8" name="s15-text-4"/>
          <p:cNvSpPr txBox="1"/>
          <p:nvPr/>
        </p:nvSpPr>
        <p:spPr>
          <a:xfrm>
            <a:off x="365760" y="1975104"/>
            <a:ext cx="3728618" cy="274320"/>
          </a:xfrm>
          <a:prstGeom prst="rect">
            <a:avLst/>
          </a:prstGeom>
          <a:noFill/>
          <a:ln/>
        </p:spPr>
        <p:txBody>
          <a:bodyPr wrap="square" lIns="0" tIns="0" rIns="0" bIns="0" rtlCol="0" anchor="t"/>
          <a:lstStyle/>
          <a:p>
            <a:pPr algn="ctr" indent="0" marL="0">
              <a:buNone/>
            </a:pPr>
            <a:r>
              <a:rPr lang="en-US" sz="1300" b="1" dirty="0">
                <a:solidFill>
                  <a:schemeClr val="accent5"/>
                </a:solidFill>
              </a:rPr>
              <a:t>For s.244/3 (1)</a:t>
            </a:r>
            <a:endParaRPr lang="en-US" sz="1300" dirty="0"/>
          </a:p>
        </p:txBody>
      </p:sp>
      <p:sp>
        <p:nvSpPr>
          <p:cNvPr id="9" name="s15-text-5"/>
          <p:cNvSpPr txBox="1"/>
          <p:nvPr/>
        </p:nvSpPr>
        <p:spPr>
          <a:xfrm>
            <a:off x="365760" y="2295144"/>
            <a:ext cx="3728618" cy="777240"/>
          </a:xfrm>
          <a:prstGeom prst="rect">
            <a:avLst/>
          </a:prstGeom>
          <a:noFill/>
          <a:ln/>
        </p:spPr>
        <p:txBody>
          <a:bodyPr wrap="square" lIns="0" tIns="0" rIns="0" bIns="0" rtlCol="0" anchor="ctr"/>
          <a:lstStyle/>
          <a:p>
            <a:pPr algn="ctr" indent="0" marL="0">
              <a:buNone/>
            </a:pPr>
            <a:r>
              <a:rPr lang="en-US" sz="3200" b="1" dirty="0">
                <a:solidFill>
                  <a:schemeClr val="tx2"/>
                </a:solidFill>
              </a:rPr>
              <a:t>≤ 2 yrs</a:t>
            </a:r>
            <a:endParaRPr lang="en-US" sz="3200" dirty="0"/>
          </a:p>
        </p:txBody>
      </p:sp>
      <p:sp>
        <p:nvSpPr>
          <p:cNvPr id="10" name="s15-text-6"/>
          <p:cNvSpPr txBox="1"/>
          <p:nvPr/>
        </p:nvSpPr>
        <p:spPr>
          <a:xfrm>
            <a:off x="640080" y="3163824"/>
            <a:ext cx="3179978" cy="731520"/>
          </a:xfrm>
          <a:prstGeom prst="rect">
            <a:avLst/>
          </a:prstGeom>
          <a:noFill/>
          <a:ln/>
        </p:spPr>
        <p:txBody>
          <a:bodyPr wrap="square" lIns="0" tIns="0" rIns="0" bIns="0" rtlCol="0" anchor="t"/>
          <a:lstStyle/>
          <a:p>
            <a:pPr algn="ctr" indent="0" marL="0">
              <a:buNone/>
            </a:pPr>
            <a:r>
              <a:rPr lang="en-US" sz="1200" dirty="0">
                <a:solidFill>
                  <a:schemeClr val="tx1"/>
                </a:solidFill>
              </a:rPr>
              <a:t>prison, or a fine of THB 0.5M – 2M, or both</a:t>
            </a:r>
            <a:endParaRPr lang="en-US" sz="1200" dirty="0"/>
          </a:p>
        </p:txBody>
      </p:sp>
      <p:sp>
        <p:nvSpPr>
          <p:cNvPr id="11" name="s15-subbar-7"/>
          <p:cNvSpPr/>
          <p:nvPr/>
        </p:nvSpPr>
        <p:spPr>
          <a:xfrm>
            <a:off x="4231538" y="1353312"/>
            <a:ext cx="3728618" cy="347472"/>
          </a:xfrm>
          <a:prstGeom prst="rect">
            <a:avLst/>
          </a:prstGeom>
          <a:solidFill>
            <a:schemeClr val="tx2"/>
          </a:solidFill>
          <a:ln/>
        </p:spPr>
      </p:sp>
      <p:sp>
        <p:nvSpPr>
          <p:cNvPr id="12" name="s15-subbar-text-8"/>
          <p:cNvSpPr txBox="1"/>
          <p:nvPr/>
        </p:nvSpPr>
        <p:spPr>
          <a:xfrm>
            <a:off x="4231538" y="1353312"/>
            <a:ext cx="3728618" cy="347472"/>
          </a:xfrm>
          <a:prstGeom prst="rect">
            <a:avLst/>
          </a:prstGeom>
          <a:noFill/>
          <a:ln/>
        </p:spPr>
        <p:txBody>
          <a:bodyPr wrap="square" lIns="0" tIns="0" rIns="0" bIns="0" rtlCol="0" anchor="ctr"/>
          <a:lstStyle/>
          <a:p>
            <a:pPr algn="ctr" indent="0" marL="0">
              <a:buNone/>
            </a:pPr>
            <a:r>
              <a:rPr lang="en-US" sz="1400" b="1" dirty="0">
                <a:solidFill>
                  <a:schemeClr val="bg1"/>
                </a:solidFill>
              </a:rPr>
              <a:t>Section 296/1</a:t>
            </a:r>
            <a:endParaRPr lang="en-US" sz="1400" dirty="0"/>
          </a:p>
        </p:txBody>
      </p:sp>
      <p:sp>
        <p:nvSpPr>
          <p:cNvPr id="13" name="s15-box-9"/>
          <p:cNvSpPr/>
          <p:nvPr/>
        </p:nvSpPr>
        <p:spPr>
          <a:xfrm>
            <a:off x="4231538" y="1792224"/>
            <a:ext cx="3728618" cy="2240280"/>
          </a:xfrm>
          <a:prstGeom prst="rect">
            <a:avLst/>
          </a:prstGeom>
          <a:solidFill>
            <a:srgbClr val="FFF3DC"/>
          </a:solidFill>
          <a:ln w="12700">
            <a:solidFill>
              <a:schemeClr val="accent4"/>
            </a:solidFill>
            <a:prstDash val="solid"/>
          </a:ln>
        </p:spPr>
      </p:sp>
      <p:sp>
        <p:nvSpPr>
          <p:cNvPr id="14" name="s15-text-10"/>
          <p:cNvSpPr txBox="1"/>
          <p:nvPr/>
        </p:nvSpPr>
        <p:spPr>
          <a:xfrm>
            <a:off x="4231538" y="1975104"/>
            <a:ext cx="3728618" cy="274320"/>
          </a:xfrm>
          <a:prstGeom prst="rect">
            <a:avLst/>
          </a:prstGeom>
          <a:noFill/>
          <a:ln/>
        </p:spPr>
        <p:txBody>
          <a:bodyPr wrap="square" lIns="0" tIns="0" rIns="0" bIns="0" rtlCol="0" anchor="t"/>
          <a:lstStyle/>
          <a:p>
            <a:pPr algn="ctr" indent="0" marL="0">
              <a:buNone/>
            </a:pPr>
            <a:r>
              <a:rPr lang="en-US" sz="1300" b="1" dirty="0">
                <a:solidFill>
                  <a:schemeClr val="accent4"/>
                </a:solidFill>
              </a:rPr>
              <a:t>For s.244/3 (2)</a:t>
            </a:r>
            <a:endParaRPr lang="en-US" sz="1300" dirty="0"/>
          </a:p>
        </p:txBody>
      </p:sp>
      <p:sp>
        <p:nvSpPr>
          <p:cNvPr id="15" name="s15-text-11"/>
          <p:cNvSpPr txBox="1"/>
          <p:nvPr/>
        </p:nvSpPr>
        <p:spPr>
          <a:xfrm>
            <a:off x="4231538" y="2295144"/>
            <a:ext cx="3728618" cy="777240"/>
          </a:xfrm>
          <a:prstGeom prst="rect">
            <a:avLst/>
          </a:prstGeom>
          <a:noFill/>
          <a:ln/>
        </p:spPr>
        <p:txBody>
          <a:bodyPr wrap="square" lIns="0" tIns="0" rIns="0" bIns="0" rtlCol="0" anchor="ctr"/>
          <a:lstStyle/>
          <a:p>
            <a:pPr algn="ctr" indent="0" marL="0">
              <a:buNone/>
            </a:pPr>
            <a:r>
              <a:rPr lang="en-US" sz="3200" b="1" dirty="0">
                <a:solidFill>
                  <a:schemeClr val="tx2"/>
                </a:solidFill>
              </a:rPr>
              <a:t>≤ 5 yrs</a:t>
            </a:r>
            <a:endParaRPr lang="en-US" sz="3200" dirty="0"/>
          </a:p>
        </p:txBody>
      </p:sp>
      <p:sp>
        <p:nvSpPr>
          <p:cNvPr id="16" name="s15-text-12"/>
          <p:cNvSpPr txBox="1"/>
          <p:nvPr/>
        </p:nvSpPr>
        <p:spPr>
          <a:xfrm>
            <a:off x="4505858" y="3163824"/>
            <a:ext cx="3179978" cy="731520"/>
          </a:xfrm>
          <a:prstGeom prst="rect">
            <a:avLst/>
          </a:prstGeom>
          <a:noFill/>
          <a:ln/>
        </p:spPr>
        <p:txBody>
          <a:bodyPr wrap="square" lIns="0" tIns="0" rIns="0" bIns="0" rtlCol="0" anchor="t"/>
          <a:lstStyle/>
          <a:p>
            <a:pPr algn="ctr" indent="0" marL="0">
              <a:buNone/>
            </a:pPr>
            <a:r>
              <a:rPr lang="en-US" sz="1200" dirty="0">
                <a:solidFill>
                  <a:schemeClr val="tx1"/>
                </a:solidFill>
              </a:rPr>
              <a:t>prison, or a fine of THB 1M – 5M, or both</a:t>
            </a:r>
            <a:endParaRPr lang="en-US" sz="1200" dirty="0"/>
          </a:p>
        </p:txBody>
      </p:sp>
      <p:sp>
        <p:nvSpPr>
          <p:cNvPr id="17" name="s15-subbar-13"/>
          <p:cNvSpPr/>
          <p:nvPr/>
        </p:nvSpPr>
        <p:spPr>
          <a:xfrm>
            <a:off x="8097317" y="1353312"/>
            <a:ext cx="3728618" cy="347472"/>
          </a:xfrm>
          <a:prstGeom prst="rect">
            <a:avLst/>
          </a:prstGeom>
          <a:solidFill>
            <a:schemeClr val="tx2"/>
          </a:solidFill>
          <a:ln/>
        </p:spPr>
      </p:sp>
      <p:sp>
        <p:nvSpPr>
          <p:cNvPr id="18" name="s15-subbar-text-14"/>
          <p:cNvSpPr txBox="1"/>
          <p:nvPr/>
        </p:nvSpPr>
        <p:spPr>
          <a:xfrm>
            <a:off x="8097317" y="1353312"/>
            <a:ext cx="3728618" cy="347472"/>
          </a:xfrm>
          <a:prstGeom prst="rect">
            <a:avLst/>
          </a:prstGeom>
          <a:noFill/>
          <a:ln/>
        </p:spPr>
        <p:txBody>
          <a:bodyPr wrap="square" lIns="0" tIns="0" rIns="0" bIns="0" rtlCol="0" anchor="ctr"/>
          <a:lstStyle/>
          <a:p>
            <a:pPr algn="ctr" indent="0" marL="0">
              <a:buNone/>
            </a:pPr>
            <a:r>
              <a:rPr lang="en-US" sz="1400" b="1" dirty="0">
                <a:solidFill>
                  <a:schemeClr val="bg1"/>
                </a:solidFill>
              </a:rPr>
              <a:t>Section 296/2</a:t>
            </a:r>
            <a:endParaRPr lang="en-US" sz="1400" dirty="0"/>
          </a:p>
        </p:txBody>
      </p:sp>
      <p:sp>
        <p:nvSpPr>
          <p:cNvPr id="19" name="s15-box-15"/>
          <p:cNvSpPr/>
          <p:nvPr/>
        </p:nvSpPr>
        <p:spPr>
          <a:xfrm>
            <a:off x="8097317" y="1792224"/>
            <a:ext cx="3728618" cy="2240280"/>
          </a:xfrm>
          <a:prstGeom prst="rect">
            <a:avLst/>
          </a:prstGeom>
          <a:solidFill>
            <a:schemeClr val="bg2"/>
          </a:solidFill>
          <a:ln/>
        </p:spPr>
      </p:sp>
      <p:sp>
        <p:nvSpPr>
          <p:cNvPr id="20" name="s15-text-16"/>
          <p:cNvSpPr txBox="1"/>
          <p:nvPr/>
        </p:nvSpPr>
        <p:spPr>
          <a:xfrm>
            <a:off x="8097317" y="1975104"/>
            <a:ext cx="3728618" cy="274320"/>
          </a:xfrm>
          <a:prstGeom prst="rect">
            <a:avLst/>
          </a:prstGeom>
          <a:noFill/>
          <a:ln/>
        </p:spPr>
        <p:txBody>
          <a:bodyPr wrap="square" lIns="0" tIns="0" rIns="0" bIns="0" rtlCol="0" anchor="t"/>
          <a:lstStyle/>
          <a:p>
            <a:pPr algn="ctr" indent="0" marL="0">
              <a:buNone/>
            </a:pPr>
            <a:r>
              <a:rPr lang="en-US" sz="1300" b="1" dirty="0">
                <a:solidFill>
                  <a:schemeClr val="accent5"/>
                </a:solidFill>
              </a:rPr>
              <a:t>If a benefit was gained</a:t>
            </a:r>
            <a:endParaRPr lang="en-US" sz="1300" dirty="0"/>
          </a:p>
        </p:txBody>
      </p:sp>
      <p:sp>
        <p:nvSpPr>
          <p:cNvPr id="21" name="s15-text-17"/>
          <p:cNvSpPr txBox="1"/>
          <p:nvPr/>
        </p:nvSpPr>
        <p:spPr>
          <a:xfrm>
            <a:off x="8097317" y="2295144"/>
            <a:ext cx="3728618" cy="777240"/>
          </a:xfrm>
          <a:prstGeom prst="rect">
            <a:avLst/>
          </a:prstGeom>
          <a:noFill/>
          <a:ln/>
        </p:spPr>
        <p:txBody>
          <a:bodyPr wrap="square" lIns="0" tIns="0" rIns="0" bIns="0" rtlCol="0" anchor="ctr"/>
          <a:lstStyle/>
          <a:p>
            <a:pPr algn="ctr" indent="0" marL="0">
              <a:buNone/>
            </a:pPr>
            <a:r>
              <a:rPr lang="en-US" sz="3200" b="1" dirty="0">
                <a:solidFill>
                  <a:schemeClr val="tx2"/>
                </a:solidFill>
              </a:rPr>
              <a:t>≤ 2×</a:t>
            </a:r>
            <a:endParaRPr lang="en-US" sz="3200" dirty="0"/>
          </a:p>
        </p:txBody>
      </p:sp>
      <p:sp>
        <p:nvSpPr>
          <p:cNvPr id="22" name="s15-text-18"/>
          <p:cNvSpPr txBox="1"/>
          <p:nvPr/>
        </p:nvSpPr>
        <p:spPr>
          <a:xfrm>
            <a:off x="8371637" y="3163824"/>
            <a:ext cx="3179978" cy="731520"/>
          </a:xfrm>
          <a:prstGeom prst="rect">
            <a:avLst/>
          </a:prstGeom>
          <a:noFill/>
          <a:ln/>
        </p:spPr>
        <p:txBody>
          <a:bodyPr wrap="square" lIns="0" tIns="0" rIns="0" bIns="0" rtlCol="0" anchor="t"/>
          <a:lstStyle/>
          <a:p>
            <a:pPr algn="ctr" indent="0" marL="0">
              <a:buNone/>
            </a:pPr>
            <a:r>
              <a:rPr lang="en-US" sz="1200" dirty="0">
                <a:solidFill>
                  <a:schemeClr val="tx1"/>
                </a:solidFill>
              </a:rPr>
              <a:t>the benefit as the fine, never below the s.296 or s.296/1 minimum</a:t>
            </a:r>
            <a:endParaRPr lang="en-US" sz="1200" dirty="0"/>
          </a:p>
        </p:txBody>
      </p:sp>
      <p:sp>
        <p:nvSpPr>
          <p:cNvPr id="23" name="s15-subbar-19"/>
          <p:cNvSpPr/>
          <p:nvPr/>
        </p:nvSpPr>
        <p:spPr>
          <a:xfrm>
            <a:off x="365760" y="4169664"/>
            <a:ext cx="5661508" cy="347472"/>
          </a:xfrm>
          <a:prstGeom prst="rect">
            <a:avLst/>
          </a:prstGeom>
          <a:solidFill>
            <a:schemeClr val="tx2"/>
          </a:solidFill>
          <a:ln/>
        </p:spPr>
      </p:sp>
      <p:sp>
        <p:nvSpPr>
          <p:cNvPr id="24" name="s15-subbar-text-20"/>
          <p:cNvSpPr txBox="1"/>
          <p:nvPr/>
        </p:nvSpPr>
        <p:spPr>
          <a:xfrm>
            <a:off x="365760" y="4169664"/>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s.297/1 · Extra Court Orders</a:t>
            </a:r>
            <a:endParaRPr lang="en-US" sz="1400" dirty="0"/>
          </a:p>
        </p:txBody>
      </p:sp>
      <p:sp>
        <p:nvSpPr>
          <p:cNvPr id="25" name="s15-subbar-21"/>
          <p:cNvSpPr/>
          <p:nvPr/>
        </p:nvSpPr>
        <p:spPr>
          <a:xfrm>
            <a:off x="6164428" y="4169664"/>
            <a:ext cx="5661508" cy="347472"/>
          </a:xfrm>
          <a:prstGeom prst="rect">
            <a:avLst/>
          </a:prstGeom>
          <a:solidFill>
            <a:schemeClr val="tx2"/>
          </a:solidFill>
          <a:ln/>
        </p:spPr>
      </p:sp>
      <p:sp>
        <p:nvSpPr>
          <p:cNvPr id="26" name="s15-subbar-text-22"/>
          <p:cNvSpPr txBox="1"/>
          <p:nvPr/>
        </p:nvSpPr>
        <p:spPr>
          <a:xfrm>
            <a:off x="6164428" y="4169664"/>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Money Laundering</a:t>
            </a:r>
            <a:endParaRPr lang="en-US" sz="1400" dirty="0"/>
          </a:p>
        </p:txBody>
      </p:sp>
      <p:sp>
        <p:nvSpPr>
          <p:cNvPr id="27" name="s15-box-23"/>
          <p:cNvSpPr/>
          <p:nvPr/>
        </p:nvSpPr>
        <p:spPr>
          <a:xfrm>
            <a:off x="365760" y="4608576"/>
            <a:ext cx="5661508" cy="1517904"/>
          </a:xfrm>
          <a:prstGeom prst="rect">
            <a:avLst/>
          </a:prstGeom>
          <a:solidFill>
            <a:schemeClr val="bg2"/>
          </a:solidFill>
          <a:ln/>
        </p:spPr>
      </p:sp>
      <p:sp>
        <p:nvSpPr>
          <p:cNvPr id="28" name="s15-text-24"/>
          <p:cNvSpPr txBox="1"/>
          <p:nvPr/>
        </p:nvSpPr>
        <p:spPr>
          <a:xfrm>
            <a:off x="594360" y="4608576"/>
            <a:ext cx="5204308" cy="1517904"/>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chemeClr val="tx1"/>
                </a:solidFill>
              </a:rPr>
              <a:t>Pay back the benefit (remitted to the State)</a:t>
            </a:r>
            <a:endParaRPr lang="en-US" sz="1200" dirty="0"/>
          </a:p>
          <a:p>
            <a:pPr marL="342900" indent="-342900">
              <a:spcAft>
                <a:spcPts val="400"/>
              </a:spcAft>
              <a:buSzPct val="100000"/>
              <a:buChar char="•"/>
            </a:pPr>
            <a:r>
              <a:rPr lang="en-US" sz="1200" dirty="0">
                <a:solidFill>
                  <a:schemeClr val="tx1"/>
                </a:solidFill>
              </a:rPr>
              <a:t>Trading ban ≤ 5 years</a:t>
            </a:r>
            <a:endParaRPr lang="en-US" sz="1200" dirty="0"/>
          </a:p>
          <a:p>
            <a:pPr marL="342900" indent="-342900">
              <a:spcAft>
                <a:spcPts val="400"/>
              </a:spcAft>
              <a:buSzPct val="100000"/>
              <a:buChar char="•"/>
            </a:pPr>
            <a:r>
              <a:rPr lang="en-US" sz="1200" dirty="0">
                <a:solidFill>
                  <a:schemeClr val="tx1"/>
                </a:solidFill>
              </a:rPr>
              <a:t>Director/executive ban ≤ 10 years</a:t>
            </a:r>
            <a:endParaRPr lang="en-US" sz="1200" dirty="0"/>
          </a:p>
          <a:p>
            <a:pPr marL="342900" indent="-342900">
              <a:spcAft>
                <a:spcPts val="400"/>
              </a:spcAft>
              <a:buSzPct val="100000"/>
              <a:buChar char="•"/>
            </a:pPr>
            <a:r>
              <a:rPr lang="en-US" sz="1200" dirty="0">
                <a:solidFill>
                  <a:schemeClr val="tx1"/>
                </a:solidFill>
              </a:rPr>
              <a:t>Reimburse SEC investigation costs</a:t>
            </a:r>
            <a:endParaRPr lang="en-US" sz="1200" dirty="0"/>
          </a:p>
        </p:txBody>
      </p:sp>
      <p:sp>
        <p:nvSpPr>
          <p:cNvPr id="29" name="s15-box-25"/>
          <p:cNvSpPr/>
          <p:nvPr/>
        </p:nvSpPr>
        <p:spPr>
          <a:xfrm>
            <a:off x="6164428" y="4608576"/>
            <a:ext cx="5661508" cy="1517904"/>
          </a:xfrm>
          <a:prstGeom prst="rect">
            <a:avLst/>
          </a:prstGeom>
          <a:solidFill>
            <a:schemeClr val="bg2"/>
          </a:solidFill>
          <a:ln/>
        </p:spPr>
      </p:sp>
      <p:sp>
        <p:nvSpPr>
          <p:cNvPr id="30" name="s15-text-26"/>
          <p:cNvSpPr txBox="1"/>
          <p:nvPr/>
        </p:nvSpPr>
        <p:spPr>
          <a:xfrm>
            <a:off x="6393028" y="4608576"/>
            <a:ext cx="5204308" cy="1517904"/>
          </a:xfrm>
          <a:prstGeom prst="rect">
            <a:avLst/>
          </a:prstGeom>
          <a:noFill/>
          <a:ln/>
        </p:spPr>
        <p:txBody>
          <a:bodyPr wrap="square" lIns="0" tIns="0" rIns="0" bIns="0" rtlCol="0" anchor="ctr"/>
          <a:lstStyle/>
          <a:p>
            <a:pPr indent="0" marL="0">
              <a:buNone/>
            </a:pPr>
            <a:r>
              <a:rPr lang="en-US" sz="1200" dirty="0">
                <a:solidFill>
                  <a:schemeClr val="tx1"/>
                </a:solidFill>
              </a:rPr>
              <a:t>Predicate offence under the Anti-Money Laundering Act B.E. 2542, so the SEC also notified AMLO (11 May 2026).</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Penalties: The Civil Sanction Route</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ss.317/1, 317/4–317/8</a:t>
            </a:r>
            <a:endParaRPr lang="en-US" sz="1050" dirty="0"/>
          </a:p>
        </p:txBody>
      </p:sp>
      <p:sp>
        <p:nvSpPr>
          <p:cNvPr id="5" name="s16-subbar-1"/>
          <p:cNvSpPr/>
          <p:nvPr/>
        </p:nvSpPr>
        <p:spPr>
          <a:xfrm>
            <a:off x="365760" y="1353312"/>
            <a:ext cx="3291840" cy="347472"/>
          </a:xfrm>
          <a:prstGeom prst="rect">
            <a:avLst/>
          </a:prstGeom>
          <a:solidFill>
            <a:schemeClr val="tx2"/>
          </a:solidFill>
          <a:ln/>
        </p:spPr>
      </p:sp>
      <p:sp>
        <p:nvSpPr>
          <p:cNvPr id="6" name="s16-subbar-text-2"/>
          <p:cNvSpPr txBox="1"/>
          <p:nvPr/>
        </p:nvSpPr>
        <p:spPr>
          <a:xfrm>
            <a:off x="365760" y="1353312"/>
            <a:ext cx="3291840" cy="347472"/>
          </a:xfrm>
          <a:prstGeom prst="rect">
            <a:avLst/>
          </a:prstGeom>
          <a:noFill/>
          <a:ln/>
        </p:spPr>
        <p:txBody>
          <a:bodyPr wrap="square" lIns="0" tIns="0" rIns="0" bIns="0" rtlCol="0" anchor="ctr"/>
          <a:lstStyle/>
          <a:p>
            <a:pPr algn="ctr" indent="0" marL="0">
              <a:buNone/>
            </a:pPr>
            <a:r>
              <a:rPr lang="en-US" sz="1400" b="1" dirty="0">
                <a:solidFill>
                  <a:schemeClr val="bg1"/>
                </a:solidFill>
              </a:rPr>
              <a:t>1 · Referral</a:t>
            </a:r>
            <a:endParaRPr lang="en-US" sz="1400" dirty="0"/>
          </a:p>
        </p:txBody>
      </p:sp>
      <p:sp>
        <p:nvSpPr>
          <p:cNvPr id="7" name="s16-subbar-3"/>
          <p:cNvSpPr/>
          <p:nvPr/>
        </p:nvSpPr>
        <p:spPr>
          <a:xfrm>
            <a:off x="3794760" y="1353312"/>
            <a:ext cx="4206240" cy="347472"/>
          </a:xfrm>
          <a:prstGeom prst="rect">
            <a:avLst/>
          </a:prstGeom>
          <a:solidFill>
            <a:schemeClr val="tx2"/>
          </a:solidFill>
          <a:ln/>
        </p:spPr>
      </p:sp>
      <p:sp>
        <p:nvSpPr>
          <p:cNvPr id="8" name="s16-subbar-text-4"/>
          <p:cNvSpPr txBox="1"/>
          <p:nvPr/>
        </p:nvSpPr>
        <p:spPr>
          <a:xfrm>
            <a:off x="3794760" y="1353312"/>
            <a:ext cx="4206240" cy="347472"/>
          </a:xfrm>
          <a:prstGeom prst="rect">
            <a:avLst/>
          </a:prstGeom>
          <a:noFill/>
          <a:ln/>
        </p:spPr>
        <p:txBody>
          <a:bodyPr wrap="square" lIns="0" tIns="0" rIns="0" bIns="0" rtlCol="0" anchor="ctr"/>
          <a:lstStyle/>
          <a:p>
            <a:pPr algn="ctr" indent="0" marL="0">
              <a:buNone/>
            </a:pPr>
            <a:r>
              <a:rPr lang="en-US" sz="1400" b="1" dirty="0">
                <a:solidFill>
                  <a:schemeClr val="bg1"/>
                </a:solidFill>
              </a:rPr>
              <a:t>2 · Offender’s Choice</a:t>
            </a:r>
            <a:endParaRPr lang="en-US" sz="1400" dirty="0"/>
          </a:p>
        </p:txBody>
      </p:sp>
      <p:sp>
        <p:nvSpPr>
          <p:cNvPr id="9" name="s16-subbar-5"/>
          <p:cNvSpPr/>
          <p:nvPr/>
        </p:nvSpPr>
        <p:spPr>
          <a:xfrm>
            <a:off x="8138160" y="1353312"/>
            <a:ext cx="3687775" cy="347472"/>
          </a:xfrm>
          <a:prstGeom prst="rect">
            <a:avLst/>
          </a:prstGeom>
          <a:solidFill>
            <a:schemeClr val="tx2"/>
          </a:solidFill>
          <a:ln/>
        </p:spPr>
      </p:sp>
      <p:sp>
        <p:nvSpPr>
          <p:cNvPr id="10" name="s16-subbar-text-6"/>
          <p:cNvSpPr txBox="1"/>
          <p:nvPr/>
        </p:nvSpPr>
        <p:spPr>
          <a:xfrm>
            <a:off x="8138160" y="1353312"/>
            <a:ext cx="3687775" cy="347472"/>
          </a:xfrm>
          <a:prstGeom prst="rect">
            <a:avLst/>
          </a:prstGeom>
          <a:noFill/>
          <a:ln/>
        </p:spPr>
        <p:txBody>
          <a:bodyPr wrap="square" lIns="0" tIns="0" rIns="0" bIns="0" rtlCol="0" anchor="ctr"/>
          <a:lstStyle/>
          <a:p>
            <a:pPr algn="ctr" indent="0" marL="0">
              <a:buNone/>
            </a:pPr>
            <a:r>
              <a:rPr lang="en-US" sz="1400" b="1" dirty="0">
                <a:solidFill>
                  <a:schemeClr val="bg1"/>
                </a:solidFill>
              </a:rPr>
              <a:t>3 · Sanctions Available</a:t>
            </a:r>
            <a:endParaRPr lang="en-US" sz="1400" dirty="0"/>
          </a:p>
        </p:txBody>
      </p:sp>
      <p:sp>
        <p:nvSpPr>
          <p:cNvPr id="11" name="s16-box-7"/>
          <p:cNvSpPr/>
          <p:nvPr/>
        </p:nvSpPr>
        <p:spPr>
          <a:xfrm>
            <a:off x="365760" y="1792224"/>
            <a:ext cx="3291840" cy="1874520"/>
          </a:xfrm>
          <a:prstGeom prst="rect">
            <a:avLst/>
          </a:prstGeom>
          <a:solidFill>
            <a:schemeClr val="bg2"/>
          </a:solidFill>
          <a:ln/>
        </p:spPr>
      </p:sp>
      <p:sp>
        <p:nvSpPr>
          <p:cNvPr id="12" name="s16-text-8"/>
          <p:cNvSpPr txBox="1"/>
          <p:nvPr/>
        </p:nvSpPr>
        <p:spPr>
          <a:xfrm>
            <a:off x="566928" y="1929384"/>
            <a:ext cx="2889504" cy="1600200"/>
          </a:xfrm>
          <a:prstGeom prst="rect">
            <a:avLst/>
          </a:prstGeom>
          <a:noFill/>
          <a:ln/>
        </p:spPr>
        <p:txBody>
          <a:bodyPr wrap="square" lIns="0" tIns="0" rIns="0" bIns="0" rtlCol="0" anchor="ctr"/>
          <a:lstStyle/>
          <a:p>
            <a:pPr indent="0" marL="0">
              <a:spcAft>
                <a:spcPts val="400"/>
              </a:spcAft>
              <a:buNone/>
            </a:pPr>
            <a:r>
              <a:rPr lang="en-US" sz="1300" b="1" dirty="0">
                <a:solidFill>
                  <a:schemeClr val="tx2"/>
                </a:solidFill>
              </a:rPr>
              <a:t>s.317/1 (1)</a:t>
            </a:r>
            <a:endParaRPr lang="en-US" sz="1200" dirty="0"/>
          </a:p>
          <a:p>
            <a:pPr indent="0" marL="0">
              <a:spcAft>
                <a:spcPts val="400"/>
              </a:spcAft>
              <a:buNone/>
            </a:pPr>
            <a:r>
              <a:rPr lang="en-US" sz="1200" dirty="0">
                <a:solidFill>
                  <a:schemeClr val="tx1"/>
                </a:solidFill>
              </a:rPr>
              <a:t>Unfair trading under s.296 or s.296/1 can be handled by civil sanction.</a:t>
            </a:r>
            <a:endParaRPr lang="en-US" sz="1200" dirty="0"/>
          </a:p>
        </p:txBody>
      </p:sp>
      <p:sp>
        <p:nvSpPr>
          <p:cNvPr id="13" name="s16-arrow-9"/>
          <p:cNvSpPr/>
          <p:nvPr/>
        </p:nvSpPr>
        <p:spPr>
          <a:xfrm>
            <a:off x="1828800" y="3758184"/>
            <a:ext cx="365760" cy="411480"/>
          </a:xfrm>
          <a:prstGeom prst="downArrow">
            <a:avLst/>
          </a:prstGeom>
          <a:solidFill>
            <a:schemeClr val="tx2"/>
          </a:solidFill>
          <a:ln/>
        </p:spPr>
      </p:sp>
      <p:sp>
        <p:nvSpPr>
          <p:cNvPr id="14" name="s16-box-10"/>
          <p:cNvSpPr/>
          <p:nvPr/>
        </p:nvSpPr>
        <p:spPr>
          <a:xfrm>
            <a:off x="365760" y="4261104"/>
            <a:ext cx="3291840" cy="1865376"/>
          </a:xfrm>
          <a:prstGeom prst="rect">
            <a:avLst/>
          </a:prstGeom>
          <a:solidFill>
            <a:schemeClr val="bg2"/>
          </a:solidFill>
          <a:ln/>
        </p:spPr>
      </p:sp>
      <p:sp>
        <p:nvSpPr>
          <p:cNvPr id="15" name="s16-text-11"/>
          <p:cNvSpPr txBox="1"/>
          <p:nvPr/>
        </p:nvSpPr>
        <p:spPr>
          <a:xfrm>
            <a:off x="566928" y="4398264"/>
            <a:ext cx="2889504" cy="1591056"/>
          </a:xfrm>
          <a:prstGeom prst="rect">
            <a:avLst/>
          </a:prstGeom>
          <a:noFill/>
          <a:ln/>
        </p:spPr>
        <p:txBody>
          <a:bodyPr wrap="square" lIns="0" tIns="0" rIns="0" bIns="0" rtlCol="0" anchor="ctr"/>
          <a:lstStyle/>
          <a:p>
            <a:pPr indent="0" marL="0">
              <a:spcAft>
                <a:spcPts val="400"/>
              </a:spcAft>
              <a:buNone/>
            </a:pPr>
            <a:r>
              <a:rPr lang="en-US" sz="1300" b="1" dirty="0">
                <a:solidFill>
                  <a:schemeClr val="tx2"/>
                </a:solidFill>
              </a:rPr>
              <a:t>s.317/6</a:t>
            </a:r>
            <a:endParaRPr lang="en-US" sz="1200" dirty="0"/>
          </a:p>
          <a:p>
            <a:pPr indent="0" marL="0">
              <a:spcAft>
                <a:spcPts val="400"/>
              </a:spcAft>
              <a:buNone/>
            </a:pPr>
            <a:r>
              <a:rPr lang="en-US" sz="1200" dirty="0">
                <a:solidFill>
                  <a:schemeClr val="tx1"/>
                </a:solidFill>
              </a:rPr>
              <a:t>SEC submits the case to the Civil Sanction Committee (CSC). If the CSC declines, criminal proceedings start.</a:t>
            </a:r>
            <a:endParaRPr lang="en-US" sz="1200" dirty="0"/>
          </a:p>
        </p:txBody>
      </p:sp>
      <p:sp>
        <p:nvSpPr>
          <p:cNvPr id="16" name="s16-box-12"/>
          <p:cNvSpPr/>
          <p:nvPr/>
        </p:nvSpPr>
        <p:spPr>
          <a:xfrm>
            <a:off x="3794760" y="1792224"/>
            <a:ext cx="4206240" cy="2011680"/>
          </a:xfrm>
          <a:prstGeom prst="rect">
            <a:avLst/>
          </a:prstGeom>
          <a:solidFill>
            <a:schemeClr val="bg2"/>
          </a:solidFill>
          <a:ln/>
        </p:spPr>
      </p:sp>
      <p:sp>
        <p:nvSpPr>
          <p:cNvPr id="17" name="s16-text-13"/>
          <p:cNvSpPr txBox="1"/>
          <p:nvPr/>
        </p:nvSpPr>
        <p:spPr>
          <a:xfrm>
            <a:off x="3995928" y="1929384"/>
            <a:ext cx="3803904" cy="1737360"/>
          </a:xfrm>
          <a:prstGeom prst="rect">
            <a:avLst/>
          </a:prstGeom>
          <a:noFill/>
          <a:ln/>
        </p:spPr>
        <p:txBody>
          <a:bodyPr wrap="square" lIns="0" tIns="0" rIns="0" bIns="0" rtlCol="0" anchor="ctr"/>
          <a:lstStyle/>
          <a:p>
            <a:pPr indent="0" marL="0">
              <a:spcAft>
                <a:spcPts val="400"/>
              </a:spcAft>
              <a:buNone/>
            </a:pPr>
            <a:r>
              <a:rPr lang="en-US" sz="1300" b="1" dirty="0">
                <a:solidFill>
                  <a:schemeClr val="tx2"/>
                </a:solidFill>
              </a:rPr>
              <a:t>Consents · s.317/7</a:t>
            </a:r>
            <a:endParaRPr lang="en-US" sz="1200" dirty="0"/>
          </a:p>
          <a:p>
            <a:pPr indent="0" marL="0">
              <a:spcAft>
                <a:spcPts val="400"/>
              </a:spcAft>
              <a:buNone/>
            </a:pPr>
            <a:r>
              <a:rPr lang="en-US" sz="1200" dirty="0">
                <a:solidFill>
                  <a:schemeClr val="tx1"/>
                </a:solidFill>
              </a:rPr>
              <a:t>Letter of consent; paying in full ends the right to criminal prosecution. Default: SEC petitions the court within 3 years.</a:t>
            </a:r>
            <a:endParaRPr lang="en-US" sz="1200" dirty="0"/>
          </a:p>
        </p:txBody>
      </p:sp>
      <p:sp>
        <p:nvSpPr>
          <p:cNvPr id="18" name="s16-box-14"/>
          <p:cNvSpPr/>
          <p:nvPr/>
        </p:nvSpPr>
        <p:spPr>
          <a:xfrm>
            <a:off x="3794760" y="3941064"/>
            <a:ext cx="4206240" cy="2185416"/>
          </a:xfrm>
          <a:prstGeom prst="rect">
            <a:avLst/>
          </a:prstGeom>
          <a:solidFill>
            <a:srgbClr val="FFF3DC"/>
          </a:solidFill>
          <a:ln w="12700">
            <a:solidFill>
              <a:schemeClr val="accent4"/>
            </a:solidFill>
            <a:prstDash val="solid"/>
          </a:ln>
        </p:spPr>
      </p:sp>
      <p:sp>
        <p:nvSpPr>
          <p:cNvPr id="19" name="s16-text-15"/>
          <p:cNvSpPr txBox="1"/>
          <p:nvPr/>
        </p:nvSpPr>
        <p:spPr>
          <a:xfrm>
            <a:off x="3995928" y="4078224"/>
            <a:ext cx="3803904" cy="1911096"/>
          </a:xfrm>
          <a:prstGeom prst="rect">
            <a:avLst/>
          </a:prstGeom>
          <a:noFill/>
          <a:ln/>
        </p:spPr>
        <p:txBody>
          <a:bodyPr wrap="square" lIns="0" tIns="0" rIns="0" bIns="0" rtlCol="0" anchor="ctr"/>
          <a:lstStyle/>
          <a:p>
            <a:pPr indent="0" marL="0">
              <a:spcAft>
                <a:spcPts val="400"/>
              </a:spcAft>
              <a:buNone/>
            </a:pPr>
            <a:r>
              <a:rPr lang="en-US" sz="1300" b="1" dirty="0">
                <a:solidFill>
                  <a:schemeClr val="accent4"/>
                </a:solidFill>
              </a:rPr>
              <a:t>Refuses · s.317/8</a:t>
            </a:r>
            <a:endParaRPr lang="en-US" sz="1200" dirty="0"/>
          </a:p>
          <a:p>
            <a:pPr indent="0" marL="0">
              <a:spcAft>
                <a:spcPts val="400"/>
              </a:spcAft>
              <a:buNone/>
            </a:pPr>
            <a:r>
              <a:rPr lang="en-US" sz="1200" dirty="0">
                <a:solidFill>
                  <a:schemeClr val="tx1"/>
                </a:solidFill>
              </a:rPr>
              <a:t>SEC sues in court; interest runs from the filing date; the criminal right ends only once the court-ordered sanction is paid in full.</a:t>
            </a:r>
            <a:endParaRPr lang="en-US" sz="1200" dirty="0"/>
          </a:p>
        </p:txBody>
      </p:sp>
      <p:sp>
        <p:nvSpPr>
          <p:cNvPr id="20" name="s16-box-16"/>
          <p:cNvSpPr/>
          <p:nvPr/>
        </p:nvSpPr>
        <p:spPr>
          <a:xfrm>
            <a:off x="6537960" y="4078224"/>
            <a:ext cx="1325880" cy="274320"/>
          </a:xfrm>
          <a:prstGeom prst="rect">
            <a:avLst/>
          </a:prstGeom>
          <a:solidFill>
            <a:schemeClr val="accent4"/>
          </a:solidFill>
          <a:ln/>
        </p:spPr>
      </p:sp>
      <p:sp>
        <p:nvSpPr>
          <p:cNvPr id="21" name="s16-text-17"/>
          <p:cNvSpPr txBox="1"/>
          <p:nvPr/>
        </p:nvSpPr>
        <p:spPr>
          <a:xfrm>
            <a:off x="6537960" y="4078224"/>
            <a:ext cx="1325880" cy="274320"/>
          </a:xfrm>
          <a:prstGeom prst="rect">
            <a:avLst/>
          </a:prstGeom>
          <a:noFill/>
          <a:ln/>
        </p:spPr>
        <p:txBody>
          <a:bodyPr wrap="square" lIns="0" tIns="0" rIns="0" bIns="0" rtlCol="0" anchor="ctr"/>
          <a:lstStyle/>
          <a:p>
            <a:pPr algn="ctr" indent="0" marL="0">
              <a:buNone/>
            </a:pPr>
            <a:r>
              <a:rPr lang="en-US" sz="1050" b="1" dirty="0">
                <a:solidFill>
                  <a:schemeClr val="bg1"/>
                </a:solidFill>
              </a:rPr>
              <a:t>THE TSR CASE</a:t>
            </a:r>
            <a:endParaRPr lang="en-US" sz="1050" dirty="0"/>
          </a:p>
        </p:txBody>
      </p:sp>
      <p:sp>
        <p:nvSpPr>
          <p:cNvPr id="22" name="s16-box-18"/>
          <p:cNvSpPr/>
          <p:nvPr/>
        </p:nvSpPr>
        <p:spPr>
          <a:xfrm>
            <a:off x="8138160" y="1792224"/>
            <a:ext cx="3687775" cy="4334256"/>
          </a:xfrm>
          <a:prstGeom prst="rect">
            <a:avLst/>
          </a:prstGeom>
          <a:solidFill>
            <a:schemeClr val="bg2"/>
          </a:solidFill>
          <a:ln/>
        </p:spPr>
      </p:sp>
      <p:sp>
        <p:nvSpPr>
          <p:cNvPr id="23" name="s16-text-19"/>
          <p:cNvSpPr txBox="1"/>
          <p:nvPr/>
        </p:nvSpPr>
        <p:spPr>
          <a:xfrm>
            <a:off x="8321040" y="1901952"/>
            <a:ext cx="3322015" cy="292608"/>
          </a:xfrm>
          <a:prstGeom prst="rect">
            <a:avLst/>
          </a:prstGeom>
          <a:noFill/>
          <a:ln/>
        </p:spPr>
        <p:txBody>
          <a:bodyPr wrap="square" lIns="0" tIns="0" rIns="0" bIns="0" rtlCol="0" anchor="t"/>
          <a:lstStyle/>
          <a:p>
            <a:pPr indent="0" marL="0">
              <a:buNone/>
            </a:pPr>
            <a:r>
              <a:rPr lang="en-US" sz="1300" b="1" dirty="0">
                <a:solidFill>
                  <a:schemeClr val="tx2"/>
                </a:solidFill>
              </a:rPr>
              <a:t>s.317/4 · five sanctions</a:t>
            </a:r>
            <a:endParaRPr lang="en-US" sz="1300" dirty="0"/>
          </a:p>
        </p:txBody>
      </p:sp>
      <p:sp>
        <p:nvSpPr>
          <p:cNvPr id="24" name="s16-num-20"/>
          <p:cNvSpPr/>
          <p:nvPr/>
        </p:nvSpPr>
        <p:spPr>
          <a:xfrm>
            <a:off x="8321040" y="2304288"/>
            <a:ext cx="310896" cy="310896"/>
          </a:xfrm>
          <a:prstGeom prst="ellipse">
            <a:avLst/>
          </a:prstGeom>
          <a:solidFill>
            <a:schemeClr val="tx2"/>
          </a:solidFill>
          <a:ln/>
        </p:spPr>
      </p:sp>
      <p:sp>
        <p:nvSpPr>
          <p:cNvPr id="25" name="s16-num-text-21"/>
          <p:cNvSpPr txBox="1"/>
          <p:nvPr/>
        </p:nvSpPr>
        <p:spPr>
          <a:xfrm>
            <a:off x="8321040" y="230428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6" name="s16-box-22"/>
          <p:cNvSpPr/>
          <p:nvPr/>
        </p:nvSpPr>
        <p:spPr>
          <a:xfrm>
            <a:off x="8732520" y="2267712"/>
            <a:ext cx="2910535" cy="384048"/>
          </a:xfrm>
          <a:prstGeom prst="rect">
            <a:avLst/>
          </a:prstGeom>
          <a:solidFill>
            <a:schemeClr val="accent2"/>
          </a:solidFill>
          <a:ln/>
        </p:spPr>
      </p:sp>
      <p:sp>
        <p:nvSpPr>
          <p:cNvPr id="27" name="s16-text-23"/>
          <p:cNvSpPr txBox="1"/>
          <p:nvPr/>
        </p:nvSpPr>
        <p:spPr>
          <a:xfrm>
            <a:off x="8869680" y="2267712"/>
            <a:ext cx="2773375" cy="384048"/>
          </a:xfrm>
          <a:prstGeom prst="rect">
            <a:avLst/>
          </a:prstGeom>
          <a:noFill/>
          <a:ln/>
        </p:spPr>
        <p:txBody>
          <a:bodyPr wrap="square" lIns="0" tIns="0" rIns="0" bIns="0" rtlCol="0" anchor="ctr"/>
          <a:lstStyle/>
          <a:p>
            <a:pPr indent="0" marL="0">
              <a:buNone/>
            </a:pPr>
            <a:r>
              <a:rPr lang="en-US" sz="1200" dirty="0">
                <a:solidFill>
                  <a:schemeClr val="tx1"/>
                </a:solidFill>
              </a:rPr>
              <a:t>Civil penalty</a:t>
            </a:r>
            <a:endParaRPr lang="en-US" sz="1200" dirty="0"/>
          </a:p>
        </p:txBody>
      </p:sp>
      <p:sp>
        <p:nvSpPr>
          <p:cNvPr id="28" name="s16-num-24"/>
          <p:cNvSpPr/>
          <p:nvPr/>
        </p:nvSpPr>
        <p:spPr>
          <a:xfrm>
            <a:off x="8321040" y="2761488"/>
            <a:ext cx="310896" cy="310896"/>
          </a:xfrm>
          <a:prstGeom prst="ellipse">
            <a:avLst/>
          </a:prstGeom>
          <a:solidFill>
            <a:schemeClr val="tx2"/>
          </a:solidFill>
          <a:ln/>
        </p:spPr>
      </p:sp>
      <p:sp>
        <p:nvSpPr>
          <p:cNvPr id="29" name="s16-num-text-25"/>
          <p:cNvSpPr txBox="1"/>
          <p:nvPr/>
        </p:nvSpPr>
        <p:spPr>
          <a:xfrm>
            <a:off x="8321040" y="276148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30" name="s16-box-26"/>
          <p:cNvSpPr/>
          <p:nvPr/>
        </p:nvSpPr>
        <p:spPr>
          <a:xfrm>
            <a:off x="8732520" y="2724912"/>
            <a:ext cx="2910535" cy="384048"/>
          </a:xfrm>
          <a:prstGeom prst="rect">
            <a:avLst/>
          </a:prstGeom>
          <a:solidFill>
            <a:schemeClr val="accent2"/>
          </a:solidFill>
          <a:ln/>
        </p:spPr>
      </p:sp>
      <p:sp>
        <p:nvSpPr>
          <p:cNvPr id="31" name="s16-text-27"/>
          <p:cNvSpPr txBox="1"/>
          <p:nvPr/>
        </p:nvSpPr>
        <p:spPr>
          <a:xfrm>
            <a:off x="8869680" y="2724912"/>
            <a:ext cx="2773375" cy="384048"/>
          </a:xfrm>
          <a:prstGeom prst="rect">
            <a:avLst/>
          </a:prstGeom>
          <a:noFill/>
          <a:ln/>
        </p:spPr>
        <p:txBody>
          <a:bodyPr wrap="square" lIns="0" tIns="0" rIns="0" bIns="0" rtlCol="0" anchor="ctr"/>
          <a:lstStyle/>
          <a:p>
            <a:pPr indent="0" marL="0">
              <a:buNone/>
            </a:pPr>
            <a:r>
              <a:rPr lang="en-US" sz="1200" dirty="0">
                <a:solidFill>
                  <a:schemeClr val="tx1"/>
                </a:solidFill>
              </a:rPr>
              <a:t>Pay back the benefit</a:t>
            </a:r>
            <a:endParaRPr lang="en-US" sz="1200" dirty="0"/>
          </a:p>
        </p:txBody>
      </p:sp>
      <p:sp>
        <p:nvSpPr>
          <p:cNvPr id="32" name="s16-num-28"/>
          <p:cNvSpPr/>
          <p:nvPr/>
        </p:nvSpPr>
        <p:spPr>
          <a:xfrm>
            <a:off x="8321040" y="3218688"/>
            <a:ext cx="310896" cy="310896"/>
          </a:xfrm>
          <a:prstGeom prst="ellipse">
            <a:avLst/>
          </a:prstGeom>
          <a:solidFill>
            <a:schemeClr val="tx2"/>
          </a:solidFill>
          <a:ln/>
        </p:spPr>
      </p:sp>
      <p:sp>
        <p:nvSpPr>
          <p:cNvPr id="33" name="s16-num-text-29"/>
          <p:cNvSpPr txBox="1"/>
          <p:nvPr/>
        </p:nvSpPr>
        <p:spPr>
          <a:xfrm>
            <a:off x="8321040" y="321868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34" name="s16-box-30"/>
          <p:cNvSpPr/>
          <p:nvPr/>
        </p:nvSpPr>
        <p:spPr>
          <a:xfrm>
            <a:off x="8732520" y="3182112"/>
            <a:ext cx="2910535" cy="384048"/>
          </a:xfrm>
          <a:prstGeom prst="rect">
            <a:avLst/>
          </a:prstGeom>
          <a:solidFill>
            <a:schemeClr val="accent2"/>
          </a:solidFill>
          <a:ln/>
        </p:spPr>
      </p:sp>
      <p:sp>
        <p:nvSpPr>
          <p:cNvPr id="35" name="s16-text-31"/>
          <p:cNvSpPr txBox="1"/>
          <p:nvPr/>
        </p:nvSpPr>
        <p:spPr>
          <a:xfrm>
            <a:off x="8869680" y="3182112"/>
            <a:ext cx="2773375" cy="384048"/>
          </a:xfrm>
          <a:prstGeom prst="rect">
            <a:avLst/>
          </a:prstGeom>
          <a:noFill/>
          <a:ln/>
        </p:spPr>
        <p:txBody>
          <a:bodyPr wrap="square" lIns="0" tIns="0" rIns="0" bIns="0" rtlCol="0" anchor="ctr"/>
          <a:lstStyle/>
          <a:p>
            <a:pPr indent="0" marL="0">
              <a:buNone/>
            </a:pPr>
            <a:r>
              <a:rPr lang="en-US" sz="1200" dirty="0">
                <a:solidFill>
                  <a:schemeClr val="tx1"/>
                </a:solidFill>
              </a:rPr>
              <a:t>Trading ban ≤ 5 years</a:t>
            </a:r>
            <a:endParaRPr lang="en-US" sz="1200" dirty="0"/>
          </a:p>
        </p:txBody>
      </p:sp>
      <p:sp>
        <p:nvSpPr>
          <p:cNvPr id="36" name="s16-num-32"/>
          <p:cNvSpPr/>
          <p:nvPr/>
        </p:nvSpPr>
        <p:spPr>
          <a:xfrm>
            <a:off x="8321040" y="3675888"/>
            <a:ext cx="310896" cy="310896"/>
          </a:xfrm>
          <a:prstGeom prst="ellipse">
            <a:avLst/>
          </a:prstGeom>
          <a:solidFill>
            <a:schemeClr val="tx2"/>
          </a:solidFill>
          <a:ln/>
        </p:spPr>
      </p:sp>
      <p:sp>
        <p:nvSpPr>
          <p:cNvPr id="37" name="s16-num-text-33"/>
          <p:cNvSpPr txBox="1"/>
          <p:nvPr/>
        </p:nvSpPr>
        <p:spPr>
          <a:xfrm>
            <a:off x="8321040" y="367588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38" name="s16-box-34"/>
          <p:cNvSpPr/>
          <p:nvPr/>
        </p:nvSpPr>
        <p:spPr>
          <a:xfrm>
            <a:off x="8732520" y="3639312"/>
            <a:ext cx="2910535" cy="384048"/>
          </a:xfrm>
          <a:prstGeom prst="rect">
            <a:avLst/>
          </a:prstGeom>
          <a:solidFill>
            <a:schemeClr val="accent2"/>
          </a:solidFill>
          <a:ln/>
        </p:spPr>
      </p:sp>
      <p:sp>
        <p:nvSpPr>
          <p:cNvPr id="39" name="s16-text-35"/>
          <p:cNvSpPr txBox="1"/>
          <p:nvPr/>
        </p:nvSpPr>
        <p:spPr>
          <a:xfrm>
            <a:off x="8869680" y="3639312"/>
            <a:ext cx="2773375" cy="384048"/>
          </a:xfrm>
          <a:prstGeom prst="rect">
            <a:avLst/>
          </a:prstGeom>
          <a:noFill/>
          <a:ln/>
        </p:spPr>
        <p:txBody>
          <a:bodyPr wrap="square" lIns="0" tIns="0" rIns="0" bIns="0" rtlCol="0" anchor="ctr"/>
          <a:lstStyle/>
          <a:p>
            <a:pPr indent="0" marL="0">
              <a:buNone/>
            </a:pPr>
            <a:r>
              <a:rPr lang="en-US" sz="1200" dirty="0">
                <a:solidFill>
                  <a:schemeClr val="tx1"/>
                </a:solidFill>
              </a:rPr>
              <a:t>Director ban ≤ 10 years</a:t>
            </a:r>
            <a:endParaRPr lang="en-US" sz="1200" dirty="0"/>
          </a:p>
        </p:txBody>
      </p:sp>
      <p:sp>
        <p:nvSpPr>
          <p:cNvPr id="40" name="s16-num-36"/>
          <p:cNvSpPr/>
          <p:nvPr/>
        </p:nvSpPr>
        <p:spPr>
          <a:xfrm>
            <a:off x="8321040" y="4133088"/>
            <a:ext cx="310896" cy="310896"/>
          </a:xfrm>
          <a:prstGeom prst="ellipse">
            <a:avLst/>
          </a:prstGeom>
          <a:solidFill>
            <a:schemeClr val="tx2"/>
          </a:solidFill>
          <a:ln/>
        </p:spPr>
      </p:sp>
      <p:sp>
        <p:nvSpPr>
          <p:cNvPr id="41" name="s16-num-text-37"/>
          <p:cNvSpPr txBox="1"/>
          <p:nvPr/>
        </p:nvSpPr>
        <p:spPr>
          <a:xfrm>
            <a:off x="8321040" y="413308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42" name="s16-box-38"/>
          <p:cNvSpPr/>
          <p:nvPr/>
        </p:nvSpPr>
        <p:spPr>
          <a:xfrm>
            <a:off x="8732520" y="4096512"/>
            <a:ext cx="2910535" cy="384048"/>
          </a:xfrm>
          <a:prstGeom prst="rect">
            <a:avLst/>
          </a:prstGeom>
          <a:solidFill>
            <a:schemeClr val="accent2"/>
          </a:solidFill>
          <a:ln/>
        </p:spPr>
      </p:sp>
      <p:sp>
        <p:nvSpPr>
          <p:cNvPr id="43" name="s16-text-39"/>
          <p:cNvSpPr txBox="1"/>
          <p:nvPr/>
        </p:nvSpPr>
        <p:spPr>
          <a:xfrm>
            <a:off x="8869680" y="4096512"/>
            <a:ext cx="2773375" cy="384048"/>
          </a:xfrm>
          <a:prstGeom prst="rect">
            <a:avLst/>
          </a:prstGeom>
          <a:noFill/>
          <a:ln/>
        </p:spPr>
        <p:txBody>
          <a:bodyPr wrap="square" lIns="0" tIns="0" rIns="0" bIns="0" rtlCol="0" anchor="ctr"/>
          <a:lstStyle/>
          <a:p>
            <a:pPr indent="0" marL="0">
              <a:buNone/>
            </a:pPr>
            <a:r>
              <a:rPr lang="en-US" sz="1200" dirty="0">
                <a:solidFill>
                  <a:schemeClr val="tx1"/>
                </a:solidFill>
              </a:rPr>
              <a:t>Reimburse SEC costs</a:t>
            </a:r>
            <a:endParaRPr lang="en-US" sz="1200" dirty="0"/>
          </a:p>
        </p:txBody>
      </p:sp>
      <p:sp>
        <p:nvSpPr>
          <p:cNvPr id="44" name="s16-box-40"/>
          <p:cNvSpPr/>
          <p:nvPr/>
        </p:nvSpPr>
        <p:spPr>
          <a:xfrm>
            <a:off x="8321040" y="4626864"/>
            <a:ext cx="3322015" cy="1316736"/>
          </a:xfrm>
          <a:prstGeom prst="rect">
            <a:avLst/>
          </a:prstGeom>
          <a:solidFill>
            <a:srgbClr val="FFF3DC"/>
          </a:solidFill>
          <a:ln w="12700">
            <a:solidFill>
              <a:schemeClr val="accent4"/>
            </a:solidFill>
            <a:prstDash val="solid"/>
          </a:ln>
        </p:spPr>
      </p:sp>
      <p:sp>
        <p:nvSpPr>
          <p:cNvPr id="45" name="s16-text-41"/>
          <p:cNvSpPr txBox="1"/>
          <p:nvPr/>
        </p:nvSpPr>
        <p:spPr>
          <a:xfrm>
            <a:off x="8485632" y="4626864"/>
            <a:ext cx="2992831" cy="1316736"/>
          </a:xfrm>
          <a:prstGeom prst="rect">
            <a:avLst/>
          </a:prstGeom>
          <a:noFill/>
          <a:ln/>
        </p:spPr>
        <p:txBody>
          <a:bodyPr wrap="square" lIns="0" tIns="0" rIns="0" bIns="0" rtlCol="0" anchor="ctr"/>
          <a:lstStyle/>
          <a:p>
            <a:pPr indent="0" marL="0">
              <a:spcAft>
                <a:spcPts val="300"/>
              </a:spcAft>
              <a:buNone/>
            </a:pPr>
            <a:r>
              <a:rPr lang="en-US" sz="1300" b="1" dirty="0">
                <a:solidFill>
                  <a:schemeClr val="accent4"/>
                </a:solidFill>
              </a:rPr>
              <a:t>s.317/5 (1) · civil penalty</a:t>
            </a:r>
            <a:endParaRPr lang="en-US" sz="1200" dirty="0"/>
          </a:p>
          <a:p>
            <a:pPr indent="0" marL="0">
              <a:spcAft>
                <a:spcPts val="300"/>
              </a:spcAft>
              <a:buNone/>
            </a:pPr>
            <a:r>
              <a:rPr lang="en-US" sz="1200" dirty="0">
                <a:solidFill>
                  <a:schemeClr val="tx1"/>
                </a:solidFill>
              </a:rPr>
              <a:t>≤ 2× the benefit, minimum THB 0.5M; if the benefit can’t be calculated, THB 0.5M – 2M</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Penalties: Civil Sanctions Applied to TSR</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(24 Jan &amp; 11 May 2026); Thansettakij (11 May 2026); Securities and Exchange Act s.317/8</a:t>
            </a:r>
            <a:endParaRPr lang="en-US" sz="1050" dirty="0"/>
          </a:p>
        </p:txBody>
      </p:sp>
      <p:sp>
        <p:nvSpPr>
          <p:cNvPr id="5" name="s17-subbar-1"/>
          <p:cNvSpPr/>
          <p:nvPr/>
        </p:nvSpPr>
        <p:spPr>
          <a:xfrm>
            <a:off x="365760" y="1353312"/>
            <a:ext cx="5120640" cy="347472"/>
          </a:xfrm>
          <a:prstGeom prst="rect">
            <a:avLst/>
          </a:prstGeom>
          <a:solidFill>
            <a:schemeClr val="tx2"/>
          </a:solidFill>
          <a:ln/>
        </p:spPr>
      </p:sp>
      <p:sp>
        <p:nvSpPr>
          <p:cNvPr id="6" name="s17-subbar-text-2"/>
          <p:cNvSpPr txBox="1"/>
          <p:nvPr/>
        </p:nvSpPr>
        <p:spPr>
          <a:xfrm>
            <a:off x="365760" y="1353312"/>
            <a:ext cx="5120640" cy="347472"/>
          </a:xfrm>
          <a:prstGeom prst="rect">
            <a:avLst/>
          </a:prstGeom>
          <a:noFill/>
          <a:ln/>
        </p:spPr>
        <p:txBody>
          <a:bodyPr wrap="square" lIns="0" tIns="0" rIns="0" bIns="0" rtlCol="0" anchor="ctr"/>
          <a:lstStyle/>
          <a:p>
            <a:pPr algn="ctr" indent="0" marL="0">
              <a:buNone/>
            </a:pPr>
            <a:r>
              <a:rPr lang="en-US" sz="1400" b="1" dirty="0">
                <a:solidFill>
                  <a:schemeClr val="bg1"/>
                </a:solidFill>
              </a:rPr>
              <a:t>Jan 2026 · Civil Sanction Committee</a:t>
            </a:r>
            <a:endParaRPr lang="en-US" sz="1400" dirty="0"/>
          </a:p>
        </p:txBody>
      </p:sp>
      <p:sp>
        <p:nvSpPr>
          <p:cNvPr id="7" name="s17-subbar-3"/>
          <p:cNvSpPr/>
          <p:nvPr/>
        </p:nvSpPr>
        <p:spPr>
          <a:xfrm>
            <a:off x="6705295" y="1353312"/>
            <a:ext cx="5120640" cy="347472"/>
          </a:xfrm>
          <a:prstGeom prst="rect">
            <a:avLst/>
          </a:prstGeom>
          <a:solidFill>
            <a:schemeClr val="tx2"/>
          </a:solidFill>
          <a:ln/>
        </p:spPr>
      </p:sp>
      <p:sp>
        <p:nvSpPr>
          <p:cNvPr id="8" name="s17-subbar-text-4"/>
          <p:cNvSpPr txBox="1"/>
          <p:nvPr/>
        </p:nvSpPr>
        <p:spPr>
          <a:xfrm>
            <a:off x="6705295" y="1353312"/>
            <a:ext cx="5120640" cy="347472"/>
          </a:xfrm>
          <a:prstGeom prst="rect">
            <a:avLst/>
          </a:prstGeom>
          <a:noFill/>
          <a:ln/>
        </p:spPr>
        <p:txBody>
          <a:bodyPr wrap="square" lIns="0" tIns="0" rIns="0" bIns="0" rtlCol="0" anchor="ctr"/>
          <a:lstStyle/>
          <a:p>
            <a:pPr algn="ctr" indent="0" marL="0">
              <a:buNone/>
            </a:pPr>
            <a:r>
              <a:rPr lang="en-US" sz="1400" b="1" dirty="0">
                <a:solidFill>
                  <a:schemeClr val="bg1"/>
                </a:solidFill>
              </a:rPr>
              <a:t>May 2026 · Civil Court Claim</a:t>
            </a:r>
            <a:endParaRPr lang="en-US" sz="1400" dirty="0"/>
          </a:p>
        </p:txBody>
      </p:sp>
      <p:sp>
        <p:nvSpPr>
          <p:cNvPr id="9" name="s17-box-5"/>
          <p:cNvSpPr/>
          <p:nvPr/>
        </p:nvSpPr>
        <p:spPr>
          <a:xfrm>
            <a:off x="365760" y="1792224"/>
            <a:ext cx="5120640" cy="2697480"/>
          </a:xfrm>
          <a:prstGeom prst="rect">
            <a:avLst/>
          </a:prstGeom>
          <a:solidFill>
            <a:schemeClr val="bg2"/>
          </a:solidFill>
          <a:ln/>
        </p:spPr>
      </p:sp>
      <p:sp>
        <p:nvSpPr>
          <p:cNvPr id="10" name="s17-text-6"/>
          <p:cNvSpPr txBox="1"/>
          <p:nvPr/>
        </p:nvSpPr>
        <p:spPr>
          <a:xfrm>
            <a:off x="640080" y="1975104"/>
            <a:ext cx="4572000" cy="594360"/>
          </a:xfrm>
          <a:prstGeom prst="rect">
            <a:avLst/>
          </a:prstGeom>
          <a:noFill/>
          <a:ln/>
        </p:spPr>
        <p:txBody>
          <a:bodyPr wrap="square" lIns="0" tIns="0" rIns="0" bIns="0" rtlCol="0" anchor="ctr"/>
          <a:lstStyle/>
          <a:p>
            <a:pPr indent="0" marL="0">
              <a:buNone/>
            </a:pPr>
            <a:r>
              <a:rPr lang="en-US" sz="2800" b="1" dirty="0">
                <a:solidFill>
                  <a:schemeClr val="tx2"/>
                </a:solidFill>
              </a:rPr>
              <a:t>THB 32,327,329</a:t>
            </a:r>
            <a:endParaRPr lang="en-US" sz="2800" dirty="0"/>
          </a:p>
        </p:txBody>
      </p:sp>
      <p:sp>
        <p:nvSpPr>
          <p:cNvPr id="11" name="s17-text-7"/>
          <p:cNvSpPr txBox="1"/>
          <p:nvPr/>
        </p:nvSpPr>
        <p:spPr>
          <a:xfrm>
            <a:off x="640080" y="2615184"/>
            <a:ext cx="4572000" cy="292608"/>
          </a:xfrm>
          <a:prstGeom prst="rect">
            <a:avLst/>
          </a:prstGeom>
          <a:noFill/>
          <a:ln/>
        </p:spPr>
        <p:txBody>
          <a:bodyPr wrap="square" lIns="0" tIns="0" rIns="0" bIns="0" rtlCol="0" anchor="t"/>
          <a:lstStyle/>
          <a:p>
            <a:pPr indent="0" marL="0">
              <a:buNone/>
            </a:pPr>
            <a:r>
              <a:rPr lang="en-US" sz="1200" dirty="0">
                <a:solidFill>
                  <a:schemeClr val="tx1"/>
                </a:solidFill>
              </a:rPr>
              <a:t>Civil penalty + benefit + SEC costs</a:t>
            </a:r>
            <a:endParaRPr lang="en-US" sz="1200" dirty="0"/>
          </a:p>
        </p:txBody>
      </p:sp>
      <p:sp>
        <p:nvSpPr>
          <p:cNvPr id="12" name="s17-chip-8"/>
          <p:cNvSpPr/>
          <p:nvPr/>
        </p:nvSpPr>
        <p:spPr>
          <a:xfrm>
            <a:off x="640080" y="3209544"/>
            <a:ext cx="2217420" cy="1005840"/>
          </a:xfrm>
          <a:prstGeom prst="rect">
            <a:avLst/>
          </a:prstGeom>
          <a:solidFill>
            <a:schemeClr val="accent2"/>
          </a:solidFill>
          <a:ln/>
        </p:spPr>
      </p:sp>
      <p:sp>
        <p:nvSpPr>
          <p:cNvPr id="13" name="s17-chip-text-9"/>
          <p:cNvSpPr txBox="1"/>
          <p:nvPr/>
        </p:nvSpPr>
        <p:spPr>
          <a:xfrm>
            <a:off x="640080" y="3209544"/>
            <a:ext cx="2217420" cy="1005840"/>
          </a:xfrm>
          <a:prstGeom prst="rect">
            <a:avLst/>
          </a:prstGeom>
          <a:noFill/>
          <a:ln/>
        </p:spPr>
        <p:txBody>
          <a:bodyPr wrap="square" lIns="50800" tIns="50800" rIns="50800" bIns="50800" rtlCol="0" anchor="ctr"/>
          <a:lstStyle/>
          <a:p>
            <a:pPr algn="ctr" indent="0" marL="0">
              <a:buNone/>
            </a:pPr>
            <a:r>
              <a:rPr lang="en-US" sz="1200" dirty="0">
                <a:solidFill>
                  <a:schemeClr val="tx1"/>
                </a:solidFill>
              </a:rPr>
              <a:t>Trading ban</a:t>
            </a:r>
            <a:endParaRPr lang="en-US" sz="1200" dirty="0"/>
          </a:p>
          <a:p>
            <a:pPr algn="ctr" indent="0" marL="0">
              <a:buNone/>
            </a:pPr>
            <a:r>
              <a:rPr lang="en-US" sz="1200" b="1" dirty="0">
                <a:solidFill>
                  <a:schemeClr val="tx2"/>
                </a:solidFill>
              </a:rPr>
              <a:t>6 months</a:t>
            </a:r>
            <a:endParaRPr lang="en-US" sz="1200" dirty="0"/>
          </a:p>
        </p:txBody>
      </p:sp>
      <p:sp>
        <p:nvSpPr>
          <p:cNvPr id="14" name="s17-chip-10"/>
          <p:cNvSpPr/>
          <p:nvPr/>
        </p:nvSpPr>
        <p:spPr>
          <a:xfrm>
            <a:off x="2994660" y="3209544"/>
            <a:ext cx="2217420" cy="1005840"/>
          </a:xfrm>
          <a:prstGeom prst="rect">
            <a:avLst/>
          </a:prstGeom>
          <a:solidFill>
            <a:schemeClr val="accent2"/>
          </a:solidFill>
          <a:ln/>
        </p:spPr>
      </p:sp>
      <p:sp>
        <p:nvSpPr>
          <p:cNvPr id="15" name="s17-chip-text-11"/>
          <p:cNvSpPr txBox="1"/>
          <p:nvPr/>
        </p:nvSpPr>
        <p:spPr>
          <a:xfrm>
            <a:off x="2994660" y="3209544"/>
            <a:ext cx="2217420" cy="1005840"/>
          </a:xfrm>
          <a:prstGeom prst="rect">
            <a:avLst/>
          </a:prstGeom>
          <a:noFill/>
          <a:ln/>
        </p:spPr>
        <p:txBody>
          <a:bodyPr wrap="square" lIns="50800" tIns="50800" rIns="50800" bIns="50800" rtlCol="0" anchor="ctr"/>
          <a:lstStyle/>
          <a:p>
            <a:pPr algn="ctr" indent="0" marL="0">
              <a:buNone/>
            </a:pPr>
            <a:r>
              <a:rPr lang="en-US" sz="1200" dirty="0">
                <a:solidFill>
                  <a:schemeClr val="tx1"/>
                </a:solidFill>
              </a:rPr>
              <a:t>Director ban</a:t>
            </a:r>
            <a:endParaRPr lang="en-US" sz="1200" dirty="0"/>
          </a:p>
          <a:p>
            <a:pPr algn="ctr" indent="0" marL="0">
              <a:buNone/>
            </a:pPr>
            <a:r>
              <a:rPr lang="en-US" sz="1200" b="1" dirty="0">
                <a:solidFill>
                  <a:schemeClr val="tx2"/>
                </a:solidFill>
              </a:rPr>
              <a:t>12 months</a:t>
            </a:r>
            <a:endParaRPr lang="en-US" sz="1200" dirty="0"/>
          </a:p>
        </p:txBody>
      </p:sp>
      <p:sp>
        <p:nvSpPr>
          <p:cNvPr id="16" name="s17-text-12"/>
          <p:cNvSpPr txBox="1"/>
          <p:nvPr/>
        </p:nvSpPr>
        <p:spPr>
          <a:xfrm>
            <a:off x="5486400" y="2569464"/>
            <a:ext cx="1218895" cy="274320"/>
          </a:xfrm>
          <a:prstGeom prst="rect">
            <a:avLst/>
          </a:prstGeom>
          <a:noFill/>
          <a:ln/>
        </p:spPr>
        <p:txBody>
          <a:bodyPr wrap="square" lIns="0" tIns="0" rIns="0" bIns="0" rtlCol="0" anchor="t"/>
          <a:lstStyle/>
          <a:p>
            <a:pPr algn="ctr" indent="0" marL="0">
              <a:buNone/>
            </a:pPr>
            <a:r>
              <a:rPr lang="en-US" sz="1300" b="1" dirty="0">
                <a:solidFill>
                  <a:schemeClr val="accent4"/>
                </a:solidFill>
              </a:rPr>
              <a:t>Refused</a:t>
            </a:r>
            <a:endParaRPr lang="en-US" sz="1300" dirty="0"/>
          </a:p>
        </p:txBody>
      </p:sp>
      <p:sp>
        <p:nvSpPr>
          <p:cNvPr id="17" name="s17-arrow-13"/>
          <p:cNvSpPr/>
          <p:nvPr/>
        </p:nvSpPr>
        <p:spPr>
          <a:xfrm>
            <a:off x="5669280" y="2907792"/>
            <a:ext cx="853135" cy="457200"/>
          </a:xfrm>
          <a:prstGeom prst="rightArrow">
            <a:avLst/>
          </a:prstGeom>
          <a:solidFill>
            <a:schemeClr val="accent4"/>
          </a:solidFill>
          <a:ln/>
        </p:spPr>
      </p:sp>
      <p:sp>
        <p:nvSpPr>
          <p:cNvPr id="18" name="s17-text-14"/>
          <p:cNvSpPr txBox="1"/>
          <p:nvPr/>
        </p:nvSpPr>
        <p:spPr>
          <a:xfrm>
            <a:off x="5486400" y="3438144"/>
            <a:ext cx="1218895" cy="274320"/>
          </a:xfrm>
          <a:prstGeom prst="rect">
            <a:avLst/>
          </a:prstGeom>
          <a:noFill/>
          <a:ln/>
        </p:spPr>
        <p:txBody>
          <a:bodyPr wrap="square" lIns="0" tIns="0" rIns="0" bIns="0" rtlCol="0" anchor="t"/>
          <a:lstStyle/>
          <a:p>
            <a:pPr algn="ctr" indent="0" marL="0">
              <a:buNone/>
            </a:pPr>
            <a:r>
              <a:rPr lang="en-US" sz="1200" b="1" dirty="0">
                <a:solidFill>
                  <a:schemeClr val="accent4"/>
                </a:solidFill>
              </a:rPr>
              <a:t>s.317/8</a:t>
            </a:r>
            <a:endParaRPr lang="en-US" sz="1200" dirty="0"/>
          </a:p>
        </p:txBody>
      </p:sp>
      <p:sp>
        <p:nvSpPr>
          <p:cNvPr id="19" name="s17-box-15"/>
          <p:cNvSpPr/>
          <p:nvPr/>
        </p:nvSpPr>
        <p:spPr>
          <a:xfrm>
            <a:off x="6705295" y="1792224"/>
            <a:ext cx="5120640" cy="2697480"/>
          </a:xfrm>
          <a:prstGeom prst="rect">
            <a:avLst/>
          </a:prstGeom>
          <a:solidFill>
            <a:srgbClr val="FFF3DC"/>
          </a:solidFill>
          <a:ln w="12700">
            <a:solidFill>
              <a:schemeClr val="accent4"/>
            </a:solidFill>
            <a:prstDash val="solid"/>
          </a:ln>
        </p:spPr>
      </p:sp>
      <p:sp>
        <p:nvSpPr>
          <p:cNvPr id="20" name="s17-text-16"/>
          <p:cNvSpPr txBox="1"/>
          <p:nvPr/>
        </p:nvSpPr>
        <p:spPr>
          <a:xfrm>
            <a:off x="6979615" y="1975104"/>
            <a:ext cx="4572000" cy="594360"/>
          </a:xfrm>
          <a:prstGeom prst="rect">
            <a:avLst/>
          </a:prstGeom>
          <a:noFill/>
          <a:ln/>
        </p:spPr>
        <p:txBody>
          <a:bodyPr wrap="square" lIns="0" tIns="0" rIns="0" bIns="0" rtlCol="0" anchor="ctr"/>
          <a:lstStyle/>
          <a:p>
            <a:pPr indent="0" marL="0">
              <a:buNone/>
            </a:pPr>
            <a:r>
              <a:rPr lang="en-US" sz="2800" b="1" dirty="0">
                <a:solidFill>
                  <a:schemeClr val="tx2"/>
                </a:solidFill>
              </a:rPr>
              <a:t>THB 43,018,879.32</a:t>
            </a:r>
            <a:endParaRPr lang="en-US" sz="2800" dirty="0"/>
          </a:p>
        </p:txBody>
      </p:sp>
      <p:sp>
        <p:nvSpPr>
          <p:cNvPr id="21" name="s17-text-17"/>
          <p:cNvSpPr txBox="1"/>
          <p:nvPr/>
        </p:nvSpPr>
        <p:spPr>
          <a:xfrm>
            <a:off x="6979615" y="2615184"/>
            <a:ext cx="4572000" cy="292608"/>
          </a:xfrm>
          <a:prstGeom prst="rect">
            <a:avLst/>
          </a:prstGeom>
          <a:noFill/>
          <a:ln/>
        </p:spPr>
        <p:txBody>
          <a:bodyPr wrap="square" lIns="0" tIns="0" rIns="0" bIns="0" rtlCol="0" anchor="t"/>
          <a:lstStyle/>
          <a:p>
            <a:pPr indent="0" marL="0">
              <a:buNone/>
            </a:pPr>
            <a:r>
              <a:rPr lang="en-US" sz="1200" dirty="0">
                <a:solidFill>
                  <a:schemeClr val="tx1"/>
                </a:solidFill>
              </a:rPr>
              <a:t>+ interest from the filing date</a:t>
            </a:r>
            <a:endParaRPr lang="en-US" sz="1200" dirty="0"/>
          </a:p>
        </p:txBody>
      </p:sp>
      <p:sp>
        <p:nvSpPr>
          <p:cNvPr id="22" name="s17-chip-18"/>
          <p:cNvSpPr/>
          <p:nvPr/>
        </p:nvSpPr>
        <p:spPr>
          <a:xfrm>
            <a:off x="6979615" y="3209544"/>
            <a:ext cx="2217420" cy="1005840"/>
          </a:xfrm>
          <a:prstGeom prst="rect">
            <a:avLst/>
          </a:prstGeom>
          <a:solidFill>
            <a:schemeClr val="bg1"/>
          </a:solidFill>
          <a:ln w="12700">
            <a:solidFill>
              <a:schemeClr val="accent4"/>
            </a:solidFill>
            <a:prstDash val="solid"/>
          </a:ln>
        </p:spPr>
      </p:sp>
      <p:sp>
        <p:nvSpPr>
          <p:cNvPr id="23" name="s17-chip-text-19"/>
          <p:cNvSpPr txBox="1"/>
          <p:nvPr/>
        </p:nvSpPr>
        <p:spPr>
          <a:xfrm>
            <a:off x="6979615" y="3209544"/>
            <a:ext cx="2217420" cy="1005840"/>
          </a:xfrm>
          <a:prstGeom prst="rect">
            <a:avLst/>
          </a:prstGeom>
          <a:noFill/>
          <a:ln/>
        </p:spPr>
        <p:txBody>
          <a:bodyPr wrap="square" lIns="50800" tIns="50800" rIns="50800" bIns="50800" rtlCol="0" anchor="ctr"/>
          <a:lstStyle/>
          <a:p>
            <a:pPr algn="ctr" indent="0" marL="0">
              <a:buNone/>
            </a:pPr>
            <a:r>
              <a:rPr lang="en-US" sz="1200" dirty="0">
                <a:solidFill>
                  <a:schemeClr val="tx1"/>
                </a:solidFill>
              </a:rPr>
              <a:t>Trading ban</a:t>
            </a:r>
            <a:endParaRPr lang="en-US" sz="1200" dirty="0"/>
          </a:p>
          <a:p>
            <a:pPr algn="ctr" indent="0" marL="0">
              <a:buNone/>
            </a:pPr>
            <a:r>
              <a:rPr lang="en-US" sz="1200" b="1" dirty="0">
                <a:solidFill>
                  <a:schemeClr val="tx2"/>
                </a:solidFill>
              </a:rPr>
              <a:t>Legal maximum (≤ 5 yrs)</a:t>
            </a:r>
            <a:endParaRPr lang="en-US" sz="1200" dirty="0"/>
          </a:p>
        </p:txBody>
      </p:sp>
      <p:sp>
        <p:nvSpPr>
          <p:cNvPr id="24" name="s17-chip-20"/>
          <p:cNvSpPr/>
          <p:nvPr/>
        </p:nvSpPr>
        <p:spPr>
          <a:xfrm>
            <a:off x="9334195" y="3209544"/>
            <a:ext cx="2217420" cy="1005840"/>
          </a:xfrm>
          <a:prstGeom prst="rect">
            <a:avLst/>
          </a:prstGeom>
          <a:solidFill>
            <a:schemeClr val="bg1"/>
          </a:solidFill>
          <a:ln w="12700">
            <a:solidFill>
              <a:schemeClr val="accent4"/>
            </a:solidFill>
            <a:prstDash val="solid"/>
          </a:ln>
        </p:spPr>
      </p:sp>
      <p:sp>
        <p:nvSpPr>
          <p:cNvPr id="25" name="s17-chip-text-21"/>
          <p:cNvSpPr txBox="1"/>
          <p:nvPr/>
        </p:nvSpPr>
        <p:spPr>
          <a:xfrm>
            <a:off x="9334195" y="3209544"/>
            <a:ext cx="2217420" cy="1005840"/>
          </a:xfrm>
          <a:prstGeom prst="rect">
            <a:avLst/>
          </a:prstGeom>
          <a:noFill/>
          <a:ln/>
        </p:spPr>
        <p:txBody>
          <a:bodyPr wrap="square" lIns="50800" tIns="50800" rIns="50800" bIns="50800" rtlCol="0" anchor="ctr"/>
          <a:lstStyle/>
          <a:p>
            <a:pPr algn="ctr" indent="0" marL="0">
              <a:buNone/>
            </a:pPr>
            <a:r>
              <a:rPr lang="en-US" sz="1200" dirty="0">
                <a:solidFill>
                  <a:schemeClr val="tx1"/>
                </a:solidFill>
              </a:rPr>
              <a:t>Director ban</a:t>
            </a:r>
            <a:endParaRPr lang="en-US" sz="1200" dirty="0"/>
          </a:p>
          <a:p>
            <a:pPr algn="ctr" indent="0" marL="0">
              <a:buNone/>
            </a:pPr>
            <a:r>
              <a:rPr lang="en-US" sz="1200" b="1" dirty="0">
                <a:solidFill>
                  <a:schemeClr val="tx2"/>
                </a:solidFill>
              </a:rPr>
              <a:t>Legal maximum (≤ 10 yrs)</a:t>
            </a:r>
            <a:endParaRPr lang="en-US" sz="1200" dirty="0"/>
          </a:p>
        </p:txBody>
      </p:sp>
      <p:sp>
        <p:nvSpPr>
          <p:cNvPr id="26" name="s17-box-22"/>
          <p:cNvSpPr/>
          <p:nvPr/>
        </p:nvSpPr>
        <p:spPr>
          <a:xfrm>
            <a:off x="365760" y="4626864"/>
            <a:ext cx="3728618" cy="1499616"/>
          </a:xfrm>
          <a:prstGeom prst="rect">
            <a:avLst/>
          </a:prstGeom>
          <a:solidFill>
            <a:schemeClr val="bg2"/>
          </a:solidFill>
          <a:ln/>
        </p:spPr>
      </p:sp>
      <p:sp>
        <p:nvSpPr>
          <p:cNvPr id="27" name="s17-text-23"/>
          <p:cNvSpPr txBox="1"/>
          <p:nvPr/>
        </p:nvSpPr>
        <p:spPr>
          <a:xfrm>
            <a:off x="594360" y="4626864"/>
            <a:ext cx="3271418" cy="1499616"/>
          </a:xfrm>
          <a:prstGeom prst="rect">
            <a:avLst/>
          </a:prstGeom>
          <a:noFill/>
          <a:ln/>
        </p:spPr>
        <p:txBody>
          <a:bodyPr wrap="square" lIns="0" tIns="0" rIns="0" bIns="0" rtlCol="0" anchor="ctr"/>
          <a:lstStyle/>
          <a:p>
            <a:pPr indent="0" marL="0">
              <a:spcAft>
                <a:spcPts val="200"/>
              </a:spcAft>
              <a:buNone/>
            </a:pPr>
            <a:r>
              <a:rPr lang="en-US" sz="2400" b="1" dirty="0">
                <a:solidFill>
                  <a:schemeClr val="tx2"/>
                </a:solidFill>
              </a:rPr>
              <a:t>+33%</a:t>
            </a:r>
            <a:endParaRPr lang="en-US" sz="1200" dirty="0"/>
          </a:p>
          <a:p>
            <a:pPr indent="0" marL="0">
              <a:spcAft>
                <a:spcPts val="200"/>
              </a:spcAft>
              <a:buNone/>
            </a:pPr>
            <a:r>
              <a:rPr lang="en-US" sz="1200" dirty="0">
                <a:solidFill>
                  <a:schemeClr val="tx1"/>
                </a:solidFill>
              </a:rPr>
              <a:t>THB 10.69M more than the CSC amount</a:t>
            </a:r>
            <a:endParaRPr lang="en-US" sz="1200" dirty="0"/>
          </a:p>
        </p:txBody>
      </p:sp>
      <p:sp>
        <p:nvSpPr>
          <p:cNvPr id="28" name="s17-box-24"/>
          <p:cNvSpPr/>
          <p:nvPr/>
        </p:nvSpPr>
        <p:spPr>
          <a:xfrm>
            <a:off x="4231538" y="4626864"/>
            <a:ext cx="3728618" cy="1499616"/>
          </a:xfrm>
          <a:prstGeom prst="rect">
            <a:avLst/>
          </a:prstGeom>
          <a:solidFill>
            <a:schemeClr val="bg2"/>
          </a:solidFill>
          <a:ln/>
        </p:spPr>
      </p:sp>
      <p:sp>
        <p:nvSpPr>
          <p:cNvPr id="29" name="s17-text-25"/>
          <p:cNvSpPr txBox="1"/>
          <p:nvPr/>
        </p:nvSpPr>
        <p:spPr>
          <a:xfrm>
            <a:off x="4460138" y="4626864"/>
            <a:ext cx="3271418" cy="1499616"/>
          </a:xfrm>
          <a:prstGeom prst="rect">
            <a:avLst/>
          </a:prstGeom>
          <a:noFill/>
          <a:ln/>
        </p:spPr>
        <p:txBody>
          <a:bodyPr wrap="square" lIns="0" tIns="0" rIns="0" bIns="0" rtlCol="0" anchor="ctr"/>
          <a:lstStyle/>
          <a:p>
            <a:pPr indent="0" marL="0">
              <a:spcAft>
                <a:spcPts val="200"/>
              </a:spcAft>
              <a:buNone/>
            </a:pPr>
            <a:r>
              <a:rPr lang="en-US" sz="2400" b="1" dirty="0">
                <a:solidFill>
                  <a:schemeClr val="tx2"/>
                </a:solidFill>
              </a:rPr>
              <a:t>Full payment</a:t>
            </a:r>
            <a:endParaRPr lang="en-US" sz="1200" dirty="0"/>
          </a:p>
          <a:p>
            <a:pPr indent="0" marL="0">
              <a:spcAft>
                <a:spcPts val="200"/>
              </a:spcAft>
              <a:buNone/>
            </a:pPr>
            <a:r>
              <a:rPr lang="en-US" sz="1200" dirty="0">
                <a:solidFill>
                  <a:schemeClr val="tx1"/>
                </a:solidFill>
              </a:rPr>
              <a:t>is the only way the criminal right ends (s.317/8)</a:t>
            </a:r>
            <a:endParaRPr lang="en-US" sz="1200" dirty="0"/>
          </a:p>
        </p:txBody>
      </p:sp>
      <p:sp>
        <p:nvSpPr>
          <p:cNvPr id="30" name="s17-box-26"/>
          <p:cNvSpPr/>
          <p:nvPr/>
        </p:nvSpPr>
        <p:spPr>
          <a:xfrm>
            <a:off x="8097317" y="4626864"/>
            <a:ext cx="3728618" cy="1499616"/>
          </a:xfrm>
          <a:prstGeom prst="rect">
            <a:avLst/>
          </a:prstGeom>
          <a:solidFill>
            <a:schemeClr val="bg2"/>
          </a:solidFill>
          <a:ln/>
        </p:spPr>
      </p:sp>
      <p:sp>
        <p:nvSpPr>
          <p:cNvPr id="31" name="s17-text-27"/>
          <p:cNvSpPr txBox="1"/>
          <p:nvPr/>
        </p:nvSpPr>
        <p:spPr>
          <a:xfrm>
            <a:off x="8325917" y="4626864"/>
            <a:ext cx="3271418" cy="1499616"/>
          </a:xfrm>
          <a:prstGeom prst="rect">
            <a:avLst/>
          </a:prstGeom>
          <a:noFill/>
          <a:ln/>
        </p:spPr>
        <p:txBody>
          <a:bodyPr wrap="square" lIns="0" tIns="0" rIns="0" bIns="0" rtlCol="0" anchor="ctr"/>
          <a:lstStyle/>
          <a:p>
            <a:pPr indent="0" marL="0">
              <a:spcAft>
                <a:spcPts val="200"/>
              </a:spcAft>
              <a:buNone/>
            </a:pPr>
            <a:r>
              <a:rPr lang="en-US" sz="2400" b="1" dirty="0">
                <a:solidFill>
                  <a:schemeClr val="tx2"/>
                </a:solidFill>
              </a:rPr>
              <a:t>Pending</a:t>
            </a:r>
            <a:endParaRPr lang="en-US" sz="1200" dirty="0"/>
          </a:p>
          <a:p>
            <a:pPr indent="0" marL="0">
              <a:spcAft>
                <a:spcPts val="200"/>
              </a:spcAft>
              <a:buNone/>
            </a:pPr>
            <a:r>
              <a:rPr lang="en-US" sz="1200" dirty="0">
                <a:solidFill>
                  <a:schemeClr val="tx1"/>
                </a:solidFill>
              </a:rPr>
              <a:t>No court judgment reported as of October 2026</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Penalties: A Pattern — The Parallel MSC Case</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Thansettakij (26 Mar 2026); Hoonsmart (24 Jan &amp; 11 May 2026)</a:t>
            </a:r>
            <a:endParaRPr lang="en-US" sz="1050" dirty="0"/>
          </a:p>
        </p:txBody>
      </p:sp>
      <p:graphicFrame>
        <p:nvGraphicFramePr>
          <p:cNvPr id="19" name="s18-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097280"/>
                <a:gridCol w="3474720"/>
                <a:gridCol w="2651760"/>
                <a:gridCol w="2834640"/>
                <a:gridCol w="1401775"/>
              </a:tblGrid>
              <a:tr h="384048">
                <a:tc>
                  <a:txBody>
                    <a:bodyPr/>
                    <a:lstStyle/>
                    <a:p>
                      <a:pPr algn="ctr" indent="0" marL="0">
                        <a:buNone/>
                      </a:pPr>
                      <a:r>
                        <a:rPr lang="en-US" sz="1200" b="1" dirty="0">
                          <a:solidFill>
                            <a:schemeClr val="bg1"/>
                          </a:solidFill>
                        </a:rPr>
                        <a:t>Case</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Company</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CSC amount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Civil Court claim</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Claim ÷ CSC</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566928">
                <a:tc>
                  <a:txBody>
                    <a:bodyPr/>
                    <a:lstStyle/>
                    <a:p>
                      <a:pPr algn="ctr" indent="0" marL="0">
                        <a:buNone/>
                      </a:pPr>
                      <a:r>
                        <a:rPr lang="en-US" sz="1200" b="1" dirty="0">
                          <a:solidFill>
                            <a:schemeClr val="tx2"/>
                          </a:solidFill>
                        </a:rPr>
                        <a:t>TSR</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Thiensurat PCL (now TSR Living Solution PCL)</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THB 32,327,329 (Jan 2026)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THB 43,018,879.32 (11 May 2026)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400" b="1" dirty="0">
                          <a:solidFill>
                            <a:schemeClr val="tx2"/>
                          </a:solidFill>
                        </a:rPr>
                        <a:t>1.33×</a:t>
                      </a:r>
                      <a:endParaRPr lang="en-US" sz="14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r>
              <a:tr h="566928">
                <a:tc>
                  <a:txBody>
                    <a:bodyPr/>
                    <a:lstStyle/>
                    <a:p>
                      <a:pPr algn="ctr" indent="0" marL="0">
                        <a:buNone/>
                      </a:pPr>
                      <a:r>
                        <a:rPr lang="en-US" sz="1200" b="1" dirty="0">
                          <a:solidFill>
                            <a:schemeClr val="tx2"/>
                          </a:solidFill>
                        </a:rPr>
                        <a:t>MSC</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Metro Systems Corporation PCL</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THB 249,848,464 (Dec 2025)</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THB 332,307,757.52 (26 Mar 2026)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400" b="1" dirty="0">
                          <a:solidFill>
                            <a:schemeClr val="tx2"/>
                          </a:solidFill>
                        </a:rPr>
                        <a:t>1.33×</a:t>
                      </a:r>
                      <a:endParaRPr lang="en-US" sz="14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r>
            </a:tbl>
          </a:graphicData>
        </a:graphic>
      </p:graphicFrame>
      <p:sp>
        <p:nvSpPr>
          <p:cNvPr id="6" name="s18-box-2"/>
          <p:cNvSpPr/>
          <p:nvPr/>
        </p:nvSpPr>
        <p:spPr>
          <a:xfrm>
            <a:off x="365760" y="3054096"/>
            <a:ext cx="3728618" cy="1920240"/>
          </a:xfrm>
          <a:prstGeom prst="rect">
            <a:avLst/>
          </a:prstGeom>
          <a:solidFill>
            <a:schemeClr val="bg2"/>
          </a:solidFill>
          <a:ln/>
        </p:spPr>
      </p:sp>
      <p:sp>
        <p:nvSpPr>
          <p:cNvPr id="7" name="s18-num-3"/>
          <p:cNvSpPr/>
          <p:nvPr/>
        </p:nvSpPr>
        <p:spPr>
          <a:xfrm>
            <a:off x="594360" y="3282696"/>
            <a:ext cx="502920" cy="502920"/>
          </a:xfrm>
          <a:prstGeom prst="ellipse">
            <a:avLst/>
          </a:prstGeom>
          <a:solidFill>
            <a:schemeClr val="tx2"/>
          </a:solidFill>
          <a:ln/>
        </p:spPr>
      </p:sp>
      <p:sp>
        <p:nvSpPr>
          <p:cNvPr id="8" name="s18-num-text-4"/>
          <p:cNvSpPr txBox="1"/>
          <p:nvPr/>
        </p:nvSpPr>
        <p:spPr>
          <a:xfrm>
            <a:off x="594360" y="3282696"/>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s18-text-5"/>
          <p:cNvSpPr txBox="1"/>
          <p:nvPr/>
        </p:nvSpPr>
        <p:spPr>
          <a:xfrm>
            <a:off x="1234440" y="3282696"/>
            <a:ext cx="2677058" cy="502920"/>
          </a:xfrm>
          <a:prstGeom prst="rect">
            <a:avLst/>
          </a:prstGeom>
          <a:noFill/>
          <a:ln/>
        </p:spPr>
        <p:txBody>
          <a:bodyPr wrap="square" lIns="0" tIns="0" rIns="0" bIns="0" rtlCol="0" anchor="ctr"/>
          <a:lstStyle/>
          <a:p>
            <a:pPr indent="0" marL="0">
              <a:buNone/>
            </a:pPr>
            <a:r>
              <a:rPr lang="en-US" sz="1300" b="1" dirty="0">
                <a:solidFill>
                  <a:schemeClr val="tx2"/>
                </a:solidFill>
              </a:rPr>
              <a:t>Same offender, same offence</a:t>
            </a:r>
            <a:endParaRPr lang="en-US" sz="1300" dirty="0"/>
          </a:p>
        </p:txBody>
      </p:sp>
      <p:sp>
        <p:nvSpPr>
          <p:cNvPr id="10" name="s18-text-6"/>
          <p:cNvSpPr txBox="1"/>
          <p:nvPr/>
        </p:nvSpPr>
        <p:spPr>
          <a:xfrm>
            <a:off x="594360" y="3968496"/>
            <a:ext cx="3271418" cy="822960"/>
          </a:xfrm>
          <a:prstGeom prst="rect">
            <a:avLst/>
          </a:prstGeom>
          <a:noFill/>
          <a:ln/>
        </p:spPr>
        <p:txBody>
          <a:bodyPr wrap="square" lIns="0" tIns="0" rIns="0" bIns="0" rtlCol="0" anchor="t"/>
          <a:lstStyle/>
          <a:p>
            <a:pPr indent="0" marL="0">
              <a:buNone/>
            </a:pPr>
            <a:r>
              <a:rPr lang="en-US" sz="1200" dirty="0">
                <a:solidFill>
                  <a:schemeClr val="tx1"/>
                </a:solidFill>
              </a:rPr>
              <a:t>Manipulating the price or volume of a listed stock</a:t>
            </a:r>
            <a:endParaRPr lang="en-US" sz="1200" dirty="0"/>
          </a:p>
        </p:txBody>
      </p:sp>
      <p:sp>
        <p:nvSpPr>
          <p:cNvPr id="11" name="s18-box-7"/>
          <p:cNvSpPr/>
          <p:nvPr/>
        </p:nvSpPr>
        <p:spPr>
          <a:xfrm>
            <a:off x="4231538" y="3054096"/>
            <a:ext cx="3728618" cy="1920240"/>
          </a:xfrm>
          <a:prstGeom prst="rect">
            <a:avLst/>
          </a:prstGeom>
          <a:solidFill>
            <a:schemeClr val="bg2"/>
          </a:solidFill>
          <a:ln/>
        </p:spPr>
      </p:sp>
      <p:sp>
        <p:nvSpPr>
          <p:cNvPr id="12" name="s18-num-8"/>
          <p:cNvSpPr/>
          <p:nvPr/>
        </p:nvSpPr>
        <p:spPr>
          <a:xfrm>
            <a:off x="4460138" y="3282696"/>
            <a:ext cx="502920" cy="502920"/>
          </a:xfrm>
          <a:prstGeom prst="ellipse">
            <a:avLst/>
          </a:prstGeom>
          <a:solidFill>
            <a:schemeClr val="tx2"/>
          </a:solidFill>
          <a:ln/>
        </p:spPr>
      </p:sp>
      <p:sp>
        <p:nvSpPr>
          <p:cNvPr id="13" name="s18-num-text-9"/>
          <p:cNvSpPr txBox="1"/>
          <p:nvPr/>
        </p:nvSpPr>
        <p:spPr>
          <a:xfrm>
            <a:off x="4460138" y="3282696"/>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4" name="s18-text-10"/>
          <p:cNvSpPr txBox="1"/>
          <p:nvPr/>
        </p:nvSpPr>
        <p:spPr>
          <a:xfrm>
            <a:off x="5100218" y="3282696"/>
            <a:ext cx="2677058" cy="502920"/>
          </a:xfrm>
          <a:prstGeom prst="rect">
            <a:avLst/>
          </a:prstGeom>
          <a:noFill/>
          <a:ln/>
        </p:spPr>
        <p:txBody>
          <a:bodyPr wrap="square" lIns="0" tIns="0" rIns="0" bIns="0" rtlCol="0" anchor="ctr"/>
          <a:lstStyle/>
          <a:p>
            <a:pPr indent="0" marL="0">
              <a:buNone/>
            </a:pPr>
            <a:r>
              <a:rPr lang="en-US" sz="1300" b="1" dirty="0">
                <a:solidFill>
                  <a:schemeClr val="tx2"/>
                </a:solidFill>
              </a:rPr>
              <a:t>Same choice</a:t>
            </a:r>
            <a:endParaRPr lang="en-US" sz="1300" dirty="0"/>
          </a:p>
        </p:txBody>
      </p:sp>
      <p:sp>
        <p:nvSpPr>
          <p:cNvPr id="15" name="s18-text-11"/>
          <p:cNvSpPr txBox="1"/>
          <p:nvPr/>
        </p:nvSpPr>
        <p:spPr>
          <a:xfrm>
            <a:off x="4460138" y="3968496"/>
            <a:ext cx="3271418" cy="822960"/>
          </a:xfrm>
          <a:prstGeom prst="rect">
            <a:avLst/>
          </a:prstGeom>
          <a:noFill/>
          <a:ln/>
        </p:spPr>
        <p:txBody>
          <a:bodyPr wrap="square" lIns="0" tIns="0" rIns="0" bIns="0" rtlCol="0" anchor="t"/>
          <a:lstStyle/>
          <a:p>
            <a:pPr indent="0" marL="0">
              <a:buNone/>
            </a:pPr>
            <a:r>
              <a:rPr lang="en-US" sz="1200" dirty="0">
                <a:solidFill>
                  <a:schemeClr val="tx1"/>
                </a:solidFill>
              </a:rPr>
              <a:t>Her co-offender consented; she refused, as in TSR</a:t>
            </a:r>
            <a:endParaRPr lang="en-US" sz="1200" dirty="0"/>
          </a:p>
        </p:txBody>
      </p:sp>
      <p:sp>
        <p:nvSpPr>
          <p:cNvPr id="16" name="s18-box-12"/>
          <p:cNvSpPr/>
          <p:nvPr/>
        </p:nvSpPr>
        <p:spPr>
          <a:xfrm>
            <a:off x="8097317" y="3054096"/>
            <a:ext cx="3728618" cy="1920240"/>
          </a:xfrm>
          <a:prstGeom prst="rect">
            <a:avLst/>
          </a:prstGeom>
          <a:solidFill>
            <a:schemeClr val="bg2"/>
          </a:solidFill>
          <a:ln/>
        </p:spPr>
      </p:sp>
      <p:sp>
        <p:nvSpPr>
          <p:cNvPr id="17" name="s18-num-13"/>
          <p:cNvSpPr/>
          <p:nvPr/>
        </p:nvSpPr>
        <p:spPr>
          <a:xfrm>
            <a:off x="8325917" y="3282696"/>
            <a:ext cx="502920" cy="502920"/>
          </a:xfrm>
          <a:prstGeom prst="ellipse">
            <a:avLst/>
          </a:prstGeom>
          <a:solidFill>
            <a:schemeClr val="tx2"/>
          </a:solidFill>
          <a:ln/>
        </p:spPr>
      </p:sp>
      <p:sp>
        <p:nvSpPr>
          <p:cNvPr id="18" name="s18-num-text-14"/>
          <p:cNvSpPr txBox="1"/>
          <p:nvPr/>
        </p:nvSpPr>
        <p:spPr>
          <a:xfrm>
            <a:off x="8325917" y="3282696"/>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9" name="s18-text-15"/>
          <p:cNvSpPr txBox="1"/>
          <p:nvPr/>
        </p:nvSpPr>
        <p:spPr>
          <a:xfrm>
            <a:off x="8965997" y="3282696"/>
            <a:ext cx="2677058" cy="502920"/>
          </a:xfrm>
          <a:prstGeom prst="rect">
            <a:avLst/>
          </a:prstGeom>
          <a:noFill/>
          <a:ln/>
        </p:spPr>
        <p:txBody>
          <a:bodyPr wrap="square" lIns="0" tIns="0" rIns="0" bIns="0" rtlCol="0" anchor="ctr"/>
          <a:lstStyle/>
          <a:p>
            <a:pPr indent="0" marL="0">
              <a:buNone/>
            </a:pPr>
            <a:r>
              <a:rPr lang="en-US" sz="1300" b="1" dirty="0">
                <a:solidFill>
                  <a:schemeClr val="tx2"/>
                </a:solidFill>
              </a:rPr>
              <a:t>Same multiplier</a:t>
            </a:r>
            <a:endParaRPr lang="en-US" sz="1300" dirty="0"/>
          </a:p>
        </p:txBody>
      </p:sp>
      <p:sp>
        <p:nvSpPr>
          <p:cNvPr id="20" name="s18-text-16"/>
          <p:cNvSpPr txBox="1"/>
          <p:nvPr/>
        </p:nvSpPr>
        <p:spPr>
          <a:xfrm>
            <a:off x="8325917" y="3968496"/>
            <a:ext cx="3271418" cy="822960"/>
          </a:xfrm>
          <a:prstGeom prst="rect">
            <a:avLst/>
          </a:prstGeom>
          <a:noFill/>
          <a:ln/>
        </p:spPr>
        <p:txBody>
          <a:bodyPr wrap="square" lIns="0" tIns="0" rIns="0" bIns="0" rtlCol="0" anchor="t"/>
          <a:lstStyle/>
          <a:p>
            <a:pPr indent="0" marL="0">
              <a:buNone/>
            </a:pPr>
            <a:r>
              <a:rPr lang="en-US" sz="1200" dirty="0">
                <a:solidFill>
                  <a:schemeClr val="tx1"/>
                </a:solidFill>
              </a:rPr>
              <a:t>Both court claims are about 1.33× the CSC amount</a:t>
            </a:r>
            <a:endParaRPr lang="en-US" sz="1200" dirty="0"/>
          </a:p>
        </p:txBody>
      </p:sp>
      <p:sp>
        <p:nvSpPr>
          <p:cNvPr id="21" name="s18-box-17"/>
          <p:cNvSpPr/>
          <p:nvPr/>
        </p:nvSpPr>
        <p:spPr>
          <a:xfrm>
            <a:off x="365760" y="5111496"/>
            <a:ext cx="11460175" cy="1014984"/>
          </a:xfrm>
          <a:prstGeom prst="rect">
            <a:avLst/>
          </a:prstGeom>
          <a:solidFill>
            <a:srgbClr val="FFF3DC"/>
          </a:solidFill>
          <a:ln w="12700">
            <a:solidFill>
              <a:schemeClr val="accent4"/>
            </a:solidFill>
            <a:prstDash val="solid"/>
          </a:ln>
        </p:spPr>
      </p:sp>
      <p:sp>
        <p:nvSpPr>
          <p:cNvPr id="22" name="s18-text-18"/>
          <p:cNvSpPr txBox="1"/>
          <p:nvPr/>
        </p:nvSpPr>
        <p:spPr>
          <a:xfrm>
            <a:off x="594360" y="5111496"/>
            <a:ext cx="11002975" cy="1014984"/>
          </a:xfrm>
          <a:prstGeom prst="rect">
            <a:avLst/>
          </a:prstGeom>
          <a:noFill/>
          <a:ln/>
        </p:spPr>
        <p:txBody>
          <a:bodyPr wrap="square" lIns="0" tIns="0" rIns="0" bIns="0" rtlCol="0" anchor="ctr"/>
          <a:lstStyle/>
          <a:p>
            <a:pPr indent="0" marL="0">
              <a:buNone/>
            </a:pPr>
            <a:r>
              <a:rPr lang="en-US" sz="1200" b="1" dirty="0">
                <a:solidFill>
                  <a:schemeClr val="accent4"/>
                </a:solidFill>
              </a:rPr>
              <a:t>What the pattern shows: </a:t>
            </a:r>
            <a:pPr indent="0" marL="0">
              <a:buNone/>
            </a:pPr>
            <a:r>
              <a:rPr lang="en-US" sz="1200" dirty="0">
                <a:solidFill>
                  <a:schemeClr val="tx1"/>
                </a:solidFill>
              </a:rPr>
              <a:t>in both cases, refusing the CSC sanction led to a court claim about one-third higher, plus interest and the maximum bans requested.</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Conclusion: Key Takeaways</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Group 3 analysis · Securities and Exchange Act B.E. 2535 (1992), as amended</a:t>
            </a:r>
            <a:endParaRPr lang="en-US" sz="1050" dirty="0"/>
          </a:p>
        </p:txBody>
      </p:sp>
      <p:sp>
        <p:nvSpPr>
          <p:cNvPr id="5" name="s19-subbar-1"/>
          <p:cNvSpPr/>
          <p:nvPr/>
        </p:nvSpPr>
        <p:spPr>
          <a:xfrm>
            <a:off x="365760" y="1353312"/>
            <a:ext cx="5661508" cy="347472"/>
          </a:xfrm>
          <a:prstGeom prst="rect">
            <a:avLst/>
          </a:prstGeom>
          <a:solidFill>
            <a:schemeClr val="tx2"/>
          </a:solidFill>
          <a:ln/>
        </p:spPr>
      </p:sp>
      <p:sp>
        <p:nvSpPr>
          <p:cNvPr id="6" name="s19-subbar-text-2"/>
          <p:cNvSpPr txBox="1"/>
          <p:nvPr/>
        </p:nvSpPr>
        <p:spPr>
          <a:xfrm>
            <a:off x="365760" y="1353312"/>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01 · The Facts</a:t>
            </a:r>
            <a:endParaRPr lang="en-US" sz="1400" dirty="0"/>
          </a:p>
        </p:txBody>
      </p:sp>
      <p:sp>
        <p:nvSpPr>
          <p:cNvPr id="7" name="s19-box-3"/>
          <p:cNvSpPr/>
          <p:nvPr/>
        </p:nvSpPr>
        <p:spPr>
          <a:xfrm>
            <a:off x="365760" y="1773936"/>
            <a:ext cx="5661508" cy="2011680"/>
          </a:xfrm>
          <a:prstGeom prst="rect">
            <a:avLst/>
          </a:prstGeom>
          <a:solidFill>
            <a:schemeClr val="bg2"/>
          </a:solidFill>
          <a:ln/>
        </p:spPr>
      </p:sp>
      <p:sp>
        <p:nvSpPr>
          <p:cNvPr id="8" name="s19-text-4"/>
          <p:cNvSpPr txBox="1"/>
          <p:nvPr/>
        </p:nvSpPr>
        <p:spPr>
          <a:xfrm>
            <a:off x="594360" y="1911096"/>
            <a:ext cx="5204308" cy="1051560"/>
          </a:xfrm>
          <a:prstGeom prst="rect">
            <a:avLst/>
          </a:prstGeom>
          <a:noFill/>
          <a:ln/>
        </p:spPr>
        <p:txBody>
          <a:bodyPr wrap="square" lIns="0" tIns="0" rIns="0" bIns="0" rtlCol="0" anchor="ctr"/>
          <a:lstStyle/>
          <a:p>
            <a:pPr indent="0" marL="0">
              <a:buNone/>
            </a:pPr>
            <a:r>
              <a:rPr lang="en-US" sz="1200" dirty="0">
                <a:solidFill>
                  <a:schemeClr val="tx1"/>
                </a:solidFill>
              </a:rPr>
              <a:t>For 47 trading days, hitting offers and walling bids lifted TSR, to boost SABUY’s Q2/2022 fair-value gain and earn a spread.</a:t>
            </a:r>
            <a:endParaRPr lang="en-US" sz="1200" dirty="0"/>
          </a:p>
        </p:txBody>
      </p:sp>
      <p:sp>
        <p:nvSpPr>
          <p:cNvPr id="9" name="s19-chip-5"/>
          <p:cNvSpPr/>
          <p:nvPr/>
        </p:nvSpPr>
        <p:spPr>
          <a:xfrm>
            <a:off x="594360" y="3008376"/>
            <a:ext cx="5204308" cy="640080"/>
          </a:xfrm>
          <a:prstGeom prst="rect">
            <a:avLst/>
          </a:prstGeom>
          <a:solidFill>
            <a:schemeClr val="accent2"/>
          </a:solidFill>
          <a:ln/>
        </p:spPr>
      </p:sp>
      <p:sp>
        <p:nvSpPr>
          <p:cNvPr id="10" name="s19-chip-text-6"/>
          <p:cNvSpPr txBox="1"/>
          <p:nvPr/>
        </p:nvSpPr>
        <p:spPr>
          <a:xfrm>
            <a:off x="594360" y="3008376"/>
            <a:ext cx="5204308" cy="640080"/>
          </a:xfrm>
          <a:prstGeom prst="rect">
            <a:avLst/>
          </a:prstGeom>
          <a:noFill/>
          <a:ln/>
        </p:spPr>
        <p:txBody>
          <a:bodyPr wrap="square" lIns="50800" tIns="50800" rIns="50800" bIns="50800" rtlCol="0" anchor="ctr"/>
          <a:lstStyle/>
          <a:p>
            <a:pPr algn="ctr" indent="0" marL="0">
              <a:buNone/>
            </a:pPr>
            <a:r>
              <a:rPr lang="en-US" sz="1200" dirty="0">
                <a:solidFill>
                  <a:schemeClr val="tx1"/>
                </a:solidFill>
              </a:rPr>
              <a:t>Key figure</a:t>
            </a:r>
            <a:endParaRPr lang="en-US" sz="1200" dirty="0"/>
          </a:p>
          <a:p>
            <a:pPr algn="ctr" indent="0" marL="0">
              <a:buNone/>
            </a:pPr>
            <a:r>
              <a:rPr lang="en-US" sz="1200" b="1" dirty="0">
                <a:solidFill>
                  <a:schemeClr val="tx2"/>
                </a:solidFill>
              </a:rPr>
              <a:t>47 trading days (22 Jun – 31 Aug 2022)</a:t>
            </a:r>
            <a:endParaRPr lang="en-US" sz="1200" dirty="0"/>
          </a:p>
        </p:txBody>
      </p:sp>
      <p:sp>
        <p:nvSpPr>
          <p:cNvPr id="11" name="s19-subbar-7"/>
          <p:cNvSpPr/>
          <p:nvPr/>
        </p:nvSpPr>
        <p:spPr>
          <a:xfrm>
            <a:off x="6164428" y="1353312"/>
            <a:ext cx="5661508" cy="347472"/>
          </a:xfrm>
          <a:prstGeom prst="rect">
            <a:avLst/>
          </a:prstGeom>
          <a:solidFill>
            <a:schemeClr val="tx2"/>
          </a:solidFill>
          <a:ln/>
        </p:spPr>
      </p:sp>
      <p:sp>
        <p:nvSpPr>
          <p:cNvPr id="12" name="s19-subbar-text-8"/>
          <p:cNvSpPr txBox="1"/>
          <p:nvPr/>
        </p:nvSpPr>
        <p:spPr>
          <a:xfrm>
            <a:off x="6164428" y="1353312"/>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02 · The Law</a:t>
            </a:r>
            <a:endParaRPr lang="en-US" sz="1400" dirty="0"/>
          </a:p>
        </p:txBody>
      </p:sp>
      <p:sp>
        <p:nvSpPr>
          <p:cNvPr id="13" name="s19-box-9"/>
          <p:cNvSpPr/>
          <p:nvPr/>
        </p:nvSpPr>
        <p:spPr>
          <a:xfrm>
            <a:off x="6164428" y="1773936"/>
            <a:ext cx="5661508" cy="2011680"/>
          </a:xfrm>
          <a:prstGeom prst="rect">
            <a:avLst/>
          </a:prstGeom>
          <a:solidFill>
            <a:schemeClr val="bg2"/>
          </a:solidFill>
          <a:ln/>
        </p:spPr>
      </p:sp>
      <p:sp>
        <p:nvSpPr>
          <p:cNvPr id="14" name="s19-text-10"/>
          <p:cNvSpPr txBox="1"/>
          <p:nvPr/>
        </p:nvSpPr>
        <p:spPr>
          <a:xfrm>
            <a:off x="6393028" y="1911096"/>
            <a:ext cx="5204308" cy="1051560"/>
          </a:xfrm>
          <a:prstGeom prst="rect">
            <a:avLst/>
          </a:prstGeom>
          <a:noFill/>
          <a:ln/>
        </p:spPr>
        <p:txBody>
          <a:bodyPr wrap="square" lIns="0" tIns="0" rIns="0" bIns="0" rtlCol="0" anchor="ctr"/>
          <a:lstStyle/>
          <a:p>
            <a:pPr indent="0" marL="0">
              <a:buNone/>
            </a:pPr>
            <a:r>
              <a:rPr lang="en-US" sz="1200" dirty="0">
                <a:solidFill>
                  <a:schemeClr val="tx1"/>
                </a:solidFill>
              </a:rPr>
              <a:t>The conduct fits s.244/3(1) and (2); presumptions in s.244/5(4)(5) shift the burden; no s.244/4 exception applies.</a:t>
            </a:r>
            <a:endParaRPr lang="en-US" sz="1200" dirty="0"/>
          </a:p>
        </p:txBody>
      </p:sp>
      <p:sp>
        <p:nvSpPr>
          <p:cNvPr id="15" name="s19-chip-11"/>
          <p:cNvSpPr/>
          <p:nvPr/>
        </p:nvSpPr>
        <p:spPr>
          <a:xfrm>
            <a:off x="6393028" y="3008376"/>
            <a:ext cx="5204308" cy="640080"/>
          </a:xfrm>
          <a:prstGeom prst="rect">
            <a:avLst/>
          </a:prstGeom>
          <a:solidFill>
            <a:schemeClr val="accent2"/>
          </a:solidFill>
          <a:ln/>
        </p:spPr>
      </p:sp>
      <p:sp>
        <p:nvSpPr>
          <p:cNvPr id="16" name="s19-chip-text-12"/>
          <p:cNvSpPr txBox="1"/>
          <p:nvPr/>
        </p:nvSpPr>
        <p:spPr>
          <a:xfrm>
            <a:off x="6393028" y="3008376"/>
            <a:ext cx="5204308" cy="640080"/>
          </a:xfrm>
          <a:prstGeom prst="rect">
            <a:avLst/>
          </a:prstGeom>
          <a:noFill/>
          <a:ln/>
        </p:spPr>
        <p:txBody>
          <a:bodyPr wrap="square" lIns="50800" tIns="50800" rIns="50800" bIns="50800" rtlCol="0" anchor="ctr"/>
          <a:lstStyle/>
          <a:p>
            <a:pPr algn="ctr" indent="0" marL="0">
              <a:buNone/>
            </a:pPr>
            <a:r>
              <a:rPr lang="en-US" sz="1200" dirty="0">
                <a:solidFill>
                  <a:schemeClr val="tx1"/>
                </a:solidFill>
              </a:rPr>
              <a:t>Key sections</a:t>
            </a:r>
            <a:endParaRPr lang="en-US" sz="1200" dirty="0"/>
          </a:p>
          <a:p>
            <a:pPr algn="ctr" indent="0" marL="0">
              <a:buNone/>
            </a:pPr>
            <a:r>
              <a:rPr lang="en-US" sz="1200" b="1" dirty="0">
                <a:solidFill>
                  <a:schemeClr val="tx2"/>
                </a:solidFill>
              </a:rPr>
              <a:t>s.244/3 (1)(2) · s.244/5 (4)(5)</a:t>
            </a:r>
            <a:endParaRPr lang="en-US" sz="1200" dirty="0"/>
          </a:p>
        </p:txBody>
      </p:sp>
      <p:sp>
        <p:nvSpPr>
          <p:cNvPr id="17" name="s19-subbar-13"/>
          <p:cNvSpPr/>
          <p:nvPr/>
        </p:nvSpPr>
        <p:spPr>
          <a:xfrm>
            <a:off x="365760" y="3922776"/>
            <a:ext cx="5661508" cy="347472"/>
          </a:xfrm>
          <a:prstGeom prst="rect">
            <a:avLst/>
          </a:prstGeom>
          <a:solidFill>
            <a:schemeClr val="tx2"/>
          </a:solidFill>
          <a:ln/>
        </p:spPr>
      </p:sp>
      <p:sp>
        <p:nvSpPr>
          <p:cNvPr id="18" name="s19-subbar-text-14"/>
          <p:cNvSpPr txBox="1"/>
          <p:nvPr/>
        </p:nvSpPr>
        <p:spPr>
          <a:xfrm>
            <a:off x="365760" y="3922776"/>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03 · The Penalties</a:t>
            </a:r>
            <a:endParaRPr lang="en-US" sz="1400" dirty="0"/>
          </a:p>
        </p:txBody>
      </p:sp>
      <p:sp>
        <p:nvSpPr>
          <p:cNvPr id="19" name="s19-box-15"/>
          <p:cNvSpPr/>
          <p:nvPr/>
        </p:nvSpPr>
        <p:spPr>
          <a:xfrm>
            <a:off x="365760" y="4343400"/>
            <a:ext cx="5661508" cy="2011680"/>
          </a:xfrm>
          <a:prstGeom prst="rect">
            <a:avLst/>
          </a:prstGeom>
          <a:solidFill>
            <a:schemeClr val="bg2"/>
          </a:solidFill>
          <a:ln/>
        </p:spPr>
      </p:sp>
      <p:sp>
        <p:nvSpPr>
          <p:cNvPr id="20" name="s19-text-16"/>
          <p:cNvSpPr txBox="1"/>
          <p:nvPr/>
        </p:nvSpPr>
        <p:spPr>
          <a:xfrm>
            <a:off x="594360" y="4480560"/>
            <a:ext cx="5204308" cy="1051560"/>
          </a:xfrm>
          <a:prstGeom prst="rect">
            <a:avLst/>
          </a:prstGeom>
          <a:noFill/>
          <a:ln/>
        </p:spPr>
        <p:txBody>
          <a:bodyPr wrap="square" lIns="0" tIns="0" rIns="0" bIns="0" rtlCol="0" anchor="ctr"/>
          <a:lstStyle/>
          <a:p>
            <a:pPr indent="0" marL="0">
              <a:buNone/>
            </a:pPr>
            <a:r>
              <a:rPr lang="en-US" sz="1200" dirty="0">
                <a:solidFill>
                  <a:schemeClr val="tx1"/>
                </a:solidFill>
              </a:rPr>
              <a:t>Criminal exposure of up to 5 years’ prison and fines up to 2× the benefit; the SEC chose the civil route (s.317/1–317/8).</a:t>
            </a:r>
            <a:endParaRPr lang="en-US" sz="1200" dirty="0"/>
          </a:p>
        </p:txBody>
      </p:sp>
      <p:sp>
        <p:nvSpPr>
          <p:cNvPr id="21" name="s19-chip-17"/>
          <p:cNvSpPr/>
          <p:nvPr/>
        </p:nvSpPr>
        <p:spPr>
          <a:xfrm>
            <a:off x="594360" y="5577840"/>
            <a:ext cx="5204308" cy="640080"/>
          </a:xfrm>
          <a:prstGeom prst="rect">
            <a:avLst/>
          </a:prstGeom>
          <a:solidFill>
            <a:schemeClr val="accent2"/>
          </a:solidFill>
          <a:ln/>
        </p:spPr>
      </p:sp>
      <p:sp>
        <p:nvSpPr>
          <p:cNvPr id="22" name="s19-chip-text-18"/>
          <p:cNvSpPr txBox="1"/>
          <p:nvPr/>
        </p:nvSpPr>
        <p:spPr>
          <a:xfrm>
            <a:off x="594360" y="5577840"/>
            <a:ext cx="5204308" cy="640080"/>
          </a:xfrm>
          <a:prstGeom prst="rect">
            <a:avLst/>
          </a:prstGeom>
          <a:noFill/>
          <a:ln/>
        </p:spPr>
        <p:txBody>
          <a:bodyPr wrap="square" lIns="50800" tIns="50800" rIns="50800" bIns="50800" rtlCol="0" anchor="ctr"/>
          <a:lstStyle/>
          <a:p>
            <a:pPr algn="ctr" indent="0" marL="0">
              <a:buNone/>
            </a:pPr>
            <a:r>
              <a:rPr lang="en-US" sz="1200" dirty="0">
                <a:solidFill>
                  <a:schemeClr val="tx1"/>
                </a:solidFill>
              </a:rPr>
              <a:t>Key sections</a:t>
            </a:r>
            <a:endParaRPr lang="en-US" sz="1200" dirty="0"/>
          </a:p>
          <a:p>
            <a:pPr algn="ctr" indent="0" marL="0">
              <a:buNone/>
            </a:pPr>
            <a:r>
              <a:rPr lang="en-US" sz="1200" b="1" dirty="0">
                <a:solidFill>
                  <a:schemeClr val="tx2"/>
                </a:solidFill>
              </a:rPr>
              <a:t>s.296–296/2 · s.317/1–317/8</a:t>
            </a:r>
            <a:endParaRPr lang="en-US" sz="1200" dirty="0"/>
          </a:p>
        </p:txBody>
      </p:sp>
      <p:sp>
        <p:nvSpPr>
          <p:cNvPr id="23" name="s19-subbar-19"/>
          <p:cNvSpPr/>
          <p:nvPr/>
        </p:nvSpPr>
        <p:spPr>
          <a:xfrm>
            <a:off x="6164428" y="3922776"/>
            <a:ext cx="5661508" cy="347472"/>
          </a:xfrm>
          <a:prstGeom prst="rect">
            <a:avLst/>
          </a:prstGeom>
          <a:solidFill>
            <a:schemeClr val="tx2"/>
          </a:solidFill>
          <a:ln/>
        </p:spPr>
      </p:sp>
      <p:sp>
        <p:nvSpPr>
          <p:cNvPr id="24" name="s19-subbar-text-20"/>
          <p:cNvSpPr txBox="1"/>
          <p:nvPr/>
        </p:nvSpPr>
        <p:spPr>
          <a:xfrm>
            <a:off x="6164428" y="3922776"/>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04 · The Lesson</a:t>
            </a:r>
            <a:endParaRPr lang="en-US" sz="1400" dirty="0"/>
          </a:p>
        </p:txBody>
      </p:sp>
      <p:sp>
        <p:nvSpPr>
          <p:cNvPr id="25" name="s19-box-21"/>
          <p:cNvSpPr/>
          <p:nvPr/>
        </p:nvSpPr>
        <p:spPr>
          <a:xfrm>
            <a:off x="6164428" y="4343400"/>
            <a:ext cx="5661508" cy="2011680"/>
          </a:xfrm>
          <a:prstGeom prst="rect">
            <a:avLst/>
          </a:prstGeom>
          <a:solidFill>
            <a:schemeClr val="bg2"/>
          </a:solidFill>
          <a:ln/>
        </p:spPr>
      </p:sp>
      <p:sp>
        <p:nvSpPr>
          <p:cNvPr id="26" name="s19-text-22"/>
          <p:cNvSpPr txBox="1"/>
          <p:nvPr/>
        </p:nvSpPr>
        <p:spPr>
          <a:xfrm>
            <a:off x="6393028" y="4480560"/>
            <a:ext cx="5204308" cy="1051560"/>
          </a:xfrm>
          <a:prstGeom prst="rect">
            <a:avLst/>
          </a:prstGeom>
          <a:noFill/>
          <a:ln/>
        </p:spPr>
        <p:txBody>
          <a:bodyPr wrap="square" lIns="0" tIns="0" rIns="0" bIns="0" rtlCol="0" anchor="ctr"/>
          <a:lstStyle/>
          <a:p>
            <a:pPr indent="0" marL="0">
              <a:buNone/>
            </a:pPr>
            <a:r>
              <a:rPr lang="en-US" sz="1200" dirty="0">
                <a:solidFill>
                  <a:schemeClr val="tx1"/>
                </a:solidFill>
              </a:rPr>
              <a:t>Refusing costs more: THB 32.3M became a THB 43.0M claim plus interest, and criminal risk stays until she pays.</a:t>
            </a:r>
            <a:endParaRPr lang="en-US" sz="1200" dirty="0"/>
          </a:p>
        </p:txBody>
      </p:sp>
      <p:sp>
        <p:nvSpPr>
          <p:cNvPr id="27" name="s19-chip-23"/>
          <p:cNvSpPr/>
          <p:nvPr/>
        </p:nvSpPr>
        <p:spPr>
          <a:xfrm>
            <a:off x="6393028" y="5577840"/>
            <a:ext cx="5204308" cy="640080"/>
          </a:xfrm>
          <a:prstGeom prst="rect">
            <a:avLst/>
          </a:prstGeom>
          <a:solidFill>
            <a:srgbClr val="FFF3DC"/>
          </a:solidFill>
          <a:ln w="12700">
            <a:solidFill>
              <a:schemeClr val="accent4"/>
            </a:solidFill>
            <a:prstDash val="solid"/>
          </a:ln>
        </p:spPr>
      </p:sp>
      <p:sp>
        <p:nvSpPr>
          <p:cNvPr id="28" name="s19-chip-text-24"/>
          <p:cNvSpPr txBox="1"/>
          <p:nvPr/>
        </p:nvSpPr>
        <p:spPr>
          <a:xfrm>
            <a:off x="6393028" y="5577840"/>
            <a:ext cx="5204308" cy="640080"/>
          </a:xfrm>
          <a:prstGeom prst="rect">
            <a:avLst/>
          </a:prstGeom>
          <a:noFill/>
          <a:ln/>
        </p:spPr>
        <p:txBody>
          <a:bodyPr wrap="square" lIns="50800" tIns="50800" rIns="50800" bIns="50800" rtlCol="0" anchor="ctr"/>
          <a:lstStyle/>
          <a:p>
            <a:pPr algn="ctr" indent="0" marL="0">
              <a:buNone/>
            </a:pPr>
            <a:r>
              <a:rPr lang="en-US" sz="1200" dirty="0">
                <a:solidFill>
                  <a:schemeClr val="tx1"/>
                </a:solidFill>
              </a:rPr>
              <a:t>Key figure</a:t>
            </a:r>
            <a:endParaRPr lang="en-US" sz="1200" dirty="0"/>
          </a:p>
          <a:p>
            <a:pPr algn="ctr" indent="0" marL="0">
              <a:buNone/>
            </a:pPr>
            <a:r>
              <a:rPr lang="en-US" sz="1200" b="1" dirty="0">
                <a:solidFill>
                  <a:schemeClr val="tx2"/>
                </a:solidFill>
              </a:rPr>
              <a:t>THB 32.3M → THB 43.0M (+33%)</a:t>
            </a:r>
            <a:endParaRPr lang="en-US" sz="120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Thank You</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Group 3 · TSR Market Manipulation Case</a:t>
            </a:r>
            <a:endParaRPr lang="en-US" sz="1050" dirty="0"/>
          </a:p>
        </p:txBody>
      </p:sp>
      <p:sp>
        <p:nvSpPr>
          <p:cNvPr id="5" name="s20-subbar-1"/>
          <p:cNvSpPr/>
          <p:nvPr/>
        </p:nvSpPr>
        <p:spPr>
          <a:xfrm>
            <a:off x="365760" y="1353312"/>
            <a:ext cx="11460175" cy="347472"/>
          </a:xfrm>
          <a:prstGeom prst="rect">
            <a:avLst/>
          </a:prstGeom>
          <a:solidFill>
            <a:schemeClr val="tx2"/>
          </a:solidFill>
          <a:ln/>
        </p:spPr>
      </p:sp>
      <p:sp>
        <p:nvSpPr>
          <p:cNvPr id="6" name="s20-subbar-text-2"/>
          <p:cNvSpPr txBox="1"/>
          <p:nvPr/>
        </p:nvSpPr>
        <p:spPr>
          <a:xfrm>
            <a:off x="365760" y="1353312"/>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Group 3 · TSR Market Manipulation Case</a:t>
            </a:r>
            <a:endParaRPr lang="en-US" sz="1400" dirty="0"/>
          </a:p>
        </p:txBody>
      </p:sp>
      <p:sp>
        <p:nvSpPr>
          <p:cNvPr id="7" name="s20-box-3"/>
          <p:cNvSpPr/>
          <p:nvPr/>
        </p:nvSpPr>
        <p:spPr>
          <a:xfrm>
            <a:off x="365760" y="1792224"/>
            <a:ext cx="6949440" cy="4562856"/>
          </a:xfrm>
          <a:prstGeom prst="rect">
            <a:avLst/>
          </a:prstGeom>
          <a:solidFill>
            <a:schemeClr val="bg2"/>
          </a:solidFill>
          <a:ln/>
        </p:spPr>
      </p:sp>
      <p:sp>
        <p:nvSpPr>
          <p:cNvPr id="8" name="s20-text-4"/>
          <p:cNvSpPr txBox="1"/>
          <p:nvPr/>
        </p:nvSpPr>
        <p:spPr>
          <a:xfrm>
            <a:off x="640080" y="2066544"/>
            <a:ext cx="6400800" cy="548640"/>
          </a:xfrm>
          <a:prstGeom prst="rect">
            <a:avLst/>
          </a:prstGeom>
          <a:noFill/>
          <a:ln/>
        </p:spPr>
        <p:txBody>
          <a:bodyPr wrap="square" lIns="0" tIns="0" rIns="0" bIns="0" rtlCol="0" anchor="ctr"/>
          <a:lstStyle/>
          <a:p>
            <a:pPr indent="0" marL="0">
              <a:buNone/>
            </a:pPr>
            <a:r>
              <a:rPr lang="en-US" sz="2400" b="1" dirty="0">
                <a:solidFill>
                  <a:schemeClr val="tx2"/>
                </a:solidFill>
              </a:rPr>
              <a:t>Questions and discussion</a:t>
            </a:r>
            <a:endParaRPr lang="en-US" sz="2400" dirty="0"/>
          </a:p>
        </p:txBody>
      </p:sp>
      <p:sp>
        <p:nvSpPr>
          <p:cNvPr id="9" name="s20-text-5"/>
          <p:cNvSpPr txBox="1"/>
          <p:nvPr/>
        </p:nvSpPr>
        <p:spPr>
          <a:xfrm>
            <a:off x="640080" y="2752344"/>
            <a:ext cx="6400800" cy="86868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Group Assignment 2 (2026) · Ethics and Law for Financial Engineers</a:t>
            </a:r>
            <a:endParaRPr lang="en-US" sz="1200" dirty="0"/>
          </a:p>
          <a:p>
            <a:pPr indent="0" marL="0">
              <a:spcAft>
                <a:spcPts val="300"/>
              </a:spcAft>
              <a:buNone/>
            </a:pPr>
            <a:r>
              <a:rPr lang="en-US" sz="1200" dirty="0">
                <a:solidFill>
                  <a:schemeClr val="tx1"/>
                </a:solidFill>
              </a:rPr>
              <a:t>Instructor: Dr. Chatchai Lapprathana</a:t>
            </a:r>
            <a:endParaRPr lang="en-US" sz="1200" dirty="0"/>
          </a:p>
        </p:txBody>
      </p:sp>
      <p:sp>
        <p:nvSpPr>
          <p:cNvPr id="10" name="s20-box-6"/>
          <p:cNvSpPr/>
          <p:nvPr/>
        </p:nvSpPr>
        <p:spPr>
          <a:xfrm>
            <a:off x="640080" y="3895344"/>
            <a:ext cx="6400800" cy="1005840"/>
          </a:xfrm>
          <a:prstGeom prst="rect">
            <a:avLst/>
          </a:prstGeom>
          <a:solidFill>
            <a:schemeClr val="accent2"/>
          </a:solidFill>
          <a:ln/>
        </p:spPr>
      </p:sp>
      <p:sp>
        <p:nvSpPr>
          <p:cNvPr id="11" name="s20-text-7"/>
          <p:cNvSpPr txBox="1"/>
          <p:nvPr/>
        </p:nvSpPr>
        <p:spPr>
          <a:xfrm>
            <a:off x="640080" y="3895344"/>
            <a:ext cx="6400800" cy="1005840"/>
          </a:xfrm>
          <a:prstGeom prst="rect">
            <a:avLst/>
          </a:prstGeom>
          <a:noFill/>
          <a:ln/>
        </p:spPr>
        <p:txBody>
          <a:bodyPr wrap="square" lIns="0" tIns="0" rIns="0" bIns="0" rtlCol="0" anchor="ctr"/>
          <a:lstStyle/>
          <a:p>
            <a:pPr algn="ctr" indent="0" marL="0">
              <a:spcAft>
                <a:spcPts val="300"/>
              </a:spcAft>
              <a:buNone/>
            </a:pPr>
            <a:r>
              <a:rPr lang="en-US" sz="1200" dirty="0">
                <a:solidFill>
                  <a:schemeClr val="tx1"/>
                </a:solidFill>
              </a:rPr>
              <a:t>Main news · Hoonsmart, 24 Jan 2026</a:t>
            </a:r>
            <a:endParaRPr lang="en-US" sz="1200" dirty="0"/>
          </a:p>
          <a:p>
            <a:pPr algn="ctr" indent="0" marL="0">
              <a:spcAft>
                <a:spcPts val="300"/>
              </a:spcAft>
              <a:buNone/>
            </a:pPr>
            <a:r>
              <a:rPr lang="en-US" sz="1200" b="1"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200" dirty="0"/>
          </a:p>
        </p:txBody>
      </p:sp>
      <p:sp>
        <p:nvSpPr>
          <p:cNvPr id="12" name="s20-box-8"/>
          <p:cNvSpPr/>
          <p:nvPr/>
        </p:nvSpPr>
        <p:spPr>
          <a:xfrm>
            <a:off x="640080" y="5038344"/>
            <a:ext cx="6400800" cy="1005840"/>
          </a:xfrm>
          <a:prstGeom prst="rect">
            <a:avLst/>
          </a:prstGeom>
          <a:solidFill>
            <a:schemeClr val="accent2"/>
          </a:solidFill>
          <a:ln/>
        </p:spPr>
      </p:sp>
      <p:sp>
        <p:nvSpPr>
          <p:cNvPr id="13" name="s20-text-9"/>
          <p:cNvSpPr txBox="1"/>
          <p:nvPr/>
        </p:nvSpPr>
        <p:spPr>
          <a:xfrm>
            <a:off x="640080" y="5038344"/>
            <a:ext cx="6400800" cy="1005840"/>
          </a:xfrm>
          <a:prstGeom prst="rect">
            <a:avLst/>
          </a:prstGeom>
          <a:noFill/>
          <a:ln/>
        </p:spPr>
        <p:txBody>
          <a:bodyPr wrap="square" lIns="0" tIns="0" rIns="0" bIns="0" rtlCol="0" anchor="ctr"/>
          <a:lstStyle/>
          <a:p>
            <a:pPr algn="ctr" indent="0" marL="0">
              <a:spcAft>
                <a:spcPts val="300"/>
              </a:spcAft>
              <a:buNone/>
            </a:pPr>
            <a:r>
              <a:rPr lang="en-US" sz="1200" dirty="0">
                <a:solidFill>
                  <a:schemeClr val="tx1"/>
                </a:solidFill>
              </a:rPr>
              <a:t>Follow-up · Thansettakij, 11 May 2026</a:t>
            </a:r>
            <a:endParaRPr lang="en-US" sz="1200" dirty="0"/>
          </a:p>
          <a:p>
            <a:pPr algn="ctr" indent="0" marL="0">
              <a:spcAft>
                <a:spcPts val="300"/>
              </a:spcAft>
              <a:buNone/>
            </a:pPr>
            <a:r>
              <a:rPr lang="en-US" sz="1200" b="1" u="sng" dirty="0">
                <a:solidFill>
                  <a:schemeClr val="tx2"/>
                </a:solidFill>
                <a:hlinkClick r:id="rId2" invalidUrl="" action="" tgtFrame="" tooltip="" history="1" highlightClick="0" endSnd="0">
                  <a:extLst>
                    <a:ext uri="{A12FA001-AC4F-418D-AE19-62706E023703}">
                      <ahyp:hlinkClr xmlns:ahyp="http://schemas.microsoft.com/office/drawing/2018/hyperlinkcolor" val="tx"/>
                    </a:ext>
                  </a:extLst>
                </a:hlinkClick>
              </a:rPr>
              <a:t>https://www.thansettakij.com/finance/658785</a:t>
            </a:r>
            <a:endParaRPr lang="en-US" sz="1200" dirty="0"/>
          </a:p>
        </p:txBody>
      </p:sp>
      <p:sp>
        <p:nvSpPr>
          <p:cNvPr id="14" name="s20-box-10"/>
          <p:cNvSpPr/>
          <p:nvPr/>
        </p:nvSpPr>
        <p:spPr>
          <a:xfrm>
            <a:off x="7452360" y="1792224"/>
            <a:ext cx="4373575" cy="4562856"/>
          </a:xfrm>
          <a:prstGeom prst="rect">
            <a:avLst/>
          </a:prstGeom>
          <a:solidFill>
            <a:schemeClr val="bg2"/>
          </a:solidFill>
          <a:ln/>
        </p:spPr>
      </p:sp>
      <p:sp>
        <p:nvSpPr>
          <p:cNvPr id="15" name="s20-line-11"/>
          <p:cNvSpPr/>
          <p:nvPr/>
        </p:nvSpPr>
        <p:spPr>
          <a:xfrm>
            <a:off x="7818120" y="5577840"/>
            <a:ext cx="3642055" cy="0"/>
          </a:xfrm>
          <a:prstGeom prst="line">
            <a:avLst/>
          </a:prstGeom>
          <a:noFill/>
          <a:ln w="12700">
            <a:solidFill>
              <a:schemeClr val="accent6"/>
            </a:solidFill>
            <a:prstDash val="solid"/>
          </a:ln>
        </p:spPr>
      </p:sp>
      <p:sp>
        <p:nvSpPr>
          <p:cNvPr id="16" name="s20-line-12"/>
          <p:cNvSpPr/>
          <p:nvPr/>
        </p:nvSpPr>
        <p:spPr>
          <a:xfrm>
            <a:off x="8000223" y="4989606"/>
            <a:ext cx="0" cy="478688"/>
          </a:xfrm>
          <a:prstGeom prst="line">
            <a:avLst/>
          </a:prstGeom>
          <a:noFill/>
          <a:ln w="15875">
            <a:solidFill>
              <a:schemeClr val="tx2"/>
            </a:solidFill>
            <a:prstDash val="solid"/>
          </a:ln>
        </p:spPr>
      </p:sp>
      <p:sp>
        <p:nvSpPr>
          <p:cNvPr id="17" name="s20-candle-13"/>
          <p:cNvSpPr/>
          <p:nvPr/>
        </p:nvSpPr>
        <p:spPr>
          <a:xfrm>
            <a:off x="7909171" y="5149169"/>
            <a:ext cx="182103" cy="191475"/>
          </a:xfrm>
          <a:prstGeom prst="rect">
            <a:avLst/>
          </a:prstGeom>
          <a:solidFill>
            <a:schemeClr val="tx2"/>
          </a:solidFill>
          <a:ln w="15875">
            <a:solidFill>
              <a:schemeClr val="tx2"/>
            </a:solidFill>
            <a:prstDash val="solid"/>
          </a:ln>
        </p:spPr>
      </p:sp>
      <p:sp>
        <p:nvSpPr>
          <p:cNvPr id="18" name="s20-line-14"/>
          <p:cNvSpPr/>
          <p:nvPr/>
        </p:nvSpPr>
        <p:spPr>
          <a:xfrm>
            <a:off x="8364428" y="4734306"/>
            <a:ext cx="0" cy="542514"/>
          </a:xfrm>
          <a:prstGeom prst="line">
            <a:avLst/>
          </a:prstGeom>
          <a:noFill/>
          <a:ln w="15875">
            <a:solidFill>
              <a:schemeClr val="tx2"/>
            </a:solidFill>
            <a:prstDash val="solid"/>
          </a:ln>
        </p:spPr>
      </p:sp>
      <p:sp>
        <p:nvSpPr>
          <p:cNvPr id="19" name="s20-candle-15"/>
          <p:cNvSpPr/>
          <p:nvPr/>
        </p:nvSpPr>
        <p:spPr>
          <a:xfrm>
            <a:off x="8273377" y="4893869"/>
            <a:ext cx="182103" cy="255300"/>
          </a:xfrm>
          <a:prstGeom prst="rect">
            <a:avLst/>
          </a:prstGeom>
          <a:solidFill>
            <a:schemeClr val="tx2"/>
          </a:solidFill>
          <a:ln w="15875">
            <a:solidFill>
              <a:schemeClr val="tx2"/>
            </a:solidFill>
            <a:prstDash val="solid"/>
          </a:ln>
        </p:spPr>
      </p:sp>
      <p:sp>
        <p:nvSpPr>
          <p:cNvPr id="20" name="s20-line-16"/>
          <p:cNvSpPr/>
          <p:nvPr/>
        </p:nvSpPr>
        <p:spPr>
          <a:xfrm>
            <a:off x="8728634" y="4734306"/>
            <a:ext cx="0" cy="414863"/>
          </a:xfrm>
          <a:prstGeom prst="line">
            <a:avLst/>
          </a:prstGeom>
          <a:noFill/>
          <a:ln w="15875">
            <a:solidFill>
              <a:schemeClr val="tx2"/>
            </a:solidFill>
            <a:prstDash val="solid"/>
          </a:ln>
        </p:spPr>
      </p:sp>
      <p:sp>
        <p:nvSpPr>
          <p:cNvPr id="21" name="s20-candle-17"/>
          <p:cNvSpPr/>
          <p:nvPr/>
        </p:nvSpPr>
        <p:spPr>
          <a:xfrm>
            <a:off x="8637582" y="4893869"/>
            <a:ext cx="182103" cy="127650"/>
          </a:xfrm>
          <a:prstGeom prst="rect">
            <a:avLst/>
          </a:prstGeom>
          <a:solidFill>
            <a:schemeClr val="bg1"/>
          </a:solidFill>
          <a:ln w="15875">
            <a:solidFill>
              <a:schemeClr val="tx2"/>
            </a:solidFill>
            <a:prstDash val="solid"/>
          </a:ln>
        </p:spPr>
      </p:sp>
      <p:sp>
        <p:nvSpPr>
          <p:cNvPr id="22" name="s20-line-18"/>
          <p:cNvSpPr/>
          <p:nvPr/>
        </p:nvSpPr>
        <p:spPr>
          <a:xfrm>
            <a:off x="9092839" y="4510918"/>
            <a:ext cx="0" cy="638251"/>
          </a:xfrm>
          <a:prstGeom prst="line">
            <a:avLst/>
          </a:prstGeom>
          <a:noFill/>
          <a:ln w="15875">
            <a:solidFill>
              <a:schemeClr val="tx2"/>
            </a:solidFill>
            <a:prstDash val="solid"/>
          </a:ln>
        </p:spPr>
      </p:sp>
      <p:sp>
        <p:nvSpPr>
          <p:cNvPr id="23" name="s20-candle-19"/>
          <p:cNvSpPr/>
          <p:nvPr/>
        </p:nvSpPr>
        <p:spPr>
          <a:xfrm>
            <a:off x="9001788" y="4670481"/>
            <a:ext cx="182103" cy="351038"/>
          </a:xfrm>
          <a:prstGeom prst="rect">
            <a:avLst/>
          </a:prstGeom>
          <a:solidFill>
            <a:schemeClr val="tx2"/>
          </a:solidFill>
          <a:ln w="15875">
            <a:solidFill>
              <a:schemeClr val="tx2"/>
            </a:solidFill>
            <a:prstDash val="solid"/>
          </a:ln>
        </p:spPr>
      </p:sp>
      <p:sp>
        <p:nvSpPr>
          <p:cNvPr id="24" name="s20-line-20"/>
          <p:cNvSpPr/>
          <p:nvPr/>
        </p:nvSpPr>
        <p:spPr>
          <a:xfrm>
            <a:off x="9457045" y="4255618"/>
            <a:ext cx="0" cy="542514"/>
          </a:xfrm>
          <a:prstGeom prst="line">
            <a:avLst/>
          </a:prstGeom>
          <a:noFill/>
          <a:ln w="15875">
            <a:solidFill>
              <a:schemeClr val="tx2"/>
            </a:solidFill>
            <a:prstDash val="solid"/>
          </a:ln>
        </p:spPr>
      </p:sp>
      <p:sp>
        <p:nvSpPr>
          <p:cNvPr id="25" name="s20-candle-21"/>
          <p:cNvSpPr/>
          <p:nvPr/>
        </p:nvSpPr>
        <p:spPr>
          <a:xfrm>
            <a:off x="9365993" y="4415180"/>
            <a:ext cx="182103" cy="255300"/>
          </a:xfrm>
          <a:prstGeom prst="rect">
            <a:avLst/>
          </a:prstGeom>
          <a:solidFill>
            <a:schemeClr val="tx2"/>
          </a:solidFill>
          <a:ln w="15875">
            <a:solidFill>
              <a:schemeClr val="tx2"/>
            </a:solidFill>
            <a:prstDash val="solid"/>
          </a:ln>
        </p:spPr>
      </p:sp>
      <p:sp>
        <p:nvSpPr>
          <p:cNvPr id="26" name="s20-line-22"/>
          <p:cNvSpPr/>
          <p:nvPr/>
        </p:nvSpPr>
        <p:spPr>
          <a:xfrm>
            <a:off x="9821250" y="4255618"/>
            <a:ext cx="0" cy="414863"/>
          </a:xfrm>
          <a:prstGeom prst="line">
            <a:avLst/>
          </a:prstGeom>
          <a:noFill/>
          <a:ln w="15875">
            <a:solidFill>
              <a:schemeClr val="tx2"/>
            </a:solidFill>
            <a:prstDash val="solid"/>
          </a:ln>
        </p:spPr>
      </p:sp>
      <p:sp>
        <p:nvSpPr>
          <p:cNvPr id="27" name="s20-candle-23"/>
          <p:cNvSpPr/>
          <p:nvPr/>
        </p:nvSpPr>
        <p:spPr>
          <a:xfrm>
            <a:off x="9730199" y="4415180"/>
            <a:ext cx="182103" cy="127650"/>
          </a:xfrm>
          <a:prstGeom prst="rect">
            <a:avLst/>
          </a:prstGeom>
          <a:solidFill>
            <a:schemeClr val="bg1"/>
          </a:solidFill>
          <a:ln w="15875">
            <a:solidFill>
              <a:schemeClr val="tx2"/>
            </a:solidFill>
            <a:prstDash val="solid"/>
          </a:ln>
        </p:spPr>
      </p:sp>
      <p:sp>
        <p:nvSpPr>
          <p:cNvPr id="28" name="s20-line-24"/>
          <p:cNvSpPr/>
          <p:nvPr/>
        </p:nvSpPr>
        <p:spPr>
          <a:xfrm>
            <a:off x="10185456" y="3936492"/>
            <a:ext cx="0" cy="733989"/>
          </a:xfrm>
          <a:prstGeom prst="line">
            <a:avLst/>
          </a:prstGeom>
          <a:noFill/>
          <a:ln w="15875">
            <a:solidFill>
              <a:schemeClr val="tx2"/>
            </a:solidFill>
            <a:prstDash val="solid"/>
          </a:ln>
        </p:spPr>
      </p:sp>
      <p:sp>
        <p:nvSpPr>
          <p:cNvPr id="29" name="s20-candle-25"/>
          <p:cNvSpPr/>
          <p:nvPr/>
        </p:nvSpPr>
        <p:spPr>
          <a:xfrm>
            <a:off x="10094405" y="4096055"/>
            <a:ext cx="182103" cy="446776"/>
          </a:xfrm>
          <a:prstGeom prst="rect">
            <a:avLst/>
          </a:prstGeom>
          <a:solidFill>
            <a:schemeClr val="tx2"/>
          </a:solidFill>
          <a:ln w="15875">
            <a:solidFill>
              <a:schemeClr val="tx2"/>
            </a:solidFill>
            <a:prstDash val="solid"/>
          </a:ln>
        </p:spPr>
      </p:sp>
      <p:sp>
        <p:nvSpPr>
          <p:cNvPr id="30" name="s20-line-26"/>
          <p:cNvSpPr/>
          <p:nvPr/>
        </p:nvSpPr>
        <p:spPr>
          <a:xfrm>
            <a:off x="10549661" y="3617366"/>
            <a:ext cx="0" cy="606339"/>
          </a:xfrm>
          <a:prstGeom prst="line">
            <a:avLst/>
          </a:prstGeom>
          <a:noFill/>
          <a:ln w="15875">
            <a:solidFill>
              <a:schemeClr val="tx2"/>
            </a:solidFill>
            <a:prstDash val="solid"/>
          </a:ln>
        </p:spPr>
      </p:sp>
      <p:sp>
        <p:nvSpPr>
          <p:cNvPr id="31" name="s20-candle-27"/>
          <p:cNvSpPr/>
          <p:nvPr/>
        </p:nvSpPr>
        <p:spPr>
          <a:xfrm>
            <a:off x="10458610" y="3776929"/>
            <a:ext cx="182103" cy="319126"/>
          </a:xfrm>
          <a:prstGeom prst="rect">
            <a:avLst/>
          </a:prstGeom>
          <a:solidFill>
            <a:schemeClr val="tx2"/>
          </a:solidFill>
          <a:ln w="15875">
            <a:solidFill>
              <a:schemeClr val="tx2"/>
            </a:solidFill>
            <a:prstDash val="solid"/>
          </a:ln>
        </p:spPr>
      </p:sp>
      <p:sp>
        <p:nvSpPr>
          <p:cNvPr id="32" name="s20-line-28"/>
          <p:cNvSpPr/>
          <p:nvPr/>
        </p:nvSpPr>
        <p:spPr>
          <a:xfrm>
            <a:off x="10913867" y="3266328"/>
            <a:ext cx="0" cy="638251"/>
          </a:xfrm>
          <a:prstGeom prst="line">
            <a:avLst/>
          </a:prstGeom>
          <a:noFill/>
          <a:ln w="15875">
            <a:solidFill>
              <a:schemeClr val="tx2"/>
            </a:solidFill>
            <a:prstDash val="solid"/>
          </a:ln>
        </p:spPr>
      </p:sp>
      <p:sp>
        <p:nvSpPr>
          <p:cNvPr id="33" name="s20-candle-29"/>
          <p:cNvSpPr/>
          <p:nvPr/>
        </p:nvSpPr>
        <p:spPr>
          <a:xfrm>
            <a:off x="10822816" y="3425891"/>
            <a:ext cx="182103" cy="351038"/>
          </a:xfrm>
          <a:prstGeom prst="rect">
            <a:avLst/>
          </a:prstGeom>
          <a:solidFill>
            <a:schemeClr val="tx2"/>
          </a:solidFill>
          <a:ln w="15875">
            <a:solidFill>
              <a:schemeClr val="tx2"/>
            </a:solidFill>
            <a:prstDash val="solid"/>
          </a:ln>
        </p:spPr>
      </p:sp>
      <p:sp>
        <p:nvSpPr>
          <p:cNvPr id="34" name="s20-line-30"/>
          <p:cNvSpPr/>
          <p:nvPr/>
        </p:nvSpPr>
        <p:spPr>
          <a:xfrm>
            <a:off x="11278072" y="2755727"/>
            <a:ext cx="0" cy="797814"/>
          </a:xfrm>
          <a:prstGeom prst="line">
            <a:avLst/>
          </a:prstGeom>
          <a:noFill/>
          <a:ln w="15875">
            <a:solidFill>
              <a:schemeClr val="tx2"/>
            </a:solidFill>
            <a:prstDash val="solid"/>
          </a:ln>
        </p:spPr>
      </p:sp>
      <p:sp>
        <p:nvSpPr>
          <p:cNvPr id="35" name="s20-candle-31"/>
          <p:cNvSpPr/>
          <p:nvPr/>
        </p:nvSpPr>
        <p:spPr>
          <a:xfrm>
            <a:off x="11187021" y="2915290"/>
            <a:ext cx="182103" cy="510601"/>
          </a:xfrm>
          <a:prstGeom prst="rect">
            <a:avLst/>
          </a:prstGeom>
          <a:solidFill>
            <a:schemeClr val="tx2"/>
          </a:solidFill>
          <a:ln w="15875">
            <a:solidFill>
              <a:schemeClr val="tx2"/>
            </a:solidFill>
            <a:prstDash val="solid"/>
          </a:ln>
        </p:spPr>
      </p:sp>
      <p:sp>
        <p:nvSpPr>
          <p:cNvPr id="36" name="s20-text-32"/>
          <p:cNvSpPr txBox="1"/>
          <p:nvPr/>
        </p:nvSpPr>
        <p:spPr>
          <a:xfrm>
            <a:off x="7680960" y="5852160"/>
            <a:ext cx="3916375" cy="320040"/>
          </a:xfrm>
          <a:prstGeom prst="rect">
            <a:avLst/>
          </a:prstGeom>
          <a:noFill/>
          <a:ln/>
        </p:spPr>
        <p:txBody>
          <a:bodyPr wrap="square" lIns="0" tIns="0" rIns="0" bIns="0" rtlCol="0" anchor="t"/>
          <a:lstStyle/>
          <a:p>
            <a:pPr indent="0" marL="0">
              <a:buNone/>
            </a:pPr>
            <a:r>
              <a:rPr lang="en-US" sz="1050" i="1" dirty="0">
                <a:solidFill>
                  <a:schemeClr val="accent5"/>
                </a:solidFill>
              </a:rPr>
              <a:t>Illustration only (not actual TSR data).</a:t>
            </a:r>
            <a:endParaRPr lang="en-US" sz="10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Group 3 Navy">
  <a:themeElements>
    <a:clrScheme name="Group 3 Navy">
      <a:dk1>
        <a:srgbClr val="1F2533"/>
      </a:dk1>
      <a:lt1>
        <a:srgbClr val="FFFFFF"/>
      </a:lt1>
      <a:dk2>
        <a:srgbClr val="1B2A4A"/>
      </a:dk2>
      <a:lt2>
        <a:srgbClr val="EEF1F5"/>
      </a:lt2>
      <a:accent1>
        <a:srgbClr val="1B2A4A"/>
      </a:accent1>
      <a:accent2>
        <a:srgbClr val="D9DEE7"/>
      </a:accent2>
      <a:accent3>
        <a:srgbClr val="2E7D32"/>
      </a:accent3>
      <a:accent4>
        <a:srgbClr val="C77C02"/>
      </a:accent4>
      <a:accent5>
        <a:srgbClr val="5B6478"/>
      </a:accent5>
      <a:accent6>
        <a:srgbClr val="C5CCD8"/>
      </a:accent6>
      <a:hlink>
        <a:srgbClr val="1B2A4A"/>
      </a:hlink>
      <a:folHlink>
        <a:srgbClr val="5B6478"/>
      </a:folHlink>
    </a:clrScheme>
    <a:fontScheme name="Group 3 Navy">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Leelawadee UI"/>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Leelawadee UI"/>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Assignment 2 (2026) · Group 3 · TSR Market Manipulation Case</dc:title>
  <dc:subject>Securities and Exchange Act B.E. 2535 (1992) case study</dc:subject>
  <dc:creator>Group 3</dc:creator>
  <cp:lastModifiedBy>Group 3</cp:lastModifiedBy>
  <cp:revision>1</cp:revision>
  <dcterms:created xsi:type="dcterms:W3CDTF">2026-10-16T13:22:57Z</dcterms:created>
  <dcterms:modified xsi:type="dcterms:W3CDTF">2026-10-16T13:22:57Z</dcterms:modified>
</cp:coreProperties>
</file>