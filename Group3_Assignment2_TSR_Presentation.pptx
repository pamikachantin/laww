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[ผู้พูด: Mr. Natachat Teecharcharn | เวลา 0:30]
สวัสดีครับอาจารย์และเพื่อน ๆ ทุกคน พวกเราคือกลุ่มที่ 3 ครับ วันนี้จะมานำเสนองานกลุ่มชิ้นที่ 2 ของวิชา Ethics and Law for Financial Engineers
สมาชิกในกลุ่มมีทั้งหมด 6 คนตามรายชื่อบนสไลด์ ทุกคนจะผลัดกันขึ้นมาพูดคนละช่วง ผมขอเป็นคนเปิดเรื่องก่อนนะครับ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[ผู้พูด: Mr. Natachat Teecharcharn | เวลา 0:40]
เรื่องที่กลุ่มเราเลือกมาคือคดี “ปั่นหุ้น” TSR ครับ ถ้าพูดเป็นภาษากฎหมายก็คือการสร้างราคาหรือปริมาณการซื้อขายหลักทรัพย์ ซึ่งเป็นการกระทำอันไม่เป็นธรรมเกี่ยวกับการซื้อขายหลักทรัพย์ตาม พ.ร.บ.หลักทรัพย์และตลาดหลักทรัพย์ พ.ศ. 2535
คดีนี้เป็นข่าวในปี 2569 ถึงสองรอบ รอบแรกเดือนมกราคม ก.ล.ต. ใช้มาตรการลงโทษทางแพ่ง รอบที่สองเดือนพฤษภาคม ก.ล.ต. ส่งเรื่องให้อัยการฟ้องศาลแพ่ง เพราะผู้กระทำความผิดไม่ยอมปฏิบัติตาม เราจึงได้เห็นกฎหมายทำงานครบทั้งวงจรเลยครับ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[ผู้พูด: Mr. Natachat Teecharcharn | เวลา 0:30]
การนำเสนอวันนี้แบ่งเป็น 5 ส่วนครับ เริ่มจากแหล่งข่าวและตัวละครในคดี ต่อด้วยข้อเท็จจริงว่าเกิดอะไรขึ้นและทำไปเพื่ออะไร จากนั้นดูตัวบทกฎหมาย แล้ววิเคราะห์ทีละองค์ประกอบว่าเข้าข่ายความผิดหรือไม่ และปิดท้ายด้วยบทลงโทษทั้งทางอาญาและทางแพ่งครับ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[ผู้พูด: Mr. Natachat Teecharcharn | เวลา 0:40]
ข่าวหลักที่เราใช้คือข่าวจากหุ้นสมาร์ท วันที่ 24 มกราคม 2569 เพราะให้รายละเอียดครบที่สุด ทั้งช่วงเวลา พฤติกรรม และมาตราที่ ก.ล.ต. อ้าง เราใช้ข่าวจากมิติหุ้นวันที่ 23 มกราคมประกอบ ส่วนข่าวติดตามผลมาจากฐานเศรษฐกิจและหุ้นสมาร์ท วันที่ 11 พฤษภาคม 2569 และมีข่าวคดีหุ้น MSC ที่เกี่ยวข้องอีกหนึ่งข่าวครับ
ลิงก์ทั้งหมดอยู่บนสไลด์ และทุกข่าวลงวันที่หลัง 1 มกราคม 2026 ตามเงื่อนไขของงาน ส่วนตัวบทกฎหมาย เราอ้างอิงจาก พ.ร.บ.หลักทรัพย์ฯ ฉบับภาษาอังกฤษที่อาจารย์ให้มาครับ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[ผู้พูด: Mr. Natachat Teecharcharn | เวลา 1:15]
ก่อนเข้าเนื้อหา ขอแนะนำตัวละครในคดีนี้ก่อนครับ คนแรกคือผู้ถูกกล่าวหา นางสาวภรัณยา รุจนพรพจี ซึ่งข่าวระบุว่าเป็นผู้ถือหุ้นใหญ่ของบริษัท สบาย เทคโนโลยี หรือ SABUY
ตัวที่สองคือหุ้นที่ถูกปั่น ได้แก่หุ้น TSR ของบริษัท เธียรสุรัตน์ ซึ่งตอนนี้เปลี่ยนชื่อเป็น ทีเอสอาร์ ลิฟวิ่ง โซลูชั่น เป็นหุ้นจดทะเบียนในตลาดหลักทรัพย์ ตัวที่สามคือ SABUY ซึ่งถือหุ้น TSR เป็นเงินลงทุนอยู่ จุดนี้สำคัญมาก เพราะเป็นกุญแจของแรงจูงใจที่เพื่อนจะเล่าต่อครับ
ฝั่งหน่วยงาน มีตลาดหลักทรัพย์ฯ ที่ตรวจพบความผิดปกติแล้วส่งเรื่องให้ ก.ล.ต. ในเดือนตุลาคม 2565 มี ก.ล.ต. ที่ตรวจสอบ มีคณะกรรมการพิจารณามาตรการลงโทษทางแพ่ง หรือ ค.ม.พ. ที่เป็นคนกำหนดบทลงโทษ และขั้นต่อไปคือพนักงานอัยการกับศาลแพ่ง รวมถึง ปปง. ที่ได้รับเรื่องไปด้วยครับ ต่อไปขอส่งต่อให้เพื่อนเล่าข้อเท็จจริงครับ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[ผู้พูด: Mr. Nutdanai Jindadang | เวลา 1:15]
ขอบคุณครับ ผมจะเล่าข้อเท็จจริงตามที่ ก.ล.ต. ตรวจพบนะครับ เหตุเกิดระหว่างวันที่ 22 มิถุนายน ถึง 31 สิงหาคม 2565 รวมทั้งหมด 47 วันทำการ ในช่วงนี้มีพฤติกรรมหลักสองอย่างครับ
อย่างแรกคือการ “เคาะซื้อ” หมายถึงส่งคำสั่งซื้อไปชนกับราคาที่มีคนตั้งขายไว้ และทำแบบกวาดคำสั่งเสนอขายอย่างต่อเนื่อง ราคาจึงขยับขึ้นไปเรื่อย ๆ
อย่างที่สองคือการ “ครอง Bid” คือตั้งคำสั่งซื้อปริมาณมากไว้ที่ราคาเสนอซื้อช่องที่ 1 และช่องที่ 2 คนอื่นที่อยากซื้อก็ต่อคิวไม่ได้ ต้องยอมซื้อในราคาที่สูงขึ้น ผลคือราคาหุ้น TSR ปรับขึ้นเป็นขั้น ๆ ทั้งที่ไม่ได้มาจากความต้องการซื้อจริงของตลาด
ขอเน้นนิดหนึ่งว่า ทั้งหมดนี้เป็นข้อเท็จจริงตามที่ ก.ล.ต. และ ค.ม.พ. ระบุ ศาลยังไม่ได้ตัดสินนะครับ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[ผู้พูด: Mr. Nutdanai Jindadang | เวลา 1:00]
เพื่อให้เห็นภาพ ผมขอใช้กระดานซื้อขายจำลองนะครับ ตัวเลขในตารางเป็นตัวเลขสมมติ ไม่ใช่ข้อมูลจริงของหุ้น TSR ฝั่งซ้ายคือฝั่งเสนอซื้อหรือ Bid ฝั่งขวาคือฝั่งเสนอขายหรือ Offer แถวสีส้มคือคำสั่งซื้อก้อนใหญ่ที่ตั้งไว้ที่ราคาช่องแรกและช่องที่สอง
ขั้นแรก เธอเคาะซื้อกวาด Offer จนหมด ราคาล่าสุดก็ขยับขึ้น ขั้นที่สอง เธอตั้ง Bid ก้อนใหญ่ไว้เหมือนกำแพง คนที่ดูกระดานก็คิดว่าหุ้นตัวนี้มีแรงซื้อเยอะ ขั้นที่สาม คนที่อยากได้หุ้นจริง ๆ ต่อคิวซื้อไม่ทัน เลยต้องไปซื้อที่ราคา Offer ที่สูงกว่า วนแบบนี้ไปเรื่อย ๆ ราคาก็ถูกดันขึ้นทีละขั้นครับ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[ผู้พูด: Mr. Nutdanai Jindadang | เวลา 1:10]
คำถามต่อมาคือ ทำไปทำไม ก.ล.ต. ระบุวัตถุประสงค์ไว้สองข้อครับ
ข้อแรก เพื่อให้ SABUY บันทึกกำไรได้ เพราะ SABUY ถือหุ้น TSR เป็นเงินลงทุน และต้องวัดมูลค่ายุติธรรม หรือ Fair Value ณ วันสิ้นงวด ซึ่งก็คือสิ้นไตรมาส 2 ปี 2565 วันที่ 30 มิถุนายน ถ้าราคา TSR ในวันนั้นสูงขึ้น SABUY ก็มีกำไรทางบัญชีเพิ่มขึ้น งบการเงินดูดีขึ้นทันที ทั้งที่ไม่ได้ขายหุ้นเลยสักหุ้น
ข้อที่สอง คือหากำไรจากส่วนต่างราคา ซื้อตอนถูก ดันให้แพง แล้วขายทำกำไร
สองข้อนี้สำคัญมากในทางกฎหมาย เพราะแสดงให้เห็นว่ามี “เจตนา” ซึ่งเป็นองค์ประกอบสำคัญของมาตรา 244/3 วงเล็บ 2 ที่เพื่อนจะอธิบายต่อครับ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[ผู้พูด: Miss Pamika Chantin | เวลา 1:00]
ขอบคุณค่ะ สไลด์นี้คือไทม์ไลน์ของคดีค่ะ พฤติกรรมเริ่มวันที่ 22 มิถุนายน 2565 อีกแค่ 8 วันก็ถึงวันสิ้นไตรมาส 2 ซึ่งเป็นวันที่ SABUY ต้องตีมูลค่าหุ้น TSR และพฤติกรรมยังลากยาวไปจนถึง 31 สิงหาคม รวม 47 วันทำการ
ตุลาคม 2565 ตลาดหลักทรัพย์ส่งเรื่องให้ ก.ล.ต. จากนั้นใช้เวลาตรวจสอบอีกราว 3 ปี จนวันที่ 23 มกราคม 2569 ค.ม.พ. มีมติลงโทษทางแพ่ง ให้ชำระเงินกว่า 32.3 ล้านบาท ห้ามซื้อขาย 6 เดือน และห้ามเป็นกรรมการหรือผู้บริหาร 12 เดือน
แต่เธอไม่ยินยอม วันที่ 11 พฤษภาคม 2569 ก.ล.ต. จึงขอให้อัยการฟ้องศาลแพ่ง เรียกเงิน 43 ล้านบาทพร้อมดอกเบี้ย และส่งเรื่องให้ ปปง. ด้วยค่ะ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[ผู้พูด: Miss Pamika Chantin | เวลา 1:10]
มาดูตัวบทกฎหมายกันค่ะ ก่อนอื่น มาตรา 238 บอกว่าหมวดนี้ใช้กับหลักทรัพย์จดทะเบียน TSR เป็นหุ้นจดทะเบียนในตลาดหลักทรัพย์ จึงอยู่ในขอบเขตแน่นอนค่ะ
หัวใจของคดีคือมาตรา 244/3 ที่ห้ามบุคคลใดทำสองอย่าง วงเล็บ 1 คือส่งคำสั่งหรือซื้อขายหลักทรัพย์ในลักษณะที่ทำให้คนอื่น “เข้าใจผิด” เกี่ยวกับราคาหรือปริมาณการซื้อขาย วงเล็บ 2 คือส่งคำสั่งหรือซื้อขาย “อย่างต่อเนื่อง” โดย “มีเจตนา” ให้ราคาหรือปริมาณผิดไปจากสภาพปกติของตลาด
ความต่างคือ วงเล็บ 1 ดูที่ผลว่าทำให้คนอื่นเข้าใจผิด ส่วนวงเล็บ 2 ดูที่ความต่อเนื่องและเจตนา โทษก็ต่างกันด้วย วงเล็บ 1 ไปมาตรา 296 ส่วนวงเล็บ 2 ไปมาตรา 296/1 ซึ่งหนักกว่าค่ะ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[ผู้พูด: Miss Pamika Chantin | เวลา 1:15]
แต่การพิสูจน์ว่าใครทำให้คนอื่นเข้าใจผิด หรือมีเจตนาบิดเบือนราคา เป็นเรื่องยากมากค่ะ กฎหมายจึงมีมาตรา 244/5 ที่เป็น “บทสันนิษฐาน” ถ้าพิสูจน์ได้ว่ามีพฤติกรรมตามห้าข้อนี้ ให้สันนิษฐานไว้ก่อนเลยว่าเข้ามาตรา 244/3
ในคดีนี้ ก.ล.ต. อ้างสองข้อ คือข้อ 4 การส่งคำสั่งช่วงก่อนเปิดหรือก่อนปิดตลาด เพื่อให้ราคาเปิดหรือราคาปิดสูงหรือต่ำกว่าที่ควร และข้อ 5 การส่งคำสั่งที่ขัดขวางการซื้อขายของคนอื่น จนคนอื่นต้องซื้อแพงขึ้น ซึ่งตรงกับการครอง Bid ที่เราเห็นเมื่อกี้พอดี ผลคือภาระการพิสูจน์จะตกไปอยู่กับผู้ถูกกล่าวหา ที่ต้องหาหลักฐานมาหักล้างเอง
ส่วนข้อยกเว้นในมาตรา 244/4 เช่น การรักษาระดับราคาตามสัญญาจัดจำหน่ายหลักทรัพย์ หรือการซื้อหุ้นคืน ไม่มีข้อไหนเข้าเลยค่ะ ต่อไปขอส่งให้เพื่อนวิเคราะห์องค์ประกอบความผิดค่ะ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[ผู้พูด: Mr. Panas Sri-Anant | เวลา 1:20]
ขอบคุณครับ ผมจะวิเคราะห์ทีละองค์ประกอบนะครับ เริ่มจากมาตรา 244/3 วงเล็บ 1
องค์ประกอบแรก “บุคคลใด” คำนี้กว้างมาก ใครก็เป็นผู้กระทำได้ ในคดีนี้คือนางสาวภรัณยา ซึ่งเป็นบุคคลธรรมดา ครบครับ องค์ประกอบที่สอง ต้องเป็นหลักทรัพย์จดทะเบียนตามมาตรา 238 หุ้น TSR อยู่ในตลาดหลักทรัพย์ ครบ องค์ประกอบที่สาม การกระทำคือส่งคำสั่งหรือซื้อขายหลักทรัพย์ เธอเคาะซื้อ กวาด Offer และตั้ง Bid ก้อนใหญ่ ครบ
องค์ประกอบที่สี่ ต้องทำให้คนอื่นเข้าใจผิดเรื่องราคาหรือปริมาณ นักลงทุนที่ดูกระดานเห็นแรงซื้อหนาแน่น แต่จริง ๆ เป็นแรงซื้อที่ถูกสร้างขึ้น บวกกับบทสันนิษฐานมาตรา 244/5 วงเล็บ 5 ข้อนี้จึงครบโดยอาศัยบทสันนิษฐาน
สุดท้ายคือเจตนาตามประมวลกฎหมายอาญามาตรา 59 การทำซ้ำ ๆ ถึง 47 วันทำการ และมีแรงจูงใจทางการเงินชัดเจน ทำให้เชื่อได้ว่ามีเจตนา สรุปคือเข้าวงเล็บ 1 ครบทุกองค์ประกอบครับ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[ผู้พูด: Mr. Panas Sri-Anant | เวลา 1:20]
ต่อมาคือวงเล็บ 2 ซึ่งโทษหนักกว่าครับ องค์ประกอบแรกเหมือนเดิม คือส่งคำสั่งหรือซื้อขายหลักทรัพย์ ครบ
องค์ประกอบที่สองคือ “อย่างต่อเนื่อง” ข้อนี้ชัดมาก เพราะทำวันแล้ววันเล่า ตั้งแต่ 22 มิถุนายนถึง 31 สิงหาคม รวม 47 วันทำการ ไม่ใช่การส่งคำสั่งผิดพลาดแค่ครั้งเดียว
องค์ประกอบที่สามคือเจตนาพิเศษ ต้อง “มุ่งหมาย” ให้ราคาผิดไปจากสภาพปกติของตลาด ตรงนี้แรงจูงใจที่เพื่อนเล่าไปก่อนหน้าช่วยได้มาก คือดันราคาให้ SABUY มีกำไรจากมูลค่ายุติธรรม และหากำไรส่วนต่าง บวกกับบทสันนิษฐานมาตรา 244/5 วงเล็บ 4 และ 5
มีข้อสังเกตหนึ่งข้อครับ ข่าวไม่ได้เล่ารายละเอียดว่าทำอะไรช่วงก่อนเปิดหรือก่อนปิดตลาด แต่ ก.ล.ต. อ้างวงเล็บ 4 กลุ่มเราจึงตีความว่าน่าจะเกี่ยวกับการดันราคาปิด โดยเฉพาะช่วงสิ้นไตรมาส ซึ่งเป็นการอนุมานของกลุ่มเราเอง สรุปคือการกระทำเข้าทั้งวงเล็บ 1 และ 2 ตรงกับที่ ก.ล.ต. อ้างครับ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[ผู้พูด: Mr. Pasit Larpkittipanich | เวลา 1:00]
ขอบคุณครับ ก่อนไปเรื่องบทลงโทษ กลุ่มเราลองเช็กด้วยว่ามีความผิดอื่นในหมวดนี้ที่อาจเข้าด้วยหรือเปล่า
มาตรา 240 เรื่องบอกข้อมูลเท็จ ไม่มีข้อเท็จจริงว่าเธอปล่อยข่าว มาตรา 241 เรื่องบทวิเคราะห์ที่บิดเบือน ก็ไม่เกี่ยว มาตรา 242 เรื่องใช้ข้อมูลภายใน ข่าวไม่ได้กล่าวหาเรื่องนี้ มาตรา 244/6 ที่ใช้กับการยืมบัญชีคนอื่นหรือจ่ายเงินแทนกัน ข่าวก็ไม่ได้พูดถึง และมาตรา 244/7 เรื่องทำให้ระบบซื้อขายล่าช้าหรือหยุดชะงัก ก็ไม่มีครับ
ดังนั้นความผิดที่เหลือคือมาตรา 244/3 วงเล็บ 1 และ 2 ประกอบบทสันนิษฐานมาตรา 244/5 วงเล็บ 4 และ 5 ซึ่งตรงกับที่ ก.ล.ต. ระบุไว้ในข่าวครับ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[ผู้พูด: Mr. Pasit Larpkittipanich | เวลา 1:10]
ทีนี้ถ้าคดีนี้ไปทางอาญา โทษจะเป็นอย่างไรครับ มาตรา 296 สำหรับผิดมาตรา 244/3 วงเล็บ 1 จำคุกไม่เกิน 2 ปี หรือปรับตั้งแต่ 5 แสนถึง 2 ล้านบาท หรือทั้งจำทั้งปรับ มาตรา 296/1 สำหรับวงเล็บ 2 หนักขึ้นเป็นจำคุกไม่เกิน 5 ปี หรือปรับ 1 ล้านถึง 5 ล้านบาท หรือทั้งจำทั้งปรับ
และมาตรา 296/2 ถ้าผู้กระทำได้รับหรือพึงได้รับประโยชน์ ให้ปรับไม่เกิน 2 เท่าของประโยชน์ แต่ต้องไม่ต่ำกว่าขั้นต่ำของมาตรา 296 หรือ 296/1 แปลว่าถ้าได้ประโยชน์มาก ค่าปรับก็ทะลุ 5 ล้านได้ครับ
นอกจากนี้ มาตรา 297/1 ยังให้ศาลสั่งให้คืนประโยชน์ ห้ามซื้อขายไม่เกิน 5 ปี และห้ามเป็นกรรมการไม่เกิน 10 ปีได้ด้วย และความผิดนี้เป็นความผิดมูลฐานตามกฎหมายฟอกเงิน ก.ล.ต. จึงส่งเรื่องให้ ปปง. ครับ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[ผู้พูด: Mr. Pasit Larpkittipanich | เวลา 1:20]
แต่ในคดีนี้ ก.ล.ต. เลือกใช้ช่องทางแพ่งครับ มาตรา 317/1 วงเล็บ 1 บอกว่าความผิดตามมาตรา 296 และ 296/1 ใช้มาตรการลงโทษทางแพ่งได้ และมาตรา 317/6 ให้ ก.ล.ต. ส่งเรื่องให้ ค.ม.พ. พิจารณา
มาตรการมีห้าอย่างตามมาตรา 317/4 คือ ค่าปรับทางแพ่ง ชดใช้ประโยชน์ที่ได้ ห้ามซื้อขายไม่เกิน 5 ปี ห้ามเป็นกรรมการหรือผู้บริหารไม่เกิน 10 ปี และชดใช้ค่าใช้จ่ายในการตรวจสอบ ส่วนค่าปรับตามมาตรา 317/5 คือไม่เกิน 2 เท่าของประโยชน์ แต่ไม่ต่ำกว่า 5 แสนบาท ถ้าคำนวณประโยชน์ไม่ได้ก็ปรับ 5 แสนถึง 2 ล้านบาท
จากนั้นแยกเป็นสองทาง ถ้ายินยอมตามมาตรา 317/7 ก็ทำบันทึกการยินยอม จ่ายครบเมื่อไร สิทธิฟ้องคดีอาญาก็ระงับ แต่ถ้าไม่ยินยอม ตามมาตรา 317/8 ก.ล.ต. ต้องฟ้องศาลแพ่ง ดอกเบี้ยเดินตั้งแต่วันฟ้อง และต้องจ่ายครบก่อน สิทธิฟ้องอาญาถึงจะระงับ คดี TSR ไปทางที่สองนี้ครับ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[ผู้พูด: Mr. Passakorn Laksanakorn | เวลา 1:10]
ขอบคุณครับ มาดูตัวเลขจริงของคดีนี้กันครับ เดือนมกราคม 2569 ค.ม.พ. กำหนดให้ชำระ 32,327,329 บาท ซึ่งรวมค่าปรับทางแพ่ง เงินชดใช้ประโยชน์ และค่าใช้จ่ายในการตรวจสอบ พร้อมห้ามซื้อขาย 6 เดือน และห้ามเป็นกรรมการหรือผู้บริหาร 12 เดือน
แต่เธอไม่ยินยอม เดือนพฤษภาคม ก.ล.ต. จึงขอให้อัยการฟ้องศาลแพ่งตามมาตรา 317/8 คราวนี้เรียก 43,018,879.32 บาท พร้อมดอกเบี้ย และขอให้ห้ามซื้อขายและห้ามเป็นกรรมการในอัตราสูงสุดที่กฎหมายกำหนด
ส่วนต่างประมาณ 10.7 ล้านบาท หรือเพิ่มขึ้นราว 33 เปอร์เซ็นต์ แปลว่าการไม่ยอมรับมาตรการทางแพ่งมีต้นทุนสูงขึ้น และตราบใดที่ยังไม่จ่ายครบ ความเสี่ยงคดีอาญาก็ยังไม่หมดไป ณ เดือนตุลาคม 2569 เรายังไม่พบข่าวคำพิพากษาครับ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[ผู้พูด: Mr. Passakorn Laksanakorn | เวลา 0:40]
คดีนี้ไม่ใช่ครั้งเดียวครับ นางสาวภรัณยายังมีคดีสร้างราคาหุ้น MSC อีกคดี ค.ม.พ. กำหนดไว้ประมาณ 249.8 ล้านบาท ผู้กระทำอีกรายยินยอม แต่เธอไม่ยินยอมเหมือนเดิม วันที่ 26 มีนาคม 2569 ก.ล.ต. จึงขอให้อัยการฟ้องเรียก 332.3 ล้านบาท
ที่น่าสนใจคือ ทั้งสองคดี ยอดที่ฟ้องศาลสูงกว่ายอดของ ค.ม.พ. ประมาณ 1.33 เท่าเท่ากันเลยครับ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[ผู้พูด: Mr. Passakorn Laksanakorn | เวลา 1:10]
มาสรุปกันครับ หนึ่ง ข้อเท็จจริง ตลอด 47 วันทำการ มีการเคาะซื้อและครอง Bid จนราคา TSR ถูกดันขึ้น เพื่อให้ SABUY มีกำไรจากมูลค่ายุติธรรมและหากำไรส่วนต่าง
สอง ข้อกฎหมาย การกระทำเข้ามาตรา 244/3 ทั้งวงเล็บ 1 และ 2 โดยมีบทสันนิษฐานมาตรา 244/5 วงเล็บ 4 และ 5 ช่วยพิสูจน์ และไม่เข้าข้อยกเว้นมาตรา 244/4
สาม บทลงโทษ ถ้าเป็นคดีอาญา จำคุกได้ถึง 5 ปี และปรับได้ถึง 2 เท่าของประโยชน์ แต่คดีนี้ใช้ช่องทางแพ่งตามมาตรา 317/1 ถึง 317/8
และสี่ บทเรียน การปั่นหุ้นอาจดูเหมือนได้กำไรระยะสั้น แต่ทุกคำสั่งซื้อขายมีร่องรอยให้ตรวจสอบได้ และการไม่ยอมรับมาตรการทางแพ่งก็ทำให้ยอดเงินสูงขึ้น ส่วนนักลงทุนทั่วไป ถ้าเห็นแรงซื้อหนาผิดปกติในหุ้นที่สภาพคล่องต่ำ ก็ควรระวังก่อนไล่ราคาตามครับ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[ผู้พูด: Mr. Passakorn Laksanakorn | เวลา 0:15]
การนำเสนอของกลุ่มที่ 3 ก็มีเพียงเท่านี้ครับ ขอบคุณอาจารย์และเพื่อน ๆ ทุกคนที่ตั้งใจฟัง หากมีคำถาม เชิญได้เลยครับ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www.mitihoon.com/2026/01/23/611929/" TargetMode="External"/><Relationship Id="rId2" Type="http://schemas.openxmlformats.org/officeDocument/2006/relationships/hyperlink" Target="https://hoonsmart.com/archives/400329" TargetMode="External"/><Relationship Id="rId3" Type="http://schemas.openxmlformats.org/officeDocument/2006/relationships/hyperlink" Target="https://www.thansettakij.com/finance/stockmarket/654988" TargetMode="External"/><Relationship Id="rId4" Type="http://schemas.openxmlformats.org/officeDocument/2006/relationships/hyperlink" Target="https://www.thansettakij.com/finance/658785" TargetMode="External"/><Relationship Id="rId5" Type="http://schemas.openxmlformats.org/officeDocument/2006/relationships/hyperlink" Target="https://hoonsmart.com/archives/417813" TargetMode="External"/><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1.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02920"/>
          </a:xfrm>
          <a:prstGeom prst="rect">
            <a:avLst/>
          </a:prstGeom>
          <a:noFill/>
          <a:ln/>
        </p:spPr>
        <p:txBody>
          <a:bodyPr wrap="square" lIns="0" tIns="0" rIns="0" bIns="0" rtlCol="0" anchor="ctr"/>
          <a:lstStyle/>
          <a:p>
            <a:pPr algn="ctr" indent="0" marL="0">
              <a:buNone/>
            </a:pPr>
            <a:r>
              <a:rPr lang="en-US" sz="2800" b="1" dirty="0">
                <a:solidFill>
                  <a:srgbClr val="000000"/>
                </a:solidFill>
                <a:latin typeface="Times New Roman" pitchFamily="34" charset="0"/>
                <a:ea typeface="Times New Roman" pitchFamily="34" charset="-122"/>
                <a:cs typeface="Times New Roman" pitchFamily="34" charset="-120"/>
              </a:rPr>
              <a:t>GROUP ASSIGNMENT 2 (2026)</a:t>
            </a:r>
            <a:endParaRPr lang="en-US" sz="2800" dirty="0"/>
          </a:p>
        </p:txBody>
      </p:sp>
      <p:sp>
        <p:nvSpPr>
          <p:cNvPr id="3" name="Text 1"/>
          <p:cNvSpPr txBox="1"/>
          <p:nvPr/>
        </p:nvSpPr>
        <p:spPr>
          <a:xfrm>
            <a:off x="457200" y="804672"/>
            <a:ext cx="8229600" cy="365760"/>
          </a:xfrm>
          <a:prstGeom prst="rect">
            <a:avLst/>
          </a:prstGeom>
          <a:noFill/>
          <a:ln/>
        </p:spPr>
        <p:txBody>
          <a:bodyPr wrap="square" lIns="0" tIns="0" rIns="0" bIns="0" rtlCol="0" anchor="ctr"/>
          <a:lstStyle/>
          <a:p>
            <a:pPr algn="ctr" indent="0" marL="0">
              <a:buNone/>
            </a:pPr>
            <a:r>
              <a:rPr lang="en-US" sz="1800" b="1" dirty="0">
                <a:solidFill>
                  <a:srgbClr val="000000"/>
                </a:solidFill>
                <a:latin typeface="Times New Roman" pitchFamily="34" charset="0"/>
                <a:ea typeface="Times New Roman" pitchFamily="34" charset="-122"/>
                <a:cs typeface="Times New Roman" pitchFamily="34" charset="-120"/>
              </a:rPr>
              <a:t>Group 3</a:t>
            </a:r>
            <a:endParaRPr lang="en-US" sz="18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1188720" y="1325880"/>
          <a:ext cx="6766560" cy="914400"/>
        </p:xfrm>
        <a:graphic>
          <a:graphicData uri="http://schemas.openxmlformats.org/drawingml/2006/table">
            <a:tbl>
              <a:tblPr/>
              <a:tblGrid>
                <a:gridCol w="640080"/>
                <a:gridCol w="1371600"/>
                <a:gridCol w="2926080"/>
                <a:gridCol w="1828800"/>
              </a:tblGrid>
              <a:tr h="301752">
                <a:tc>
                  <a:txBody>
                    <a:bodyPr/>
                    <a:lstStyle/>
                    <a:p>
                      <a:pPr algn="ctr" indent="0" marL="0">
                        <a:buNone/>
                      </a:pPr>
                      <a:r>
                        <a:rPr lang="en-US" sz="1200" b="1" dirty="0">
                          <a:solidFill>
                            <a:srgbClr val="000000"/>
                          </a:solidFill>
                          <a:latin typeface="Times New Roman" pitchFamily="34" charset="0"/>
                          <a:ea typeface="Times New Roman" pitchFamily="34" charset="-122"/>
                          <a:cs typeface="Times New Roman" pitchFamily="34" charset="-120"/>
                        </a:rPr>
                        <a:t>No.</a:t>
                      </a:r>
                      <a:endParaRPr lang="en-US" sz="1200" dirty="0">
                        <a:latin typeface="Times New Roman" charset="0"/>
                        <a:ea typeface="Times New Roman" charset="0"/>
                        <a:cs typeface="Times New Roman" charset="0"/>
                      </a:endParaRPr>
                    </a:p>
                  </a:txBody>
                  <a:tcPr marL="36576" marR="36576" marT="36576" marB="3657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CE6F1"/>
                    </a:solidFill>
                  </a:tcPr>
                </a:tc>
                <a:tc>
                  <a:txBody>
                    <a:bodyPr/>
                    <a:lstStyle/>
                    <a:p>
                      <a:pPr algn="ctr" indent="0" marL="0">
                        <a:buNone/>
                      </a:pPr>
                      <a:r>
                        <a:rPr lang="en-US" sz="1200" b="1" dirty="0">
                          <a:solidFill>
                            <a:srgbClr val="000000"/>
                          </a:solidFill>
                          <a:latin typeface="Times New Roman" pitchFamily="34" charset="0"/>
                          <a:ea typeface="Times New Roman" pitchFamily="34" charset="-122"/>
                          <a:cs typeface="Times New Roman" pitchFamily="34" charset="-120"/>
                        </a:rPr>
                        <a:t>Student ID</a:t>
                      </a:r>
                      <a:endParaRPr lang="en-US" sz="1200" dirty="0">
                        <a:latin typeface="Times New Roman" charset="0"/>
                        <a:ea typeface="Times New Roman" charset="0"/>
                        <a:cs typeface="Times New Roman" charset="0"/>
                      </a:endParaRPr>
                    </a:p>
                  </a:txBody>
                  <a:tcPr marL="36576" marR="36576" marT="36576" marB="3657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CE6F1"/>
                    </a:solidFill>
                  </a:tcPr>
                </a:tc>
                <a:tc>
                  <a:txBody>
                    <a:bodyPr/>
                    <a:lstStyle/>
                    <a:p>
                      <a:pPr algn="ctr" indent="0" marL="0">
                        <a:buNone/>
                      </a:pPr>
                      <a:r>
                        <a:rPr lang="en-US" sz="1200" b="1" dirty="0">
                          <a:solidFill>
                            <a:srgbClr val="000000"/>
                          </a:solidFill>
                          <a:latin typeface="Times New Roman" pitchFamily="34" charset="0"/>
                          <a:ea typeface="Times New Roman" pitchFamily="34" charset="-122"/>
                          <a:cs typeface="Times New Roman" pitchFamily="34" charset="-120"/>
                        </a:rPr>
                        <a:t>Full Name</a:t>
                      </a:r>
                      <a:endParaRPr lang="en-US" sz="1200" dirty="0">
                        <a:latin typeface="Times New Roman" charset="0"/>
                        <a:ea typeface="Times New Roman" charset="0"/>
                        <a:cs typeface="Times New Roman" charset="0"/>
                      </a:endParaRPr>
                    </a:p>
                  </a:txBody>
                  <a:tcPr marL="36576" marR="36576" marT="36576" marB="3657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CE6F1"/>
                    </a:solidFill>
                  </a:tcPr>
                </a:tc>
                <a:tc>
                  <a:txBody>
                    <a:bodyPr/>
                    <a:lstStyle/>
                    <a:p>
                      <a:pPr algn="ctr" indent="0" marL="0">
                        <a:buNone/>
                      </a:pPr>
                      <a:r>
                        <a:rPr lang="en-US" sz="1200" b="1" dirty="0">
                          <a:solidFill>
                            <a:srgbClr val="000000"/>
                          </a:solidFill>
                          <a:latin typeface="Times New Roman" pitchFamily="34" charset="0"/>
                          <a:ea typeface="Times New Roman" pitchFamily="34" charset="-122"/>
                          <a:cs typeface="Times New Roman" pitchFamily="34" charset="-120"/>
                        </a:rPr>
                        <a:t>Participation Rate (%)</a:t>
                      </a:r>
                      <a:endParaRPr lang="en-US" sz="1200" dirty="0">
                        <a:latin typeface="Times New Roman" charset="0"/>
                        <a:ea typeface="Times New Roman" charset="0"/>
                        <a:cs typeface="Times New Roman" charset="0"/>
                      </a:endParaRPr>
                    </a:p>
                  </a:txBody>
                  <a:tcPr marL="36576" marR="36576" marT="36576" marB="3657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CE6F1"/>
                    </a:solidFill>
                  </a:tcPr>
                </a:tc>
              </a:tr>
              <a:tr h="301752">
                <a:tc>
                  <a:txBody>
                    <a:bodyPr/>
                    <a:lstStyle/>
                    <a:p>
                      <a:pPr algn="ctr" indent="0" marL="0">
                        <a:buNone/>
                      </a:pPr>
                      <a:r>
                        <a:rPr lang="en-US" sz="1200" dirty="0">
                          <a:solidFill>
                            <a:srgbClr val="000000"/>
                          </a:solidFill>
                          <a:latin typeface="Times New Roman" pitchFamily="34" charset="0"/>
                          <a:ea typeface="Times New Roman" pitchFamily="34" charset="-122"/>
                          <a:cs typeface="Times New Roman" pitchFamily="34" charset="-120"/>
                        </a:rPr>
                        <a:t>1</a:t>
                      </a:r>
                      <a:endParaRPr lang="en-US" sz="1200" dirty="0">
                        <a:latin typeface="Times New Roman" charset="0"/>
                        <a:ea typeface="Times New Roman" charset="0"/>
                        <a:cs typeface="Times New Roman" charset="0"/>
                      </a:endParaRPr>
                    </a:p>
                  </a:txBody>
                  <a:tcPr marL="36576" marR="36576" marT="36576" marB="3657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indent="0" marL="0">
                        <a:buNone/>
                      </a:pPr>
                      <a:r>
                        <a:rPr lang="en-US" sz="1200" dirty="0">
                          <a:solidFill>
                            <a:srgbClr val="000000"/>
                          </a:solidFill>
                          <a:latin typeface="Times New Roman" pitchFamily="34" charset="0"/>
                          <a:ea typeface="Times New Roman" pitchFamily="34" charset="-122"/>
                          <a:cs typeface="Times New Roman" pitchFamily="34" charset="-120"/>
                        </a:rPr>
                        <a:t>66011078</a:t>
                      </a:r>
                      <a:endParaRPr lang="en-US" sz="1200" dirty="0">
                        <a:latin typeface="Times New Roman" charset="0"/>
                        <a:ea typeface="Times New Roman" charset="0"/>
                        <a:cs typeface="Times New Roman" charset="0"/>
                      </a:endParaRPr>
                    </a:p>
                  </a:txBody>
                  <a:tcPr marL="36576" marR="36576" marT="36576" marB="3657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indent="0" marL="0">
                        <a:buNone/>
                      </a:pPr>
                      <a:r>
                        <a:rPr lang="en-US" sz="1200" dirty="0">
                          <a:solidFill>
                            <a:srgbClr val="000000"/>
                          </a:solidFill>
                          <a:latin typeface="Times New Roman" pitchFamily="34" charset="0"/>
                          <a:ea typeface="Times New Roman" pitchFamily="34" charset="-122"/>
                          <a:cs typeface="Times New Roman" pitchFamily="34" charset="-120"/>
                        </a:rPr>
                        <a:t>Mr. Natachat Teecharcharn</a:t>
                      </a:r>
                      <a:endParaRPr lang="en-US" sz="1200" dirty="0">
                        <a:latin typeface="Times New Roman" charset="0"/>
                        <a:ea typeface="Times New Roman" charset="0"/>
                        <a:cs typeface="Times New Roman" charset="0"/>
                      </a:endParaRPr>
                    </a:p>
                  </a:txBody>
                  <a:tcPr marL="36576" marR="36576" marT="36576" marB="3657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indent="0" marL="0">
                        <a:buNone/>
                      </a:pPr>
                      <a:endParaRPr lang="en-US" sz="1200" dirty="0">
                        <a:latin typeface="Times New Roman" charset="0"/>
                        <a:ea typeface="Times New Roman" charset="0"/>
                        <a:cs typeface="Times New Roman" charset="0"/>
                      </a:endParaRPr>
                    </a:p>
                  </a:txBody>
                  <a:tcPr marL="36576" marR="36576" marT="36576" marB="3657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301752">
                <a:tc>
                  <a:txBody>
                    <a:bodyPr/>
                    <a:lstStyle/>
                    <a:p>
                      <a:pPr algn="ctr" indent="0" marL="0">
                        <a:buNone/>
                      </a:pPr>
                      <a:r>
                        <a:rPr lang="en-US" sz="1200" dirty="0">
                          <a:solidFill>
                            <a:srgbClr val="000000"/>
                          </a:solidFill>
                          <a:latin typeface="Times New Roman" pitchFamily="34" charset="0"/>
                          <a:ea typeface="Times New Roman" pitchFamily="34" charset="-122"/>
                          <a:cs typeface="Times New Roman" pitchFamily="34" charset="-120"/>
                        </a:rPr>
                        <a:t>2</a:t>
                      </a:r>
                      <a:endParaRPr lang="en-US" sz="1200" dirty="0">
                        <a:latin typeface="Times New Roman" charset="0"/>
                        <a:ea typeface="Times New Roman" charset="0"/>
                        <a:cs typeface="Times New Roman" charset="0"/>
                      </a:endParaRPr>
                    </a:p>
                  </a:txBody>
                  <a:tcPr marL="36576" marR="36576" marT="36576" marB="3657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indent="0" marL="0">
                        <a:buNone/>
                      </a:pPr>
                      <a:r>
                        <a:rPr lang="en-US" sz="1200" dirty="0">
                          <a:solidFill>
                            <a:srgbClr val="000000"/>
                          </a:solidFill>
                          <a:latin typeface="Times New Roman" pitchFamily="34" charset="0"/>
                          <a:ea typeface="Times New Roman" pitchFamily="34" charset="-122"/>
                          <a:cs typeface="Times New Roman" pitchFamily="34" charset="-120"/>
                        </a:rPr>
                        <a:t>66011097</a:t>
                      </a:r>
                      <a:endParaRPr lang="en-US" sz="1200" dirty="0">
                        <a:latin typeface="Times New Roman" charset="0"/>
                        <a:ea typeface="Times New Roman" charset="0"/>
                        <a:cs typeface="Times New Roman" charset="0"/>
                      </a:endParaRPr>
                    </a:p>
                  </a:txBody>
                  <a:tcPr marL="36576" marR="36576" marT="36576" marB="3657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indent="0" marL="0">
                        <a:buNone/>
                      </a:pPr>
                      <a:r>
                        <a:rPr lang="en-US" sz="1200" dirty="0">
                          <a:solidFill>
                            <a:srgbClr val="000000"/>
                          </a:solidFill>
                          <a:latin typeface="Times New Roman" pitchFamily="34" charset="0"/>
                          <a:ea typeface="Times New Roman" pitchFamily="34" charset="-122"/>
                          <a:cs typeface="Times New Roman" pitchFamily="34" charset="-120"/>
                        </a:rPr>
                        <a:t>Mr. Nutdanai Jindadang</a:t>
                      </a:r>
                      <a:endParaRPr lang="en-US" sz="1200" dirty="0">
                        <a:latin typeface="Times New Roman" charset="0"/>
                        <a:ea typeface="Times New Roman" charset="0"/>
                        <a:cs typeface="Times New Roman" charset="0"/>
                      </a:endParaRPr>
                    </a:p>
                  </a:txBody>
                  <a:tcPr marL="36576" marR="36576" marT="36576" marB="3657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indent="0" marL="0">
                        <a:buNone/>
                      </a:pPr>
                      <a:endParaRPr lang="en-US" sz="1200" dirty="0">
                        <a:latin typeface="Times New Roman" charset="0"/>
                        <a:ea typeface="Times New Roman" charset="0"/>
                        <a:cs typeface="Times New Roman" charset="0"/>
                      </a:endParaRPr>
                    </a:p>
                  </a:txBody>
                  <a:tcPr marL="36576" marR="36576" marT="36576" marB="3657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301752">
                <a:tc>
                  <a:txBody>
                    <a:bodyPr/>
                    <a:lstStyle/>
                    <a:p>
                      <a:pPr algn="ctr" indent="0" marL="0">
                        <a:buNone/>
                      </a:pPr>
                      <a:r>
                        <a:rPr lang="en-US" sz="1200" dirty="0">
                          <a:solidFill>
                            <a:srgbClr val="000000"/>
                          </a:solidFill>
                          <a:latin typeface="Times New Roman" pitchFamily="34" charset="0"/>
                          <a:ea typeface="Times New Roman" pitchFamily="34" charset="-122"/>
                          <a:cs typeface="Times New Roman" pitchFamily="34" charset="-120"/>
                        </a:rPr>
                        <a:t>3</a:t>
                      </a:r>
                      <a:endParaRPr lang="en-US" sz="1200" dirty="0">
                        <a:latin typeface="Times New Roman" charset="0"/>
                        <a:ea typeface="Times New Roman" charset="0"/>
                        <a:cs typeface="Times New Roman" charset="0"/>
                      </a:endParaRPr>
                    </a:p>
                  </a:txBody>
                  <a:tcPr marL="36576" marR="36576" marT="36576" marB="3657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indent="0" marL="0">
                        <a:buNone/>
                      </a:pPr>
                      <a:r>
                        <a:rPr lang="en-US" sz="1200" dirty="0">
                          <a:solidFill>
                            <a:srgbClr val="000000"/>
                          </a:solidFill>
                          <a:latin typeface="Times New Roman" pitchFamily="34" charset="0"/>
                          <a:ea typeface="Times New Roman" pitchFamily="34" charset="-122"/>
                          <a:cs typeface="Times New Roman" pitchFamily="34" charset="-120"/>
                        </a:rPr>
                        <a:t>66011104</a:t>
                      </a:r>
                      <a:endParaRPr lang="en-US" sz="1200" dirty="0">
                        <a:latin typeface="Times New Roman" charset="0"/>
                        <a:ea typeface="Times New Roman" charset="0"/>
                        <a:cs typeface="Times New Roman" charset="0"/>
                      </a:endParaRPr>
                    </a:p>
                  </a:txBody>
                  <a:tcPr marL="36576" marR="36576" marT="36576" marB="3657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indent="0" marL="0">
                        <a:buNone/>
                      </a:pPr>
                      <a:r>
                        <a:rPr lang="en-US" sz="1200" dirty="0">
                          <a:solidFill>
                            <a:srgbClr val="000000"/>
                          </a:solidFill>
                          <a:latin typeface="Times New Roman" pitchFamily="34" charset="0"/>
                          <a:ea typeface="Times New Roman" pitchFamily="34" charset="-122"/>
                          <a:cs typeface="Times New Roman" pitchFamily="34" charset="-120"/>
                        </a:rPr>
                        <a:t>Miss Pamika Chantin</a:t>
                      </a:r>
                      <a:endParaRPr lang="en-US" sz="1200" dirty="0">
                        <a:latin typeface="Times New Roman" charset="0"/>
                        <a:ea typeface="Times New Roman" charset="0"/>
                        <a:cs typeface="Times New Roman" charset="0"/>
                      </a:endParaRPr>
                    </a:p>
                  </a:txBody>
                  <a:tcPr marL="36576" marR="36576" marT="36576" marB="3657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indent="0" marL="0">
                        <a:buNone/>
                      </a:pPr>
                      <a:endParaRPr lang="en-US" sz="1200" dirty="0">
                        <a:latin typeface="Times New Roman" charset="0"/>
                        <a:ea typeface="Times New Roman" charset="0"/>
                        <a:cs typeface="Times New Roman" charset="0"/>
                      </a:endParaRPr>
                    </a:p>
                  </a:txBody>
                  <a:tcPr marL="36576" marR="36576" marT="36576" marB="3657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301752">
                <a:tc>
                  <a:txBody>
                    <a:bodyPr/>
                    <a:lstStyle/>
                    <a:p>
                      <a:pPr algn="ctr" indent="0" marL="0">
                        <a:buNone/>
                      </a:pPr>
                      <a:r>
                        <a:rPr lang="en-US" sz="1200" dirty="0">
                          <a:solidFill>
                            <a:srgbClr val="000000"/>
                          </a:solidFill>
                          <a:latin typeface="Times New Roman" pitchFamily="34" charset="0"/>
                          <a:ea typeface="Times New Roman" pitchFamily="34" charset="-122"/>
                          <a:cs typeface="Times New Roman" pitchFamily="34" charset="-120"/>
                        </a:rPr>
                        <a:t>4</a:t>
                      </a:r>
                      <a:endParaRPr lang="en-US" sz="1200" dirty="0">
                        <a:latin typeface="Times New Roman" charset="0"/>
                        <a:ea typeface="Times New Roman" charset="0"/>
                        <a:cs typeface="Times New Roman" charset="0"/>
                      </a:endParaRPr>
                    </a:p>
                  </a:txBody>
                  <a:tcPr marL="36576" marR="36576" marT="36576" marB="3657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indent="0" marL="0">
                        <a:buNone/>
                      </a:pPr>
                      <a:r>
                        <a:rPr lang="en-US" sz="1200" dirty="0">
                          <a:solidFill>
                            <a:srgbClr val="000000"/>
                          </a:solidFill>
                          <a:latin typeface="Times New Roman" pitchFamily="34" charset="0"/>
                          <a:ea typeface="Times New Roman" pitchFamily="34" charset="-122"/>
                          <a:cs typeface="Times New Roman" pitchFamily="34" charset="-120"/>
                        </a:rPr>
                        <a:t>66011106</a:t>
                      </a:r>
                      <a:endParaRPr lang="en-US" sz="1200" dirty="0">
                        <a:latin typeface="Times New Roman" charset="0"/>
                        <a:ea typeface="Times New Roman" charset="0"/>
                        <a:cs typeface="Times New Roman" charset="0"/>
                      </a:endParaRPr>
                    </a:p>
                  </a:txBody>
                  <a:tcPr marL="36576" marR="36576" marT="36576" marB="3657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indent="0" marL="0">
                        <a:buNone/>
                      </a:pPr>
                      <a:r>
                        <a:rPr lang="en-US" sz="1200" dirty="0">
                          <a:solidFill>
                            <a:srgbClr val="000000"/>
                          </a:solidFill>
                          <a:latin typeface="Times New Roman" pitchFamily="34" charset="0"/>
                          <a:ea typeface="Times New Roman" pitchFamily="34" charset="-122"/>
                          <a:cs typeface="Times New Roman" pitchFamily="34" charset="-120"/>
                        </a:rPr>
                        <a:t>Mr. Panas Sri-Anant</a:t>
                      </a:r>
                      <a:endParaRPr lang="en-US" sz="1200" dirty="0">
                        <a:latin typeface="Times New Roman" charset="0"/>
                        <a:ea typeface="Times New Roman" charset="0"/>
                        <a:cs typeface="Times New Roman" charset="0"/>
                      </a:endParaRPr>
                    </a:p>
                  </a:txBody>
                  <a:tcPr marL="36576" marR="36576" marT="36576" marB="3657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indent="0" marL="0">
                        <a:buNone/>
                      </a:pPr>
                      <a:endParaRPr lang="en-US" sz="1200" dirty="0">
                        <a:latin typeface="Times New Roman" charset="0"/>
                        <a:ea typeface="Times New Roman" charset="0"/>
                        <a:cs typeface="Times New Roman" charset="0"/>
                      </a:endParaRPr>
                    </a:p>
                  </a:txBody>
                  <a:tcPr marL="36576" marR="36576" marT="36576" marB="3657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301752">
                <a:tc>
                  <a:txBody>
                    <a:bodyPr/>
                    <a:lstStyle/>
                    <a:p>
                      <a:pPr algn="ctr" indent="0" marL="0">
                        <a:buNone/>
                      </a:pPr>
                      <a:r>
                        <a:rPr lang="en-US" sz="1200" dirty="0">
                          <a:solidFill>
                            <a:srgbClr val="000000"/>
                          </a:solidFill>
                          <a:latin typeface="Times New Roman" pitchFamily="34" charset="0"/>
                          <a:ea typeface="Times New Roman" pitchFamily="34" charset="-122"/>
                          <a:cs typeface="Times New Roman" pitchFamily="34" charset="-120"/>
                        </a:rPr>
                        <a:t>5</a:t>
                      </a:r>
                      <a:endParaRPr lang="en-US" sz="1200" dirty="0">
                        <a:latin typeface="Times New Roman" charset="0"/>
                        <a:ea typeface="Times New Roman" charset="0"/>
                        <a:cs typeface="Times New Roman" charset="0"/>
                      </a:endParaRPr>
                    </a:p>
                  </a:txBody>
                  <a:tcPr marL="36576" marR="36576" marT="36576" marB="3657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indent="0" marL="0">
                        <a:buNone/>
                      </a:pPr>
                      <a:r>
                        <a:rPr lang="en-US" sz="1200" dirty="0">
                          <a:solidFill>
                            <a:srgbClr val="000000"/>
                          </a:solidFill>
                          <a:latin typeface="Times New Roman" pitchFamily="34" charset="0"/>
                          <a:ea typeface="Times New Roman" pitchFamily="34" charset="-122"/>
                          <a:cs typeface="Times New Roman" pitchFamily="34" charset="-120"/>
                        </a:rPr>
                        <a:t>66011126</a:t>
                      </a:r>
                      <a:endParaRPr lang="en-US" sz="1200" dirty="0">
                        <a:latin typeface="Times New Roman" charset="0"/>
                        <a:ea typeface="Times New Roman" charset="0"/>
                        <a:cs typeface="Times New Roman" charset="0"/>
                      </a:endParaRPr>
                    </a:p>
                  </a:txBody>
                  <a:tcPr marL="36576" marR="36576" marT="36576" marB="3657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indent="0" marL="0">
                        <a:buNone/>
                      </a:pPr>
                      <a:r>
                        <a:rPr lang="en-US" sz="1200" dirty="0">
                          <a:solidFill>
                            <a:srgbClr val="000000"/>
                          </a:solidFill>
                          <a:latin typeface="Times New Roman" pitchFamily="34" charset="0"/>
                          <a:ea typeface="Times New Roman" pitchFamily="34" charset="-122"/>
                          <a:cs typeface="Times New Roman" pitchFamily="34" charset="-120"/>
                        </a:rPr>
                        <a:t>Mr. Pasit Larpkittipanich</a:t>
                      </a:r>
                      <a:endParaRPr lang="en-US" sz="1200" dirty="0">
                        <a:latin typeface="Times New Roman" charset="0"/>
                        <a:ea typeface="Times New Roman" charset="0"/>
                        <a:cs typeface="Times New Roman" charset="0"/>
                      </a:endParaRPr>
                    </a:p>
                  </a:txBody>
                  <a:tcPr marL="36576" marR="36576" marT="36576" marB="3657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indent="0" marL="0">
                        <a:buNone/>
                      </a:pPr>
                      <a:endParaRPr lang="en-US" sz="1200" dirty="0">
                        <a:latin typeface="Times New Roman" charset="0"/>
                        <a:ea typeface="Times New Roman" charset="0"/>
                        <a:cs typeface="Times New Roman" charset="0"/>
                      </a:endParaRPr>
                    </a:p>
                  </a:txBody>
                  <a:tcPr marL="36576" marR="36576" marT="36576" marB="3657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301752">
                <a:tc>
                  <a:txBody>
                    <a:bodyPr/>
                    <a:lstStyle/>
                    <a:p>
                      <a:pPr algn="ctr" indent="0" marL="0">
                        <a:buNone/>
                      </a:pPr>
                      <a:r>
                        <a:rPr lang="en-US" sz="1200" dirty="0">
                          <a:solidFill>
                            <a:srgbClr val="000000"/>
                          </a:solidFill>
                          <a:latin typeface="Times New Roman" pitchFamily="34" charset="0"/>
                          <a:ea typeface="Times New Roman" pitchFamily="34" charset="-122"/>
                          <a:cs typeface="Times New Roman" pitchFamily="34" charset="-120"/>
                        </a:rPr>
                        <a:t>6</a:t>
                      </a:r>
                      <a:endParaRPr lang="en-US" sz="1200" dirty="0">
                        <a:latin typeface="Times New Roman" charset="0"/>
                        <a:ea typeface="Times New Roman" charset="0"/>
                        <a:cs typeface="Times New Roman" charset="0"/>
                      </a:endParaRPr>
                    </a:p>
                  </a:txBody>
                  <a:tcPr marL="36576" marR="36576" marT="36576" marB="3657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indent="0" marL="0">
                        <a:buNone/>
                      </a:pPr>
                      <a:r>
                        <a:rPr lang="en-US" sz="1200" dirty="0">
                          <a:solidFill>
                            <a:srgbClr val="000000"/>
                          </a:solidFill>
                          <a:latin typeface="Times New Roman" pitchFamily="34" charset="0"/>
                          <a:ea typeface="Times New Roman" pitchFamily="34" charset="-122"/>
                          <a:cs typeface="Times New Roman" pitchFamily="34" charset="-120"/>
                        </a:rPr>
                        <a:t>66011128</a:t>
                      </a:r>
                      <a:endParaRPr lang="en-US" sz="1200" dirty="0">
                        <a:latin typeface="Times New Roman" charset="0"/>
                        <a:ea typeface="Times New Roman" charset="0"/>
                        <a:cs typeface="Times New Roman" charset="0"/>
                      </a:endParaRPr>
                    </a:p>
                  </a:txBody>
                  <a:tcPr marL="36576" marR="36576" marT="36576" marB="3657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indent="0" marL="0">
                        <a:buNone/>
                      </a:pPr>
                      <a:r>
                        <a:rPr lang="en-US" sz="1200" dirty="0">
                          <a:solidFill>
                            <a:srgbClr val="000000"/>
                          </a:solidFill>
                          <a:latin typeface="Times New Roman" pitchFamily="34" charset="0"/>
                          <a:ea typeface="Times New Roman" pitchFamily="34" charset="-122"/>
                          <a:cs typeface="Times New Roman" pitchFamily="34" charset="-120"/>
                        </a:rPr>
                        <a:t>Mr. Passakorn Laksanakorn</a:t>
                      </a:r>
                      <a:endParaRPr lang="en-US" sz="1200" dirty="0">
                        <a:latin typeface="Times New Roman" charset="0"/>
                        <a:ea typeface="Times New Roman" charset="0"/>
                        <a:cs typeface="Times New Roman" charset="0"/>
                      </a:endParaRPr>
                    </a:p>
                  </a:txBody>
                  <a:tcPr marL="36576" marR="36576" marT="36576" marB="3657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indent="0" marL="0">
                        <a:buNone/>
                      </a:pPr>
                      <a:endParaRPr lang="en-US" sz="1200" dirty="0">
                        <a:latin typeface="Times New Roman" charset="0"/>
                        <a:ea typeface="Times New Roman" charset="0"/>
                        <a:cs typeface="Times New Roman" charset="0"/>
                      </a:endParaRPr>
                    </a:p>
                  </a:txBody>
                  <a:tcPr marL="36576" marR="36576" marT="36576" marB="3657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bl>
          </a:graphicData>
        </a:graphic>
      </p:graphicFrame>
      <p:sp>
        <p:nvSpPr>
          <p:cNvPr id="5" name="Text 2"/>
          <p:cNvSpPr txBox="1"/>
          <p:nvPr/>
        </p:nvSpPr>
        <p:spPr>
          <a:xfrm>
            <a:off x="457200" y="3703320"/>
            <a:ext cx="8229600" cy="914400"/>
          </a:xfrm>
          <a:prstGeom prst="rect">
            <a:avLst/>
          </a:prstGeom>
          <a:noFill/>
          <a:ln/>
        </p:spPr>
        <p:txBody>
          <a:bodyPr wrap="square" lIns="0" tIns="0" rIns="0" bIns="0" rtlCol="0" anchor="t"/>
          <a:lstStyle/>
          <a:p>
            <a:pPr algn="ctr" indent="0" marL="0">
              <a:lnSpc>
                <a:spcPct val="115000"/>
              </a:lnSpc>
              <a:buNone/>
            </a:pPr>
            <a:r>
              <a:rPr lang="en-US" sz="1300" dirty="0">
                <a:solidFill>
                  <a:srgbClr val="000000"/>
                </a:solidFill>
                <a:latin typeface="Times New Roman" pitchFamily="34" charset="0"/>
                <a:ea typeface="Times New Roman" pitchFamily="34" charset="-122"/>
                <a:cs typeface="Times New Roman" pitchFamily="34" charset="-120"/>
              </a:rPr>
              <a:t>Submission Date: 21 October 2026</a:t>
            </a:r>
            <a:endParaRPr lang="en-US" sz="1300" dirty="0"/>
          </a:p>
          <a:p>
            <a:pPr algn="ctr" indent="0" marL="0">
              <a:lnSpc>
                <a:spcPct val="115000"/>
              </a:lnSpc>
              <a:buNone/>
            </a:pPr>
            <a:r>
              <a:rPr lang="en-US" sz="1300" dirty="0">
                <a:solidFill>
                  <a:srgbClr val="000000"/>
                </a:solidFill>
                <a:latin typeface="Times New Roman" pitchFamily="34" charset="0"/>
                <a:ea typeface="Times New Roman" pitchFamily="34" charset="-122"/>
                <a:cs typeface="Times New Roman" pitchFamily="34" charset="-120"/>
              </a:rPr>
              <a:t>Ethics and Law for Financial Engineers</a:t>
            </a:r>
            <a:endParaRPr lang="en-US" sz="1300" dirty="0"/>
          </a:p>
          <a:p>
            <a:pPr algn="ctr" indent="0" marL="0">
              <a:lnSpc>
                <a:spcPct val="115000"/>
              </a:lnSpc>
              <a:buNone/>
            </a:pPr>
            <a:r>
              <a:rPr lang="en-US" sz="1300" dirty="0">
                <a:solidFill>
                  <a:srgbClr val="000000"/>
                </a:solidFill>
                <a:latin typeface="Times New Roman" pitchFamily="34" charset="0"/>
                <a:ea typeface="Times New Roman" pitchFamily="34" charset="-122"/>
                <a:cs typeface="Times New Roman" pitchFamily="34" charset="-120"/>
              </a:rPr>
              <a:t>Instructor: Dr. Chatchai Lapprathana</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B2D"/>
        </a:solidFill>
      </p:bgPr>
    </p:bg>
    <p:spTree>
      <p:nvGrpSpPr>
        <p:cNvPr id="1" name=""/>
        <p:cNvGrpSpPr/>
        <p:nvPr/>
      </p:nvGrpSpPr>
      <p:grpSpPr>
        <a:xfrm>
          <a:off x="0" y="0"/>
          <a:ext cx="0" cy="0"/>
          <a:chOff x="0" y="0"/>
          <a:chExt cx="0" cy="0"/>
        </a:xfrm>
      </p:grpSpPr>
      <p:sp>
        <p:nvSpPr>
          <p:cNvPr id="2" name="Text 0"/>
          <p:cNvSpPr txBox="1"/>
          <p:nvPr/>
        </p:nvSpPr>
        <p:spPr>
          <a:xfrm>
            <a:off x="548640" y="868680"/>
            <a:ext cx="5486400" cy="274320"/>
          </a:xfrm>
          <a:prstGeom prst="rect">
            <a:avLst/>
          </a:prstGeom>
          <a:noFill/>
          <a:ln/>
        </p:spPr>
        <p:txBody>
          <a:bodyPr wrap="square" lIns="0" tIns="0" rIns="0" bIns="0" rtlCol="0" anchor="ctr"/>
          <a:lstStyle/>
          <a:p>
            <a:pPr indent="0" marL="0">
              <a:buNone/>
            </a:pPr>
            <a:r>
              <a:rPr lang="en-US" sz="1000" b="1" spc="150" kern="0" dirty="0">
                <a:solidFill>
                  <a:srgbClr val="E4572E"/>
                </a:solidFill>
                <a:latin typeface="Montserrat" pitchFamily="34" charset="0"/>
                <a:ea typeface="Montserrat" pitchFamily="34" charset="-122"/>
                <a:cs typeface="Montserrat" pitchFamily="34" charset="-120"/>
              </a:rPr>
              <a:t>SECURITIES AND EXCHANGE ACT B.E. 2535 (1992)  ·  CASE STUDY</a:t>
            </a:r>
            <a:endParaRPr lang="en-US" sz="1000" dirty="0"/>
          </a:p>
        </p:txBody>
      </p:sp>
      <p:sp>
        <p:nvSpPr>
          <p:cNvPr id="3" name="Text 1"/>
          <p:cNvSpPr txBox="1"/>
          <p:nvPr/>
        </p:nvSpPr>
        <p:spPr>
          <a:xfrm>
            <a:off x="548640" y="1234440"/>
            <a:ext cx="5120640" cy="1325880"/>
          </a:xfrm>
          <a:prstGeom prst="rect">
            <a:avLst/>
          </a:prstGeom>
          <a:noFill/>
          <a:ln/>
        </p:spPr>
        <p:txBody>
          <a:bodyPr wrap="square" lIns="0" tIns="0" rIns="0" bIns="0" rtlCol="0" anchor="t"/>
          <a:lstStyle/>
          <a:p>
            <a:pPr indent="0" marL="0">
              <a:buNone/>
            </a:pPr>
            <a:r>
              <a:rPr lang="en-US" sz="3600" b="1" dirty="0">
                <a:solidFill>
                  <a:srgbClr val="FFFFFF"/>
                </a:solidFill>
                <a:latin typeface="Montserrat" pitchFamily="34" charset="0"/>
                <a:ea typeface="Montserrat" pitchFamily="34" charset="-122"/>
                <a:cs typeface="Montserrat" pitchFamily="34" charset="-120"/>
              </a:rPr>
              <a:t>Manipulating the Price of TSR Shares</a:t>
            </a:r>
            <a:endParaRPr lang="en-US" sz="3600" dirty="0"/>
          </a:p>
        </p:txBody>
      </p:sp>
      <p:sp>
        <p:nvSpPr>
          <p:cNvPr id="4" name="Text 2"/>
          <p:cNvSpPr txBox="1"/>
          <p:nvPr/>
        </p:nvSpPr>
        <p:spPr>
          <a:xfrm>
            <a:off x="548640" y="2697480"/>
            <a:ext cx="4937760" cy="868680"/>
          </a:xfrm>
          <a:prstGeom prst="rect">
            <a:avLst/>
          </a:prstGeom>
          <a:noFill/>
          <a:ln/>
        </p:spPr>
        <p:txBody>
          <a:bodyPr wrap="square" lIns="0" tIns="0" rIns="0" bIns="0" rtlCol="0" anchor="t"/>
          <a:lstStyle/>
          <a:p>
            <a:pPr indent="0" marL="0">
              <a:buNone/>
            </a:pPr>
            <a:r>
              <a:rPr lang="en-US" sz="1400" dirty="0">
                <a:solidFill>
                  <a:srgbClr val="C9D6E8"/>
                </a:solidFill>
                <a:latin typeface="Sarabun" pitchFamily="34" charset="0"/>
                <a:ea typeface="Sarabun" pitchFamily="34" charset="-122"/>
                <a:cs typeface="Sarabun" pitchFamily="34" charset="-120"/>
              </a:rPr>
              <a:t>Unfair securities trading under Sections 244/3 and 244/5, the criminal penalties in Sections 296–296/2, and the civil sanction route in Sections 317/1–317/8</a:t>
            </a:r>
            <a:endParaRPr lang="en-US" sz="1400" dirty="0"/>
          </a:p>
        </p:txBody>
      </p:sp>
      <p:sp>
        <p:nvSpPr>
          <p:cNvPr id="5" name="Text 3"/>
          <p:cNvSpPr txBox="1"/>
          <p:nvPr/>
        </p:nvSpPr>
        <p:spPr>
          <a:xfrm>
            <a:off x="548640" y="4297680"/>
            <a:ext cx="5486400" cy="274320"/>
          </a:xfrm>
          <a:prstGeom prst="rect">
            <a:avLst/>
          </a:prstGeom>
          <a:noFill/>
          <a:ln/>
        </p:spPr>
        <p:txBody>
          <a:bodyPr wrap="square" lIns="0" tIns="0" rIns="0" bIns="0" rtlCol="0" anchor="ctr"/>
          <a:lstStyle/>
          <a:p>
            <a:pPr indent="0" marL="0">
              <a:buNone/>
            </a:pPr>
            <a:r>
              <a:rPr lang="en-US" sz="1100" dirty="0">
                <a:solidFill>
                  <a:srgbClr val="8FA3BF"/>
                </a:solidFill>
                <a:latin typeface="Sarabun" pitchFamily="34" charset="0"/>
                <a:ea typeface="Sarabun" pitchFamily="34" charset="-122"/>
                <a:cs typeface="Sarabun" pitchFamily="34" charset="-120"/>
              </a:rPr>
              <a:t>Group 3  ·  Ethics and Law for Financial Engineers  ·  21 October 2026</a:t>
            </a:r>
            <a:endParaRPr lang="en-US" sz="1100" dirty="0"/>
          </a:p>
        </p:txBody>
      </p:sp>
      <p:sp>
        <p:nvSpPr>
          <p:cNvPr id="6" name="Shape 4"/>
          <p:cNvSpPr/>
          <p:nvPr/>
        </p:nvSpPr>
        <p:spPr>
          <a:xfrm>
            <a:off x="6069330" y="3224174"/>
            <a:ext cx="22860" cy="301752"/>
          </a:xfrm>
          <a:prstGeom prst="rect">
            <a:avLst/>
          </a:prstGeom>
          <a:solidFill>
            <a:srgbClr val="5D7290"/>
          </a:solidFill>
          <a:ln w="12700">
            <a:solidFill>
              <a:srgbClr val="5D7290"/>
            </a:solidFill>
            <a:prstDash val="solid"/>
          </a:ln>
        </p:spPr>
      </p:sp>
      <p:sp>
        <p:nvSpPr>
          <p:cNvPr id="7" name="Shape 5"/>
          <p:cNvSpPr/>
          <p:nvPr/>
        </p:nvSpPr>
        <p:spPr>
          <a:xfrm>
            <a:off x="5989320" y="3284525"/>
            <a:ext cx="182880" cy="181051"/>
          </a:xfrm>
          <a:prstGeom prst="rect">
            <a:avLst/>
          </a:prstGeom>
          <a:solidFill>
            <a:srgbClr val="5D7290"/>
          </a:solidFill>
          <a:ln w="12700">
            <a:solidFill>
              <a:srgbClr val="5D7290"/>
            </a:solidFill>
            <a:prstDash val="solid"/>
          </a:ln>
        </p:spPr>
      </p:sp>
      <p:sp>
        <p:nvSpPr>
          <p:cNvPr id="8" name="Shape 6"/>
          <p:cNvSpPr/>
          <p:nvPr/>
        </p:nvSpPr>
        <p:spPr>
          <a:xfrm>
            <a:off x="6371082" y="3193999"/>
            <a:ext cx="22860" cy="301752"/>
          </a:xfrm>
          <a:prstGeom prst="rect">
            <a:avLst/>
          </a:prstGeom>
          <a:solidFill>
            <a:srgbClr val="5D7290"/>
          </a:solidFill>
          <a:ln w="12700">
            <a:solidFill>
              <a:srgbClr val="5D7290"/>
            </a:solidFill>
            <a:prstDash val="solid"/>
          </a:ln>
        </p:spPr>
      </p:sp>
      <p:sp>
        <p:nvSpPr>
          <p:cNvPr id="9" name="Shape 7"/>
          <p:cNvSpPr/>
          <p:nvPr/>
        </p:nvSpPr>
        <p:spPr>
          <a:xfrm>
            <a:off x="6291072" y="3254350"/>
            <a:ext cx="182880" cy="181051"/>
          </a:xfrm>
          <a:prstGeom prst="rect">
            <a:avLst/>
          </a:prstGeom>
          <a:solidFill>
            <a:srgbClr val="5D7290"/>
          </a:solidFill>
          <a:ln w="12700">
            <a:solidFill>
              <a:srgbClr val="5D7290"/>
            </a:solidFill>
            <a:prstDash val="solid"/>
          </a:ln>
        </p:spPr>
      </p:sp>
      <p:sp>
        <p:nvSpPr>
          <p:cNvPr id="10" name="Shape 8"/>
          <p:cNvSpPr/>
          <p:nvPr/>
        </p:nvSpPr>
        <p:spPr>
          <a:xfrm>
            <a:off x="6672834" y="3103474"/>
            <a:ext cx="22860" cy="331927"/>
          </a:xfrm>
          <a:prstGeom prst="rect">
            <a:avLst/>
          </a:prstGeom>
          <a:solidFill>
            <a:srgbClr val="E4572E"/>
          </a:solidFill>
          <a:ln w="12700">
            <a:solidFill>
              <a:srgbClr val="E4572E"/>
            </a:solidFill>
            <a:prstDash val="solid"/>
          </a:ln>
        </p:spPr>
      </p:sp>
      <p:sp>
        <p:nvSpPr>
          <p:cNvPr id="11" name="Shape 9"/>
          <p:cNvSpPr/>
          <p:nvPr/>
        </p:nvSpPr>
        <p:spPr>
          <a:xfrm>
            <a:off x="6592824" y="3163824"/>
            <a:ext cx="182880" cy="241402"/>
          </a:xfrm>
          <a:prstGeom prst="rect">
            <a:avLst/>
          </a:prstGeom>
          <a:solidFill>
            <a:srgbClr val="E4572E"/>
          </a:solidFill>
          <a:ln w="12700">
            <a:solidFill>
              <a:srgbClr val="E4572E"/>
            </a:solidFill>
            <a:prstDash val="solid"/>
          </a:ln>
        </p:spPr>
      </p:sp>
      <p:sp>
        <p:nvSpPr>
          <p:cNvPr id="12" name="Shape 10"/>
          <p:cNvSpPr/>
          <p:nvPr/>
        </p:nvSpPr>
        <p:spPr>
          <a:xfrm>
            <a:off x="6974586" y="2862072"/>
            <a:ext cx="22860" cy="331927"/>
          </a:xfrm>
          <a:prstGeom prst="rect">
            <a:avLst/>
          </a:prstGeom>
          <a:solidFill>
            <a:srgbClr val="E4572E"/>
          </a:solidFill>
          <a:ln w="12700">
            <a:solidFill>
              <a:srgbClr val="E4572E"/>
            </a:solidFill>
            <a:prstDash val="solid"/>
          </a:ln>
        </p:spPr>
      </p:sp>
      <p:sp>
        <p:nvSpPr>
          <p:cNvPr id="13" name="Shape 11"/>
          <p:cNvSpPr/>
          <p:nvPr/>
        </p:nvSpPr>
        <p:spPr>
          <a:xfrm>
            <a:off x="6894576" y="2922422"/>
            <a:ext cx="182880" cy="241402"/>
          </a:xfrm>
          <a:prstGeom prst="rect">
            <a:avLst/>
          </a:prstGeom>
          <a:solidFill>
            <a:srgbClr val="E4572E"/>
          </a:solidFill>
          <a:ln w="12700">
            <a:solidFill>
              <a:srgbClr val="E4572E"/>
            </a:solidFill>
            <a:prstDash val="solid"/>
          </a:ln>
        </p:spPr>
      </p:sp>
      <p:sp>
        <p:nvSpPr>
          <p:cNvPr id="14" name="Shape 12"/>
          <p:cNvSpPr/>
          <p:nvPr/>
        </p:nvSpPr>
        <p:spPr>
          <a:xfrm>
            <a:off x="7276338" y="2590495"/>
            <a:ext cx="22860" cy="362102"/>
          </a:xfrm>
          <a:prstGeom prst="rect">
            <a:avLst/>
          </a:prstGeom>
          <a:solidFill>
            <a:srgbClr val="E4572E"/>
          </a:solidFill>
          <a:ln w="12700">
            <a:solidFill>
              <a:srgbClr val="E4572E"/>
            </a:solidFill>
            <a:prstDash val="solid"/>
          </a:ln>
        </p:spPr>
      </p:sp>
      <p:sp>
        <p:nvSpPr>
          <p:cNvPr id="15" name="Shape 13"/>
          <p:cNvSpPr/>
          <p:nvPr/>
        </p:nvSpPr>
        <p:spPr>
          <a:xfrm>
            <a:off x="7196328" y="2681021"/>
            <a:ext cx="182880" cy="241402"/>
          </a:xfrm>
          <a:prstGeom prst="rect">
            <a:avLst/>
          </a:prstGeom>
          <a:solidFill>
            <a:srgbClr val="E4572E"/>
          </a:solidFill>
          <a:ln w="12700">
            <a:solidFill>
              <a:srgbClr val="E4572E"/>
            </a:solidFill>
            <a:prstDash val="solid"/>
          </a:ln>
        </p:spPr>
      </p:sp>
      <p:sp>
        <p:nvSpPr>
          <p:cNvPr id="16" name="Shape 14"/>
          <p:cNvSpPr/>
          <p:nvPr/>
        </p:nvSpPr>
        <p:spPr>
          <a:xfrm>
            <a:off x="7578090" y="2318918"/>
            <a:ext cx="22860" cy="392278"/>
          </a:xfrm>
          <a:prstGeom prst="rect">
            <a:avLst/>
          </a:prstGeom>
          <a:solidFill>
            <a:srgbClr val="E4572E"/>
          </a:solidFill>
          <a:ln w="12700">
            <a:solidFill>
              <a:srgbClr val="E4572E"/>
            </a:solidFill>
            <a:prstDash val="solid"/>
          </a:ln>
        </p:spPr>
      </p:sp>
      <p:sp>
        <p:nvSpPr>
          <p:cNvPr id="17" name="Shape 15"/>
          <p:cNvSpPr/>
          <p:nvPr/>
        </p:nvSpPr>
        <p:spPr>
          <a:xfrm>
            <a:off x="7498080" y="2379269"/>
            <a:ext cx="182880" cy="301752"/>
          </a:xfrm>
          <a:prstGeom prst="rect">
            <a:avLst/>
          </a:prstGeom>
          <a:solidFill>
            <a:srgbClr val="E4572E"/>
          </a:solidFill>
          <a:ln w="12700">
            <a:solidFill>
              <a:srgbClr val="E4572E"/>
            </a:solidFill>
            <a:prstDash val="solid"/>
          </a:ln>
        </p:spPr>
      </p:sp>
      <p:sp>
        <p:nvSpPr>
          <p:cNvPr id="18" name="Shape 16"/>
          <p:cNvSpPr/>
          <p:nvPr/>
        </p:nvSpPr>
        <p:spPr>
          <a:xfrm>
            <a:off x="7879842" y="2017166"/>
            <a:ext cx="22860" cy="392278"/>
          </a:xfrm>
          <a:prstGeom prst="rect">
            <a:avLst/>
          </a:prstGeom>
          <a:solidFill>
            <a:srgbClr val="E4572E"/>
          </a:solidFill>
          <a:ln w="12700">
            <a:solidFill>
              <a:srgbClr val="E4572E"/>
            </a:solidFill>
            <a:prstDash val="solid"/>
          </a:ln>
        </p:spPr>
      </p:sp>
      <p:sp>
        <p:nvSpPr>
          <p:cNvPr id="19" name="Shape 17"/>
          <p:cNvSpPr/>
          <p:nvPr/>
        </p:nvSpPr>
        <p:spPr>
          <a:xfrm>
            <a:off x="7799832" y="2107692"/>
            <a:ext cx="182880" cy="271577"/>
          </a:xfrm>
          <a:prstGeom prst="rect">
            <a:avLst/>
          </a:prstGeom>
          <a:solidFill>
            <a:srgbClr val="E4572E"/>
          </a:solidFill>
          <a:ln w="12700">
            <a:solidFill>
              <a:srgbClr val="E4572E"/>
            </a:solidFill>
            <a:prstDash val="solid"/>
          </a:ln>
        </p:spPr>
      </p:sp>
      <p:sp>
        <p:nvSpPr>
          <p:cNvPr id="20" name="Shape 18"/>
          <p:cNvSpPr/>
          <p:nvPr/>
        </p:nvSpPr>
        <p:spPr>
          <a:xfrm>
            <a:off x="8181594" y="1685239"/>
            <a:ext cx="22860" cy="452628"/>
          </a:xfrm>
          <a:prstGeom prst="rect">
            <a:avLst/>
          </a:prstGeom>
          <a:solidFill>
            <a:srgbClr val="E4572E"/>
          </a:solidFill>
          <a:ln w="12700">
            <a:solidFill>
              <a:srgbClr val="E4572E"/>
            </a:solidFill>
            <a:prstDash val="solid"/>
          </a:ln>
        </p:spPr>
      </p:sp>
      <p:sp>
        <p:nvSpPr>
          <p:cNvPr id="21" name="Shape 19"/>
          <p:cNvSpPr/>
          <p:nvPr/>
        </p:nvSpPr>
        <p:spPr>
          <a:xfrm>
            <a:off x="8101584" y="1775765"/>
            <a:ext cx="182880" cy="331927"/>
          </a:xfrm>
          <a:prstGeom prst="rect">
            <a:avLst/>
          </a:prstGeom>
          <a:solidFill>
            <a:srgbClr val="E4572E"/>
          </a:solidFill>
          <a:ln w="12700">
            <a:solidFill>
              <a:srgbClr val="E4572E"/>
            </a:solidFill>
            <a:prstDash val="solid"/>
          </a:ln>
        </p:spPr>
      </p:sp>
      <p:sp>
        <p:nvSpPr>
          <p:cNvPr id="22" name="Shape 20"/>
          <p:cNvSpPr/>
          <p:nvPr/>
        </p:nvSpPr>
        <p:spPr>
          <a:xfrm>
            <a:off x="8483346" y="1353312"/>
            <a:ext cx="22860" cy="452628"/>
          </a:xfrm>
          <a:prstGeom prst="rect">
            <a:avLst/>
          </a:prstGeom>
          <a:solidFill>
            <a:srgbClr val="E4572E"/>
          </a:solidFill>
          <a:ln w="12700">
            <a:solidFill>
              <a:srgbClr val="E4572E"/>
            </a:solidFill>
            <a:prstDash val="solid"/>
          </a:ln>
        </p:spPr>
      </p:sp>
      <p:sp>
        <p:nvSpPr>
          <p:cNvPr id="23" name="Shape 21"/>
          <p:cNvSpPr/>
          <p:nvPr/>
        </p:nvSpPr>
        <p:spPr>
          <a:xfrm>
            <a:off x="8403336" y="1474013"/>
            <a:ext cx="182880" cy="301752"/>
          </a:xfrm>
          <a:prstGeom prst="rect">
            <a:avLst/>
          </a:prstGeom>
          <a:solidFill>
            <a:srgbClr val="E4572E"/>
          </a:solidFill>
          <a:ln w="12700">
            <a:solidFill>
              <a:srgbClr val="E4572E"/>
            </a:solidFill>
            <a:prstDash val="solid"/>
          </a:ln>
        </p:spPr>
      </p:sp>
      <p:sp>
        <p:nvSpPr>
          <p:cNvPr id="24" name="Shape 22"/>
          <p:cNvSpPr/>
          <p:nvPr/>
        </p:nvSpPr>
        <p:spPr>
          <a:xfrm>
            <a:off x="5852160" y="4160520"/>
            <a:ext cx="2834640" cy="0"/>
          </a:xfrm>
          <a:prstGeom prst="line">
            <a:avLst/>
          </a:prstGeom>
          <a:noFill/>
          <a:ln w="12700">
            <a:solidFill>
              <a:srgbClr val="3A4D6B"/>
            </a:solidFill>
            <a:prstDash val="solid"/>
          </a:ln>
        </p:spPr>
      </p:sp>
      <p:sp>
        <p:nvSpPr>
          <p:cNvPr id="25" name="Text 23"/>
          <p:cNvSpPr txBox="1"/>
          <p:nvPr/>
        </p:nvSpPr>
        <p:spPr>
          <a:xfrm>
            <a:off x="5852160" y="4224528"/>
            <a:ext cx="2834640" cy="228600"/>
          </a:xfrm>
          <a:prstGeom prst="rect">
            <a:avLst/>
          </a:prstGeom>
          <a:noFill/>
          <a:ln/>
        </p:spPr>
        <p:txBody>
          <a:bodyPr wrap="square" lIns="0" tIns="0" rIns="0" bIns="0" rtlCol="0" anchor="ctr"/>
          <a:lstStyle/>
          <a:p>
            <a:pPr algn="r" indent="0" marL="0">
              <a:buNone/>
            </a:pPr>
            <a:r>
              <a:rPr lang="en-US" sz="1000" dirty="0">
                <a:solidFill>
                  <a:srgbClr val="8FA3BF"/>
                </a:solidFill>
                <a:latin typeface="Sarabun" pitchFamily="34" charset="0"/>
                <a:ea typeface="Sarabun" pitchFamily="34" charset="-122"/>
                <a:cs typeface="Sarabun" pitchFamily="34" charset="-120"/>
              </a:rPr>
              <a:t>22 Jun – 31 Aug 2022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457200" y="310896"/>
            <a:ext cx="818388" cy="246888"/>
          </a:xfrm>
          <a:prstGeom prst="roundRect">
            <a:avLst>
              <a:gd name="adj" fmla="val 50000"/>
            </a:avLst>
          </a:prstGeom>
          <a:solidFill>
            <a:srgbClr val="E4572E"/>
          </a:solidFill>
          <a:ln w="12700">
            <a:solidFill>
              <a:srgbClr val="E4572E"/>
            </a:solidFill>
            <a:prstDash val="solid"/>
          </a:ln>
        </p:spPr>
      </p:sp>
      <p:sp>
        <p:nvSpPr>
          <p:cNvPr id="3" name="Text 1"/>
          <p:cNvSpPr txBox="1"/>
          <p:nvPr/>
        </p:nvSpPr>
        <p:spPr>
          <a:xfrm>
            <a:off x="457200" y="310896"/>
            <a:ext cx="818388" cy="24688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Montserrat" pitchFamily="34" charset="0"/>
                <a:ea typeface="Montserrat" pitchFamily="34" charset="-122"/>
                <a:cs typeface="Montserrat" pitchFamily="34" charset="-120"/>
              </a:rPr>
              <a:t>ROADMAP</a:t>
            </a:r>
            <a:endParaRPr lang="en-US" sz="850" dirty="0"/>
          </a:p>
        </p:txBody>
      </p:sp>
      <p:sp>
        <p:nvSpPr>
          <p:cNvPr id="4" name="Text 2"/>
          <p:cNvSpPr txBox="1"/>
          <p:nvPr/>
        </p:nvSpPr>
        <p:spPr>
          <a:xfrm>
            <a:off x="457200" y="640080"/>
            <a:ext cx="8229600" cy="502920"/>
          </a:xfrm>
          <a:prstGeom prst="rect">
            <a:avLst/>
          </a:prstGeom>
          <a:noFill/>
          <a:ln/>
        </p:spPr>
        <p:txBody>
          <a:bodyPr wrap="square" lIns="0" tIns="0" rIns="0" bIns="0" rtlCol="0" anchor="ctr"/>
          <a:lstStyle/>
          <a:p>
            <a:pPr indent="0" marL="0">
              <a:buNone/>
            </a:pPr>
            <a:r>
              <a:rPr lang="en-US" sz="2600" b="1" dirty="0">
                <a:solidFill>
                  <a:srgbClr val="0F1B2D"/>
                </a:solidFill>
                <a:latin typeface="Montserrat" pitchFamily="34" charset="0"/>
                <a:ea typeface="Montserrat" pitchFamily="34" charset="-122"/>
                <a:cs typeface="Montserrat" pitchFamily="34" charset="-120"/>
              </a:rPr>
              <a:t>What We Will Cover</a:t>
            </a:r>
            <a:endParaRPr lang="en-US" sz="2600" dirty="0"/>
          </a:p>
        </p:txBody>
      </p:sp>
      <p:sp>
        <p:nvSpPr>
          <p:cNvPr id="5" name="Text 3"/>
          <p:cNvSpPr txBox="1"/>
          <p:nvPr/>
        </p:nvSpPr>
        <p:spPr>
          <a:xfrm>
            <a:off x="457200" y="4773168"/>
            <a:ext cx="4572000" cy="228600"/>
          </a:xfrm>
          <a:prstGeom prst="rect">
            <a:avLst/>
          </a:prstGeom>
          <a:noFill/>
          <a:ln/>
        </p:spPr>
        <p:txBody>
          <a:bodyPr wrap="square" lIns="0" tIns="0" rIns="0" bIns="0" rtlCol="0" anchor="ctr"/>
          <a:lstStyle/>
          <a:p>
            <a:pPr indent="0" marL="0">
              <a:buNone/>
            </a:pPr>
            <a:r>
              <a:rPr lang="en-US" sz="900" dirty="0">
                <a:solidFill>
                  <a:srgbClr val="5B6B7F"/>
                </a:solidFill>
                <a:latin typeface="Sarabun" pitchFamily="34" charset="0"/>
                <a:ea typeface="Sarabun" pitchFamily="34" charset="-122"/>
                <a:cs typeface="Sarabun" pitchFamily="34" charset="-120"/>
              </a:rPr>
              <a:t>Group 3  ·  TSR Market Manipulation Case</a:t>
            </a:r>
            <a:endParaRPr lang="en-US" sz="900" dirty="0"/>
          </a:p>
        </p:txBody>
      </p:sp>
      <p:sp>
        <p:nvSpPr>
          <p:cNvPr id="6" name="Text 4"/>
          <p:cNvSpPr txBox="1"/>
          <p:nvPr/>
        </p:nvSpPr>
        <p:spPr>
          <a:xfrm>
            <a:off x="7772400" y="4773168"/>
            <a:ext cx="914400" cy="228600"/>
          </a:xfrm>
          <a:prstGeom prst="rect">
            <a:avLst/>
          </a:prstGeom>
          <a:noFill/>
          <a:ln/>
        </p:spPr>
        <p:txBody>
          <a:bodyPr wrap="square" lIns="0" tIns="0" rIns="0" bIns="0" rtlCol="0" anchor="ctr"/>
          <a:lstStyle/>
          <a:p>
            <a:pPr algn="r" indent="0" marL="0">
              <a:buNone/>
            </a:pPr>
            <a:r>
              <a:rPr lang="en-US" sz="900" dirty="0">
                <a:solidFill>
                  <a:srgbClr val="5B6B7F"/>
                </a:solidFill>
                <a:latin typeface="Sarabun" pitchFamily="34" charset="0"/>
                <a:ea typeface="Sarabun" pitchFamily="34" charset="-122"/>
                <a:cs typeface="Sarabun" pitchFamily="34" charset="-120"/>
              </a:rPr>
              <a:t>3 / 20</a:t>
            </a:r>
            <a:endParaRPr lang="en-US" sz="900" dirty="0"/>
          </a:p>
        </p:txBody>
      </p:sp>
      <p:sp>
        <p:nvSpPr>
          <p:cNvPr id="8" name="Shape 5"/>
          <p:cNvSpPr/>
          <p:nvPr/>
        </p:nvSpPr>
        <p:spPr>
          <a:xfrm>
            <a:off x="457200" y="1600200"/>
            <a:ext cx="1517904" cy="2514600"/>
          </a:xfrm>
          <a:prstGeom prst="roundRect">
            <a:avLst>
              <a:gd name="adj" fmla="val 4819"/>
            </a:avLst>
          </a:prstGeom>
          <a:solidFill>
            <a:srgbClr val="FFFFFF"/>
          </a:solidFill>
          <a:ln w="9525">
            <a:solidFill>
              <a:srgbClr val="FFFFFF"/>
            </a:solidFill>
            <a:prstDash val="solid"/>
          </a:ln>
          <a:effectLst>
            <a:outerShdw sx="100000" sy="100000" kx="0" ky="0" algn="bl" rotWithShape="0" blurRad="76200" dist="25400" dir="5400000">
              <a:srgbClr val="0F1B2D">
                <a:alpha val="10000"/>
              </a:srgbClr>
            </a:outerShdw>
          </a:effectLst>
        </p:spPr>
      </p:sp>
      <p:sp>
        <p:nvSpPr>
          <p:cNvPr id="9" name="Text 6"/>
          <p:cNvSpPr txBox="1"/>
          <p:nvPr/>
        </p:nvSpPr>
        <p:spPr>
          <a:xfrm>
            <a:off x="640080" y="1783080"/>
            <a:ext cx="1152144" cy="548640"/>
          </a:xfrm>
          <a:prstGeom prst="rect">
            <a:avLst/>
          </a:prstGeom>
          <a:noFill/>
          <a:ln/>
        </p:spPr>
        <p:txBody>
          <a:bodyPr wrap="square" lIns="0" tIns="0" rIns="0" bIns="0" rtlCol="0" anchor="ctr"/>
          <a:lstStyle/>
          <a:p>
            <a:pPr indent="0" marL="0">
              <a:buNone/>
            </a:pPr>
            <a:r>
              <a:rPr lang="en-US" sz="3000" b="1" dirty="0">
                <a:solidFill>
                  <a:srgbClr val="E4572E"/>
                </a:solidFill>
                <a:latin typeface="Montserrat" pitchFamily="34" charset="0"/>
                <a:ea typeface="Montserrat" pitchFamily="34" charset="-122"/>
                <a:cs typeface="Montserrat" pitchFamily="34" charset="-120"/>
              </a:rPr>
              <a:t>01</a:t>
            </a:r>
            <a:endParaRPr lang="en-US" sz="3000" dirty="0"/>
          </a:p>
        </p:txBody>
      </p:sp>
      <p:sp>
        <p:nvSpPr>
          <p:cNvPr id="10" name="Text 7"/>
          <p:cNvSpPr txBox="1"/>
          <p:nvPr/>
        </p:nvSpPr>
        <p:spPr>
          <a:xfrm>
            <a:off x="640080" y="2468880"/>
            <a:ext cx="1152144" cy="365760"/>
          </a:xfrm>
          <a:prstGeom prst="rect">
            <a:avLst/>
          </a:prstGeom>
          <a:noFill/>
          <a:ln/>
        </p:spPr>
        <p:txBody>
          <a:bodyPr wrap="square" lIns="0" tIns="0" rIns="0" bIns="0" rtlCol="0" anchor="ctr"/>
          <a:lstStyle/>
          <a:p>
            <a:pPr indent="0" marL="0">
              <a:buNone/>
            </a:pPr>
            <a:r>
              <a:rPr lang="en-US" sz="1500" b="1" dirty="0">
                <a:solidFill>
                  <a:srgbClr val="0F1B2D"/>
                </a:solidFill>
                <a:latin typeface="Montserrat" pitchFamily="34" charset="0"/>
                <a:ea typeface="Montserrat" pitchFamily="34" charset="-122"/>
                <a:cs typeface="Montserrat" pitchFamily="34" charset="-120"/>
              </a:rPr>
              <a:t>News</a:t>
            </a:r>
            <a:endParaRPr lang="en-US" sz="1500" dirty="0"/>
          </a:p>
        </p:txBody>
      </p:sp>
      <p:sp>
        <p:nvSpPr>
          <p:cNvPr id="11" name="Text 8"/>
          <p:cNvSpPr txBox="1"/>
          <p:nvPr/>
        </p:nvSpPr>
        <p:spPr>
          <a:xfrm>
            <a:off x="640080" y="2880360"/>
            <a:ext cx="1152144" cy="1097280"/>
          </a:xfrm>
          <a:prstGeom prst="rect">
            <a:avLst/>
          </a:prstGeom>
          <a:noFill/>
          <a:ln/>
        </p:spPr>
        <p:txBody>
          <a:bodyPr wrap="square" lIns="0" tIns="0" rIns="0" bIns="0" rtlCol="0" anchor="t"/>
          <a:lstStyle/>
          <a:p>
            <a:pPr indent="0" marL="0">
              <a:buNone/>
            </a:pPr>
            <a:r>
              <a:rPr lang="en-US" sz="1400" dirty="0">
                <a:solidFill>
                  <a:srgbClr val="5B6B7F"/>
                </a:solidFill>
                <a:latin typeface="Sarabun" pitchFamily="34" charset="0"/>
                <a:ea typeface="Sarabun" pitchFamily="34" charset="-122"/>
                <a:cs typeface="Sarabun" pitchFamily="34" charset="-120"/>
              </a:rPr>
              <a:t>Sources and the key players</a:t>
            </a:r>
            <a:endParaRPr lang="en-US" sz="1400" dirty="0"/>
          </a:p>
        </p:txBody>
      </p:sp>
      <p:sp>
        <p:nvSpPr>
          <p:cNvPr id="12" name="Shape 9"/>
          <p:cNvSpPr/>
          <p:nvPr/>
        </p:nvSpPr>
        <p:spPr>
          <a:xfrm>
            <a:off x="2139696" y="1600200"/>
            <a:ext cx="1517904" cy="2514600"/>
          </a:xfrm>
          <a:prstGeom prst="roundRect">
            <a:avLst>
              <a:gd name="adj" fmla="val 4819"/>
            </a:avLst>
          </a:prstGeom>
          <a:solidFill>
            <a:srgbClr val="FFFFFF"/>
          </a:solidFill>
          <a:ln w="9525">
            <a:solidFill>
              <a:srgbClr val="FFFFFF"/>
            </a:solidFill>
            <a:prstDash val="solid"/>
          </a:ln>
          <a:effectLst>
            <a:outerShdw sx="100000" sy="100000" kx="0" ky="0" algn="bl" rotWithShape="0" blurRad="76200" dist="25400" dir="5400000">
              <a:srgbClr val="0F1B2D">
                <a:alpha val="10000"/>
              </a:srgbClr>
            </a:outerShdw>
          </a:effectLst>
        </p:spPr>
      </p:sp>
      <p:sp>
        <p:nvSpPr>
          <p:cNvPr id="13" name="Text 10"/>
          <p:cNvSpPr txBox="1"/>
          <p:nvPr/>
        </p:nvSpPr>
        <p:spPr>
          <a:xfrm>
            <a:off x="2322576" y="1783080"/>
            <a:ext cx="1152144" cy="548640"/>
          </a:xfrm>
          <a:prstGeom prst="rect">
            <a:avLst/>
          </a:prstGeom>
          <a:noFill/>
          <a:ln/>
        </p:spPr>
        <p:txBody>
          <a:bodyPr wrap="square" lIns="0" tIns="0" rIns="0" bIns="0" rtlCol="0" anchor="ctr"/>
          <a:lstStyle/>
          <a:p>
            <a:pPr indent="0" marL="0">
              <a:buNone/>
            </a:pPr>
            <a:r>
              <a:rPr lang="en-US" sz="3000" b="1" dirty="0">
                <a:solidFill>
                  <a:srgbClr val="E4572E"/>
                </a:solidFill>
                <a:latin typeface="Montserrat" pitchFamily="34" charset="0"/>
                <a:ea typeface="Montserrat" pitchFamily="34" charset="-122"/>
                <a:cs typeface="Montserrat" pitchFamily="34" charset="-120"/>
              </a:rPr>
              <a:t>02</a:t>
            </a:r>
            <a:endParaRPr lang="en-US" sz="3000" dirty="0"/>
          </a:p>
        </p:txBody>
      </p:sp>
      <p:sp>
        <p:nvSpPr>
          <p:cNvPr id="14" name="Text 11"/>
          <p:cNvSpPr txBox="1"/>
          <p:nvPr/>
        </p:nvSpPr>
        <p:spPr>
          <a:xfrm>
            <a:off x="2322576" y="2468880"/>
            <a:ext cx="1152144" cy="365760"/>
          </a:xfrm>
          <a:prstGeom prst="rect">
            <a:avLst/>
          </a:prstGeom>
          <a:noFill/>
          <a:ln/>
        </p:spPr>
        <p:txBody>
          <a:bodyPr wrap="square" lIns="0" tIns="0" rIns="0" bIns="0" rtlCol="0" anchor="ctr"/>
          <a:lstStyle/>
          <a:p>
            <a:pPr indent="0" marL="0">
              <a:buNone/>
            </a:pPr>
            <a:r>
              <a:rPr lang="en-US" sz="1500" b="1" dirty="0">
                <a:solidFill>
                  <a:srgbClr val="0F1B2D"/>
                </a:solidFill>
                <a:latin typeface="Montserrat" pitchFamily="34" charset="0"/>
                <a:ea typeface="Montserrat" pitchFamily="34" charset="-122"/>
                <a:cs typeface="Montserrat" pitchFamily="34" charset="-120"/>
              </a:rPr>
              <a:t>Facts</a:t>
            </a:r>
            <a:endParaRPr lang="en-US" sz="1500" dirty="0"/>
          </a:p>
        </p:txBody>
      </p:sp>
      <p:sp>
        <p:nvSpPr>
          <p:cNvPr id="15" name="Text 12"/>
          <p:cNvSpPr txBox="1"/>
          <p:nvPr/>
        </p:nvSpPr>
        <p:spPr>
          <a:xfrm>
            <a:off x="2322576" y="2880360"/>
            <a:ext cx="1152144" cy="1097280"/>
          </a:xfrm>
          <a:prstGeom prst="rect">
            <a:avLst/>
          </a:prstGeom>
          <a:noFill/>
          <a:ln/>
        </p:spPr>
        <p:txBody>
          <a:bodyPr wrap="square" lIns="0" tIns="0" rIns="0" bIns="0" rtlCol="0" anchor="t"/>
          <a:lstStyle/>
          <a:p>
            <a:pPr indent="0" marL="0">
              <a:buNone/>
            </a:pPr>
            <a:r>
              <a:rPr lang="en-US" sz="1400" dirty="0">
                <a:solidFill>
                  <a:srgbClr val="5B6B7F"/>
                </a:solidFill>
                <a:latin typeface="Sarabun" pitchFamily="34" charset="0"/>
                <a:ea typeface="Sarabun" pitchFamily="34" charset="-122"/>
                <a:cs typeface="Sarabun" pitchFamily="34" charset="-120"/>
              </a:rPr>
              <a:t>What happened, when, and why</a:t>
            </a:r>
            <a:endParaRPr lang="en-US" sz="1400" dirty="0"/>
          </a:p>
        </p:txBody>
      </p:sp>
      <p:sp>
        <p:nvSpPr>
          <p:cNvPr id="16" name="Shape 13"/>
          <p:cNvSpPr/>
          <p:nvPr/>
        </p:nvSpPr>
        <p:spPr>
          <a:xfrm>
            <a:off x="3822192" y="1600200"/>
            <a:ext cx="1517904" cy="2514600"/>
          </a:xfrm>
          <a:prstGeom prst="roundRect">
            <a:avLst>
              <a:gd name="adj" fmla="val 4819"/>
            </a:avLst>
          </a:prstGeom>
          <a:solidFill>
            <a:srgbClr val="FFFFFF"/>
          </a:solidFill>
          <a:ln w="9525">
            <a:solidFill>
              <a:srgbClr val="FFFFFF"/>
            </a:solidFill>
            <a:prstDash val="solid"/>
          </a:ln>
          <a:effectLst>
            <a:outerShdw sx="100000" sy="100000" kx="0" ky="0" algn="bl" rotWithShape="0" blurRad="76200" dist="25400" dir="5400000">
              <a:srgbClr val="0F1B2D">
                <a:alpha val="10000"/>
              </a:srgbClr>
            </a:outerShdw>
          </a:effectLst>
        </p:spPr>
      </p:sp>
      <p:sp>
        <p:nvSpPr>
          <p:cNvPr id="17" name="Text 14"/>
          <p:cNvSpPr txBox="1"/>
          <p:nvPr/>
        </p:nvSpPr>
        <p:spPr>
          <a:xfrm>
            <a:off x="4005072" y="1783080"/>
            <a:ext cx="1152144" cy="548640"/>
          </a:xfrm>
          <a:prstGeom prst="rect">
            <a:avLst/>
          </a:prstGeom>
          <a:noFill/>
          <a:ln/>
        </p:spPr>
        <p:txBody>
          <a:bodyPr wrap="square" lIns="0" tIns="0" rIns="0" bIns="0" rtlCol="0" anchor="ctr"/>
          <a:lstStyle/>
          <a:p>
            <a:pPr indent="0" marL="0">
              <a:buNone/>
            </a:pPr>
            <a:r>
              <a:rPr lang="en-US" sz="3000" b="1" dirty="0">
                <a:solidFill>
                  <a:srgbClr val="E4572E"/>
                </a:solidFill>
                <a:latin typeface="Montserrat" pitchFamily="34" charset="0"/>
                <a:ea typeface="Montserrat" pitchFamily="34" charset="-122"/>
                <a:cs typeface="Montserrat" pitchFamily="34" charset="-120"/>
              </a:rPr>
              <a:t>03</a:t>
            </a:r>
            <a:endParaRPr lang="en-US" sz="3000" dirty="0"/>
          </a:p>
        </p:txBody>
      </p:sp>
      <p:sp>
        <p:nvSpPr>
          <p:cNvPr id="18" name="Text 15"/>
          <p:cNvSpPr txBox="1"/>
          <p:nvPr/>
        </p:nvSpPr>
        <p:spPr>
          <a:xfrm>
            <a:off x="4005072" y="2468880"/>
            <a:ext cx="1152144" cy="365760"/>
          </a:xfrm>
          <a:prstGeom prst="rect">
            <a:avLst/>
          </a:prstGeom>
          <a:noFill/>
          <a:ln/>
        </p:spPr>
        <p:txBody>
          <a:bodyPr wrap="square" lIns="0" tIns="0" rIns="0" bIns="0" rtlCol="0" anchor="ctr"/>
          <a:lstStyle/>
          <a:p>
            <a:pPr indent="0" marL="0">
              <a:buNone/>
            </a:pPr>
            <a:r>
              <a:rPr lang="en-US" sz="1500" b="1" dirty="0">
                <a:solidFill>
                  <a:srgbClr val="0F1B2D"/>
                </a:solidFill>
                <a:latin typeface="Montserrat" pitchFamily="34" charset="0"/>
                <a:ea typeface="Montserrat" pitchFamily="34" charset="-122"/>
                <a:cs typeface="Montserrat" pitchFamily="34" charset="-120"/>
              </a:rPr>
              <a:t>Law</a:t>
            </a:r>
            <a:endParaRPr lang="en-US" sz="1500" dirty="0"/>
          </a:p>
        </p:txBody>
      </p:sp>
      <p:sp>
        <p:nvSpPr>
          <p:cNvPr id="19" name="Text 16"/>
          <p:cNvSpPr txBox="1"/>
          <p:nvPr/>
        </p:nvSpPr>
        <p:spPr>
          <a:xfrm>
            <a:off x="4005072" y="2880360"/>
            <a:ext cx="1152144" cy="1097280"/>
          </a:xfrm>
          <a:prstGeom prst="rect">
            <a:avLst/>
          </a:prstGeom>
          <a:noFill/>
          <a:ln/>
        </p:spPr>
        <p:txBody>
          <a:bodyPr wrap="square" lIns="0" tIns="0" rIns="0" bIns="0" rtlCol="0" anchor="t"/>
          <a:lstStyle/>
          <a:p>
            <a:pPr indent="0" marL="0">
              <a:buNone/>
            </a:pPr>
            <a:r>
              <a:rPr lang="en-US" sz="1400" dirty="0">
                <a:solidFill>
                  <a:srgbClr val="5B6B7F"/>
                </a:solidFill>
                <a:latin typeface="Sarabun" pitchFamily="34" charset="0"/>
                <a:ea typeface="Sarabun" pitchFamily="34" charset="-122"/>
                <a:cs typeface="Sarabun" pitchFamily="34" charset="-120"/>
              </a:rPr>
              <a:t>Sections 238, 244/3, 244/4 and 244/5</a:t>
            </a:r>
            <a:endParaRPr lang="en-US" sz="1400" dirty="0"/>
          </a:p>
        </p:txBody>
      </p:sp>
      <p:sp>
        <p:nvSpPr>
          <p:cNvPr id="20" name="Shape 17"/>
          <p:cNvSpPr/>
          <p:nvPr/>
        </p:nvSpPr>
        <p:spPr>
          <a:xfrm>
            <a:off x="5504688" y="1600200"/>
            <a:ext cx="1517904" cy="2514600"/>
          </a:xfrm>
          <a:prstGeom prst="roundRect">
            <a:avLst>
              <a:gd name="adj" fmla="val 4819"/>
            </a:avLst>
          </a:prstGeom>
          <a:solidFill>
            <a:srgbClr val="FFFFFF"/>
          </a:solidFill>
          <a:ln w="9525">
            <a:solidFill>
              <a:srgbClr val="FFFFFF"/>
            </a:solidFill>
            <a:prstDash val="solid"/>
          </a:ln>
          <a:effectLst>
            <a:outerShdw sx="100000" sy="100000" kx="0" ky="0" algn="bl" rotWithShape="0" blurRad="76200" dist="25400" dir="5400000">
              <a:srgbClr val="0F1B2D">
                <a:alpha val="10000"/>
              </a:srgbClr>
            </a:outerShdw>
          </a:effectLst>
        </p:spPr>
      </p:sp>
      <p:sp>
        <p:nvSpPr>
          <p:cNvPr id="21" name="Text 18"/>
          <p:cNvSpPr txBox="1"/>
          <p:nvPr/>
        </p:nvSpPr>
        <p:spPr>
          <a:xfrm>
            <a:off x="5687568" y="1783080"/>
            <a:ext cx="1152144" cy="548640"/>
          </a:xfrm>
          <a:prstGeom prst="rect">
            <a:avLst/>
          </a:prstGeom>
          <a:noFill/>
          <a:ln/>
        </p:spPr>
        <p:txBody>
          <a:bodyPr wrap="square" lIns="0" tIns="0" rIns="0" bIns="0" rtlCol="0" anchor="ctr"/>
          <a:lstStyle/>
          <a:p>
            <a:pPr indent="0" marL="0">
              <a:buNone/>
            </a:pPr>
            <a:r>
              <a:rPr lang="en-US" sz="3000" b="1" dirty="0">
                <a:solidFill>
                  <a:srgbClr val="E4572E"/>
                </a:solidFill>
                <a:latin typeface="Montserrat" pitchFamily="34" charset="0"/>
                <a:ea typeface="Montserrat" pitchFamily="34" charset="-122"/>
                <a:cs typeface="Montserrat" pitchFamily="34" charset="-120"/>
              </a:rPr>
              <a:t>04</a:t>
            </a:r>
            <a:endParaRPr lang="en-US" sz="3000" dirty="0"/>
          </a:p>
        </p:txBody>
      </p:sp>
      <p:sp>
        <p:nvSpPr>
          <p:cNvPr id="22" name="Text 19"/>
          <p:cNvSpPr txBox="1"/>
          <p:nvPr/>
        </p:nvSpPr>
        <p:spPr>
          <a:xfrm>
            <a:off x="5687568" y="2468880"/>
            <a:ext cx="1152144" cy="365760"/>
          </a:xfrm>
          <a:prstGeom prst="rect">
            <a:avLst/>
          </a:prstGeom>
          <a:noFill/>
          <a:ln/>
        </p:spPr>
        <p:txBody>
          <a:bodyPr wrap="square" lIns="0" tIns="0" rIns="0" bIns="0" rtlCol="0" anchor="ctr"/>
          <a:lstStyle/>
          <a:p>
            <a:pPr indent="0" marL="0">
              <a:buNone/>
            </a:pPr>
            <a:r>
              <a:rPr lang="en-US" sz="1500" b="1" dirty="0">
                <a:solidFill>
                  <a:srgbClr val="0F1B2D"/>
                </a:solidFill>
                <a:latin typeface="Montserrat" pitchFamily="34" charset="0"/>
                <a:ea typeface="Montserrat" pitchFamily="34" charset="-122"/>
                <a:cs typeface="Montserrat" pitchFamily="34" charset="-120"/>
              </a:rPr>
              <a:t>Analysis</a:t>
            </a:r>
            <a:endParaRPr lang="en-US" sz="1500" dirty="0"/>
          </a:p>
        </p:txBody>
      </p:sp>
      <p:sp>
        <p:nvSpPr>
          <p:cNvPr id="23" name="Text 20"/>
          <p:cNvSpPr txBox="1"/>
          <p:nvPr/>
        </p:nvSpPr>
        <p:spPr>
          <a:xfrm>
            <a:off x="5687568" y="2880360"/>
            <a:ext cx="1152144" cy="1097280"/>
          </a:xfrm>
          <a:prstGeom prst="rect">
            <a:avLst/>
          </a:prstGeom>
          <a:noFill/>
          <a:ln/>
        </p:spPr>
        <p:txBody>
          <a:bodyPr wrap="square" lIns="0" tIns="0" rIns="0" bIns="0" rtlCol="0" anchor="t"/>
          <a:lstStyle/>
          <a:p>
            <a:pPr indent="0" marL="0">
              <a:buNone/>
            </a:pPr>
            <a:r>
              <a:rPr lang="en-US" sz="1400" dirty="0">
                <a:solidFill>
                  <a:srgbClr val="5B6B7F"/>
                </a:solidFill>
                <a:latin typeface="Sarabun" pitchFamily="34" charset="0"/>
                <a:ea typeface="Sarabun" pitchFamily="34" charset="-122"/>
                <a:cs typeface="Sarabun" pitchFamily="34" charset="-120"/>
              </a:rPr>
              <a:t>Element by element: does the conduct fit?</a:t>
            </a:r>
            <a:endParaRPr lang="en-US" sz="1400" dirty="0"/>
          </a:p>
        </p:txBody>
      </p:sp>
      <p:sp>
        <p:nvSpPr>
          <p:cNvPr id="24" name="Shape 21"/>
          <p:cNvSpPr/>
          <p:nvPr/>
        </p:nvSpPr>
        <p:spPr>
          <a:xfrm>
            <a:off x="7187184" y="1600200"/>
            <a:ext cx="1517904" cy="2514600"/>
          </a:xfrm>
          <a:prstGeom prst="roundRect">
            <a:avLst>
              <a:gd name="adj" fmla="val 4819"/>
            </a:avLst>
          </a:prstGeom>
          <a:solidFill>
            <a:srgbClr val="FFFFFF"/>
          </a:solidFill>
          <a:ln w="9525">
            <a:solidFill>
              <a:srgbClr val="FFFFFF"/>
            </a:solidFill>
            <a:prstDash val="solid"/>
          </a:ln>
          <a:effectLst>
            <a:outerShdw sx="100000" sy="100000" kx="0" ky="0" algn="bl" rotWithShape="0" blurRad="76200" dist="25400" dir="5400000">
              <a:srgbClr val="0F1B2D">
                <a:alpha val="10000"/>
              </a:srgbClr>
            </a:outerShdw>
          </a:effectLst>
        </p:spPr>
      </p:sp>
      <p:sp>
        <p:nvSpPr>
          <p:cNvPr id="25" name="Text 22"/>
          <p:cNvSpPr txBox="1"/>
          <p:nvPr/>
        </p:nvSpPr>
        <p:spPr>
          <a:xfrm>
            <a:off x="7370064" y="1783080"/>
            <a:ext cx="1152144" cy="548640"/>
          </a:xfrm>
          <a:prstGeom prst="rect">
            <a:avLst/>
          </a:prstGeom>
          <a:noFill/>
          <a:ln/>
        </p:spPr>
        <p:txBody>
          <a:bodyPr wrap="square" lIns="0" tIns="0" rIns="0" bIns="0" rtlCol="0" anchor="ctr"/>
          <a:lstStyle/>
          <a:p>
            <a:pPr indent="0" marL="0">
              <a:buNone/>
            </a:pPr>
            <a:r>
              <a:rPr lang="en-US" sz="3000" b="1" dirty="0">
                <a:solidFill>
                  <a:srgbClr val="E4572E"/>
                </a:solidFill>
                <a:latin typeface="Montserrat" pitchFamily="34" charset="0"/>
                <a:ea typeface="Montserrat" pitchFamily="34" charset="-122"/>
                <a:cs typeface="Montserrat" pitchFamily="34" charset="-120"/>
              </a:rPr>
              <a:t>05</a:t>
            </a:r>
            <a:endParaRPr lang="en-US" sz="3000" dirty="0"/>
          </a:p>
        </p:txBody>
      </p:sp>
      <p:sp>
        <p:nvSpPr>
          <p:cNvPr id="26" name="Text 23"/>
          <p:cNvSpPr txBox="1"/>
          <p:nvPr/>
        </p:nvSpPr>
        <p:spPr>
          <a:xfrm>
            <a:off x="7370064" y="2468880"/>
            <a:ext cx="1152144" cy="365760"/>
          </a:xfrm>
          <a:prstGeom prst="rect">
            <a:avLst/>
          </a:prstGeom>
          <a:noFill/>
          <a:ln/>
        </p:spPr>
        <p:txBody>
          <a:bodyPr wrap="square" lIns="0" tIns="0" rIns="0" bIns="0" rtlCol="0" anchor="ctr"/>
          <a:lstStyle/>
          <a:p>
            <a:pPr indent="0" marL="0">
              <a:buNone/>
            </a:pPr>
            <a:r>
              <a:rPr lang="en-US" sz="1500" b="1" dirty="0">
                <a:solidFill>
                  <a:srgbClr val="0F1B2D"/>
                </a:solidFill>
                <a:latin typeface="Montserrat" pitchFamily="34" charset="0"/>
                <a:ea typeface="Montserrat" pitchFamily="34" charset="-122"/>
                <a:cs typeface="Montserrat" pitchFamily="34" charset="-120"/>
              </a:rPr>
              <a:t>Penalties</a:t>
            </a:r>
            <a:endParaRPr lang="en-US" sz="1500" dirty="0"/>
          </a:p>
        </p:txBody>
      </p:sp>
      <p:sp>
        <p:nvSpPr>
          <p:cNvPr id="27" name="Text 24"/>
          <p:cNvSpPr txBox="1"/>
          <p:nvPr/>
        </p:nvSpPr>
        <p:spPr>
          <a:xfrm>
            <a:off x="7370064" y="2880360"/>
            <a:ext cx="1152144" cy="1097280"/>
          </a:xfrm>
          <a:prstGeom prst="rect">
            <a:avLst/>
          </a:prstGeom>
          <a:noFill/>
          <a:ln/>
        </p:spPr>
        <p:txBody>
          <a:bodyPr wrap="square" lIns="0" tIns="0" rIns="0" bIns="0" rtlCol="0" anchor="t"/>
          <a:lstStyle/>
          <a:p>
            <a:pPr indent="0" marL="0">
              <a:buNone/>
            </a:pPr>
            <a:r>
              <a:rPr lang="en-US" sz="1400" dirty="0">
                <a:solidFill>
                  <a:srgbClr val="5B6B7F"/>
                </a:solidFill>
                <a:latin typeface="Sarabun" pitchFamily="34" charset="0"/>
                <a:ea typeface="Sarabun" pitchFamily="34" charset="-122"/>
                <a:cs typeface="Sarabun" pitchFamily="34" charset="-120"/>
              </a:rPr>
              <a:t>Criminal and civil sanctions, applied to TSR</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457200" y="310896"/>
            <a:ext cx="896112" cy="246888"/>
          </a:xfrm>
          <a:prstGeom prst="roundRect">
            <a:avLst>
              <a:gd name="adj" fmla="val 50000"/>
            </a:avLst>
          </a:prstGeom>
          <a:solidFill>
            <a:srgbClr val="E4572E"/>
          </a:solidFill>
          <a:ln w="12700">
            <a:solidFill>
              <a:srgbClr val="E4572E"/>
            </a:solidFill>
            <a:prstDash val="solid"/>
          </a:ln>
        </p:spPr>
      </p:sp>
      <p:sp>
        <p:nvSpPr>
          <p:cNvPr id="3" name="Text 1"/>
          <p:cNvSpPr txBox="1"/>
          <p:nvPr/>
        </p:nvSpPr>
        <p:spPr>
          <a:xfrm>
            <a:off x="457200" y="310896"/>
            <a:ext cx="896112" cy="24688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Montserrat" pitchFamily="34" charset="0"/>
                <a:ea typeface="Montserrat" pitchFamily="34" charset="-122"/>
                <a:cs typeface="Montserrat" pitchFamily="34" charset="-120"/>
              </a:rPr>
              <a:t>THE NEWS</a:t>
            </a:r>
            <a:endParaRPr lang="en-US" sz="850" dirty="0"/>
          </a:p>
        </p:txBody>
      </p:sp>
      <p:sp>
        <p:nvSpPr>
          <p:cNvPr id="4" name="Text 2"/>
          <p:cNvSpPr txBox="1"/>
          <p:nvPr/>
        </p:nvSpPr>
        <p:spPr>
          <a:xfrm>
            <a:off x="457200" y="640080"/>
            <a:ext cx="8229600" cy="502920"/>
          </a:xfrm>
          <a:prstGeom prst="rect">
            <a:avLst/>
          </a:prstGeom>
          <a:noFill/>
          <a:ln/>
        </p:spPr>
        <p:txBody>
          <a:bodyPr wrap="square" lIns="0" tIns="0" rIns="0" bIns="0" rtlCol="0" anchor="ctr"/>
          <a:lstStyle/>
          <a:p>
            <a:pPr indent="0" marL="0">
              <a:buNone/>
            </a:pPr>
            <a:r>
              <a:rPr lang="en-US" sz="2600" b="1" dirty="0">
                <a:solidFill>
                  <a:srgbClr val="0F1B2D"/>
                </a:solidFill>
                <a:latin typeface="Montserrat" pitchFamily="34" charset="0"/>
                <a:ea typeface="Montserrat" pitchFamily="34" charset="-122"/>
                <a:cs typeface="Montserrat" pitchFamily="34" charset="-120"/>
              </a:rPr>
              <a:t>Our Sources</a:t>
            </a:r>
            <a:endParaRPr lang="en-US" sz="2600" dirty="0"/>
          </a:p>
        </p:txBody>
      </p:sp>
      <p:sp>
        <p:nvSpPr>
          <p:cNvPr id="5" name="Text 3"/>
          <p:cNvSpPr txBox="1"/>
          <p:nvPr/>
        </p:nvSpPr>
        <p:spPr>
          <a:xfrm>
            <a:off x="457200" y="4773168"/>
            <a:ext cx="4572000" cy="228600"/>
          </a:xfrm>
          <a:prstGeom prst="rect">
            <a:avLst/>
          </a:prstGeom>
          <a:noFill/>
          <a:ln/>
        </p:spPr>
        <p:txBody>
          <a:bodyPr wrap="square" lIns="0" tIns="0" rIns="0" bIns="0" rtlCol="0" anchor="ctr"/>
          <a:lstStyle/>
          <a:p>
            <a:pPr indent="0" marL="0">
              <a:buNone/>
            </a:pPr>
            <a:r>
              <a:rPr lang="en-US" sz="900" dirty="0">
                <a:solidFill>
                  <a:srgbClr val="5B6B7F"/>
                </a:solidFill>
                <a:latin typeface="Sarabun" pitchFamily="34" charset="0"/>
                <a:ea typeface="Sarabun" pitchFamily="34" charset="-122"/>
                <a:cs typeface="Sarabun" pitchFamily="34" charset="-120"/>
              </a:rPr>
              <a:t>Group 3  ·  TSR Market Manipulation Case</a:t>
            </a:r>
            <a:endParaRPr lang="en-US" sz="900" dirty="0"/>
          </a:p>
        </p:txBody>
      </p:sp>
      <p:sp>
        <p:nvSpPr>
          <p:cNvPr id="6" name="Text 4"/>
          <p:cNvSpPr txBox="1"/>
          <p:nvPr/>
        </p:nvSpPr>
        <p:spPr>
          <a:xfrm>
            <a:off x="7772400" y="4773168"/>
            <a:ext cx="914400" cy="228600"/>
          </a:xfrm>
          <a:prstGeom prst="rect">
            <a:avLst/>
          </a:prstGeom>
          <a:noFill/>
          <a:ln/>
        </p:spPr>
        <p:txBody>
          <a:bodyPr wrap="square" lIns="0" tIns="0" rIns="0" bIns="0" rtlCol="0" anchor="ctr"/>
          <a:lstStyle/>
          <a:p>
            <a:pPr algn="r" indent="0" marL="0">
              <a:buNone/>
            </a:pPr>
            <a:r>
              <a:rPr lang="en-US" sz="900" dirty="0">
                <a:solidFill>
                  <a:srgbClr val="5B6B7F"/>
                </a:solidFill>
                <a:latin typeface="Sarabun" pitchFamily="34" charset="0"/>
                <a:ea typeface="Sarabun" pitchFamily="34" charset="-122"/>
                <a:cs typeface="Sarabun" pitchFamily="34" charset="-120"/>
              </a:rPr>
              <a:t>4 / 20</a:t>
            </a:r>
            <a:endParaRPr lang="en-US" sz="9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298448"/>
          <a:ext cx="8229600" cy="914400"/>
        </p:xfrm>
        <a:graphic>
          <a:graphicData uri="http://schemas.openxmlformats.org/drawingml/2006/table">
            <a:tbl>
              <a:tblPr/>
              <a:tblGrid>
                <a:gridCol w="1005840"/>
                <a:gridCol w="3429000"/>
                <a:gridCol w="3794760"/>
              </a:tblGrid>
              <a:tr h="0">
                <a:tc>
                  <a:txBody>
                    <a:bodyPr/>
                    <a:lstStyle/>
                    <a:p>
                      <a:pPr indent="0" marL="0">
                        <a:buNone/>
                      </a:pPr>
                      <a:r>
                        <a:rPr lang="en-US" sz="1050" b="1" dirty="0">
                          <a:solidFill>
                            <a:srgbClr val="FFFFFF"/>
                          </a:solidFill>
                          <a:latin typeface="Montserrat" pitchFamily="34" charset="0"/>
                          <a:ea typeface="Montserrat" pitchFamily="34" charset="-122"/>
                          <a:cs typeface="Montserrat" pitchFamily="34" charset="-120"/>
                        </a:rPr>
                        <a:t>Date</a:t>
                      </a:r>
                      <a:endParaRPr lang="en-US" sz="1050" dirty="0">
                        <a:latin typeface="Montserrat" charset="0"/>
                        <a:ea typeface="Montserrat" charset="0"/>
                        <a:cs typeface="Montserrat" charset="0"/>
                      </a:endParaRPr>
                    </a:p>
                  </a:txBody>
                  <a:tcPr marL="73152" marR="73152" marT="22860" marB="2286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0F1B2D"/>
                    </a:solidFill>
                  </a:tcPr>
                </a:tc>
                <a:tc>
                  <a:txBody>
                    <a:bodyPr/>
                    <a:lstStyle/>
                    <a:p>
                      <a:pPr indent="0" marL="0">
                        <a:buNone/>
                      </a:pPr>
                      <a:r>
                        <a:rPr lang="en-US" sz="1050" b="1" dirty="0">
                          <a:solidFill>
                            <a:srgbClr val="FFFFFF"/>
                          </a:solidFill>
                          <a:latin typeface="Montserrat" pitchFamily="34" charset="0"/>
                          <a:ea typeface="Montserrat" pitchFamily="34" charset="-122"/>
                          <a:cs typeface="Montserrat" pitchFamily="34" charset="-120"/>
                        </a:rPr>
                        <a:t>Outlet and headline</a:t>
                      </a:r>
                      <a:endParaRPr lang="en-US" sz="1050" dirty="0">
                        <a:latin typeface="Montserrat" charset="0"/>
                        <a:ea typeface="Montserrat" charset="0"/>
                        <a:cs typeface="Montserrat" charset="0"/>
                      </a:endParaRPr>
                    </a:p>
                  </a:txBody>
                  <a:tcPr marL="73152" marR="73152" marT="22860" marB="2286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0F1B2D"/>
                    </a:solidFill>
                  </a:tcPr>
                </a:tc>
                <a:tc>
                  <a:txBody>
                    <a:bodyPr/>
                    <a:lstStyle/>
                    <a:p>
                      <a:pPr indent="0" marL="0">
                        <a:buNone/>
                      </a:pPr>
                      <a:r>
                        <a:rPr lang="en-US" sz="1050" b="1" dirty="0">
                          <a:solidFill>
                            <a:srgbClr val="FFFFFF"/>
                          </a:solidFill>
                          <a:latin typeface="Montserrat" pitchFamily="34" charset="0"/>
                          <a:ea typeface="Montserrat" pitchFamily="34" charset="-122"/>
                          <a:cs typeface="Montserrat" pitchFamily="34" charset="-120"/>
                        </a:rPr>
                        <a:t>URL</a:t>
                      </a:r>
                      <a:endParaRPr lang="en-US" sz="1050" dirty="0">
                        <a:latin typeface="Montserrat" charset="0"/>
                        <a:ea typeface="Montserrat" charset="0"/>
                        <a:cs typeface="Montserrat" charset="0"/>
                      </a:endParaRPr>
                    </a:p>
                  </a:txBody>
                  <a:tcPr marL="73152" marR="73152" marT="22860" marB="2286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0F1B2D"/>
                    </a:solidFill>
                  </a:tcPr>
                </a:tc>
              </a:tr>
              <a:tr h="0">
                <a:tc>
                  <a:txBody>
                    <a:bodyPr/>
                    <a:lstStyle/>
                    <a:p>
                      <a:pPr indent="0" marL="0">
                        <a:buNone/>
                      </a:pPr>
                      <a:r>
                        <a:rPr lang="en-US" sz="1100" dirty="0">
                          <a:solidFill>
                            <a:srgbClr val="1B2433"/>
                          </a:solidFill>
                          <a:latin typeface="Sarabun" pitchFamily="34" charset="0"/>
                          <a:ea typeface="Sarabun" pitchFamily="34" charset="-122"/>
                          <a:cs typeface="Sarabun" pitchFamily="34" charset="-120"/>
                        </a:rPr>
                        <a:t>23 Jan 2026</a:t>
                      </a:r>
                      <a:endParaRPr lang="en-US" sz="1100" dirty="0">
                        <a:latin typeface="Sarabun" charset="0"/>
                        <a:ea typeface="Sarabun" charset="0"/>
                        <a:cs typeface="Sarabun" charset="0"/>
                      </a:endParaRPr>
                    </a:p>
                  </a:txBody>
                  <a:tcPr marL="73152" marR="73152" marT="22860" marB="2286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b="1" dirty="0">
                          <a:solidFill>
                            <a:srgbClr val="1B2433"/>
                          </a:solidFill>
                          <a:latin typeface="Sarabun" pitchFamily="34" charset="0"/>
                          <a:ea typeface="Sarabun" pitchFamily="34" charset="-122"/>
                          <a:cs typeface="Sarabun" pitchFamily="34" charset="-120"/>
                        </a:rPr>
                        <a:t>มิติหุ้น (Mitihoon)</a:t>
                      </a:r>
                      <a:endParaRPr lang="en-US" sz="1100" dirty="0">
                        <a:latin typeface="Sarabun" charset="0"/>
                        <a:ea typeface="Sarabun" charset="0"/>
                        <a:cs typeface="Sarabun" charset="0"/>
                      </a:endParaRPr>
                    </a:p>
                    <a:p>
                      <a:pPr indent="0" marL="0">
                        <a:buNone/>
                      </a:pPr>
                      <a:r>
                        <a:rPr lang="en-US" sz="1100" dirty="0">
                          <a:solidFill>
                            <a:srgbClr val="1B2433"/>
                          </a:solidFill>
                          <a:latin typeface="Sarabun" pitchFamily="34" charset="0"/>
                          <a:ea typeface="Sarabun" pitchFamily="34" charset="-122"/>
                          <a:cs typeface="Sarabun" pitchFamily="34" charset="-120"/>
                        </a:rPr>
                        <a:t>ก.ล.ต. ใช้มาตรการลงโทษทางแพ่งกับผู้กระทำความผิด 1 ราย กรณีสร้างราคาหรือปริมาณการซื้อขายหุ้น TSR</a:t>
                      </a:r>
                      <a:endParaRPr lang="en-US" sz="1100" dirty="0">
                        <a:latin typeface="Sarabun" charset="0"/>
                        <a:ea typeface="Sarabun" charset="0"/>
                        <a:cs typeface="Sarabun" charset="0"/>
                      </a:endParaRPr>
                    </a:p>
                  </a:txBody>
                  <a:tcPr marL="73152" marR="73152" marT="22860" marB="2286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u="sng" dirty="0">
                          <a:solidFill>
                            <a:srgbClr val="1F3A5F"/>
                          </a:solidFill>
                          <a:latin typeface="Sarabun" pitchFamily="34" charset="0"/>
                          <a:ea typeface="Sarabun" pitchFamily="34" charset="-122"/>
                          <a:cs typeface="Sarabun"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https://www.mitihoon.com/2026/01/23/611929/</a:t>
                      </a:r>
                      <a:endParaRPr lang="en-US" sz="1000" dirty="0">
                        <a:latin typeface="Sarabun" charset="0"/>
                        <a:ea typeface="Sarabun" charset="0"/>
                        <a:cs typeface="Sarabun" charset="0"/>
                      </a:endParaRPr>
                    </a:p>
                  </a:txBody>
                  <a:tcPr marL="73152" marR="73152" marT="22860" marB="2286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E4572E"/>
                          </a:solidFill>
                          <a:latin typeface="Sarabun" pitchFamily="34" charset="0"/>
                          <a:ea typeface="Sarabun" pitchFamily="34" charset="-122"/>
                          <a:cs typeface="Sarabun" pitchFamily="34" charset="-120"/>
                        </a:rPr>
                        <a:t>24 Jan 2026</a:t>
                      </a:r>
                      <a:endParaRPr lang="en-US" sz="1100" dirty="0">
                        <a:latin typeface="Sarabun" charset="0"/>
                        <a:ea typeface="Sarabun" charset="0"/>
                        <a:cs typeface="Sarabun" charset="0"/>
                      </a:endParaRPr>
                    </a:p>
                    <a:p>
                      <a:pPr indent="0" marL="0">
                        <a:buNone/>
                      </a:pPr>
                      <a:r>
                        <a:rPr lang="en-US" sz="1100" b="1" dirty="0">
                          <a:solidFill>
                            <a:srgbClr val="E4572E"/>
                          </a:solidFill>
                          <a:latin typeface="Sarabun" pitchFamily="34" charset="0"/>
                          <a:ea typeface="Sarabun" pitchFamily="34" charset="-122"/>
                          <a:cs typeface="Sarabun" pitchFamily="34" charset="-120"/>
                        </a:rPr>
                        <a:t>MAIN NEWS</a:t>
                      </a:r>
                      <a:endParaRPr lang="en-US" sz="1100" dirty="0">
                        <a:latin typeface="Sarabun" charset="0"/>
                        <a:ea typeface="Sarabun" charset="0"/>
                        <a:cs typeface="Sarabun" charset="0"/>
                      </a:endParaRPr>
                    </a:p>
                  </a:txBody>
                  <a:tcPr marL="73152" marR="73152" marT="22860" marB="2286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CE6DF"/>
                    </a:solidFill>
                  </a:tcPr>
                </a:tc>
                <a:tc>
                  <a:txBody>
                    <a:bodyPr/>
                    <a:lstStyle/>
                    <a:p>
                      <a:pPr indent="0" marL="0">
                        <a:buNone/>
                      </a:pPr>
                      <a:r>
                        <a:rPr lang="en-US" sz="1100" b="1" dirty="0">
                          <a:solidFill>
                            <a:srgbClr val="1B2433"/>
                          </a:solidFill>
                          <a:latin typeface="Sarabun" pitchFamily="34" charset="0"/>
                          <a:ea typeface="Sarabun" pitchFamily="34" charset="-122"/>
                          <a:cs typeface="Sarabun" pitchFamily="34" charset="-120"/>
                        </a:rPr>
                        <a:t>หุ้นสมาร์ท (Hoonsmart)</a:t>
                      </a:r>
                      <a:endParaRPr lang="en-US" sz="1100" dirty="0">
                        <a:latin typeface="Sarabun" charset="0"/>
                        <a:ea typeface="Sarabun" charset="0"/>
                        <a:cs typeface="Sarabun" charset="0"/>
                      </a:endParaRPr>
                    </a:p>
                    <a:p>
                      <a:pPr indent="0" marL="0">
                        <a:buNone/>
                      </a:pPr>
                      <a:r>
                        <a:rPr lang="en-US" sz="1100" dirty="0">
                          <a:solidFill>
                            <a:srgbClr val="1B2433"/>
                          </a:solidFill>
                          <a:latin typeface="Sarabun" pitchFamily="34" charset="0"/>
                          <a:ea typeface="Sarabun" pitchFamily="34" charset="-122"/>
                          <a:cs typeface="Sarabun" pitchFamily="34" charset="-120"/>
                        </a:rPr>
                        <a:t>ก.ล.ต.สั่งปรับ “ภรัณยา รุจนพรพจี” กว่า 32 ลบ. ปั่นหุ้น TSR</a:t>
                      </a:r>
                      <a:endParaRPr lang="en-US" sz="1100" dirty="0">
                        <a:latin typeface="Sarabun" charset="0"/>
                        <a:ea typeface="Sarabun" charset="0"/>
                        <a:cs typeface="Sarabun" charset="0"/>
                      </a:endParaRPr>
                    </a:p>
                  </a:txBody>
                  <a:tcPr marL="73152" marR="73152" marT="22860" marB="2286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CE6DF"/>
                    </a:solidFill>
                  </a:tcPr>
                </a:tc>
                <a:tc>
                  <a:txBody>
                    <a:bodyPr/>
                    <a:lstStyle/>
                    <a:p>
                      <a:pPr indent="0" marL="0">
                        <a:buNone/>
                      </a:pPr>
                      <a:r>
                        <a:rPr lang="en-US" sz="1000" u="sng" dirty="0">
                          <a:solidFill>
                            <a:srgbClr val="1F3A5F"/>
                          </a:solidFill>
                          <a:latin typeface="Sarabun" pitchFamily="34" charset="0"/>
                          <a:ea typeface="Sarabun" pitchFamily="34" charset="-122"/>
                          <a:cs typeface="Sarabun"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https://hoonsmart.com/archives/400329</a:t>
                      </a:r>
                      <a:endParaRPr lang="en-US" sz="1000" dirty="0">
                        <a:latin typeface="Sarabun" charset="0"/>
                        <a:ea typeface="Sarabun" charset="0"/>
                        <a:cs typeface="Sarabun" charset="0"/>
                      </a:endParaRPr>
                    </a:p>
                  </a:txBody>
                  <a:tcPr marL="73152" marR="73152" marT="22860" marB="2286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CE6DF"/>
                    </a:solidFill>
                  </a:tcPr>
                </a:tc>
              </a:tr>
              <a:tr h="0">
                <a:tc>
                  <a:txBody>
                    <a:bodyPr/>
                    <a:lstStyle/>
                    <a:p>
                      <a:pPr indent="0" marL="0">
                        <a:buNone/>
                      </a:pPr>
                      <a:r>
                        <a:rPr lang="en-US" sz="1100" dirty="0">
                          <a:solidFill>
                            <a:srgbClr val="1B2433"/>
                          </a:solidFill>
                          <a:latin typeface="Sarabun" pitchFamily="34" charset="0"/>
                          <a:ea typeface="Sarabun" pitchFamily="34" charset="-122"/>
                          <a:cs typeface="Sarabun" pitchFamily="34" charset="-120"/>
                        </a:rPr>
                        <a:t>26 Mar 2026</a:t>
                      </a:r>
                      <a:endParaRPr lang="en-US" sz="1100" dirty="0">
                        <a:latin typeface="Sarabun" charset="0"/>
                        <a:ea typeface="Sarabun" charset="0"/>
                        <a:cs typeface="Sarabun" charset="0"/>
                      </a:endParaRPr>
                    </a:p>
                  </a:txBody>
                  <a:tcPr marL="73152" marR="73152" marT="22860" marB="2286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b="1" dirty="0">
                          <a:solidFill>
                            <a:srgbClr val="1B2433"/>
                          </a:solidFill>
                          <a:latin typeface="Sarabun" pitchFamily="34" charset="0"/>
                          <a:ea typeface="Sarabun" pitchFamily="34" charset="-122"/>
                          <a:cs typeface="Sarabun" pitchFamily="34" charset="-120"/>
                        </a:rPr>
                        <a:t>ฐานเศรษฐกิจ (Thansettakij)</a:t>
                      </a:r>
                      <a:endParaRPr lang="en-US" sz="1100" dirty="0">
                        <a:latin typeface="Sarabun" charset="0"/>
                        <a:ea typeface="Sarabun" charset="0"/>
                        <a:cs typeface="Sarabun" charset="0"/>
                      </a:endParaRPr>
                    </a:p>
                    <a:p>
                      <a:pPr indent="0" marL="0">
                        <a:buNone/>
                      </a:pPr>
                      <a:r>
                        <a:rPr lang="en-US" sz="1100" dirty="0">
                          <a:solidFill>
                            <a:srgbClr val="1B2433"/>
                          </a:solidFill>
                          <a:latin typeface="Sarabun" pitchFamily="34" charset="0"/>
                          <a:ea typeface="Sarabun" pitchFamily="34" charset="-122"/>
                          <a:cs typeface="Sarabun" pitchFamily="34" charset="-120"/>
                        </a:rPr>
                        <a:t>ก.ล.ต. ลงดาบ ‘ภรัณยา รุจนพรพจี’ กรณีปั่นหุ้น MSC (related case)</a:t>
                      </a:r>
                      <a:endParaRPr lang="en-US" sz="1100" dirty="0">
                        <a:latin typeface="Sarabun" charset="0"/>
                        <a:ea typeface="Sarabun" charset="0"/>
                        <a:cs typeface="Sarabun" charset="0"/>
                      </a:endParaRPr>
                    </a:p>
                  </a:txBody>
                  <a:tcPr marL="73152" marR="73152" marT="22860" marB="2286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u="sng" dirty="0">
                          <a:solidFill>
                            <a:srgbClr val="1F3A5F"/>
                          </a:solidFill>
                          <a:latin typeface="Sarabun" pitchFamily="34" charset="0"/>
                          <a:ea typeface="Sarabun" pitchFamily="34" charset="-122"/>
                          <a:cs typeface="Sarabun"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https://www.thansettakij.com/finance/stockmarket/654988</a:t>
                      </a:r>
                      <a:endParaRPr lang="en-US" sz="1000" dirty="0">
                        <a:latin typeface="Sarabun" charset="0"/>
                        <a:ea typeface="Sarabun" charset="0"/>
                        <a:cs typeface="Sarabun" charset="0"/>
                      </a:endParaRPr>
                    </a:p>
                  </a:txBody>
                  <a:tcPr marL="73152" marR="73152" marT="22860" marB="2286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B2433"/>
                          </a:solidFill>
                          <a:latin typeface="Sarabun" pitchFamily="34" charset="0"/>
                          <a:ea typeface="Sarabun" pitchFamily="34" charset="-122"/>
                          <a:cs typeface="Sarabun" pitchFamily="34" charset="-120"/>
                        </a:rPr>
                        <a:t>11 May 2026</a:t>
                      </a:r>
                      <a:endParaRPr lang="en-US" sz="1100" dirty="0">
                        <a:latin typeface="Sarabun" charset="0"/>
                        <a:ea typeface="Sarabun" charset="0"/>
                        <a:cs typeface="Sarabun" charset="0"/>
                      </a:endParaRPr>
                    </a:p>
                  </a:txBody>
                  <a:tcPr marL="73152" marR="73152" marT="22860" marB="2286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b="1" dirty="0">
                          <a:solidFill>
                            <a:srgbClr val="1B2433"/>
                          </a:solidFill>
                          <a:latin typeface="Sarabun" pitchFamily="34" charset="0"/>
                          <a:ea typeface="Sarabun" pitchFamily="34" charset="-122"/>
                          <a:cs typeface="Sarabun" pitchFamily="34" charset="-120"/>
                        </a:rPr>
                        <a:t>ฐานเศรษฐกิจ (Thansettakij)</a:t>
                      </a:r>
                      <a:endParaRPr lang="en-US" sz="1100" dirty="0">
                        <a:latin typeface="Sarabun" charset="0"/>
                        <a:ea typeface="Sarabun" charset="0"/>
                        <a:cs typeface="Sarabun" charset="0"/>
                      </a:endParaRPr>
                    </a:p>
                    <a:p>
                      <a:pPr indent="0" marL="0">
                        <a:buNone/>
                      </a:pPr>
                      <a:r>
                        <a:rPr lang="en-US" sz="1100" dirty="0">
                          <a:solidFill>
                            <a:srgbClr val="1B2433"/>
                          </a:solidFill>
                          <a:latin typeface="Sarabun" pitchFamily="34" charset="0"/>
                          <a:ea typeface="Sarabun" pitchFamily="34" charset="-122"/>
                          <a:cs typeface="Sarabun" pitchFamily="34" charset="-120"/>
                        </a:rPr>
                        <a:t>ก.ล.ต. ส่งฟ้อง ‘ภรัณยา รุจนพรพจี’ คดีปั่นหุ้น TSR เรียกชำระ 43 ล้านบาท</a:t>
                      </a:r>
                      <a:endParaRPr lang="en-US" sz="1100" dirty="0">
                        <a:latin typeface="Sarabun" charset="0"/>
                        <a:ea typeface="Sarabun" charset="0"/>
                        <a:cs typeface="Sarabun" charset="0"/>
                      </a:endParaRPr>
                    </a:p>
                  </a:txBody>
                  <a:tcPr marL="73152" marR="73152" marT="22860" marB="2286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u="sng" dirty="0">
                          <a:solidFill>
                            <a:srgbClr val="1F3A5F"/>
                          </a:solidFill>
                          <a:latin typeface="Sarabun" pitchFamily="34" charset="0"/>
                          <a:ea typeface="Sarabun" pitchFamily="34" charset="-122"/>
                          <a:cs typeface="Sarabun"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https://www.thansettakij.com/finance/658785</a:t>
                      </a:r>
                      <a:endParaRPr lang="en-US" sz="1000" dirty="0">
                        <a:latin typeface="Sarabun" charset="0"/>
                        <a:ea typeface="Sarabun" charset="0"/>
                        <a:cs typeface="Sarabun" charset="0"/>
                      </a:endParaRPr>
                    </a:p>
                  </a:txBody>
                  <a:tcPr marL="73152" marR="73152" marT="22860" marB="2286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B2433"/>
                          </a:solidFill>
                          <a:latin typeface="Sarabun" pitchFamily="34" charset="0"/>
                          <a:ea typeface="Sarabun" pitchFamily="34" charset="-122"/>
                          <a:cs typeface="Sarabun" pitchFamily="34" charset="-120"/>
                        </a:rPr>
                        <a:t>11 May 2026</a:t>
                      </a:r>
                      <a:endParaRPr lang="en-US" sz="1100" dirty="0">
                        <a:latin typeface="Sarabun" charset="0"/>
                        <a:ea typeface="Sarabun" charset="0"/>
                        <a:cs typeface="Sarabun" charset="0"/>
                      </a:endParaRPr>
                    </a:p>
                  </a:txBody>
                  <a:tcPr marL="73152" marR="73152" marT="22860" marB="2286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b="1" dirty="0">
                          <a:solidFill>
                            <a:srgbClr val="1B2433"/>
                          </a:solidFill>
                          <a:latin typeface="Sarabun" pitchFamily="34" charset="0"/>
                          <a:ea typeface="Sarabun" pitchFamily="34" charset="-122"/>
                          <a:cs typeface="Sarabun" pitchFamily="34" charset="-120"/>
                        </a:rPr>
                        <a:t>หุ้นสมาร์ท (Hoonsmart)</a:t>
                      </a:r>
                      <a:endParaRPr lang="en-US" sz="1100" dirty="0">
                        <a:latin typeface="Sarabun" charset="0"/>
                        <a:ea typeface="Sarabun" charset="0"/>
                        <a:cs typeface="Sarabun" charset="0"/>
                      </a:endParaRPr>
                    </a:p>
                    <a:p>
                      <a:pPr indent="0" marL="0">
                        <a:buNone/>
                      </a:pPr>
                      <a:r>
                        <a:rPr lang="en-US" sz="1100" dirty="0">
                          <a:solidFill>
                            <a:srgbClr val="1B2433"/>
                          </a:solidFill>
                          <a:latin typeface="Sarabun" pitchFamily="34" charset="0"/>
                          <a:ea typeface="Sarabun" pitchFamily="34" charset="-122"/>
                          <a:cs typeface="Sarabun" pitchFamily="34" charset="-120"/>
                        </a:rPr>
                        <a:t>ก.ล.ต.ขออัยการฟ้อง คดีสร้างราคาหุ้น TSR</a:t>
                      </a:r>
                      <a:endParaRPr lang="en-US" sz="1100" dirty="0">
                        <a:latin typeface="Sarabun" charset="0"/>
                        <a:ea typeface="Sarabun" charset="0"/>
                        <a:cs typeface="Sarabun" charset="0"/>
                      </a:endParaRPr>
                    </a:p>
                  </a:txBody>
                  <a:tcPr marL="73152" marR="73152" marT="22860" marB="2286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u="sng" dirty="0">
                          <a:solidFill>
                            <a:srgbClr val="1F3A5F"/>
                          </a:solidFill>
                          <a:latin typeface="Sarabun" pitchFamily="34" charset="0"/>
                          <a:ea typeface="Sarabun" pitchFamily="34" charset="-122"/>
                          <a:cs typeface="Sarabun"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https://hoonsmart.com/archives/417813</a:t>
                      </a:r>
                      <a:endParaRPr lang="en-US" sz="1000" dirty="0">
                        <a:latin typeface="Sarabun" charset="0"/>
                        <a:ea typeface="Sarabun" charset="0"/>
                        <a:cs typeface="Sarabun" charset="0"/>
                      </a:endParaRPr>
                    </a:p>
                  </a:txBody>
                  <a:tcPr marL="73152" marR="73152" marT="22860" marB="2286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bl>
          </a:graphicData>
        </a:graphic>
      </p:graphicFrame>
      <p:sp>
        <p:nvSpPr>
          <p:cNvPr id="9" name="Text 5"/>
          <p:cNvSpPr txBox="1"/>
          <p:nvPr/>
        </p:nvSpPr>
        <p:spPr>
          <a:xfrm>
            <a:off x="457200" y="4526280"/>
            <a:ext cx="8229600" cy="201168"/>
          </a:xfrm>
          <a:prstGeom prst="rect">
            <a:avLst/>
          </a:prstGeom>
          <a:noFill/>
          <a:ln/>
        </p:spPr>
        <p:txBody>
          <a:bodyPr wrap="square" lIns="0" tIns="0" rIns="0" bIns="0" rtlCol="0" anchor="ctr"/>
          <a:lstStyle/>
          <a:p>
            <a:pPr indent="0" marL="0">
              <a:buNone/>
            </a:pPr>
            <a:r>
              <a:rPr lang="en-US" sz="950" i="1" dirty="0">
                <a:solidFill>
                  <a:srgbClr val="5B6B7F"/>
                </a:solidFill>
                <a:latin typeface="Sarabun" pitchFamily="34" charset="0"/>
                <a:ea typeface="Sarabun" pitchFamily="34" charset="-122"/>
                <a:cs typeface="Sarabun" pitchFamily="34" charset="-120"/>
              </a:rPr>
              <a:t>Law: Securities and Exchange Act B.E. 2535 (1992), as amended — English translation provided for the course.</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457200" y="310896"/>
            <a:ext cx="1129284" cy="246888"/>
          </a:xfrm>
          <a:prstGeom prst="roundRect">
            <a:avLst>
              <a:gd name="adj" fmla="val 50000"/>
            </a:avLst>
          </a:prstGeom>
          <a:solidFill>
            <a:srgbClr val="E4572E"/>
          </a:solidFill>
          <a:ln w="12700">
            <a:solidFill>
              <a:srgbClr val="E4572E"/>
            </a:solidFill>
            <a:prstDash val="solid"/>
          </a:ln>
        </p:spPr>
      </p:sp>
      <p:sp>
        <p:nvSpPr>
          <p:cNvPr id="3" name="Text 1"/>
          <p:cNvSpPr txBox="1"/>
          <p:nvPr/>
        </p:nvSpPr>
        <p:spPr>
          <a:xfrm>
            <a:off x="457200" y="310896"/>
            <a:ext cx="1129284" cy="24688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Montserrat" pitchFamily="34" charset="0"/>
                <a:ea typeface="Montserrat" pitchFamily="34" charset="-122"/>
                <a:cs typeface="Montserrat" pitchFamily="34" charset="-120"/>
              </a:rPr>
              <a:t>THE PLAYERS</a:t>
            </a:r>
            <a:endParaRPr lang="en-US" sz="850" dirty="0"/>
          </a:p>
        </p:txBody>
      </p:sp>
      <p:sp>
        <p:nvSpPr>
          <p:cNvPr id="4" name="Text 2"/>
          <p:cNvSpPr txBox="1"/>
          <p:nvPr/>
        </p:nvSpPr>
        <p:spPr>
          <a:xfrm>
            <a:off x="457200" y="640080"/>
            <a:ext cx="8229600" cy="502920"/>
          </a:xfrm>
          <a:prstGeom prst="rect">
            <a:avLst/>
          </a:prstGeom>
          <a:noFill/>
          <a:ln/>
        </p:spPr>
        <p:txBody>
          <a:bodyPr wrap="square" lIns="0" tIns="0" rIns="0" bIns="0" rtlCol="0" anchor="ctr"/>
          <a:lstStyle/>
          <a:p>
            <a:pPr indent="0" marL="0">
              <a:buNone/>
            </a:pPr>
            <a:r>
              <a:rPr lang="en-US" sz="2600" b="1" dirty="0">
                <a:solidFill>
                  <a:srgbClr val="0F1B2D"/>
                </a:solidFill>
                <a:latin typeface="Montserrat" pitchFamily="34" charset="0"/>
                <a:ea typeface="Montserrat" pitchFamily="34" charset="-122"/>
                <a:cs typeface="Montserrat" pitchFamily="34" charset="-120"/>
              </a:rPr>
              <a:t>Who’s Who in the Case</a:t>
            </a:r>
            <a:endParaRPr lang="en-US" sz="2600" dirty="0"/>
          </a:p>
        </p:txBody>
      </p:sp>
      <p:sp>
        <p:nvSpPr>
          <p:cNvPr id="5" name="Text 3"/>
          <p:cNvSpPr txBox="1"/>
          <p:nvPr/>
        </p:nvSpPr>
        <p:spPr>
          <a:xfrm>
            <a:off x="457200" y="4773168"/>
            <a:ext cx="4572000" cy="228600"/>
          </a:xfrm>
          <a:prstGeom prst="rect">
            <a:avLst/>
          </a:prstGeom>
          <a:noFill/>
          <a:ln/>
        </p:spPr>
        <p:txBody>
          <a:bodyPr wrap="square" lIns="0" tIns="0" rIns="0" bIns="0" rtlCol="0" anchor="ctr"/>
          <a:lstStyle/>
          <a:p>
            <a:pPr indent="0" marL="0">
              <a:buNone/>
            </a:pPr>
            <a:r>
              <a:rPr lang="en-US" sz="900" dirty="0">
                <a:solidFill>
                  <a:srgbClr val="5B6B7F"/>
                </a:solidFill>
                <a:latin typeface="Sarabun" pitchFamily="34" charset="0"/>
                <a:ea typeface="Sarabun" pitchFamily="34" charset="-122"/>
                <a:cs typeface="Sarabun" pitchFamily="34" charset="-120"/>
              </a:rPr>
              <a:t>Group 3  ·  TSR Market Manipulation Case</a:t>
            </a:r>
            <a:endParaRPr lang="en-US" sz="900" dirty="0"/>
          </a:p>
        </p:txBody>
      </p:sp>
      <p:sp>
        <p:nvSpPr>
          <p:cNvPr id="6" name="Text 4"/>
          <p:cNvSpPr txBox="1"/>
          <p:nvPr/>
        </p:nvSpPr>
        <p:spPr>
          <a:xfrm>
            <a:off x="7772400" y="4773168"/>
            <a:ext cx="914400" cy="228600"/>
          </a:xfrm>
          <a:prstGeom prst="rect">
            <a:avLst/>
          </a:prstGeom>
          <a:noFill/>
          <a:ln/>
        </p:spPr>
        <p:txBody>
          <a:bodyPr wrap="square" lIns="0" tIns="0" rIns="0" bIns="0" rtlCol="0" anchor="ctr"/>
          <a:lstStyle/>
          <a:p>
            <a:pPr algn="r" indent="0" marL="0">
              <a:buNone/>
            </a:pPr>
            <a:r>
              <a:rPr lang="en-US" sz="900" dirty="0">
                <a:solidFill>
                  <a:srgbClr val="5B6B7F"/>
                </a:solidFill>
                <a:latin typeface="Sarabun" pitchFamily="34" charset="0"/>
                <a:ea typeface="Sarabun" pitchFamily="34" charset="-122"/>
                <a:cs typeface="Sarabun" pitchFamily="34" charset="-120"/>
              </a:rPr>
              <a:t>5 / 20</a:t>
            </a:r>
            <a:endParaRPr lang="en-US" sz="900" dirty="0"/>
          </a:p>
        </p:txBody>
      </p:sp>
      <p:sp>
        <p:nvSpPr>
          <p:cNvPr id="8" name="Shape 5"/>
          <p:cNvSpPr/>
          <p:nvPr/>
        </p:nvSpPr>
        <p:spPr>
          <a:xfrm>
            <a:off x="457200" y="1371600"/>
            <a:ext cx="2651760" cy="1536192"/>
          </a:xfrm>
          <a:prstGeom prst="roundRect">
            <a:avLst>
              <a:gd name="adj" fmla="val 4762"/>
            </a:avLst>
          </a:prstGeom>
          <a:solidFill>
            <a:srgbClr val="FFFFFF"/>
          </a:solidFill>
          <a:ln w="9525">
            <a:solidFill>
              <a:srgbClr val="FFFFFF"/>
            </a:solidFill>
            <a:prstDash val="solid"/>
          </a:ln>
          <a:effectLst>
            <a:outerShdw sx="100000" sy="100000" kx="0" ky="0" algn="bl" rotWithShape="0" blurRad="76200" dist="25400" dir="5400000">
              <a:srgbClr val="0F1B2D">
                <a:alpha val="10000"/>
              </a:srgbClr>
            </a:outerShdw>
          </a:effectLst>
        </p:spPr>
      </p:sp>
      <p:sp>
        <p:nvSpPr>
          <p:cNvPr id="9" name="Shape 6"/>
          <p:cNvSpPr/>
          <p:nvPr/>
        </p:nvSpPr>
        <p:spPr>
          <a:xfrm>
            <a:off x="640080" y="1572768"/>
            <a:ext cx="457200" cy="457200"/>
          </a:xfrm>
          <a:prstGeom prst="ellipse">
            <a:avLst/>
          </a:prstGeom>
          <a:solidFill>
            <a:srgbClr val="E4572E"/>
          </a:solidFill>
          <a:ln w="12700">
            <a:solidFill>
              <a:srgbClr val="E4572E"/>
            </a:solidFill>
            <a:prstDash val="solid"/>
          </a:ln>
        </p:spPr>
      </p:sp>
      <p:pic>
        <p:nvPicPr>
          <p:cNvPr id="10" name="Image 0" descr="preencoded.png">    </p:cNvPr>
          <p:cNvPicPr>
            <a:picLocks noChangeAspect="1"/>
          </p:cNvPicPr>
          <p:nvPr/>
        </p:nvPicPr>
        <p:blipFill>
          <a:blip r:embed="rId1"/>
          <a:stretch>
            <a:fillRect/>
          </a:stretch>
        </p:blipFill>
        <p:spPr>
          <a:xfrm>
            <a:off x="758952" y="1691640"/>
            <a:ext cx="219456" cy="219456"/>
          </a:xfrm>
          <a:prstGeom prst="rect">
            <a:avLst/>
          </a:prstGeom>
        </p:spPr>
      </p:pic>
      <p:sp>
        <p:nvSpPr>
          <p:cNvPr id="11" name="Text 7"/>
          <p:cNvSpPr txBox="1"/>
          <p:nvPr/>
        </p:nvSpPr>
        <p:spPr>
          <a:xfrm>
            <a:off x="1207008" y="1572768"/>
            <a:ext cx="1737360" cy="457200"/>
          </a:xfrm>
          <a:prstGeom prst="rect">
            <a:avLst/>
          </a:prstGeom>
          <a:noFill/>
          <a:ln/>
        </p:spPr>
        <p:txBody>
          <a:bodyPr wrap="square" lIns="0" tIns="0" rIns="0" bIns="0" rtlCol="0" anchor="ctr"/>
          <a:lstStyle/>
          <a:p>
            <a:pPr indent="0" marL="0">
              <a:buNone/>
            </a:pPr>
            <a:r>
              <a:rPr lang="en-US" sz="1250" b="1" dirty="0">
                <a:solidFill>
                  <a:srgbClr val="0F1B2D"/>
                </a:solidFill>
                <a:latin typeface="Montserrat" pitchFamily="34" charset="0"/>
                <a:ea typeface="Montserrat" pitchFamily="34" charset="-122"/>
                <a:cs typeface="Montserrat" pitchFamily="34" charset="-120"/>
              </a:rPr>
              <a:t>The alleged offender</a:t>
            </a:r>
            <a:endParaRPr lang="en-US" sz="1250" dirty="0"/>
          </a:p>
        </p:txBody>
      </p:sp>
      <p:sp>
        <p:nvSpPr>
          <p:cNvPr id="12" name="Text 8"/>
          <p:cNvSpPr txBox="1"/>
          <p:nvPr/>
        </p:nvSpPr>
        <p:spPr>
          <a:xfrm>
            <a:off x="640080" y="2121408"/>
            <a:ext cx="2286000" cy="667512"/>
          </a:xfrm>
          <a:prstGeom prst="rect">
            <a:avLst/>
          </a:prstGeom>
          <a:noFill/>
          <a:ln/>
        </p:spPr>
        <p:txBody>
          <a:bodyPr wrap="square" lIns="0" tIns="0" rIns="0" bIns="0" rtlCol="0" anchor="t"/>
          <a:lstStyle/>
          <a:p>
            <a:pPr indent="0" marL="0">
              <a:buNone/>
            </a:pPr>
            <a:r>
              <a:rPr lang="en-US" sz="1200" dirty="0">
                <a:solidFill>
                  <a:srgbClr val="1B2433"/>
                </a:solidFill>
                <a:latin typeface="Sarabun" pitchFamily="34" charset="0"/>
                <a:ea typeface="Sarabun" pitchFamily="34" charset="-122"/>
                <a:cs typeface="Sarabun" pitchFamily="34" charset="-120"/>
              </a:rPr>
              <a:t>นางสาวภรัณยา รุจนพรพจี, an individual investor and a major shareholder of SABUY</a:t>
            </a:r>
            <a:endParaRPr lang="en-US" sz="1200" dirty="0"/>
          </a:p>
        </p:txBody>
      </p:sp>
      <p:sp>
        <p:nvSpPr>
          <p:cNvPr id="13" name="Shape 9"/>
          <p:cNvSpPr/>
          <p:nvPr/>
        </p:nvSpPr>
        <p:spPr>
          <a:xfrm>
            <a:off x="3246120" y="1371600"/>
            <a:ext cx="2651760" cy="1536192"/>
          </a:xfrm>
          <a:prstGeom prst="roundRect">
            <a:avLst>
              <a:gd name="adj" fmla="val 4762"/>
            </a:avLst>
          </a:prstGeom>
          <a:solidFill>
            <a:srgbClr val="FFFFFF"/>
          </a:solidFill>
          <a:ln w="9525">
            <a:solidFill>
              <a:srgbClr val="FFFFFF"/>
            </a:solidFill>
            <a:prstDash val="solid"/>
          </a:ln>
          <a:effectLst>
            <a:outerShdw sx="100000" sy="100000" kx="0" ky="0" algn="bl" rotWithShape="0" blurRad="76200" dist="25400" dir="5400000">
              <a:srgbClr val="0F1B2D">
                <a:alpha val="10000"/>
              </a:srgbClr>
            </a:outerShdw>
          </a:effectLst>
        </p:spPr>
      </p:sp>
      <p:sp>
        <p:nvSpPr>
          <p:cNvPr id="14" name="Shape 10"/>
          <p:cNvSpPr/>
          <p:nvPr/>
        </p:nvSpPr>
        <p:spPr>
          <a:xfrm>
            <a:off x="3429000" y="1572768"/>
            <a:ext cx="457200" cy="457200"/>
          </a:xfrm>
          <a:prstGeom prst="ellipse">
            <a:avLst/>
          </a:prstGeom>
          <a:solidFill>
            <a:srgbClr val="E4572E"/>
          </a:solidFill>
          <a:ln w="12700">
            <a:solidFill>
              <a:srgbClr val="E4572E"/>
            </a:solidFill>
            <a:prstDash val="solid"/>
          </a:ln>
        </p:spPr>
      </p:sp>
      <p:pic>
        <p:nvPicPr>
          <p:cNvPr id="15" name="Image 1" descr="preencoded.png">    </p:cNvPr>
          <p:cNvPicPr>
            <a:picLocks noChangeAspect="1"/>
          </p:cNvPicPr>
          <p:nvPr/>
        </p:nvPicPr>
        <p:blipFill>
          <a:blip r:embed="rId2"/>
          <a:stretch>
            <a:fillRect/>
          </a:stretch>
        </p:blipFill>
        <p:spPr>
          <a:xfrm>
            <a:off x="3547872" y="1691640"/>
            <a:ext cx="219456" cy="219456"/>
          </a:xfrm>
          <a:prstGeom prst="rect">
            <a:avLst/>
          </a:prstGeom>
        </p:spPr>
      </p:pic>
      <p:sp>
        <p:nvSpPr>
          <p:cNvPr id="16" name="Text 11"/>
          <p:cNvSpPr txBox="1"/>
          <p:nvPr/>
        </p:nvSpPr>
        <p:spPr>
          <a:xfrm>
            <a:off x="3995928" y="1572768"/>
            <a:ext cx="1737360" cy="457200"/>
          </a:xfrm>
          <a:prstGeom prst="rect">
            <a:avLst/>
          </a:prstGeom>
          <a:noFill/>
          <a:ln/>
        </p:spPr>
        <p:txBody>
          <a:bodyPr wrap="square" lIns="0" tIns="0" rIns="0" bIns="0" rtlCol="0" anchor="ctr"/>
          <a:lstStyle/>
          <a:p>
            <a:pPr indent="0" marL="0">
              <a:buNone/>
            </a:pPr>
            <a:r>
              <a:rPr lang="en-US" sz="1250" b="1" dirty="0">
                <a:solidFill>
                  <a:srgbClr val="0F1B2D"/>
                </a:solidFill>
                <a:latin typeface="Montserrat" pitchFamily="34" charset="0"/>
                <a:ea typeface="Montserrat" pitchFamily="34" charset="-122"/>
                <a:cs typeface="Montserrat" pitchFamily="34" charset="-120"/>
              </a:rPr>
              <a:t>The stock</a:t>
            </a:r>
            <a:endParaRPr lang="en-US" sz="1250" dirty="0"/>
          </a:p>
        </p:txBody>
      </p:sp>
      <p:sp>
        <p:nvSpPr>
          <p:cNvPr id="17" name="Text 12"/>
          <p:cNvSpPr txBox="1"/>
          <p:nvPr/>
        </p:nvSpPr>
        <p:spPr>
          <a:xfrm>
            <a:off x="3429000" y="2121408"/>
            <a:ext cx="2286000" cy="667512"/>
          </a:xfrm>
          <a:prstGeom prst="rect">
            <a:avLst/>
          </a:prstGeom>
          <a:noFill/>
          <a:ln/>
        </p:spPr>
        <p:txBody>
          <a:bodyPr wrap="square" lIns="0" tIns="0" rIns="0" bIns="0" rtlCol="0" anchor="t"/>
          <a:lstStyle/>
          <a:p>
            <a:pPr indent="0" marL="0">
              <a:buNone/>
            </a:pPr>
            <a:r>
              <a:rPr lang="en-US" sz="1200" dirty="0">
                <a:solidFill>
                  <a:srgbClr val="1B2433"/>
                </a:solidFill>
                <a:latin typeface="Sarabun" pitchFamily="34" charset="0"/>
                <a:ea typeface="Sarabun" pitchFamily="34" charset="-122"/>
                <a:cs typeface="Sarabun" pitchFamily="34" charset="-120"/>
              </a:rPr>
              <a:t>TSR — Thiensurat PCL (now TSR Living Solution PCL), listed on the SET</a:t>
            </a:r>
            <a:endParaRPr lang="en-US" sz="1200" dirty="0"/>
          </a:p>
        </p:txBody>
      </p:sp>
      <p:sp>
        <p:nvSpPr>
          <p:cNvPr id="18" name="Shape 13"/>
          <p:cNvSpPr/>
          <p:nvPr/>
        </p:nvSpPr>
        <p:spPr>
          <a:xfrm>
            <a:off x="6035040" y="1371600"/>
            <a:ext cx="2651760" cy="1536192"/>
          </a:xfrm>
          <a:prstGeom prst="roundRect">
            <a:avLst>
              <a:gd name="adj" fmla="val 4762"/>
            </a:avLst>
          </a:prstGeom>
          <a:solidFill>
            <a:srgbClr val="FFFFFF"/>
          </a:solidFill>
          <a:ln w="9525">
            <a:solidFill>
              <a:srgbClr val="FFFFFF"/>
            </a:solidFill>
            <a:prstDash val="solid"/>
          </a:ln>
          <a:effectLst>
            <a:outerShdw sx="100000" sy="100000" kx="0" ky="0" algn="bl" rotWithShape="0" blurRad="76200" dist="25400" dir="5400000">
              <a:srgbClr val="0F1B2D">
                <a:alpha val="10000"/>
              </a:srgbClr>
            </a:outerShdw>
          </a:effectLst>
        </p:spPr>
      </p:sp>
      <p:sp>
        <p:nvSpPr>
          <p:cNvPr id="19" name="Shape 14"/>
          <p:cNvSpPr/>
          <p:nvPr/>
        </p:nvSpPr>
        <p:spPr>
          <a:xfrm>
            <a:off x="6217920" y="1572768"/>
            <a:ext cx="457200" cy="457200"/>
          </a:xfrm>
          <a:prstGeom prst="ellipse">
            <a:avLst/>
          </a:prstGeom>
          <a:solidFill>
            <a:srgbClr val="E4572E"/>
          </a:solidFill>
          <a:ln w="12700">
            <a:solidFill>
              <a:srgbClr val="E4572E"/>
            </a:solidFill>
            <a:prstDash val="solid"/>
          </a:ln>
        </p:spPr>
      </p:sp>
      <p:pic>
        <p:nvPicPr>
          <p:cNvPr id="20" name="Image 2" descr="preencoded.png">    </p:cNvPr>
          <p:cNvPicPr>
            <a:picLocks noChangeAspect="1"/>
          </p:cNvPicPr>
          <p:nvPr/>
        </p:nvPicPr>
        <p:blipFill>
          <a:blip r:embed="rId3"/>
          <a:stretch>
            <a:fillRect/>
          </a:stretch>
        </p:blipFill>
        <p:spPr>
          <a:xfrm>
            <a:off x="6336792" y="1691640"/>
            <a:ext cx="219456" cy="219456"/>
          </a:xfrm>
          <a:prstGeom prst="rect">
            <a:avLst/>
          </a:prstGeom>
        </p:spPr>
      </p:pic>
      <p:sp>
        <p:nvSpPr>
          <p:cNvPr id="21" name="Text 15"/>
          <p:cNvSpPr txBox="1"/>
          <p:nvPr/>
        </p:nvSpPr>
        <p:spPr>
          <a:xfrm>
            <a:off x="6784848" y="1572768"/>
            <a:ext cx="1737360" cy="457200"/>
          </a:xfrm>
          <a:prstGeom prst="rect">
            <a:avLst/>
          </a:prstGeom>
          <a:noFill/>
          <a:ln/>
        </p:spPr>
        <p:txBody>
          <a:bodyPr wrap="square" lIns="0" tIns="0" rIns="0" bIns="0" rtlCol="0" anchor="ctr"/>
          <a:lstStyle/>
          <a:p>
            <a:pPr indent="0" marL="0">
              <a:buNone/>
            </a:pPr>
            <a:r>
              <a:rPr lang="en-US" sz="1250" b="1" dirty="0">
                <a:solidFill>
                  <a:srgbClr val="0F1B2D"/>
                </a:solidFill>
                <a:latin typeface="Montserrat" pitchFamily="34" charset="0"/>
                <a:ea typeface="Montserrat" pitchFamily="34" charset="-122"/>
                <a:cs typeface="Montserrat" pitchFamily="34" charset="-120"/>
              </a:rPr>
              <a:t>The beneficiary</a:t>
            </a:r>
            <a:endParaRPr lang="en-US" sz="1250" dirty="0"/>
          </a:p>
        </p:txBody>
      </p:sp>
      <p:sp>
        <p:nvSpPr>
          <p:cNvPr id="22" name="Text 16"/>
          <p:cNvSpPr txBox="1"/>
          <p:nvPr/>
        </p:nvSpPr>
        <p:spPr>
          <a:xfrm>
            <a:off x="6217920" y="2121408"/>
            <a:ext cx="2286000" cy="667512"/>
          </a:xfrm>
          <a:prstGeom prst="rect">
            <a:avLst/>
          </a:prstGeom>
          <a:noFill/>
          <a:ln/>
        </p:spPr>
        <p:txBody>
          <a:bodyPr wrap="square" lIns="0" tIns="0" rIns="0" bIns="0" rtlCol="0" anchor="t"/>
          <a:lstStyle/>
          <a:p>
            <a:pPr indent="0" marL="0">
              <a:buNone/>
            </a:pPr>
            <a:r>
              <a:rPr lang="en-US" sz="1200" dirty="0">
                <a:solidFill>
                  <a:srgbClr val="1B2433"/>
                </a:solidFill>
                <a:latin typeface="Sarabun" pitchFamily="34" charset="0"/>
                <a:ea typeface="Sarabun" pitchFamily="34" charset="-122"/>
                <a:cs typeface="Sarabun" pitchFamily="34" charset="-120"/>
              </a:rPr>
              <a:t>SABUY — Sabuy Technology PCL, which held TSR shares as an investment</a:t>
            </a:r>
            <a:endParaRPr lang="en-US" sz="1200" dirty="0"/>
          </a:p>
        </p:txBody>
      </p:sp>
      <p:sp>
        <p:nvSpPr>
          <p:cNvPr id="23" name="Shape 17"/>
          <p:cNvSpPr/>
          <p:nvPr/>
        </p:nvSpPr>
        <p:spPr>
          <a:xfrm>
            <a:off x="457200" y="3063240"/>
            <a:ext cx="2651760" cy="1536192"/>
          </a:xfrm>
          <a:prstGeom prst="roundRect">
            <a:avLst>
              <a:gd name="adj" fmla="val 4762"/>
            </a:avLst>
          </a:prstGeom>
          <a:solidFill>
            <a:srgbClr val="FFFFFF"/>
          </a:solidFill>
          <a:ln w="9525">
            <a:solidFill>
              <a:srgbClr val="FFFFFF"/>
            </a:solidFill>
            <a:prstDash val="solid"/>
          </a:ln>
          <a:effectLst>
            <a:outerShdw sx="100000" sy="100000" kx="0" ky="0" algn="bl" rotWithShape="0" blurRad="76200" dist="25400" dir="5400000">
              <a:srgbClr val="0F1B2D">
                <a:alpha val="10000"/>
              </a:srgbClr>
            </a:outerShdw>
          </a:effectLst>
        </p:spPr>
      </p:sp>
      <p:sp>
        <p:nvSpPr>
          <p:cNvPr id="24" name="Shape 18"/>
          <p:cNvSpPr/>
          <p:nvPr/>
        </p:nvSpPr>
        <p:spPr>
          <a:xfrm>
            <a:off x="640080" y="3264408"/>
            <a:ext cx="457200" cy="457200"/>
          </a:xfrm>
          <a:prstGeom prst="ellipse">
            <a:avLst/>
          </a:prstGeom>
          <a:solidFill>
            <a:srgbClr val="1F3A5F"/>
          </a:solidFill>
          <a:ln w="12700">
            <a:solidFill>
              <a:srgbClr val="1F3A5F"/>
            </a:solidFill>
            <a:prstDash val="solid"/>
          </a:ln>
        </p:spPr>
      </p:sp>
      <p:pic>
        <p:nvPicPr>
          <p:cNvPr id="25" name="Image 3" descr="preencoded.png">    </p:cNvPr>
          <p:cNvPicPr>
            <a:picLocks noChangeAspect="1"/>
          </p:cNvPicPr>
          <p:nvPr/>
        </p:nvPicPr>
        <p:blipFill>
          <a:blip r:embed="rId4"/>
          <a:stretch>
            <a:fillRect/>
          </a:stretch>
        </p:blipFill>
        <p:spPr>
          <a:xfrm>
            <a:off x="758952" y="3383280"/>
            <a:ext cx="219456" cy="219456"/>
          </a:xfrm>
          <a:prstGeom prst="rect">
            <a:avLst/>
          </a:prstGeom>
        </p:spPr>
      </p:pic>
      <p:sp>
        <p:nvSpPr>
          <p:cNvPr id="26" name="Text 19"/>
          <p:cNvSpPr txBox="1"/>
          <p:nvPr/>
        </p:nvSpPr>
        <p:spPr>
          <a:xfrm>
            <a:off x="1207008" y="3264408"/>
            <a:ext cx="1737360" cy="457200"/>
          </a:xfrm>
          <a:prstGeom prst="rect">
            <a:avLst/>
          </a:prstGeom>
          <a:noFill/>
          <a:ln/>
        </p:spPr>
        <p:txBody>
          <a:bodyPr wrap="square" lIns="0" tIns="0" rIns="0" bIns="0" rtlCol="0" anchor="ctr"/>
          <a:lstStyle/>
          <a:p>
            <a:pPr indent="0" marL="0">
              <a:buNone/>
            </a:pPr>
            <a:r>
              <a:rPr lang="en-US" sz="1250" b="1" dirty="0">
                <a:solidFill>
                  <a:srgbClr val="0F1B2D"/>
                </a:solidFill>
                <a:latin typeface="Montserrat" pitchFamily="34" charset="0"/>
                <a:ea typeface="Montserrat" pitchFamily="34" charset="-122"/>
                <a:cs typeface="Montserrat" pitchFamily="34" charset="-120"/>
              </a:rPr>
              <a:t>The detector</a:t>
            </a:r>
            <a:endParaRPr lang="en-US" sz="1250" dirty="0"/>
          </a:p>
        </p:txBody>
      </p:sp>
      <p:sp>
        <p:nvSpPr>
          <p:cNvPr id="27" name="Text 20"/>
          <p:cNvSpPr txBox="1"/>
          <p:nvPr/>
        </p:nvSpPr>
        <p:spPr>
          <a:xfrm>
            <a:off x="640080" y="3813048"/>
            <a:ext cx="2286000" cy="667512"/>
          </a:xfrm>
          <a:prstGeom prst="rect">
            <a:avLst/>
          </a:prstGeom>
          <a:noFill/>
          <a:ln/>
        </p:spPr>
        <p:txBody>
          <a:bodyPr wrap="square" lIns="0" tIns="0" rIns="0" bIns="0" rtlCol="0" anchor="t"/>
          <a:lstStyle/>
          <a:p>
            <a:pPr indent="0" marL="0">
              <a:buNone/>
            </a:pPr>
            <a:r>
              <a:rPr lang="en-US" sz="1200" dirty="0">
                <a:solidFill>
                  <a:srgbClr val="1B2433"/>
                </a:solidFill>
                <a:latin typeface="Sarabun" pitchFamily="34" charset="0"/>
                <a:ea typeface="Sarabun" pitchFamily="34" charset="-122"/>
                <a:cs typeface="Sarabun" pitchFamily="34" charset="-120"/>
              </a:rPr>
              <a:t>Stock Exchange of Thailand — flagged the trading and referred it to the SEC (Oct 2022)</a:t>
            </a:r>
            <a:endParaRPr lang="en-US" sz="1200" dirty="0"/>
          </a:p>
        </p:txBody>
      </p:sp>
      <p:sp>
        <p:nvSpPr>
          <p:cNvPr id="28" name="Shape 21"/>
          <p:cNvSpPr/>
          <p:nvPr/>
        </p:nvSpPr>
        <p:spPr>
          <a:xfrm>
            <a:off x="3246120" y="3063240"/>
            <a:ext cx="2651760" cy="1536192"/>
          </a:xfrm>
          <a:prstGeom prst="roundRect">
            <a:avLst>
              <a:gd name="adj" fmla="val 4762"/>
            </a:avLst>
          </a:prstGeom>
          <a:solidFill>
            <a:srgbClr val="FFFFFF"/>
          </a:solidFill>
          <a:ln w="9525">
            <a:solidFill>
              <a:srgbClr val="FFFFFF"/>
            </a:solidFill>
            <a:prstDash val="solid"/>
          </a:ln>
          <a:effectLst>
            <a:outerShdw sx="100000" sy="100000" kx="0" ky="0" algn="bl" rotWithShape="0" blurRad="76200" dist="25400" dir="5400000">
              <a:srgbClr val="0F1B2D">
                <a:alpha val="10000"/>
              </a:srgbClr>
            </a:outerShdw>
          </a:effectLst>
        </p:spPr>
      </p:sp>
      <p:sp>
        <p:nvSpPr>
          <p:cNvPr id="29" name="Shape 22"/>
          <p:cNvSpPr/>
          <p:nvPr/>
        </p:nvSpPr>
        <p:spPr>
          <a:xfrm>
            <a:off x="3429000" y="3264408"/>
            <a:ext cx="457200" cy="457200"/>
          </a:xfrm>
          <a:prstGeom prst="ellipse">
            <a:avLst/>
          </a:prstGeom>
          <a:solidFill>
            <a:srgbClr val="1F3A5F"/>
          </a:solidFill>
          <a:ln w="12700">
            <a:solidFill>
              <a:srgbClr val="1F3A5F"/>
            </a:solidFill>
            <a:prstDash val="solid"/>
          </a:ln>
        </p:spPr>
      </p:sp>
      <p:pic>
        <p:nvPicPr>
          <p:cNvPr id="30" name="Image 4" descr="preencoded.png">    </p:cNvPr>
          <p:cNvPicPr>
            <a:picLocks noChangeAspect="1"/>
          </p:cNvPicPr>
          <p:nvPr/>
        </p:nvPicPr>
        <p:blipFill>
          <a:blip r:embed="rId5"/>
          <a:stretch>
            <a:fillRect/>
          </a:stretch>
        </p:blipFill>
        <p:spPr>
          <a:xfrm>
            <a:off x="3547872" y="3383280"/>
            <a:ext cx="219456" cy="219456"/>
          </a:xfrm>
          <a:prstGeom prst="rect">
            <a:avLst/>
          </a:prstGeom>
        </p:spPr>
      </p:pic>
      <p:sp>
        <p:nvSpPr>
          <p:cNvPr id="31" name="Text 23"/>
          <p:cNvSpPr txBox="1"/>
          <p:nvPr/>
        </p:nvSpPr>
        <p:spPr>
          <a:xfrm>
            <a:off x="3995928" y="3264408"/>
            <a:ext cx="1737360" cy="457200"/>
          </a:xfrm>
          <a:prstGeom prst="rect">
            <a:avLst/>
          </a:prstGeom>
          <a:noFill/>
          <a:ln/>
        </p:spPr>
        <p:txBody>
          <a:bodyPr wrap="square" lIns="0" tIns="0" rIns="0" bIns="0" rtlCol="0" anchor="ctr"/>
          <a:lstStyle/>
          <a:p>
            <a:pPr indent="0" marL="0">
              <a:buNone/>
            </a:pPr>
            <a:r>
              <a:rPr lang="en-US" sz="1250" b="1" dirty="0">
                <a:solidFill>
                  <a:srgbClr val="0F1B2D"/>
                </a:solidFill>
                <a:latin typeface="Montserrat" pitchFamily="34" charset="0"/>
                <a:ea typeface="Montserrat" pitchFamily="34" charset="-122"/>
                <a:cs typeface="Montserrat" pitchFamily="34" charset="-120"/>
              </a:rPr>
              <a:t>The enforcers</a:t>
            </a:r>
            <a:endParaRPr lang="en-US" sz="1250" dirty="0"/>
          </a:p>
        </p:txBody>
      </p:sp>
      <p:sp>
        <p:nvSpPr>
          <p:cNvPr id="32" name="Text 24"/>
          <p:cNvSpPr txBox="1"/>
          <p:nvPr/>
        </p:nvSpPr>
        <p:spPr>
          <a:xfrm>
            <a:off x="3429000" y="3813048"/>
            <a:ext cx="2286000" cy="667512"/>
          </a:xfrm>
          <a:prstGeom prst="rect">
            <a:avLst/>
          </a:prstGeom>
          <a:noFill/>
          <a:ln/>
        </p:spPr>
        <p:txBody>
          <a:bodyPr wrap="square" lIns="0" tIns="0" rIns="0" bIns="0" rtlCol="0" anchor="t"/>
          <a:lstStyle/>
          <a:p>
            <a:pPr indent="0" marL="0">
              <a:buNone/>
            </a:pPr>
            <a:r>
              <a:rPr lang="en-US" sz="1200" dirty="0">
                <a:solidFill>
                  <a:srgbClr val="1B2433"/>
                </a:solidFill>
                <a:latin typeface="Sarabun" pitchFamily="34" charset="0"/>
                <a:ea typeface="Sarabun" pitchFamily="34" charset="-122"/>
                <a:cs typeface="Sarabun" pitchFamily="34" charset="-120"/>
              </a:rPr>
              <a:t>SEC Office investigates; the Civil Sanction Committee (CSC) sets civil sanctions</a:t>
            </a:r>
            <a:endParaRPr lang="en-US" sz="1200" dirty="0"/>
          </a:p>
        </p:txBody>
      </p:sp>
      <p:sp>
        <p:nvSpPr>
          <p:cNvPr id="33" name="Shape 25"/>
          <p:cNvSpPr/>
          <p:nvPr/>
        </p:nvSpPr>
        <p:spPr>
          <a:xfrm>
            <a:off x="6035040" y="3063240"/>
            <a:ext cx="2651760" cy="1536192"/>
          </a:xfrm>
          <a:prstGeom prst="roundRect">
            <a:avLst>
              <a:gd name="adj" fmla="val 4762"/>
            </a:avLst>
          </a:prstGeom>
          <a:solidFill>
            <a:srgbClr val="FFFFFF"/>
          </a:solidFill>
          <a:ln w="9525">
            <a:solidFill>
              <a:srgbClr val="FFFFFF"/>
            </a:solidFill>
            <a:prstDash val="solid"/>
          </a:ln>
          <a:effectLst>
            <a:outerShdw sx="100000" sy="100000" kx="0" ky="0" algn="bl" rotWithShape="0" blurRad="76200" dist="25400" dir="5400000">
              <a:srgbClr val="0F1B2D">
                <a:alpha val="10000"/>
              </a:srgbClr>
            </a:outerShdw>
          </a:effectLst>
        </p:spPr>
      </p:sp>
      <p:sp>
        <p:nvSpPr>
          <p:cNvPr id="34" name="Shape 26"/>
          <p:cNvSpPr/>
          <p:nvPr/>
        </p:nvSpPr>
        <p:spPr>
          <a:xfrm>
            <a:off x="6217920" y="3264408"/>
            <a:ext cx="457200" cy="457200"/>
          </a:xfrm>
          <a:prstGeom prst="ellipse">
            <a:avLst/>
          </a:prstGeom>
          <a:solidFill>
            <a:srgbClr val="1F3A5F"/>
          </a:solidFill>
          <a:ln w="12700">
            <a:solidFill>
              <a:srgbClr val="1F3A5F"/>
            </a:solidFill>
            <a:prstDash val="solid"/>
          </a:ln>
        </p:spPr>
      </p:sp>
      <p:pic>
        <p:nvPicPr>
          <p:cNvPr id="35" name="Image 5" descr="preencoded.png">    </p:cNvPr>
          <p:cNvPicPr>
            <a:picLocks noChangeAspect="1"/>
          </p:cNvPicPr>
          <p:nvPr/>
        </p:nvPicPr>
        <p:blipFill>
          <a:blip r:embed="rId6"/>
          <a:stretch>
            <a:fillRect/>
          </a:stretch>
        </p:blipFill>
        <p:spPr>
          <a:xfrm>
            <a:off x="6336792" y="3383280"/>
            <a:ext cx="219456" cy="219456"/>
          </a:xfrm>
          <a:prstGeom prst="rect">
            <a:avLst/>
          </a:prstGeom>
        </p:spPr>
      </p:pic>
      <p:sp>
        <p:nvSpPr>
          <p:cNvPr id="36" name="Text 27"/>
          <p:cNvSpPr txBox="1"/>
          <p:nvPr/>
        </p:nvSpPr>
        <p:spPr>
          <a:xfrm>
            <a:off x="6784848" y="3264408"/>
            <a:ext cx="1737360" cy="457200"/>
          </a:xfrm>
          <a:prstGeom prst="rect">
            <a:avLst/>
          </a:prstGeom>
          <a:noFill/>
          <a:ln/>
        </p:spPr>
        <p:txBody>
          <a:bodyPr wrap="square" lIns="0" tIns="0" rIns="0" bIns="0" rtlCol="0" anchor="ctr"/>
          <a:lstStyle/>
          <a:p>
            <a:pPr indent="0" marL="0">
              <a:buNone/>
            </a:pPr>
            <a:r>
              <a:rPr lang="en-US" sz="1250" b="1" dirty="0">
                <a:solidFill>
                  <a:srgbClr val="0F1B2D"/>
                </a:solidFill>
                <a:latin typeface="Montserrat" pitchFamily="34" charset="0"/>
                <a:ea typeface="Montserrat" pitchFamily="34" charset="-122"/>
                <a:cs typeface="Montserrat" pitchFamily="34" charset="-120"/>
              </a:rPr>
              <a:t>The next stage</a:t>
            </a:r>
            <a:endParaRPr lang="en-US" sz="1250" dirty="0"/>
          </a:p>
        </p:txBody>
      </p:sp>
      <p:sp>
        <p:nvSpPr>
          <p:cNvPr id="37" name="Text 28"/>
          <p:cNvSpPr txBox="1"/>
          <p:nvPr/>
        </p:nvSpPr>
        <p:spPr>
          <a:xfrm>
            <a:off x="6217920" y="3813048"/>
            <a:ext cx="2286000" cy="667512"/>
          </a:xfrm>
          <a:prstGeom prst="rect">
            <a:avLst/>
          </a:prstGeom>
          <a:noFill/>
          <a:ln/>
        </p:spPr>
        <p:txBody>
          <a:bodyPr wrap="square" lIns="0" tIns="0" rIns="0" bIns="0" rtlCol="0" anchor="t"/>
          <a:lstStyle/>
          <a:p>
            <a:pPr indent="0" marL="0">
              <a:buNone/>
            </a:pPr>
            <a:r>
              <a:rPr lang="en-US" sz="1200" dirty="0">
                <a:solidFill>
                  <a:srgbClr val="1B2433"/>
                </a:solidFill>
                <a:latin typeface="Sarabun" pitchFamily="34" charset="0"/>
                <a:ea typeface="Sarabun" pitchFamily="34" charset="-122"/>
                <a:cs typeface="Sarabun" pitchFamily="34" charset="-120"/>
              </a:rPr>
              <a:t>Public prosecutor and Civil Court; AMLO for money-laundering review</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457200" y="310896"/>
            <a:ext cx="973836" cy="246888"/>
          </a:xfrm>
          <a:prstGeom prst="roundRect">
            <a:avLst>
              <a:gd name="adj" fmla="val 50000"/>
            </a:avLst>
          </a:prstGeom>
          <a:solidFill>
            <a:srgbClr val="E4572E"/>
          </a:solidFill>
          <a:ln w="12700">
            <a:solidFill>
              <a:srgbClr val="E4572E"/>
            </a:solidFill>
            <a:prstDash val="solid"/>
          </a:ln>
        </p:spPr>
      </p:sp>
      <p:sp>
        <p:nvSpPr>
          <p:cNvPr id="3" name="Text 1"/>
          <p:cNvSpPr txBox="1"/>
          <p:nvPr/>
        </p:nvSpPr>
        <p:spPr>
          <a:xfrm>
            <a:off x="457200" y="310896"/>
            <a:ext cx="973836" cy="24688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Montserrat" pitchFamily="34" charset="0"/>
                <a:ea typeface="Montserrat" pitchFamily="34" charset="-122"/>
                <a:cs typeface="Montserrat" pitchFamily="34" charset="-120"/>
              </a:rPr>
              <a:t>THE FACTS</a:t>
            </a:r>
            <a:endParaRPr lang="en-US" sz="850" dirty="0"/>
          </a:p>
        </p:txBody>
      </p:sp>
      <p:sp>
        <p:nvSpPr>
          <p:cNvPr id="4" name="Text 2"/>
          <p:cNvSpPr txBox="1"/>
          <p:nvPr/>
        </p:nvSpPr>
        <p:spPr>
          <a:xfrm>
            <a:off x="457200" y="640080"/>
            <a:ext cx="8229600" cy="502920"/>
          </a:xfrm>
          <a:prstGeom prst="rect">
            <a:avLst/>
          </a:prstGeom>
          <a:noFill/>
          <a:ln/>
        </p:spPr>
        <p:txBody>
          <a:bodyPr wrap="square" lIns="0" tIns="0" rIns="0" bIns="0" rtlCol="0" anchor="ctr"/>
          <a:lstStyle/>
          <a:p>
            <a:pPr indent="0" marL="0">
              <a:buNone/>
            </a:pPr>
            <a:r>
              <a:rPr lang="en-US" sz="2600" b="1" dirty="0">
                <a:solidFill>
                  <a:srgbClr val="0F1B2D"/>
                </a:solidFill>
                <a:latin typeface="Montserrat" pitchFamily="34" charset="0"/>
                <a:ea typeface="Montserrat" pitchFamily="34" charset="-122"/>
                <a:cs typeface="Montserrat" pitchFamily="34" charset="-120"/>
              </a:rPr>
              <a:t>What Happened</a:t>
            </a:r>
            <a:endParaRPr lang="en-US" sz="2600" dirty="0"/>
          </a:p>
        </p:txBody>
      </p:sp>
      <p:sp>
        <p:nvSpPr>
          <p:cNvPr id="5" name="Text 3"/>
          <p:cNvSpPr txBox="1"/>
          <p:nvPr/>
        </p:nvSpPr>
        <p:spPr>
          <a:xfrm>
            <a:off x="457200" y="4773168"/>
            <a:ext cx="4572000" cy="228600"/>
          </a:xfrm>
          <a:prstGeom prst="rect">
            <a:avLst/>
          </a:prstGeom>
          <a:noFill/>
          <a:ln/>
        </p:spPr>
        <p:txBody>
          <a:bodyPr wrap="square" lIns="0" tIns="0" rIns="0" bIns="0" rtlCol="0" anchor="ctr"/>
          <a:lstStyle/>
          <a:p>
            <a:pPr indent="0" marL="0">
              <a:buNone/>
            </a:pPr>
            <a:r>
              <a:rPr lang="en-US" sz="900" dirty="0">
                <a:solidFill>
                  <a:srgbClr val="5B6B7F"/>
                </a:solidFill>
                <a:latin typeface="Sarabun" pitchFamily="34" charset="0"/>
                <a:ea typeface="Sarabun" pitchFamily="34" charset="-122"/>
                <a:cs typeface="Sarabun" pitchFamily="34" charset="-120"/>
              </a:rPr>
              <a:t>Group 3  ·  TSR Market Manipulation Case</a:t>
            </a:r>
            <a:endParaRPr lang="en-US" sz="900" dirty="0"/>
          </a:p>
        </p:txBody>
      </p:sp>
      <p:sp>
        <p:nvSpPr>
          <p:cNvPr id="6" name="Text 4"/>
          <p:cNvSpPr txBox="1"/>
          <p:nvPr/>
        </p:nvSpPr>
        <p:spPr>
          <a:xfrm>
            <a:off x="7772400" y="4773168"/>
            <a:ext cx="914400" cy="228600"/>
          </a:xfrm>
          <a:prstGeom prst="rect">
            <a:avLst/>
          </a:prstGeom>
          <a:noFill/>
          <a:ln/>
        </p:spPr>
        <p:txBody>
          <a:bodyPr wrap="square" lIns="0" tIns="0" rIns="0" bIns="0" rtlCol="0" anchor="ctr"/>
          <a:lstStyle/>
          <a:p>
            <a:pPr algn="r" indent="0" marL="0">
              <a:buNone/>
            </a:pPr>
            <a:r>
              <a:rPr lang="en-US" sz="900" dirty="0">
                <a:solidFill>
                  <a:srgbClr val="5B6B7F"/>
                </a:solidFill>
                <a:latin typeface="Sarabun" pitchFamily="34" charset="0"/>
                <a:ea typeface="Sarabun" pitchFamily="34" charset="-122"/>
                <a:cs typeface="Sarabun" pitchFamily="34" charset="-120"/>
              </a:rPr>
              <a:t>6 / 20</a:t>
            </a:r>
            <a:endParaRPr lang="en-US" sz="900" dirty="0"/>
          </a:p>
        </p:txBody>
      </p:sp>
      <p:sp>
        <p:nvSpPr>
          <p:cNvPr id="8" name="Shape 5"/>
          <p:cNvSpPr/>
          <p:nvPr/>
        </p:nvSpPr>
        <p:spPr>
          <a:xfrm>
            <a:off x="457200" y="1325880"/>
            <a:ext cx="2651760" cy="3200400"/>
          </a:xfrm>
          <a:prstGeom prst="roundRect">
            <a:avLst>
              <a:gd name="adj" fmla="val 2759"/>
            </a:avLst>
          </a:prstGeom>
          <a:solidFill>
            <a:srgbClr val="0F1B2D"/>
          </a:solidFill>
          <a:ln w="9525">
            <a:solidFill>
              <a:srgbClr val="0F1B2D"/>
            </a:solidFill>
            <a:prstDash val="solid"/>
          </a:ln>
          <a:effectLst>
            <a:outerShdw sx="100000" sy="100000" kx="0" ky="0" algn="bl" rotWithShape="0" blurRad="76200" dist="25400" dir="5400000">
              <a:srgbClr val="0F1B2D">
                <a:alpha val="10000"/>
              </a:srgbClr>
            </a:outerShdw>
          </a:effectLst>
        </p:spPr>
      </p:sp>
      <p:sp>
        <p:nvSpPr>
          <p:cNvPr id="9" name="Text 6"/>
          <p:cNvSpPr txBox="1"/>
          <p:nvPr/>
        </p:nvSpPr>
        <p:spPr>
          <a:xfrm>
            <a:off x="685800" y="1508760"/>
            <a:ext cx="2194560" cy="914400"/>
          </a:xfrm>
          <a:prstGeom prst="rect">
            <a:avLst/>
          </a:prstGeom>
          <a:noFill/>
          <a:ln/>
        </p:spPr>
        <p:txBody>
          <a:bodyPr wrap="square" lIns="0" tIns="0" rIns="0" bIns="0" rtlCol="0" anchor="ctr"/>
          <a:lstStyle/>
          <a:p>
            <a:pPr indent="0" marL="0">
              <a:buNone/>
            </a:pPr>
            <a:r>
              <a:rPr lang="en-US" sz="6600" b="1" dirty="0">
                <a:solidFill>
                  <a:srgbClr val="E4572E"/>
                </a:solidFill>
                <a:latin typeface="Montserrat" pitchFamily="34" charset="0"/>
                <a:ea typeface="Montserrat" pitchFamily="34" charset="-122"/>
                <a:cs typeface="Montserrat" pitchFamily="34" charset="-120"/>
              </a:rPr>
              <a:t>47</a:t>
            </a:r>
            <a:endParaRPr lang="en-US" sz="6600" dirty="0"/>
          </a:p>
        </p:txBody>
      </p:sp>
      <p:sp>
        <p:nvSpPr>
          <p:cNvPr id="10" name="Text 7"/>
          <p:cNvSpPr txBox="1"/>
          <p:nvPr/>
        </p:nvSpPr>
        <p:spPr>
          <a:xfrm>
            <a:off x="685800" y="2423160"/>
            <a:ext cx="2194560" cy="365760"/>
          </a:xfrm>
          <a:prstGeom prst="rect">
            <a:avLst/>
          </a:prstGeom>
          <a:noFill/>
          <a:ln/>
        </p:spPr>
        <p:txBody>
          <a:bodyPr wrap="square" lIns="0" tIns="0" rIns="0" bIns="0" rtlCol="0" anchor="ctr"/>
          <a:lstStyle/>
          <a:p>
            <a:pPr indent="0" marL="0">
              <a:buNone/>
            </a:pPr>
            <a:r>
              <a:rPr lang="en-US" sz="1600" b="1" dirty="0">
                <a:solidFill>
                  <a:srgbClr val="FFFFFF"/>
                </a:solidFill>
                <a:latin typeface="Montserrat" pitchFamily="34" charset="0"/>
                <a:ea typeface="Montserrat" pitchFamily="34" charset="-122"/>
                <a:cs typeface="Montserrat" pitchFamily="34" charset="-120"/>
              </a:rPr>
              <a:t>trading days</a:t>
            </a:r>
            <a:endParaRPr lang="en-US" sz="1600" dirty="0"/>
          </a:p>
        </p:txBody>
      </p:sp>
      <p:sp>
        <p:nvSpPr>
          <p:cNvPr id="11" name="Text 8"/>
          <p:cNvSpPr txBox="1"/>
          <p:nvPr/>
        </p:nvSpPr>
        <p:spPr>
          <a:xfrm>
            <a:off x="685800" y="2834640"/>
            <a:ext cx="2194560" cy="320040"/>
          </a:xfrm>
          <a:prstGeom prst="rect">
            <a:avLst/>
          </a:prstGeom>
          <a:noFill/>
          <a:ln/>
        </p:spPr>
        <p:txBody>
          <a:bodyPr wrap="square" lIns="0" tIns="0" rIns="0" bIns="0" rtlCol="0" anchor="ctr"/>
          <a:lstStyle/>
          <a:p>
            <a:pPr indent="0" marL="0">
              <a:buNone/>
            </a:pPr>
            <a:r>
              <a:rPr lang="en-US" sz="1400" dirty="0">
                <a:solidFill>
                  <a:srgbClr val="C9D6E8"/>
                </a:solidFill>
                <a:latin typeface="Sarabun" pitchFamily="34" charset="0"/>
                <a:ea typeface="Sarabun" pitchFamily="34" charset="-122"/>
                <a:cs typeface="Sarabun" pitchFamily="34" charset="-120"/>
              </a:rPr>
              <a:t>22 June – 31 August 2022</a:t>
            </a:r>
            <a:endParaRPr lang="en-US" sz="1400" dirty="0"/>
          </a:p>
        </p:txBody>
      </p:sp>
      <p:sp>
        <p:nvSpPr>
          <p:cNvPr id="12" name="Text 9"/>
          <p:cNvSpPr txBox="1"/>
          <p:nvPr/>
        </p:nvSpPr>
        <p:spPr>
          <a:xfrm>
            <a:off x="685800" y="3520440"/>
            <a:ext cx="2194560" cy="822960"/>
          </a:xfrm>
          <a:prstGeom prst="rect">
            <a:avLst/>
          </a:prstGeom>
          <a:noFill/>
          <a:ln/>
        </p:spPr>
        <p:txBody>
          <a:bodyPr wrap="square" lIns="0" tIns="0" rIns="0" bIns="0" rtlCol="0" anchor="t"/>
          <a:lstStyle/>
          <a:p>
            <a:pPr indent="0" marL="0">
              <a:buNone/>
            </a:pPr>
            <a:r>
              <a:rPr lang="en-US" sz="1100" i="1" dirty="0">
                <a:solidFill>
                  <a:srgbClr val="8FA3BF"/>
                </a:solidFill>
                <a:latin typeface="Sarabun" pitchFamily="34" charset="0"/>
                <a:ea typeface="Sarabun" pitchFamily="34" charset="-122"/>
                <a:cs typeface="Sarabun" pitchFamily="34" charset="-120"/>
              </a:rPr>
              <a:t>Facts as found by the SEC and the Civil Sanction Committee; no court has ruled yet.</a:t>
            </a:r>
            <a:endParaRPr lang="en-US" sz="1100" dirty="0"/>
          </a:p>
        </p:txBody>
      </p:sp>
      <p:sp>
        <p:nvSpPr>
          <p:cNvPr id="13" name="Shape 10"/>
          <p:cNvSpPr/>
          <p:nvPr/>
        </p:nvSpPr>
        <p:spPr>
          <a:xfrm>
            <a:off x="3429000" y="1417320"/>
            <a:ext cx="548640" cy="548640"/>
          </a:xfrm>
          <a:prstGeom prst="ellipse">
            <a:avLst/>
          </a:prstGeom>
          <a:solidFill>
            <a:srgbClr val="E4572E"/>
          </a:solidFill>
          <a:ln w="12700">
            <a:solidFill>
              <a:srgbClr val="E4572E"/>
            </a:solidFill>
            <a:prstDash val="solid"/>
          </a:ln>
        </p:spPr>
      </p:sp>
      <p:pic>
        <p:nvPicPr>
          <p:cNvPr id="14" name="Image 0" descr="preencoded.png">    </p:cNvPr>
          <p:cNvPicPr>
            <a:picLocks noChangeAspect="1"/>
          </p:cNvPicPr>
          <p:nvPr/>
        </p:nvPicPr>
        <p:blipFill>
          <a:blip r:embed="rId1"/>
          <a:stretch>
            <a:fillRect/>
          </a:stretch>
        </p:blipFill>
        <p:spPr>
          <a:xfrm>
            <a:off x="3571646" y="1559966"/>
            <a:ext cx="263347" cy="263347"/>
          </a:xfrm>
          <a:prstGeom prst="rect">
            <a:avLst/>
          </a:prstGeom>
        </p:spPr>
      </p:pic>
      <p:sp>
        <p:nvSpPr>
          <p:cNvPr id="15" name="Text 11"/>
          <p:cNvSpPr txBox="1"/>
          <p:nvPr/>
        </p:nvSpPr>
        <p:spPr>
          <a:xfrm>
            <a:off x="4160520" y="1371600"/>
            <a:ext cx="4526280" cy="347472"/>
          </a:xfrm>
          <a:prstGeom prst="rect">
            <a:avLst/>
          </a:prstGeom>
          <a:noFill/>
          <a:ln/>
        </p:spPr>
        <p:txBody>
          <a:bodyPr wrap="square" lIns="0" tIns="0" rIns="0" bIns="0" rtlCol="0" anchor="ctr"/>
          <a:lstStyle/>
          <a:p>
            <a:pPr indent="0" marL="0">
              <a:buNone/>
            </a:pPr>
            <a:r>
              <a:rPr lang="en-US" sz="1500" b="1" dirty="0">
                <a:solidFill>
                  <a:srgbClr val="0F1B2D"/>
                </a:solidFill>
                <a:latin typeface="Montserrat" pitchFamily="34" charset="0"/>
                <a:ea typeface="Montserrat" pitchFamily="34" charset="-122"/>
                <a:cs typeface="Montserrat" pitchFamily="34" charset="-120"/>
              </a:rPr>
              <a:t>Hitting the offer</a:t>
            </a:r>
            <a:endParaRPr lang="en-US" sz="1500" dirty="0"/>
          </a:p>
        </p:txBody>
      </p:sp>
      <p:sp>
        <p:nvSpPr>
          <p:cNvPr id="16" name="Text 12"/>
          <p:cNvSpPr txBox="1"/>
          <p:nvPr/>
        </p:nvSpPr>
        <p:spPr>
          <a:xfrm>
            <a:off x="4160520" y="1737360"/>
            <a:ext cx="4526280" cy="594360"/>
          </a:xfrm>
          <a:prstGeom prst="rect">
            <a:avLst/>
          </a:prstGeom>
          <a:noFill/>
          <a:ln/>
        </p:spPr>
        <p:txBody>
          <a:bodyPr wrap="square" lIns="0" tIns="0" rIns="0" bIns="0" rtlCol="0" anchor="t"/>
          <a:lstStyle/>
          <a:p>
            <a:pPr indent="0" marL="0">
              <a:buNone/>
            </a:pPr>
            <a:r>
              <a:rPr lang="en-US" sz="1400" dirty="0">
                <a:solidFill>
                  <a:srgbClr val="1B2433"/>
                </a:solidFill>
                <a:latin typeface="Sarabun" pitchFamily="34" charset="0"/>
                <a:ea typeface="Sarabun" pitchFamily="34" charset="-122"/>
                <a:cs typeface="Sarabun" pitchFamily="34" charset="-120"/>
              </a:rPr>
              <a:t>Placed buy orders against the sell side, sweeping the offers continuously to push the price up.</a:t>
            </a:r>
            <a:endParaRPr lang="en-US" sz="1400" dirty="0"/>
          </a:p>
        </p:txBody>
      </p:sp>
      <p:sp>
        <p:nvSpPr>
          <p:cNvPr id="17" name="Shape 13"/>
          <p:cNvSpPr/>
          <p:nvPr/>
        </p:nvSpPr>
        <p:spPr>
          <a:xfrm>
            <a:off x="3429000" y="2496312"/>
            <a:ext cx="548640" cy="548640"/>
          </a:xfrm>
          <a:prstGeom prst="ellipse">
            <a:avLst/>
          </a:prstGeom>
          <a:solidFill>
            <a:srgbClr val="E4572E"/>
          </a:solidFill>
          <a:ln w="12700">
            <a:solidFill>
              <a:srgbClr val="E4572E"/>
            </a:solidFill>
            <a:prstDash val="solid"/>
          </a:ln>
        </p:spPr>
      </p:sp>
      <p:pic>
        <p:nvPicPr>
          <p:cNvPr id="18" name="Image 1" descr="preencoded.png">    </p:cNvPr>
          <p:cNvPicPr>
            <a:picLocks noChangeAspect="1"/>
          </p:cNvPicPr>
          <p:nvPr/>
        </p:nvPicPr>
        <p:blipFill>
          <a:blip r:embed="rId2"/>
          <a:stretch>
            <a:fillRect/>
          </a:stretch>
        </p:blipFill>
        <p:spPr>
          <a:xfrm>
            <a:off x="3571646" y="2638958"/>
            <a:ext cx="263347" cy="263347"/>
          </a:xfrm>
          <a:prstGeom prst="rect">
            <a:avLst/>
          </a:prstGeom>
        </p:spPr>
      </p:pic>
      <p:sp>
        <p:nvSpPr>
          <p:cNvPr id="19" name="Text 14"/>
          <p:cNvSpPr txBox="1"/>
          <p:nvPr/>
        </p:nvSpPr>
        <p:spPr>
          <a:xfrm>
            <a:off x="4160520" y="2450592"/>
            <a:ext cx="4526280" cy="347472"/>
          </a:xfrm>
          <a:prstGeom prst="rect">
            <a:avLst/>
          </a:prstGeom>
          <a:noFill/>
          <a:ln/>
        </p:spPr>
        <p:txBody>
          <a:bodyPr wrap="square" lIns="0" tIns="0" rIns="0" bIns="0" rtlCol="0" anchor="ctr"/>
          <a:lstStyle/>
          <a:p>
            <a:pPr indent="0" marL="0">
              <a:buNone/>
            </a:pPr>
            <a:r>
              <a:rPr lang="en-US" sz="1500" b="1" dirty="0">
                <a:solidFill>
                  <a:srgbClr val="0F1B2D"/>
                </a:solidFill>
                <a:latin typeface="Montserrat" pitchFamily="34" charset="0"/>
                <a:ea typeface="Montserrat" pitchFamily="34" charset="-122"/>
                <a:cs typeface="Montserrat" pitchFamily="34" charset="-120"/>
              </a:rPr>
              <a:t>Holding the bid</a:t>
            </a:r>
            <a:endParaRPr lang="en-US" sz="1500" dirty="0"/>
          </a:p>
        </p:txBody>
      </p:sp>
      <p:sp>
        <p:nvSpPr>
          <p:cNvPr id="20" name="Text 15"/>
          <p:cNvSpPr txBox="1"/>
          <p:nvPr/>
        </p:nvSpPr>
        <p:spPr>
          <a:xfrm>
            <a:off x="4160520" y="2816352"/>
            <a:ext cx="4526280" cy="594360"/>
          </a:xfrm>
          <a:prstGeom prst="rect">
            <a:avLst/>
          </a:prstGeom>
          <a:noFill/>
          <a:ln/>
        </p:spPr>
        <p:txBody>
          <a:bodyPr wrap="square" lIns="0" tIns="0" rIns="0" bIns="0" rtlCol="0" anchor="t"/>
          <a:lstStyle/>
          <a:p>
            <a:pPr indent="0" marL="0">
              <a:buNone/>
            </a:pPr>
            <a:r>
              <a:rPr lang="en-US" sz="1400" dirty="0">
                <a:solidFill>
                  <a:srgbClr val="1B2433"/>
                </a:solidFill>
                <a:latin typeface="Sarabun" pitchFamily="34" charset="0"/>
                <a:ea typeface="Sarabun" pitchFamily="34" charset="-122"/>
                <a:cs typeface="Sarabun" pitchFamily="34" charset="-120"/>
              </a:rPr>
              <a:t>Kept large buy orders at the 1st and 2nd best bid prices, so other buyers had to pay more.</a:t>
            </a:r>
            <a:endParaRPr lang="en-US" sz="1400" dirty="0"/>
          </a:p>
        </p:txBody>
      </p:sp>
      <p:sp>
        <p:nvSpPr>
          <p:cNvPr id="21" name="Shape 16"/>
          <p:cNvSpPr/>
          <p:nvPr/>
        </p:nvSpPr>
        <p:spPr>
          <a:xfrm>
            <a:off x="3429000" y="3575304"/>
            <a:ext cx="548640" cy="548640"/>
          </a:xfrm>
          <a:prstGeom prst="ellipse">
            <a:avLst/>
          </a:prstGeom>
          <a:solidFill>
            <a:srgbClr val="1F3A5F"/>
          </a:solidFill>
          <a:ln w="12700">
            <a:solidFill>
              <a:srgbClr val="1F3A5F"/>
            </a:solidFill>
            <a:prstDash val="solid"/>
          </a:ln>
        </p:spPr>
      </p:sp>
      <p:pic>
        <p:nvPicPr>
          <p:cNvPr id="22" name="Image 2" descr="preencoded.png">    </p:cNvPr>
          <p:cNvPicPr>
            <a:picLocks noChangeAspect="1"/>
          </p:cNvPicPr>
          <p:nvPr/>
        </p:nvPicPr>
        <p:blipFill>
          <a:blip r:embed="rId3"/>
          <a:stretch>
            <a:fillRect/>
          </a:stretch>
        </p:blipFill>
        <p:spPr>
          <a:xfrm>
            <a:off x="3571646" y="3717950"/>
            <a:ext cx="263347" cy="263347"/>
          </a:xfrm>
          <a:prstGeom prst="rect">
            <a:avLst/>
          </a:prstGeom>
        </p:spPr>
      </p:pic>
      <p:sp>
        <p:nvSpPr>
          <p:cNvPr id="23" name="Text 17"/>
          <p:cNvSpPr txBox="1"/>
          <p:nvPr/>
        </p:nvSpPr>
        <p:spPr>
          <a:xfrm>
            <a:off x="4160520" y="3529584"/>
            <a:ext cx="4526280" cy="347472"/>
          </a:xfrm>
          <a:prstGeom prst="rect">
            <a:avLst/>
          </a:prstGeom>
          <a:noFill/>
          <a:ln/>
        </p:spPr>
        <p:txBody>
          <a:bodyPr wrap="square" lIns="0" tIns="0" rIns="0" bIns="0" rtlCol="0" anchor="ctr"/>
          <a:lstStyle/>
          <a:p>
            <a:pPr indent="0" marL="0">
              <a:buNone/>
            </a:pPr>
            <a:r>
              <a:rPr lang="en-US" sz="1500" b="1" dirty="0">
                <a:solidFill>
                  <a:srgbClr val="0F1B2D"/>
                </a:solidFill>
                <a:latin typeface="Montserrat" pitchFamily="34" charset="0"/>
                <a:ea typeface="Montserrat" pitchFamily="34" charset="-122"/>
                <a:cs typeface="Montserrat" pitchFamily="34" charset="-120"/>
              </a:rPr>
              <a:t>The result</a:t>
            </a:r>
            <a:endParaRPr lang="en-US" sz="1500" dirty="0"/>
          </a:p>
        </p:txBody>
      </p:sp>
      <p:sp>
        <p:nvSpPr>
          <p:cNvPr id="24" name="Text 18"/>
          <p:cNvSpPr txBox="1"/>
          <p:nvPr/>
        </p:nvSpPr>
        <p:spPr>
          <a:xfrm>
            <a:off x="4160520" y="3895344"/>
            <a:ext cx="4526280" cy="594360"/>
          </a:xfrm>
          <a:prstGeom prst="rect">
            <a:avLst/>
          </a:prstGeom>
          <a:noFill/>
          <a:ln/>
        </p:spPr>
        <p:txBody>
          <a:bodyPr wrap="square" lIns="0" tIns="0" rIns="0" bIns="0" rtlCol="0" anchor="t"/>
          <a:lstStyle/>
          <a:p>
            <a:pPr indent="0" marL="0">
              <a:buNone/>
            </a:pPr>
            <a:r>
              <a:rPr lang="en-US" sz="1400" dirty="0">
                <a:solidFill>
                  <a:srgbClr val="1B2433"/>
                </a:solidFill>
                <a:latin typeface="Sarabun" pitchFamily="34" charset="0"/>
                <a:ea typeface="Sarabun" pitchFamily="34" charset="-122"/>
                <a:cs typeface="Sarabun" pitchFamily="34" charset="-120"/>
              </a:rPr>
              <a:t>TSR’s price rose step by step, driven by her orders rather than genuine demand.</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457200" y="310896"/>
            <a:ext cx="973836" cy="246888"/>
          </a:xfrm>
          <a:prstGeom prst="roundRect">
            <a:avLst>
              <a:gd name="adj" fmla="val 50000"/>
            </a:avLst>
          </a:prstGeom>
          <a:solidFill>
            <a:srgbClr val="E4572E"/>
          </a:solidFill>
          <a:ln w="12700">
            <a:solidFill>
              <a:srgbClr val="E4572E"/>
            </a:solidFill>
            <a:prstDash val="solid"/>
          </a:ln>
        </p:spPr>
      </p:sp>
      <p:sp>
        <p:nvSpPr>
          <p:cNvPr id="3" name="Text 1"/>
          <p:cNvSpPr txBox="1"/>
          <p:nvPr/>
        </p:nvSpPr>
        <p:spPr>
          <a:xfrm>
            <a:off x="457200" y="310896"/>
            <a:ext cx="973836" cy="24688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Montserrat" pitchFamily="34" charset="0"/>
                <a:ea typeface="Montserrat" pitchFamily="34" charset="-122"/>
                <a:cs typeface="Montserrat" pitchFamily="34" charset="-120"/>
              </a:rPr>
              <a:t>THE FACTS</a:t>
            </a:r>
            <a:endParaRPr lang="en-US" sz="850" dirty="0"/>
          </a:p>
        </p:txBody>
      </p:sp>
      <p:sp>
        <p:nvSpPr>
          <p:cNvPr id="4" name="Text 2"/>
          <p:cNvSpPr txBox="1"/>
          <p:nvPr/>
        </p:nvSpPr>
        <p:spPr>
          <a:xfrm>
            <a:off x="457200" y="640080"/>
            <a:ext cx="8229600" cy="502920"/>
          </a:xfrm>
          <a:prstGeom prst="rect">
            <a:avLst/>
          </a:prstGeom>
          <a:noFill/>
          <a:ln/>
        </p:spPr>
        <p:txBody>
          <a:bodyPr wrap="square" lIns="0" tIns="0" rIns="0" bIns="0" rtlCol="0" anchor="ctr"/>
          <a:lstStyle/>
          <a:p>
            <a:pPr indent="0" marL="0">
              <a:buNone/>
            </a:pPr>
            <a:r>
              <a:rPr lang="en-US" sz="2600" b="1" dirty="0">
                <a:solidFill>
                  <a:srgbClr val="0F1B2D"/>
                </a:solidFill>
                <a:latin typeface="Montserrat" pitchFamily="34" charset="0"/>
                <a:ea typeface="Montserrat" pitchFamily="34" charset="-122"/>
                <a:cs typeface="Montserrat" pitchFamily="34" charset="-120"/>
              </a:rPr>
              <a:t>Inside the Order Book</a:t>
            </a:r>
            <a:endParaRPr lang="en-US" sz="2600" dirty="0"/>
          </a:p>
        </p:txBody>
      </p:sp>
      <p:sp>
        <p:nvSpPr>
          <p:cNvPr id="5" name="Text 3"/>
          <p:cNvSpPr txBox="1"/>
          <p:nvPr/>
        </p:nvSpPr>
        <p:spPr>
          <a:xfrm>
            <a:off x="457200" y="4773168"/>
            <a:ext cx="4572000" cy="228600"/>
          </a:xfrm>
          <a:prstGeom prst="rect">
            <a:avLst/>
          </a:prstGeom>
          <a:noFill/>
          <a:ln/>
        </p:spPr>
        <p:txBody>
          <a:bodyPr wrap="square" lIns="0" tIns="0" rIns="0" bIns="0" rtlCol="0" anchor="ctr"/>
          <a:lstStyle/>
          <a:p>
            <a:pPr indent="0" marL="0">
              <a:buNone/>
            </a:pPr>
            <a:r>
              <a:rPr lang="en-US" sz="900" dirty="0">
                <a:solidFill>
                  <a:srgbClr val="5B6B7F"/>
                </a:solidFill>
                <a:latin typeface="Sarabun" pitchFamily="34" charset="0"/>
                <a:ea typeface="Sarabun" pitchFamily="34" charset="-122"/>
                <a:cs typeface="Sarabun" pitchFamily="34" charset="-120"/>
              </a:rPr>
              <a:t>Group 3  ·  TSR Market Manipulation Case</a:t>
            </a:r>
            <a:endParaRPr lang="en-US" sz="900" dirty="0"/>
          </a:p>
        </p:txBody>
      </p:sp>
      <p:sp>
        <p:nvSpPr>
          <p:cNvPr id="6" name="Text 4"/>
          <p:cNvSpPr txBox="1"/>
          <p:nvPr/>
        </p:nvSpPr>
        <p:spPr>
          <a:xfrm>
            <a:off x="7772400" y="4773168"/>
            <a:ext cx="914400" cy="228600"/>
          </a:xfrm>
          <a:prstGeom prst="rect">
            <a:avLst/>
          </a:prstGeom>
          <a:noFill/>
          <a:ln/>
        </p:spPr>
        <p:txBody>
          <a:bodyPr wrap="square" lIns="0" tIns="0" rIns="0" bIns="0" rtlCol="0" anchor="ctr"/>
          <a:lstStyle/>
          <a:p>
            <a:pPr algn="r" indent="0" marL="0">
              <a:buNone/>
            </a:pPr>
            <a:r>
              <a:rPr lang="en-US" sz="900" dirty="0">
                <a:solidFill>
                  <a:srgbClr val="5B6B7F"/>
                </a:solidFill>
                <a:latin typeface="Sarabun" pitchFamily="34" charset="0"/>
                <a:ea typeface="Sarabun" pitchFamily="34" charset="-122"/>
                <a:cs typeface="Sarabun" pitchFamily="34" charset="-120"/>
              </a:rPr>
              <a:t>7 / 20</a:t>
            </a:r>
            <a:endParaRPr lang="en-US" sz="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4023360" cy="914400"/>
        </p:xfrm>
        <a:graphic>
          <a:graphicData uri="http://schemas.openxmlformats.org/drawingml/2006/table">
            <a:tbl>
              <a:tblPr/>
              <a:tblGrid>
                <a:gridCol w="1188720"/>
                <a:gridCol w="822960"/>
                <a:gridCol w="822960"/>
                <a:gridCol w="1188720"/>
              </a:tblGrid>
              <a:tr h="384048">
                <a:tc>
                  <a:txBody>
                    <a:bodyPr/>
                    <a:lstStyle/>
                    <a:p>
                      <a:pPr algn="ctr" indent="0" marL="0">
                        <a:buNone/>
                      </a:pPr>
                      <a:r>
                        <a:rPr lang="en-US" sz="1100" b="1" dirty="0">
                          <a:solidFill>
                            <a:srgbClr val="FFFFFF"/>
                          </a:solidFill>
                          <a:latin typeface="Montserrat" pitchFamily="34" charset="0"/>
                          <a:ea typeface="Montserrat" pitchFamily="34" charset="-122"/>
                          <a:cs typeface="Montserrat" pitchFamily="34" charset="-120"/>
                        </a:rPr>
                        <a:t>Bid volume</a:t>
                      </a:r>
                      <a:endParaRPr lang="en-US" sz="1100" dirty="0">
                        <a:latin typeface="Montserrat" charset="0"/>
                        <a:ea typeface="Montserrat" charset="0"/>
                        <a:cs typeface="Montserrat" charset="0"/>
                      </a:endParaRPr>
                    </a:p>
                  </a:txBody>
                  <a:tcPr marL="91440" marR="91440" marT="45720" marB="4572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0F1B2D"/>
                    </a:solidFill>
                  </a:tcPr>
                </a:tc>
                <a:tc>
                  <a:txBody>
                    <a:bodyPr/>
                    <a:lstStyle/>
                    <a:p>
                      <a:pPr algn="ctr" indent="0" marL="0">
                        <a:buNone/>
                      </a:pPr>
                      <a:r>
                        <a:rPr lang="en-US" sz="1100" b="1" dirty="0">
                          <a:solidFill>
                            <a:srgbClr val="FFFFFF"/>
                          </a:solidFill>
                          <a:latin typeface="Montserrat" pitchFamily="34" charset="0"/>
                          <a:ea typeface="Montserrat" pitchFamily="34" charset="-122"/>
                          <a:cs typeface="Montserrat" pitchFamily="34" charset="-120"/>
                        </a:rPr>
                        <a:t>Bid</a:t>
                      </a:r>
                      <a:endParaRPr lang="en-US" sz="1100" dirty="0">
                        <a:latin typeface="Montserrat" charset="0"/>
                        <a:ea typeface="Montserrat" charset="0"/>
                        <a:cs typeface="Montserrat" charset="0"/>
                      </a:endParaRPr>
                    </a:p>
                  </a:txBody>
                  <a:tcPr marL="91440" marR="91440" marT="45720" marB="4572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0F1B2D"/>
                    </a:solidFill>
                  </a:tcPr>
                </a:tc>
                <a:tc>
                  <a:txBody>
                    <a:bodyPr/>
                    <a:lstStyle/>
                    <a:p>
                      <a:pPr algn="ctr" indent="0" marL="0">
                        <a:buNone/>
                      </a:pPr>
                      <a:r>
                        <a:rPr lang="en-US" sz="1100" b="1" dirty="0">
                          <a:solidFill>
                            <a:srgbClr val="FFFFFF"/>
                          </a:solidFill>
                          <a:latin typeface="Montserrat" pitchFamily="34" charset="0"/>
                          <a:ea typeface="Montserrat" pitchFamily="34" charset="-122"/>
                          <a:cs typeface="Montserrat" pitchFamily="34" charset="-120"/>
                        </a:rPr>
                        <a:t>Offer</a:t>
                      </a:r>
                      <a:endParaRPr lang="en-US" sz="1100" dirty="0">
                        <a:latin typeface="Montserrat" charset="0"/>
                        <a:ea typeface="Montserrat" charset="0"/>
                        <a:cs typeface="Montserrat" charset="0"/>
                      </a:endParaRPr>
                    </a:p>
                  </a:txBody>
                  <a:tcPr marL="91440" marR="91440" marT="45720" marB="4572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0F1B2D"/>
                    </a:solidFill>
                  </a:tcPr>
                </a:tc>
                <a:tc>
                  <a:txBody>
                    <a:bodyPr/>
                    <a:lstStyle/>
                    <a:p>
                      <a:pPr algn="ctr" indent="0" marL="0">
                        <a:buNone/>
                      </a:pPr>
                      <a:r>
                        <a:rPr lang="en-US" sz="1100" b="1" dirty="0">
                          <a:solidFill>
                            <a:srgbClr val="FFFFFF"/>
                          </a:solidFill>
                          <a:latin typeface="Montserrat" pitchFamily="34" charset="0"/>
                          <a:ea typeface="Montserrat" pitchFamily="34" charset="-122"/>
                          <a:cs typeface="Montserrat" pitchFamily="34" charset="-120"/>
                        </a:rPr>
                        <a:t>Offer volume</a:t>
                      </a:r>
                      <a:endParaRPr lang="en-US" sz="1100" dirty="0">
                        <a:latin typeface="Montserrat" charset="0"/>
                        <a:ea typeface="Montserrat" charset="0"/>
                        <a:cs typeface="Montserrat" charset="0"/>
                      </a:endParaRPr>
                    </a:p>
                  </a:txBody>
                  <a:tcPr marL="91440" marR="91440" marT="45720" marB="4572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0F1B2D"/>
                    </a:solidFill>
                  </a:tcPr>
                </a:tc>
              </a:tr>
              <a:tr h="384048">
                <a:tc>
                  <a:txBody>
                    <a:bodyPr/>
                    <a:lstStyle/>
                    <a:p>
                      <a:pPr algn="ctr" indent="0" marL="0">
                        <a:buNone/>
                      </a:pPr>
                      <a:r>
                        <a:rPr lang="en-US" sz="1300" b="1" dirty="0">
                          <a:solidFill>
                            <a:srgbClr val="E4572E"/>
                          </a:solidFill>
                          <a:latin typeface="Sarabun" pitchFamily="34" charset="0"/>
                          <a:ea typeface="Sarabun" pitchFamily="34" charset="-122"/>
                          <a:cs typeface="Sarabun" pitchFamily="34" charset="-120"/>
                        </a:rPr>
                        <a:t>2,500,000</a:t>
                      </a:r>
                      <a:endParaRPr lang="en-US" sz="1300" dirty="0">
                        <a:latin typeface="Sarabun" charset="0"/>
                        <a:ea typeface="Sarabun" charset="0"/>
                        <a:cs typeface="Sarabun" charset="0"/>
                      </a:endParaRPr>
                    </a:p>
                  </a:txBody>
                  <a:tcPr marL="91440" marR="91440" marT="45720" marB="4572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CE6DF"/>
                    </a:solidFill>
                  </a:tcPr>
                </a:tc>
                <a:tc>
                  <a:txBody>
                    <a:bodyPr/>
                    <a:lstStyle/>
                    <a:p>
                      <a:pPr algn="ctr" indent="0" marL="0">
                        <a:buNone/>
                      </a:pPr>
                      <a:r>
                        <a:rPr lang="en-US" sz="1300" b="1" dirty="0">
                          <a:solidFill>
                            <a:srgbClr val="E4572E"/>
                          </a:solidFill>
                          <a:latin typeface="Sarabun" pitchFamily="34" charset="0"/>
                          <a:ea typeface="Sarabun" pitchFamily="34" charset="-122"/>
                          <a:cs typeface="Sarabun" pitchFamily="34" charset="-120"/>
                        </a:rPr>
                        <a:t>3.80</a:t>
                      </a:r>
                      <a:endParaRPr lang="en-US" sz="1300" dirty="0">
                        <a:latin typeface="Sarabun" charset="0"/>
                        <a:ea typeface="Sarabun" charset="0"/>
                        <a:cs typeface="Sarabun" charset="0"/>
                      </a:endParaRPr>
                    </a:p>
                  </a:txBody>
                  <a:tcPr marL="91440" marR="91440" marT="45720" marB="4572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CE6DF"/>
                    </a:solidFill>
                  </a:tcPr>
                </a:tc>
                <a:tc>
                  <a:txBody>
                    <a:bodyPr/>
                    <a:lstStyle/>
                    <a:p>
                      <a:pPr algn="ctr" indent="0" marL="0">
                        <a:buNone/>
                      </a:pPr>
                      <a:r>
                        <a:rPr lang="en-US" sz="1300" dirty="0">
                          <a:solidFill>
                            <a:srgbClr val="1B2433"/>
                          </a:solidFill>
                          <a:latin typeface="Sarabun" pitchFamily="34" charset="0"/>
                          <a:ea typeface="Sarabun" pitchFamily="34" charset="-122"/>
                          <a:cs typeface="Sarabun" pitchFamily="34" charset="-120"/>
                        </a:rPr>
                        <a:t>3.82</a:t>
                      </a:r>
                      <a:endParaRPr lang="en-US" sz="1300" dirty="0">
                        <a:latin typeface="Sarabun" charset="0"/>
                        <a:ea typeface="Sarabun" charset="0"/>
                        <a:cs typeface="Sarabun" charset="0"/>
                      </a:endParaRPr>
                    </a:p>
                  </a:txBody>
                  <a:tcPr marL="91440" marR="91440" marT="45720" marB="4572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433"/>
                          </a:solidFill>
                          <a:latin typeface="Sarabun" pitchFamily="34" charset="0"/>
                          <a:ea typeface="Sarabun" pitchFamily="34" charset="-122"/>
                          <a:cs typeface="Sarabun" pitchFamily="34" charset="-120"/>
                        </a:rPr>
                        <a:t>40,000</a:t>
                      </a:r>
                      <a:endParaRPr lang="en-US" sz="1300" dirty="0">
                        <a:latin typeface="Sarabun" charset="0"/>
                        <a:ea typeface="Sarabun" charset="0"/>
                        <a:cs typeface="Sarabun" charset="0"/>
                      </a:endParaRPr>
                    </a:p>
                  </a:txBody>
                  <a:tcPr marL="91440" marR="91440" marT="45720" marB="4572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384048">
                <a:tc>
                  <a:txBody>
                    <a:bodyPr/>
                    <a:lstStyle/>
                    <a:p>
                      <a:pPr algn="ctr" indent="0" marL="0">
                        <a:buNone/>
                      </a:pPr>
                      <a:r>
                        <a:rPr lang="en-US" sz="1300" b="1" dirty="0">
                          <a:solidFill>
                            <a:srgbClr val="E4572E"/>
                          </a:solidFill>
                          <a:latin typeface="Sarabun" pitchFamily="34" charset="0"/>
                          <a:ea typeface="Sarabun" pitchFamily="34" charset="-122"/>
                          <a:cs typeface="Sarabun" pitchFamily="34" charset="-120"/>
                        </a:rPr>
                        <a:t>1,800,000</a:t>
                      </a:r>
                      <a:endParaRPr lang="en-US" sz="1300" dirty="0">
                        <a:latin typeface="Sarabun" charset="0"/>
                        <a:ea typeface="Sarabun" charset="0"/>
                        <a:cs typeface="Sarabun" charset="0"/>
                      </a:endParaRPr>
                    </a:p>
                  </a:txBody>
                  <a:tcPr marL="91440" marR="91440" marT="45720" marB="4572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CE6DF"/>
                    </a:solidFill>
                  </a:tcPr>
                </a:tc>
                <a:tc>
                  <a:txBody>
                    <a:bodyPr/>
                    <a:lstStyle/>
                    <a:p>
                      <a:pPr algn="ctr" indent="0" marL="0">
                        <a:buNone/>
                      </a:pPr>
                      <a:r>
                        <a:rPr lang="en-US" sz="1300" b="1" dirty="0">
                          <a:solidFill>
                            <a:srgbClr val="E4572E"/>
                          </a:solidFill>
                          <a:latin typeface="Sarabun" pitchFamily="34" charset="0"/>
                          <a:ea typeface="Sarabun" pitchFamily="34" charset="-122"/>
                          <a:cs typeface="Sarabun" pitchFamily="34" charset="-120"/>
                        </a:rPr>
                        <a:t>3.78</a:t>
                      </a:r>
                      <a:endParaRPr lang="en-US" sz="1300" dirty="0">
                        <a:latin typeface="Sarabun" charset="0"/>
                        <a:ea typeface="Sarabun" charset="0"/>
                        <a:cs typeface="Sarabun" charset="0"/>
                      </a:endParaRPr>
                    </a:p>
                  </a:txBody>
                  <a:tcPr marL="91440" marR="91440" marT="45720" marB="4572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CE6DF"/>
                    </a:solidFill>
                  </a:tcPr>
                </a:tc>
                <a:tc>
                  <a:txBody>
                    <a:bodyPr/>
                    <a:lstStyle/>
                    <a:p>
                      <a:pPr algn="ctr" indent="0" marL="0">
                        <a:buNone/>
                      </a:pPr>
                      <a:r>
                        <a:rPr lang="en-US" sz="1300" dirty="0">
                          <a:solidFill>
                            <a:srgbClr val="1B2433"/>
                          </a:solidFill>
                          <a:latin typeface="Sarabun" pitchFamily="34" charset="0"/>
                          <a:ea typeface="Sarabun" pitchFamily="34" charset="-122"/>
                          <a:cs typeface="Sarabun" pitchFamily="34" charset="-120"/>
                        </a:rPr>
                        <a:t>3.84</a:t>
                      </a:r>
                      <a:endParaRPr lang="en-US" sz="1300" dirty="0">
                        <a:latin typeface="Sarabun" charset="0"/>
                        <a:ea typeface="Sarabun" charset="0"/>
                        <a:cs typeface="Sarabun" charset="0"/>
                      </a:endParaRPr>
                    </a:p>
                  </a:txBody>
                  <a:tcPr marL="91440" marR="91440" marT="45720" marB="4572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433"/>
                          </a:solidFill>
                          <a:latin typeface="Sarabun" pitchFamily="34" charset="0"/>
                          <a:ea typeface="Sarabun" pitchFamily="34" charset="-122"/>
                          <a:cs typeface="Sarabun" pitchFamily="34" charset="-120"/>
                        </a:rPr>
                        <a:t>55,000</a:t>
                      </a:r>
                      <a:endParaRPr lang="en-US" sz="1300" dirty="0">
                        <a:latin typeface="Sarabun" charset="0"/>
                        <a:ea typeface="Sarabun" charset="0"/>
                        <a:cs typeface="Sarabun" charset="0"/>
                      </a:endParaRPr>
                    </a:p>
                  </a:txBody>
                  <a:tcPr marL="91440" marR="91440" marT="45720" marB="4572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384048">
                <a:tc>
                  <a:txBody>
                    <a:bodyPr/>
                    <a:lstStyle/>
                    <a:p>
                      <a:pPr algn="ctr" indent="0" marL="0">
                        <a:buNone/>
                      </a:pPr>
                      <a:r>
                        <a:rPr lang="en-US" sz="1300" dirty="0">
                          <a:solidFill>
                            <a:srgbClr val="1B2433"/>
                          </a:solidFill>
                          <a:latin typeface="Sarabun" pitchFamily="34" charset="0"/>
                          <a:ea typeface="Sarabun" pitchFamily="34" charset="-122"/>
                          <a:cs typeface="Sarabun" pitchFamily="34" charset="-120"/>
                        </a:rPr>
                        <a:t>60,000</a:t>
                      </a:r>
                      <a:endParaRPr lang="en-US" sz="1300" dirty="0">
                        <a:latin typeface="Sarabun" charset="0"/>
                        <a:ea typeface="Sarabun" charset="0"/>
                        <a:cs typeface="Sarabun" charset="0"/>
                      </a:endParaRPr>
                    </a:p>
                  </a:txBody>
                  <a:tcPr marL="91440" marR="91440" marT="45720" marB="4572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433"/>
                          </a:solidFill>
                          <a:latin typeface="Sarabun" pitchFamily="34" charset="0"/>
                          <a:ea typeface="Sarabun" pitchFamily="34" charset="-122"/>
                          <a:cs typeface="Sarabun" pitchFamily="34" charset="-120"/>
                        </a:rPr>
                        <a:t>3.76</a:t>
                      </a:r>
                      <a:endParaRPr lang="en-US" sz="1300" dirty="0">
                        <a:latin typeface="Sarabun" charset="0"/>
                        <a:ea typeface="Sarabun" charset="0"/>
                        <a:cs typeface="Sarabun" charset="0"/>
                      </a:endParaRPr>
                    </a:p>
                  </a:txBody>
                  <a:tcPr marL="91440" marR="91440" marT="45720" marB="4572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433"/>
                          </a:solidFill>
                          <a:latin typeface="Sarabun" pitchFamily="34" charset="0"/>
                          <a:ea typeface="Sarabun" pitchFamily="34" charset="-122"/>
                          <a:cs typeface="Sarabun" pitchFamily="34" charset="-120"/>
                        </a:rPr>
                        <a:t>3.86</a:t>
                      </a:r>
                      <a:endParaRPr lang="en-US" sz="1300" dirty="0">
                        <a:latin typeface="Sarabun" charset="0"/>
                        <a:ea typeface="Sarabun" charset="0"/>
                        <a:cs typeface="Sarabun" charset="0"/>
                      </a:endParaRPr>
                    </a:p>
                  </a:txBody>
                  <a:tcPr marL="91440" marR="91440" marT="45720" marB="4572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433"/>
                          </a:solidFill>
                          <a:latin typeface="Sarabun" pitchFamily="34" charset="0"/>
                          <a:ea typeface="Sarabun" pitchFamily="34" charset="-122"/>
                          <a:cs typeface="Sarabun" pitchFamily="34" charset="-120"/>
                        </a:rPr>
                        <a:t>30,000</a:t>
                      </a:r>
                      <a:endParaRPr lang="en-US" sz="1300" dirty="0">
                        <a:latin typeface="Sarabun" charset="0"/>
                        <a:ea typeface="Sarabun" charset="0"/>
                        <a:cs typeface="Sarabun" charset="0"/>
                      </a:endParaRPr>
                    </a:p>
                  </a:txBody>
                  <a:tcPr marL="91440" marR="91440" marT="45720" marB="4572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384048">
                <a:tc>
                  <a:txBody>
                    <a:bodyPr/>
                    <a:lstStyle/>
                    <a:p>
                      <a:pPr algn="ctr" indent="0" marL="0">
                        <a:buNone/>
                      </a:pPr>
                      <a:r>
                        <a:rPr lang="en-US" sz="1300" dirty="0">
                          <a:solidFill>
                            <a:srgbClr val="1B2433"/>
                          </a:solidFill>
                          <a:latin typeface="Sarabun" pitchFamily="34" charset="0"/>
                          <a:ea typeface="Sarabun" pitchFamily="34" charset="-122"/>
                          <a:cs typeface="Sarabun" pitchFamily="34" charset="-120"/>
                        </a:rPr>
                        <a:t>45,000</a:t>
                      </a:r>
                      <a:endParaRPr lang="en-US" sz="1300" dirty="0">
                        <a:latin typeface="Sarabun" charset="0"/>
                        <a:ea typeface="Sarabun" charset="0"/>
                        <a:cs typeface="Sarabun" charset="0"/>
                      </a:endParaRPr>
                    </a:p>
                  </a:txBody>
                  <a:tcPr marL="91440" marR="91440" marT="45720" marB="4572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433"/>
                          </a:solidFill>
                          <a:latin typeface="Sarabun" pitchFamily="34" charset="0"/>
                          <a:ea typeface="Sarabun" pitchFamily="34" charset="-122"/>
                          <a:cs typeface="Sarabun" pitchFamily="34" charset="-120"/>
                        </a:rPr>
                        <a:t>3.74</a:t>
                      </a:r>
                      <a:endParaRPr lang="en-US" sz="1300" dirty="0">
                        <a:latin typeface="Sarabun" charset="0"/>
                        <a:ea typeface="Sarabun" charset="0"/>
                        <a:cs typeface="Sarabun" charset="0"/>
                      </a:endParaRPr>
                    </a:p>
                  </a:txBody>
                  <a:tcPr marL="91440" marR="91440" marT="45720" marB="4572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433"/>
                          </a:solidFill>
                          <a:latin typeface="Sarabun" pitchFamily="34" charset="0"/>
                          <a:ea typeface="Sarabun" pitchFamily="34" charset="-122"/>
                          <a:cs typeface="Sarabun" pitchFamily="34" charset="-120"/>
                        </a:rPr>
                        <a:t>3.88</a:t>
                      </a:r>
                      <a:endParaRPr lang="en-US" sz="1300" dirty="0">
                        <a:latin typeface="Sarabun" charset="0"/>
                        <a:ea typeface="Sarabun" charset="0"/>
                        <a:cs typeface="Sarabun" charset="0"/>
                      </a:endParaRPr>
                    </a:p>
                  </a:txBody>
                  <a:tcPr marL="91440" marR="91440" marT="45720" marB="4572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433"/>
                          </a:solidFill>
                          <a:latin typeface="Sarabun" pitchFamily="34" charset="0"/>
                          <a:ea typeface="Sarabun" pitchFamily="34" charset="-122"/>
                          <a:cs typeface="Sarabun" pitchFamily="34" charset="-120"/>
                        </a:rPr>
                        <a:t>70,000</a:t>
                      </a:r>
                      <a:endParaRPr lang="en-US" sz="1300" dirty="0">
                        <a:latin typeface="Sarabun" charset="0"/>
                        <a:ea typeface="Sarabun" charset="0"/>
                        <a:cs typeface="Sarabun" charset="0"/>
                      </a:endParaRPr>
                    </a:p>
                  </a:txBody>
                  <a:tcPr marL="91440" marR="91440" marT="45720" marB="4572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384048">
                <a:tc>
                  <a:txBody>
                    <a:bodyPr/>
                    <a:lstStyle/>
                    <a:p>
                      <a:pPr algn="ctr" indent="0" marL="0">
                        <a:buNone/>
                      </a:pPr>
                      <a:r>
                        <a:rPr lang="en-US" sz="1300" dirty="0">
                          <a:solidFill>
                            <a:srgbClr val="1B2433"/>
                          </a:solidFill>
                          <a:latin typeface="Sarabun" pitchFamily="34" charset="0"/>
                          <a:ea typeface="Sarabun" pitchFamily="34" charset="-122"/>
                          <a:cs typeface="Sarabun" pitchFamily="34" charset="-120"/>
                        </a:rPr>
                        <a:t>30,000</a:t>
                      </a:r>
                      <a:endParaRPr lang="en-US" sz="1300" dirty="0">
                        <a:latin typeface="Sarabun" charset="0"/>
                        <a:ea typeface="Sarabun" charset="0"/>
                        <a:cs typeface="Sarabun" charset="0"/>
                      </a:endParaRPr>
                    </a:p>
                  </a:txBody>
                  <a:tcPr marL="91440" marR="91440" marT="45720" marB="4572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433"/>
                          </a:solidFill>
                          <a:latin typeface="Sarabun" pitchFamily="34" charset="0"/>
                          <a:ea typeface="Sarabun" pitchFamily="34" charset="-122"/>
                          <a:cs typeface="Sarabun" pitchFamily="34" charset="-120"/>
                        </a:rPr>
                        <a:t>3.72</a:t>
                      </a:r>
                      <a:endParaRPr lang="en-US" sz="1300" dirty="0">
                        <a:latin typeface="Sarabun" charset="0"/>
                        <a:ea typeface="Sarabun" charset="0"/>
                        <a:cs typeface="Sarabun" charset="0"/>
                      </a:endParaRPr>
                    </a:p>
                  </a:txBody>
                  <a:tcPr marL="91440" marR="91440" marT="45720" marB="4572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433"/>
                          </a:solidFill>
                          <a:latin typeface="Sarabun" pitchFamily="34" charset="0"/>
                          <a:ea typeface="Sarabun" pitchFamily="34" charset="-122"/>
                          <a:cs typeface="Sarabun" pitchFamily="34" charset="-120"/>
                        </a:rPr>
                        <a:t>3.90</a:t>
                      </a:r>
                      <a:endParaRPr lang="en-US" sz="1300" dirty="0">
                        <a:latin typeface="Sarabun" charset="0"/>
                        <a:ea typeface="Sarabun" charset="0"/>
                        <a:cs typeface="Sarabun" charset="0"/>
                      </a:endParaRPr>
                    </a:p>
                  </a:txBody>
                  <a:tcPr marL="91440" marR="91440" marT="45720" marB="4572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433"/>
                          </a:solidFill>
                          <a:latin typeface="Sarabun" pitchFamily="34" charset="0"/>
                          <a:ea typeface="Sarabun" pitchFamily="34" charset="-122"/>
                          <a:cs typeface="Sarabun" pitchFamily="34" charset="-120"/>
                        </a:rPr>
                        <a:t>25,000</a:t>
                      </a:r>
                      <a:endParaRPr lang="en-US" sz="1300" dirty="0">
                        <a:latin typeface="Sarabun" charset="0"/>
                        <a:ea typeface="Sarabun" charset="0"/>
                        <a:cs typeface="Sarabun" charset="0"/>
                      </a:endParaRPr>
                    </a:p>
                  </a:txBody>
                  <a:tcPr marL="91440" marR="91440" marT="45720" marB="4572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bl>
          </a:graphicData>
        </a:graphic>
      </p:graphicFrame>
      <p:sp>
        <p:nvSpPr>
          <p:cNvPr id="9" name="Shape 5"/>
          <p:cNvSpPr/>
          <p:nvPr/>
        </p:nvSpPr>
        <p:spPr>
          <a:xfrm>
            <a:off x="457200" y="3840480"/>
            <a:ext cx="182880" cy="182880"/>
          </a:xfrm>
          <a:prstGeom prst="rect">
            <a:avLst/>
          </a:prstGeom>
          <a:solidFill>
            <a:srgbClr val="FCE6DF"/>
          </a:solidFill>
          <a:ln w="9525">
            <a:solidFill>
              <a:srgbClr val="E4572E"/>
            </a:solidFill>
            <a:prstDash val="solid"/>
          </a:ln>
        </p:spPr>
      </p:sp>
      <p:sp>
        <p:nvSpPr>
          <p:cNvPr id="10" name="Text 6"/>
          <p:cNvSpPr txBox="1"/>
          <p:nvPr/>
        </p:nvSpPr>
        <p:spPr>
          <a:xfrm>
            <a:off x="731520" y="3794760"/>
            <a:ext cx="3749040" cy="274320"/>
          </a:xfrm>
          <a:prstGeom prst="rect">
            <a:avLst/>
          </a:prstGeom>
          <a:noFill/>
          <a:ln/>
        </p:spPr>
        <p:txBody>
          <a:bodyPr wrap="square" lIns="0" tIns="0" rIns="0" bIns="0" rtlCol="0" anchor="ctr"/>
          <a:lstStyle/>
          <a:p>
            <a:pPr indent="0" marL="0">
              <a:buNone/>
            </a:pPr>
            <a:r>
              <a:rPr lang="en-US" sz="1200" dirty="0">
                <a:solidFill>
                  <a:srgbClr val="1B2433"/>
                </a:solidFill>
                <a:latin typeface="Sarabun" pitchFamily="34" charset="0"/>
                <a:ea typeface="Sarabun" pitchFamily="34" charset="-122"/>
                <a:cs typeface="Sarabun" pitchFamily="34" charset="-120"/>
              </a:rPr>
              <a:t>Her large bid orders at levels 1 and 2</a:t>
            </a:r>
            <a:endParaRPr lang="en-US" sz="1200" dirty="0"/>
          </a:p>
        </p:txBody>
      </p:sp>
      <p:sp>
        <p:nvSpPr>
          <p:cNvPr id="11" name="Text 7"/>
          <p:cNvSpPr txBox="1"/>
          <p:nvPr/>
        </p:nvSpPr>
        <p:spPr>
          <a:xfrm>
            <a:off x="457200" y="4160520"/>
            <a:ext cx="4023360" cy="274320"/>
          </a:xfrm>
          <a:prstGeom prst="rect">
            <a:avLst/>
          </a:prstGeom>
          <a:noFill/>
          <a:ln/>
        </p:spPr>
        <p:txBody>
          <a:bodyPr wrap="square" lIns="0" tIns="0" rIns="0" bIns="0" rtlCol="0" anchor="ctr"/>
          <a:lstStyle/>
          <a:p>
            <a:pPr indent="0" marL="0">
              <a:buNone/>
            </a:pPr>
            <a:r>
              <a:rPr lang="en-US" sz="1050" i="1" dirty="0">
                <a:solidFill>
                  <a:srgbClr val="5B6B7F"/>
                </a:solidFill>
                <a:latin typeface="Sarabun" pitchFamily="34" charset="0"/>
                <a:ea typeface="Sarabun" pitchFamily="34" charset="-122"/>
                <a:cs typeface="Sarabun" pitchFamily="34" charset="-120"/>
              </a:rPr>
              <a:t>Illustration only: the numbers are hypothetical, not actual TSR data.</a:t>
            </a:r>
            <a:endParaRPr lang="en-US" sz="1050" dirty="0"/>
          </a:p>
        </p:txBody>
      </p:sp>
      <p:sp>
        <p:nvSpPr>
          <p:cNvPr id="12" name="Shape 8"/>
          <p:cNvSpPr/>
          <p:nvPr/>
        </p:nvSpPr>
        <p:spPr>
          <a:xfrm>
            <a:off x="4892040" y="1389888"/>
            <a:ext cx="438912" cy="438912"/>
          </a:xfrm>
          <a:prstGeom prst="ellipse">
            <a:avLst/>
          </a:prstGeom>
          <a:solidFill>
            <a:srgbClr val="E4572E"/>
          </a:solidFill>
          <a:ln w="12700">
            <a:solidFill>
              <a:srgbClr val="E4572E"/>
            </a:solidFill>
            <a:prstDash val="solid"/>
          </a:ln>
        </p:spPr>
      </p:sp>
      <p:sp>
        <p:nvSpPr>
          <p:cNvPr id="13" name="Text 9"/>
          <p:cNvSpPr txBox="1"/>
          <p:nvPr/>
        </p:nvSpPr>
        <p:spPr>
          <a:xfrm>
            <a:off x="4892040" y="1389888"/>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Montserrat" pitchFamily="34" charset="0"/>
                <a:ea typeface="Montserrat" pitchFamily="34" charset="-122"/>
                <a:cs typeface="Montserrat" pitchFamily="34" charset="-120"/>
              </a:rPr>
              <a:t>1</a:t>
            </a:r>
            <a:endParaRPr lang="en-US" sz="1400" dirty="0"/>
          </a:p>
        </p:txBody>
      </p:sp>
      <p:sp>
        <p:nvSpPr>
          <p:cNvPr id="14" name="Text 10"/>
          <p:cNvSpPr txBox="1"/>
          <p:nvPr/>
        </p:nvSpPr>
        <p:spPr>
          <a:xfrm>
            <a:off x="5532120" y="1371600"/>
            <a:ext cx="3154680" cy="320040"/>
          </a:xfrm>
          <a:prstGeom prst="rect">
            <a:avLst/>
          </a:prstGeom>
          <a:noFill/>
          <a:ln/>
        </p:spPr>
        <p:txBody>
          <a:bodyPr wrap="square" lIns="0" tIns="0" rIns="0" bIns="0" rtlCol="0" anchor="ctr"/>
          <a:lstStyle/>
          <a:p>
            <a:pPr indent="0" marL="0">
              <a:buNone/>
            </a:pPr>
            <a:r>
              <a:rPr lang="en-US" sz="1500" b="1" dirty="0">
                <a:solidFill>
                  <a:srgbClr val="0F1B2D"/>
                </a:solidFill>
                <a:latin typeface="Montserrat" pitchFamily="34" charset="0"/>
                <a:ea typeface="Montserrat" pitchFamily="34" charset="-122"/>
                <a:cs typeface="Montserrat" pitchFamily="34" charset="-120"/>
              </a:rPr>
              <a:t>Sweep</a:t>
            </a:r>
            <a:endParaRPr lang="en-US" sz="1500" dirty="0"/>
          </a:p>
        </p:txBody>
      </p:sp>
      <p:sp>
        <p:nvSpPr>
          <p:cNvPr id="15" name="Text 11"/>
          <p:cNvSpPr txBox="1"/>
          <p:nvPr/>
        </p:nvSpPr>
        <p:spPr>
          <a:xfrm>
            <a:off x="5532120" y="1719072"/>
            <a:ext cx="3154680" cy="594360"/>
          </a:xfrm>
          <a:prstGeom prst="rect">
            <a:avLst/>
          </a:prstGeom>
          <a:noFill/>
          <a:ln/>
        </p:spPr>
        <p:txBody>
          <a:bodyPr wrap="square" lIns="0" tIns="0" rIns="0" bIns="0" rtlCol="0" anchor="t"/>
          <a:lstStyle/>
          <a:p>
            <a:pPr indent="0" marL="0">
              <a:buNone/>
            </a:pPr>
            <a:r>
              <a:rPr lang="en-US" sz="1400" dirty="0">
                <a:solidFill>
                  <a:srgbClr val="1B2433"/>
                </a:solidFill>
                <a:latin typeface="Sarabun" pitchFamily="34" charset="0"/>
                <a:ea typeface="Sarabun" pitchFamily="34" charset="-122"/>
                <a:cs typeface="Sarabun" pitchFamily="34" charset="-120"/>
              </a:rPr>
              <a:t>She buys up every offer at 3.82, so the last traded price ticks up.</a:t>
            </a:r>
            <a:endParaRPr lang="en-US" sz="1400" dirty="0"/>
          </a:p>
        </p:txBody>
      </p:sp>
      <p:sp>
        <p:nvSpPr>
          <p:cNvPr id="16" name="Shape 12"/>
          <p:cNvSpPr/>
          <p:nvPr/>
        </p:nvSpPr>
        <p:spPr>
          <a:xfrm>
            <a:off x="4892040" y="2414016"/>
            <a:ext cx="438912" cy="438912"/>
          </a:xfrm>
          <a:prstGeom prst="ellipse">
            <a:avLst/>
          </a:prstGeom>
          <a:solidFill>
            <a:srgbClr val="E4572E"/>
          </a:solidFill>
          <a:ln w="12700">
            <a:solidFill>
              <a:srgbClr val="E4572E"/>
            </a:solidFill>
            <a:prstDash val="solid"/>
          </a:ln>
        </p:spPr>
      </p:sp>
      <p:sp>
        <p:nvSpPr>
          <p:cNvPr id="17" name="Text 13"/>
          <p:cNvSpPr txBox="1"/>
          <p:nvPr/>
        </p:nvSpPr>
        <p:spPr>
          <a:xfrm>
            <a:off x="4892040" y="2414016"/>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Montserrat" pitchFamily="34" charset="0"/>
                <a:ea typeface="Montserrat" pitchFamily="34" charset="-122"/>
                <a:cs typeface="Montserrat" pitchFamily="34" charset="-120"/>
              </a:rPr>
              <a:t>2</a:t>
            </a:r>
            <a:endParaRPr lang="en-US" sz="1400" dirty="0"/>
          </a:p>
        </p:txBody>
      </p:sp>
      <p:sp>
        <p:nvSpPr>
          <p:cNvPr id="18" name="Text 14"/>
          <p:cNvSpPr txBox="1"/>
          <p:nvPr/>
        </p:nvSpPr>
        <p:spPr>
          <a:xfrm>
            <a:off x="5532120" y="2395728"/>
            <a:ext cx="3154680" cy="320040"/>
          </a:xfrm>
          <a:prstGeom prst="rect">
            <a:avLst/>
          </a:prstGeom>
          <a:noFill/>
          <a:ln/>
        </p:spPr>
        <p:txBody>
          <a:bodyPr wrap="square" lIns="0" tIns="0" rIns="0" bIns="0" rtlCol="0" anchor="ctr"/>
          <a:lstStyle/>
          <a:p>
            <a:pPr indent="0" marL="0">
              <a:buNone/>
            </a:pPr>
            <a:r>
              <a:rPr lang="en-US" sz="1500" b="1" dirty="0">
                <a:solidFill>
                  <a:srgbClr val="0F1B2D"/>
                </a:solidFill>
                <a:latin typeface="Montserrat" pitchFamily="34" charset="0"/>
                <a:ea typeface="Montserrat" pitchFamily="34" charset="-122"/>
                <a:cs typeface="Montserrat" pitchFamily="34" charset="-120"/>
              </a:rPr>
              <a:t>Wall</a:t>
            </a:r>
            <a:endParaRPr lang="en-US" sz="1500" dirty="0"/>
          </a:p>
        </p:txBody>
      </p:sp>
      <p:sp>
        <p:nvSpPr>
          <p:cNvPr id="19" name="Text 15"/>
          <p:cNvSpPr txBox="1"/>
          <p:nvPr/>
        </p:nvSpPr>
        <p:spPr>
          <a:xfrm>
            <a:off x="5532120" y="2743200"/>
            <a:ext cx="3154680" cy="594360"/>
          </a:xfrm>
          <a:prstGeom prst="rect">
            <a:avLst/>
          </a:prstGeom>
          <a:noFill/>
          <a:ln/>
        </p:spPr>
        <p:txBody>
          <a:bodyPr wrap="square" lIns="0" tIns="0" rIns="0" bIns="0" rtlCol="0" anchor="t"/>
          <a:lstStyle/>
          <a:p>
            <a:pPr indent="0" marL="0">
              <a:buNone/>
            </a:pPr>
            <a:r>
              <a:rPr lang="en-US" sz="1400" dirty="0">
                <a:solidFill>
                  <a:srgbClr val="1B2433"/>
                </a:solidFill>
                <a:latin typeface="Sarabun" pitchFamily="34" charset="0"/>
                <a:ea typeface="Sarabun" pitchFamily="34" charset="-122"/>
                <a:cs typeface="Sarabun" pitchFamily="34" charset="-120"/>
              </a:rPr>
              <a:t>She parks huge bids at 3.80 and 3.78; the board shows ‘strong demand’.</a:t>
            </a:r>
            <a:endParaRPr lang="en-US" sz="1400" dirty="0"/>
          </a:p>
        </p:txBody>
      </p:sp>
      <p:sp>
        <p:nvSpPr>
          <p:cNvPr id="20" name="Shape 16"/>
          <p:cNvSpPr/>
          <p:nvPr/>
        </p:nvSpPr>
        <p:spPr>
          <a:xfrm>
            <a:off x="4892040" y="3438144"/>
            <a:ext cx="438912" cy="438912"/>
          </a:xfrm>
          <a:prstGeom prst="ellipse">
            <a:avLst/>
          </a:prstGeom>
          <a:solidFill>
            <a:srgbClr val="E4572E"/>
          </a:solidFill>
          <a:ln w="12700">
            <a:solidFill>
              <a:srgbClr val="E4572E"/>
            </a:solidFill>
            <a:prstDash val="solid"/>
          </a:ln>
        </p:spPr>
      </p:sp>
      <p:sp>
        <p:nvSpPr>
          <p:cNvPr id="21" name="Text 17"/>
          <p:cNvSpPr txBox="1"/>
          <p:nvPr/>
        </p:nvSpPr>
        <p:spPr>
          <a:xfrm>
            <a:off x="4892040" y="3438144"/>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Montserrat" pitchFamily="34" charset="0"/>
                <a:ea typeface="Montserrat" pitchFamily="34" charset="-122"/>
                <a:cs typeface="Montserrat" pitchFamily="34" charset="-120"/>
              </a:rPr>
              <a:t>3</a:t>
            </a:r>
            <a:endParaRPr lang="en-US" sz="1400" dirty="0"/>
          </a:p>
        </p:txBody>
      </p:sp>
      <p:sp>
        <p:nvSpPr>
          <p:cNvPr id="22" name="Text 18"/>
          <p:cNvSpPr txBox="1"/>
          <p:nvPr/>
        </p:nvSpPr>
        <p:spPr>
          <a:xfrm>
            <a:off x="5532120" y="3419856"/>
            <a:ext cx="3154680" cy="320040"/>
          </a:xfrm>
          <a:prstGeom prst="rect">
            <a:avLst/>
          </a:prstGeom>
          <a:noFill/>
          <a:ln/>
        </p:spPr>
        <p:txBody>
          <a:bodyPr wrap="square" lIns="0" tIns="0" rIns="0" bIns="0" rtlCol="0" anchor="ctr"/>
          <a:lstStyle/>
          <a:p>
            <a:pPr indent="0" marL="0">
              <a:buNone/>
            </a:pPr>
            <a:r>
              <a:rPr lang="en-US" sz="1500" b="1" dirty="0">
                <a:solidFill>
                  <a:srgbClr val="0F1B2D"/>
                </a:solidFill>
                <a:latin typeface="Montserrat" pitchFamily="34" charset="0"/>
                <a:ea typeface="Montserrat" pitchFamily="34" charset="-122"/>
                <a:cs typeface="Montserrat" pitchFamily="34" charset="-120"/>
              </a:rPr>
              <a:t>Squeeze</a:t>
            </a:r>
            <a:endParaRPr lang="en-US" sz="1500" dirty="0"/>
          </a:p>
        </p:txBody>
      </p:sp>
      <p:sp>
        <p:nvSpPr>
          <p:cNvPr id="23" name="Text 19"/>
          <p:cNvSpPr txBox="1"/>
          <p:nvPr/>
        </p:nvSpPr>
        <p:spPr>
          <a:xfrm>
            <a:off x="5532120" y="3767328"/>
            <a:ext cx="3154680" cy="594360"/>
          </a:xfrm>
          <a:prstGeom prst="rect">
            <a:avLst/>
          </a:prstGeom>
          <a:noFill/>
          <a:ln/>
        </p:spPr>
        <p:txBody>
          <a:bodyPr wrap="square" lIns="0" tIns="0" rIns="0" bIns="0" rtlCol="0" anchor="t"/>
          <a:lstStyle/>
          <a:p>
            <a:pPr indent="0" marL="0">
              <a:buNone/>
            </a:pPr>
            <a:r>
              <a:rPr lang="en-US" sz="1400" dirty="0">
                <a:solidFill>
                  <a:srgbClr val="1B2433"/>
                </a:solidFill>
                <a:latin typeface="Sarabun" pitchFamily="34" charset="0"/>
                <a:ea typeface="Sarabun" pitchFamily="34" charset="-122"/>
                <a:cs typeface="Sarabun" pitchFamily="34" charset="-120"/>
              </a:rPr>
              <a:t>Real buyers cannot get filled at the bid, so they pay the offer or higher. Repeat.</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457200" y="310896"/>
            <a:ext cx="973836" cy="246888"/>
          </a:xfrm>
          <a:prstGeom prst="roundRect">
            <a:avLst>
              <a:gd name="adj" fmla="val 50000"/>
            </a:avLst>
          </a:prstGeom>
          <a:solidFill>
            <a:srgbClr val="E4572E"/>
          </a:solidFill>
          <a:ln w="12700">
            <a:solidFill>
              <a:srgbClr val="E4572E"/>
            </a:solidFill>
            <a:prstDash val="solid"/>
          </a:ln>
        </p:spPr>
      </p:sp>
      <p:sp>
        <p:nvSpPr>
          <p:cNvPr id="3" name="Text 1"/>
          <p:cNvSpPr txBox="1"/>
          <p:nvPr/>
        </p:nvSpPr>
        <p:spPr>
          <a:xfrm>
            <a:off x="457200" y="310896"/>
            <a:ext cx="973836" cy="24688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Montserrat" pitchFamily="34" charset="0"/>
                <a:ea typeface="Montserrat" pitchFamily="34" charset="-122"/>
                <a:cs typeface="Montserrat" pitchFamily="34" charset="-120"/>
              </a:rPr>
              <a:t>THE FACTS</a:t>
            </a:r>
            <a:endParaRPr lang="en-US" sz="850" dirty="0"/>
          </a:p>
        </p:txBody>
      </p:sp>
      <p:sp>
        <p:nvSpPr>
          <p:cNvPr id="4" name="Text 2"/>
          <p:cNvSpPr txBox="1"/>
          <p:nvPr/>
        </p:nvSpPr>
        <p:spPr>
          <a:xfrm>
            <a:off x="457200" y="640080"/>
            <a:ext cx="8229600" cy="502920"/>
          </a:xfrm>
          <a:prstGeom prst="rect">
            <a:avLst/>
          </a:prstGeom>
          <a:noFill/>
          <a:ln/>
        </p:spPr>
        <p:txBody>
          <a:bodyPr wrap="square" lIns="0" tIns="0" rIns="0" bIns="0" rtlCol="0" anchor="ctr"/>
          <a:lstStyle/>
          <a:p>
            <a:pPr indent="0" marL="0">
              <a:buNone/>
            </a:pPr>
            <a:r>
              <a:rPr lang="en-US" sz="2600" b="1" dirty="0">
                <a:solidFill>
                  <a:srgbClr val="0F1B2D"/>
                </a:solidFill>
                <a:latin typeface="Montserrat" pitchFamily="34" charset="0"/>
                <a:ea typeface="Montserrat" pitchFamily="34" charset="-122"/>
                <a:cs typeface="Montserrat" pitchFamily="34" charset="-120"/>
              </a:rPr>
              <a:t>The Motive: Why Push TSR Up?</a:t>
            </a:r>
            <a:endParaRPr lang="en-US" sz="2600" dirty="0"/>
          </a:p>
        </p:txBody>
      </p:sp>
      <p:sp>
        <p:nvSpPr>
          <p:cNvPr id="5" name="Text 3"/>
          <p:cNvSpPr txBox="1"/>
          <p:nvPr/>
        </p:nvSpPr>
        <p:spPr>
          <a:xfrm>
            <a:off x="457200" y="4773168"/>
            <a:ext cx="4572000" cy="228600"/>
          </a:xfrm>
          <a:prstGeom prst="rect">
            <a:avLst/>
          </a:prstGeom>
          <a:noFill/>
          <a:ln/>
        </p:spPr>
        <p:txBody>
          <a:bodyPr wrap="square" lIns="0" tIns="0" rIns="0" bIns="0" rtlCol="0" anchor="ctr"/>
          <a:lstStyle/>
          <a:p>
            <a:pPr indent="0" marL="0">
              <a:buNone/>
            </a:pPr>
            <a:r>
              <a:rPr lang="en-US" sz="900" dirty="0">
                <a:solidFill>
                  <a:srgbClr val="5B6B7F"/>
                </a:solidFill>
                <a:latin typeface="Sarabun" pitchFamily="34" charset="0"/>
                <a:ea typeface="Sarabun" pitchFamily="34" charset="-122"/>
                <a:cs typeface="Sarabun" pitchFamily="34" charset="-120"/>
              </a:rPr>
              <a:t>Group 3  ·  TSR Market Manipulation Case</a:t>
            </a:r>
            <a:endParaRPr lang="en-US" sz="900" dirty="0"/>
          </a:p>
        </p:txBody>
      </p:sp>
      <p:sp>
        <p:nvSpPr>
          <p:cNvPr id="6" name="Text 4"/>
          <p:cNvSpPr txBox="1"/>
          <p:nvPr/>
        </p:nvSpPr>
        <p:spPr>
          <a:xfrm>
            <a:off x="7772400" y="4773168"/>
            <a:ext cx="914400" cy="228600"/>
          </a:xfrm>
          <a:prstGeom prst="rect">
            <a:avLst/>
          </a:prstGeom>
          <a:noFill/>
          <a:ln/>
        </p:spPr>
        <p:txBody>
          <a:bodyPr wrap="square" lIns="0" tIns="0" rIns="0" bIns="0" rtlCol="0" anchor="ctr"/>
          <a:lstStyle/>
          <a:p>
            <a:pPr algn="r" indent="0" marL="0">
              <a:buNone/>
            </a:pPr>
            <a:r>
              <a:rPr lang="en-US" sz="900" dirty="0">
                <a:solidFill>
                  <a:srgbClr val="5B6B7F"/>
                </a:solidFill>
                <a:latin typeface="Sarabun" pitchFamily="34" charset="0"/>
                <a:ea typeface="Sarabun" pitchFamily="34" charset="-122"/>
                <a:cs typeface="Sarabun" pitchFamily="34" charset="-120"/>
              </a:rPr>
              <a:t>8 / 20</a:t>
            </a:r>
            <a:endParaRPr lang="en-US" sz="900" dirty="0"/>
          </a:p>
        </p:txBody>
      </p:sp>
      <p:sp>
        <p:nvSpPr>
          <p:cNvPr id="8" name="Text 5"/>
          <p:cNvSpPr txBox="1"/>
          <p:nvPr/>
        </p:nvSpPr>
        <p:spPr>
          <a:xfrm>
            <a:off x="457200" y="1325880"/>
            <a:ext cx="8229600" cy="274320"/>
          </a:xfrm>
          <a:prstGeom prst="rect">
            <a:avLst/>
          </a:prstGeom>
          <a:noFill/>
          <a:ln/>
        </p:spPr>
        <p:txBody>
          <a:bodyPr wrap="square" lIns="0" tIns="0" rIns="0" bIns="0" rtlCol="0" anchor="ctr"/>
          <a:lstStyle/>
          <a:p>
            <a:pPr indent="0" marL="0">
              <a:buNone/>
            </a:pPr>
            <a:r>
              <a:rPr lang="en-US" sz="1100" b="1" spc="100" kern="0" dirty="0">
                <a:solidFill>
                  <a:srgbClr val="E4572E"/>
                </a:solidFill>
                <a:latin typeface="Montserrat" pitchFamily="34" charset="0"/>
                <a:ea typeface="Montserrat" pitchFamily="34" charset="-122"/>
                <a:cs typeface="Montserrat" pitchFamily="34" charset="-120"/>
              </a:rPr>
              <a:t>MOTIVE 1  ·  MAKE SABUY’S PROFIT LOOK BETTER</a:t>
            </a:r>
            <a:endParaRPr lang="en-US" sz="1100" dirty="0"/>
          </a:p>
        </p:txBody>
      </p:sp>
      <p:sp>
        <p:nvSpPr>
          <p:cNvPr id="9" name="Shape 6"/>
          <p:cNvSpPr/>
          <p:nvPr/>
        </p:nvSpPr>
        <p:spPr>
          <a:xfrm>
            <a:off x="457200" y="1691640"/>
            <a:ext cx="1828800" cy="1325880"/>
          </a:xfrm>
          <a:prstGeom prst="roundRect">
            <a:avLst>
              <a:gd name="adj" fmla="val 5517"/>
            </a:avLst>
          </a:prstGeom>
          <a:solidFill>
            <a:srgbClr val="FFFFFF"/>
          </a:solidFill>
          <a:ln w="9525">
            <a:solidFill>
              <a:srgbClr val="FFFFFF"/>
            </a:solidFill>
            <a:prstDash val="solid"/>
          </a:ln>
          <a:effectLst>
            <a:outerShdw sx="100000" sy="100000" kx="0" ky="0" algn="bl" rotWithShape="0" blurRad="76200" dist="25400" dir="5400000">
              <a:srgbClr val="0F1B2D">
                <a:alpha val="10000"/>
              </a:srgbClr>
            </a:outerShdw>
          </a:effectLst>
        </p:spPr>
      </p:sp>
      <p:sp>
        <p:nvSpPr>
          <p:cNvPr id="10" name="Text 7"/>
          <p:cNvSpPr txBox="1"/>
          <p:nvPr/>
        </p:nvSpPr>
        <p:spPr>
          <a:xfrm>
            <a:off x="594360" y="1801368"/>
            <a:ext cx="1554480" cy="566928"/>
          </a:xfrm>
          <a:prstGeom prst="rect">
            <a:avLst/>
          </a:prstGeom>
          <a:noFill/>
          <a:ln/>
        </p:spPr>
        <p:txBody>
          <a:bodyPr wrap="square" lIns="0" tIns="0" rIns="0" bIns="0" rtlCol="0" anchor="t"/>
          <a:lstStyle/>
          <a:p>
            <a:pPr indent="0" marL="0">
              <a:buNone/>
            </a:pPr>
            <a:r>
              <a:rPr lang="en-US" sz="1300" b="1" dirty="0">
                <a:solidFill>
                  <a:srgbClr val="0F1B2D"/>
                </a:solidFill>
                <a:latin typeface="Montserrat" pitchFamily="34" charset="0"/>
                <a:ea typeface="Montserrat" pitchFamily="34" charset="-122"/>
                <a:cs typeface="Montserrat" pitchFamily="34" charset="-120"/>
              </a:rPr>
              <a:t>Push TSR’s price up</a:t>
            </a:r>
            <a:endParaRPr lang="en-US" sz="1300" dirty="0"/>
          </a:p>
        </p:txBody>
      </p:sp>
      <p:sp>
        <p:nvSpPr>
          <p:cNvPr id="11" name="Text 8"/>
          <p:cNvSpPr txBox="1"/>
          <p:nvPr/>
        </p:nvSpPr>
        <p:spPr>
          <a:xfrm>
            <a:off x="594360" y="2395728"/>
            <a:ext cx="1554480" cy="548640"/>
          </a:xfrm>
          <a:prstGeom prst="rect">
            <a:avLst/>
          </a:prstGeom>
          <a:noFill/>
          <a:ln/>
        </p:spPr>
        <p:txBody>
          <a:bodyPr wrap="square" lIns="0" tIns="0" rIns="0" bIns="0" rtlCol="0" anchor="t"/>
          <a:lstStyle/>
          <a:p>
            <a:pPr indent="0" marL="0">
              <a:buNone/>
            </a:pPr>
            <a:r>
              <a:rPr lang="en-US" sz="1200" dirty="0">
                <a:solidFill>
                  <a:srgbClr val="5B6B7F"/>
                </a:solidFill>
                <a:latin typeface="Sarabun" pitchFamily="34" charset="0"/>
                <a:ea typeface="Sarabun" pitchFamily="34" charset="-122"/>
                <a:cs typeface="Sarabun" pitchFamily="34" charset="-120"/>
              </a:rPr>
              <a:t>Buy-side pressure from 22 Jun 2022</a:t>
            </a:r>
            <a:endParaRPr lang="en-US" sz="1200" dirty="0"/>
          </a:p>
        </p:txBody>
      </p:sp>
      <p:sp>
        <p:nvSpPr>
          <p:cNvPr id="12" name="Shape 9"/>
          <p:cNvSpPr/>
          <p:nvPr/>
        </p:nvSpPr>
        <p:spPr>
          <a:xfrm>
            <a:off x="2322576" y="2354580"/>
            <a:ext cx="228600" cy="0"/>
          </a:xfrm>
          <a:prstGeom prst="line">
            <a:avLst/>
          </a:prstGeom>
          <a:noFill/>
          <a:ln w="22225">
            <a:solidFill>
              <a:srgbClr val="E4572E"/>
            </a:solidFill>
            <a:prstDash val="solid"/>
            <a:tailEnd type="triangle"/>
          </a:ln>
        </p:spPr>
      </p:sp>
      <p:sp>
        <p:nvSpPr>
          <p:cNvPr id="13" name="Shape 10"/>
          <p:cNvSpPr/>
          <p:nvPr/>
        </p:nvSpPr>
        <p:spPr>
          <a:xfrm>
            <a:off x="2587752" y="1691640"/>
            <a:ext cx="1828800" cy="1325880"/>
          </a:xfrm>
          <a:prstGeom prst="roundRect">
            <a:avLst>
              <a:gd name="adj" fmla="val 5517"/>
            </a:avLst>
          </a:prstGeom>
          <a:solidFill>
            <a:srgbClr val="FFFFFF"/>
          </a:solidFill>
          <a:ln w="9525">
            <a:solidFill>
              <a:srgbClr val="FFFFFF"/>
            </a:solidFill>
            <a:prstDash val="solid"/>
          </a:ln>
          <a:effectLst>
            <a:outerShdw sx="100000" sy="100000" kx="0" ky="0" algn="bl" rotWithShape="0" blurRad="76200" dist="25400" dir="5400000">
              <a:srgbClr val="0F1B2D">
                <a:alpha val="10000"/>
              </a:srgbClr>
            </a:outerShdw>
          </a:effectLst>
        </p:spPr>
      </p:sp>
      <p:sp>
        <p:nvSpPr>
          <p:cNvPr id="14" name="Text 11"/>
          <p:cNvSpPr txBox="1"/>
          <p:nvPr/>
        </p:nvSpPr>
        <p:spPr>
          <a:xfrm>
            <a:off x="2724912" y="1801368"/>
            <a:ext cx="1554480" cy="566928"/>
          </a:xfrm>
          <a:prstGeom prst="rect">
            <a:avLst/>
          </a:prstGeom>
          <a:noFill/>
          <a:ln/>
        </p:spPr>
        <p:txBody>
          <a:bodyPr wrap="square" lIns="0" tIns="0" rIns="0" bIns="0" rtlCol="0" anchor="t"/>
          <a:lstStyle/>
          <a:p>
            <a:pPr indent="0" marL="0">
              <a:buNone/>
            </a:pPr>
            <a:r>
              <a:rPr lang="en-US" sz="1300" b="1" dirty="0">
                <a:solidFill>
                  <a:srgbClr val="0F1B2D"/>
                </a:solidFill>
                <a:latin typeface="Montserrat" pitchFamily="34" charset="0"/>
                <a:ea typeface="Montserrat" pitchFamily="34" charset="-122"/>
                <a:cs typeface="Montserrat" pitchFamily="34" charset="-120"/>
              </a:rPr>
              <a:t>Quarter-end: 30 Jun 2022</a:t>
            </a:r>
            <a:endParaRPr lang="en-US" sz="1300" dirty="0"/>
          </a:p>
        </p:txBody>
      </p:sp>
      <p:sp>
        <p:nvSpPr>
          <p:cNvPr id="15" name="Text 12"/>
          <p:cNvSpPr txBox="1"/>
          <p:nvPr/>
        </p:nvSpPr>
        <p:spPr>
          <a:xfrm>
            <a:off x="2724912" y="2395728"/>
            <a:ext cx="1554480" cy="548640"/>
          </a:xfrm>
          <a:prstGeom prst="rect">
            <a:avLst/>
          </a:prstGeom>
          <a:noFill/>
          <a:ln/>
        </p:spPr>
        <p:txBody>
          <a:bodyPr wrap="square" lIns="0" tIns="0" rIns="0" bIns="0" rtlCol="0" anchor="t"/>
          <a:lstStyle/>
          <a:p>
            <a:pPr indent="0" marL="0">
              <a:buNone/>
            </a:pPr>
            <a:r>
              <a:rPr lang="en-US" sz="1200" dirty="0">
                <a:solidFill>
                  <a:srgbClr val="5B6B7F"/>
                </a:solidFill>
                <a:latin typeface="Sarabun" pitchFamily="34" charset="0"/>
                <a:ea typeface="Sarabun" pitchFamily="34" charset="-122"/>
                <a:cs typeface="Sarabun" pitchFamily="34" charset="-120"/>
              </a:rPr>
              <a:t>Q2/2022 closes 8 days later</a:t>
            </a:r>
            <a:endParaRPr lang="en-US" sz="1200" dirty="0"/>
          </a:p>
        </p:txBody>
      </p:sp>
      <p:sp>
        <p:nvSpPr>
          <p:cNvPr id="16" name="Shape 13"/>
          <p:cNvSpPr/>
          <p:nvPr/>
        </p:nvSpPr>
        <p:spPr>
          <a:xfrm>
            <a:off x="4453128" y="2354580"/>
            <a:ext cx="228600" cy="0"/>
          </a:xfrm>
          <a:prstGeom prst="line">
            <a:avLst/>
          </a:prstGeom>
          <a:noFill/>
          <a:ln w="22225">
            <a:solidFill>
              <a:srgbClr val="E4572E"/>
            </a:solidFill>
            <a:prstDash val="solid"/>
            <a:tailEnd type="triangle"/>
          </a:ln>
        </p:spPr>
      </p:sp>
      <p:sp>
        <p:nvSpPr>
          <p:cNvPr id="17" name="Shape 14"/>
          <p:cNvSpPr/>
          <p:nvPr/>
        </p:nvSpPr>
        <p:spPr>
          <a:xfrm>
            <a:off x="4718304" y="1691640"/>
            <a:ext cx="1828800" cy="1325880"/>
          </a:xfrm>
          <a:prstGeom prst="roundRect">
            <a:avLst>
              <a:gd name="adj" fmla="val 5517"/>
            </a:avLst>
          </a:prstGeom>
          <a:solidFill>
            <a:srgbClr val="FFFFFF"/>
          </a:solidFill>
          <a:ln w="9525">
            <a:solidFill>
              <a:srgbClr val="FFFFFF"/>
            </a:solidFill>
            <a:prstDash val="solid"/>
          </a:ln>
          <a:effectLst>
            <a:outerShdw sx="100000" sy="100000" kx="0" ky="0" algn="bl" rotWithShape="0" blurRad="76200" dist="25400" dir="5400000">
              <a:srgbClr val="0F1B2D">
                <a:alpha val="10000"/>
              </a:srgbClr>
            </a:outerShdw>
          </a:effectLst>
        </p:spPr>
      </p:sp>
      <p:sp>
        <p:nvSpPr>
          <p:cNvPr id="18" name="Text 15"/>
          <p:cNvSpPr txBox="1"/>
          <p:nvPr/>
        </p:nvSpPr>
        <p:spPr>
          <a:xfrm>
            <a:off x="4855464" y="1801368"/>
            <a:ext cx="1554480" cy="566928"/>
          </a:xfrm>
          <a:prstGeom prst="rect">
            <a:avLst/>
          </a:prstGeom>
          <a:noFill/>
          <a:ln/>
        </p:spPr>
        <p:txBody>
          <a:bodyPr wrap="square" lIns="0" tIns="0" rIns="0" bIns="0" rtlCol="0" anchor="t"/>
          <a:lstStyle/>
          <a:p>
            <a:pPr indent="0" marL="0">
              <a:buNone/>
            </a:pPr>
            <a:r>
              <a:rPr lang="en-US" sz="1300" b="1" dirty="0">
                <a:solidFill>
                  <a:srgbClr val="0F1B2D"/>
                </a:solidFill>
                <a:latin typeface="Montserrat" pitchFamily="34" charset="0"/>
                <a:ea typeface="Montserrat" pitchFamily="34" charset="-122"/>
                <a:cs typeface="Montserrat" pitchFamily="34" charset="-120"/>
              </a:rPr>
              <a:t>SABUY re-measures TSR</a:t>
            </a:r>
            <a:endParaRPr lang="en-US" sz="1300" dirty="0"/>
          </a:p>
        </p:txBody>
      </p:sp>
      <p:sp>
        <p:nvSpPr>
          <p:cNvPr id="19" name="Text 16"/>
          <p:cNvSpPr txBox="1"/>
          <p:nvPr/>
        </p:nvSpPr>
        <p:spPr>
          <a:xfrm>
            <a:off x="4855464" y="2395728"/>
            <a:ext cx="1554480" cy="548640"/>
          </a:xfrm>
          <a:prstGeom prst="rect">
            <a:avLst/>
          </a:prstGeom>
          <a:noFill/>
          <a:ln/>
        </p:spPr>
        <p:txBody>
          <a:bodyPr wrap="square" lIns="0" tIns="0" rIns="0" bIns="0" rtlCol="0" anchor="t"/>
          <a:lstStyle/>
          <a:p>
            <a:pPr indent="0" marL="0">
              <a:buNone/>
            </a:pPr>
            <a:r>
              <a:rPr lang="en-US" sz="1200" dirty="0">
                <a:solidFill>
                  <a:srgbClr val="5B6B7F"/>
                </a:solidFill>
                <a:latin typeface="Sarabun" pitchFamily="34" charset="0"/>
                <a:ea typeface="Sarabun" pitchFamily="34" charset="-122"/>
                <a:cs typeface="Sarabun" pitchFamily="34" charset="-120"/>
              </a:rPr>
              <a:t>Investment carried at fair value</a:t>
            </a:r>
            <a:endParaRPr lang="en-US" sz="1200" dirty="0"/>
          </a:p>
        </p:txBody>
      </p:sp>
      <p:sp>
        <p:nvSpPr>
          <p:cNvPr id="20" name="Shape 17"/>
          <p:cNvSpPr/>
          <p:nvPr/>
        </p:nvSpPr>
        <p:spPr>
          <a:xfrm>
            <a:off x="6583680" y="2354580"/>
            <a:ext cx="228600" cy="0"/>
          </a:xfrm>
          <a:prstGeom prst="line">
            <a:avLst/>
          </a:prstGeom>
          <a:noFill/>
          <a:ln w="22225">
            <a:solidFill>
              <a:srgbClr val="E4572E"/>
            </a:solidFill>
            <a:prstDash val="solid"/>
            <a:tailEnd type="triangle"/>
          </a:ln>
        </p:spPr>
      </p:sp>
      <p:sp>
        <p:nvSpPr>
          <p:cNvPr id="21" name="Shape 18"/>
          <p:cNvSpPr/>
          <p:nvPr/>
        </p:nvSpPr>
        <p:spPr>
          <a:xfrm>
            <a:off x="6848856" y="1691640"/>
            <a:ext cx="1828800" cy="1325880"/>
          </a:xfrm>
          <a:prstGeom prst="roundRect">
            <a:avLst>
              <a:gd name="adj" fmla="val 5517"/>
            </a:avLst>
          </a:prstGeom>
          <a:solidFill>
            <a:srgbClr val="0F1B2D"/>
          </a:solidFill>
          <a:ln w="9525">
            <a:solidFill>
              <a:srgbClr val="0F1B2D"/>
            </a:solidFill>
            <a:prstDash val="solid"/>
          </a:ln>
          <a:effectLst>
            <a:outerShdw sx="100000" sy="100000" kx="0" ky="0" algn="bl" rotWithShape="0" blurRad="76200" dist="25400" dir="5400000">
              <a:srgbClr val="0F1B2D">
                <a:alpha val="10000"/>
              </a:srgbClr>
            </a:outerShdw>
          </a:effectLst>
        </p:spPr>
      </p:sp>
      <p:sp>
        <p:nvSpPr>
          <p:cNvPr id="22" name="Text 19"/>
          <p:cNvSpPr txBox="1"/>
          <p:nvPr/>
        </p:nvSpPr>
        <p:spPr>
          <a:xfrm>
            <a:off x="6986016" y="1801368"/>
            <a:ext cx="1554480" cy="566928"/>
          </a:xfrm>
          <a:prstGeom prst="rect">
            <a:avLst/>
          </a:prstGeom>
          <a:noFill/>
          <a:ln/>
        </p:spPr>
        <p:txBody>
          <a:bodyPr wrap="square" lIns="0" tIns="0" rIns="0" bIns="0" rtlCol="0" anchor="t"/>
          <a:lstStyle/>
          <a:p>
            <a:pPr indent="0" marL="0">
              <a:buNone/>
            </a:pPr>
            <a:r>
              <a:rPr lang="en-US" sz="1300" b="1" dirty="0">
                <a:solidFill>
                  <a:srgbClr val="FFFFFF"/>
                </a:solidFill>
                <a:latin typeface="Montserrat" pitchFamily="34" charset="0"/>
                <a:ea typeface="Montserrat" pitchFamily="34" charset="-122"/>
                <a:cs typeface="Montserrat" pitchFamily="34" charset="-120"/>
              </a:rPr>
              <a:t>Paper gain in Q2 profit</a:t>
            </a:r>
            <a:endParaRPr lang="en-US" sz="1300" dirty="0"/>
          </a:p>
        </p:txBody>
      </p:sp>
      <p:sp>
        <p:nvSpPr>
          <p:cNvPr id="23" name="Text 20"/>
          <p:cNvSpPr txBox="1"/>
          <p:nvPr/>
        </p:nvSpPr>
        <p:spPr>
          <a:xfrm>
            <a:off x="6986016" y="2395728"/>
            <a:ext cx="1554480" cy="548640"/>
          </a:xfrm>
          <a:prstGeom prst="rect">
            <a:avLst/>
          </a:prstGeom>
          <a:noFill/>
          <a:ln/>
        </p:spPr>
        <p:txBody>
          <a:bodyPr wrap="square" lIns="0" tIns="0" rIns="0" bIns="0" rtlCol="0" anchor="t"/>
          <a:lstStyle/>
          <a:p>
            <a:pPr indent="0" marL="0">
              <a:buNone/>
            </a:pPr>
            <a:r>
              <a:rPr lang="en-US" sz="1200" dirty="0">
                <a:solidFill>
                  <a:srgbClr val="C9D6E8"/>
                </a:solidFill>
                <a:latin typeface="Sarabun" pitchFamily="34" charset="0"/>
                <a:ea typeface="Sarabun" pitchFamily="34" charset="-122"/>
                <a:cs typeface="Sarabun" pitchFamily="34" charset="-120"/>
              </a:rPr>
              <a:t>Earnings look better, nothing sold</a:t>
            </a:r>
            <a:endParaRPr lang="en-US" sz="1200" dirty="0"/>
          </a:p>
        </p:txBody>
      </p:sp>
      <p:sp>
        <p:nvSpPr>
          <p:cNvPr id="24" name="Shape 21"/>
          <p:cNvSpPr/>
          <p:nvPr/>
        </p:nvSpPr>
        <p:spPr>
          <a:xfrm>
            <a:off x="457200" y="3246120"/>
            <a:ext cx="3977640" cy="1280160"/>
          </a:xfrm>
          <a:prstGeom prst="roundRect">
            <a:avLst>
              <a:gd name="adj" fmla="val 5714"/>
            </a:avLst>
          </a:prstGeom>
          <a:solidFill>
            <a:srgbClr val="FFFFFF"/>
          </a:solidFill>
          <a:ln w="9525">
            <a:solidFill>
              <a:srgbClr val="FFFFFF"/>
            </a:solidFill>
            <a:prstDash val="solid"/>
          </a:ln>
          <a:effectLst>
            <a:outerShdw sx="100000" sy="100000" kx="0" ky="0" algn="bl" rotWithShape="0" blurRad="76200" dist="25400" dir="5400000">
              <a:srgbClr val="0F1B2D">
                <a:alpha val="10000"/>
              </a:srgbClr>
            </a:outerShdw>
          </a:effectLst>
        </p:spPr>
      </p:sp>
      <p:sp>
        <p:nvSpPr>
          <p:cNvPr id="25" name="Text 22"/>
          <p:cNvSpPr txBox="1"/>
          <p:nvPr/>
        </p:nvSpPr>
        <p:spPr>
          <a:xfrm>
            <a:off x="640080" y="3383280"/>
            <a:ext cx="3657600" cy="274320"/>
          </a:xfrm>
          <a:prstGeom prst="rect">
            <a:avLst/>
          </a:prstGeom>
          <a:noFill/>
          <a:ln/>
        </p:spPr>
        <p:txBody>
          <a:bodyPr wrap="square" lIns="0" tIns="0" rIns="0" bIns="0" rtlCol="0" anchor="ctr"/>
          <a:lstStyle/>
          <a:p>
            <a:pPr indent="0" marL="0">
              <a:buNone/>
            </a:pPr>
            <a:r>
              <a:rPr lang="en-US" sz="1100" b="1" spc="100" kern="0" dirty="0">
                <a:solidFill>
                  <a:srgbClr val="E4572E"/>
                </a:solidFill>
                <a:latin typeface="Montserrat" pitchFamily="34" charset="0"/>
                <a:ea typeface="Montserrat" pitchFamily="34" charset="-122"/>
                <a:cs typeface="Montserrat" pitchFamily="34" charset="-120"/>
              </a:rPr>
              <a:t>MOTIVE 2  ·  TRADING PROFIT</a:t>
            </a:r>
            <a:endParaRPr lang="en-US" sz="1100" dirty="0"/>
          </a:p>
        </p:txBody>
      </p:sp>
      <p:sp>
        <p:nvSpPr>
          <p:cNvPr id="26" name="Text 23"/>
          <p:cNvSpPr txBox="1"/>
          <p:nvPr/>
        </p:nvSpPr>
        <p:spPr>
          <a:xfrm>
            <a:off x="640080" y="3703320"/>
            <a:ext cx="3611880" cy="685800"/>
          </a:xfrm>
          <a:prstGeom prst="rect">
            <a:avLst/>
          </a:prstGeom>
          <a:noFill/>
          <a:ln/>
        </p:spPr>
        <p:txBody>
          <a:bodyPr wrap="square" lIns="0" tIns="0" rIns="0" bIns="0" rtlCol="0" anchor="t"/>
          <a:lstStyle/>
          <a:p>
            <a:pPr indent="0" marL="0">
              <a:buNone/>
            </a:pPr>
            <a:r>
              <a:rPr lang="en-US" sz="1400" dirty="0">
                <a:solidFill>
                  <a:srgbClr val="1B2433"/>
                </a:solidFill>
                <a:latin typeface="Sarabun" pitchFamily="34" charset="0"/>
                <a:ea typeface="Sarabun" pitchFamily="34" charset="-122"/>
                <a:cs typeface="Sarabun" pitchFamily="34" charset="-120"/>
              </a:rPr>
              <a:t>Profit from the price spread: buy low, lift the price, then sell higher.</a:t>
            </a:r>
            <a:endParaRPr lang="en-US" sz="1400" dirty="0"/>
          </a:p>
        </p:txBody>
      </p:sp>
      <p:sp>
        <p:nvSpPr>
          <p:cNvPr id="27" name="Shape 24"/>
          <p:cNvSpPr/>
          <p:nvPr/>
        </p:nvSpPr>
        <p:spPr>
          <a:xfrm>
            <a:off x="4709160" y="3246120"/>
            <a:ext cx="3977640" cy="1280160"/>
          </a:xfrm>
          <a:prstGeom prst="roundRect">
            <a:avLst>
              <a:gd name="adj" fmla="val 5714"/>
            </a:avLst>
          </a:prstGeom>
          <a:solidFill>
            <a:srgbClr val="DDF1EE"/>
          </a:solidFill>
          <a:ln w="9525">
            <a:solidFill>
              <a:srgbClr val="DDF1EE"/>
            </a:solidFill>
            <a:prstDash val="solid"/>
          </a:ln>
          <a:effectLst>
            <a:outerShdw sx="100000" sy="100000" kx="0" ky="0" algn="bl" rotWithShape="0" blurRad="76200" dist="25400" dir="5400000">
              <a:srgbClr val="0F1B2D">
                <a:alpha val="10000"/>
              </a:srgbClr>
            </a:outerShdw>
          </a:effectLst>
        </p:spPr>
      </p:sp>
      <p:sp>
        <p:nvSpPr>
          <p:cNvPr id="28" name="Text 25"/>
          <p:cNvSpPr txBox="1"/>
          <p:nvPr/>
        </p:nvSpPr>
        <p:spPr>
          <a:xfrm>
            <a:off x="4892040" y="3383280"/>
            <a:ext cx="3657600" cy="274320"/>
          </a:xfrm>
          <a:prstGeom prst="rect">
            <a:avLst/>
          </a:prstGeom>
          <a:noFill/>
          <a:ln/>
        </p:spPr>
        <p:txBody>
          <a:bodyPr wrap="square" lIns="0" tIns="0" rIns="0" bIns="0" rtlCol="0" anchor="ctr"/>
          <a:lstStyle/>
          <a:p>
            <a:pPr indent="0" marL="0">
              <a:buNone/>
            </a:pPr>
            <a:r>
              <a:rPr lang="en-US" sz="1100" b="1" spc="100" kern="0" dirty="0">
                <a:solidFill>
                  <a:srgbClr val="1E8C7E"/>
                </a:solidFill>
                <a:latin typeface="Montserrat" pitchFamily="34" charset="0"/>
                <a:ea typeface="Montserrat" pitchFamily="34" charset="-122"/>
                <a:cs typeface="Montserrat" pitchFamily="34" charset="-120"/>
              </a:rPr>
              <a:t>WHY IT MATTERS IN LAW</a:t>
            </a:r>
            <a:endParaRPr lang="en-US" sz="1100" dirty="0"/>
          </a:p>
        </p:txBody>
      </p:sp>
      <p:sp>
        <p:nvSpPr>
          <p:cNvPr id="29" name="Text 26"/>
          <p:cNvSpPr txBox="1"/>
          <p:nvPr/>
        </p:nvSpPr>
        <p:spPr>
          <a:xfrm>
            <a:off x="4892040" y="3703320"/>
            <a:ext cx="3611880" cy="685800"/>
          </a:xfrm>
          <a:prstGeom prst="rect">
            <a:avLst/>
          </a:prstGeom>
          <a:noFill/>
          <a:ln/>
        </p:spPr>
        <p:txBody>
          <a:bodyPr wrap="square" lIns="0" tIns="0" rIns="0" bIns="0" rtlCol="0" anchor="t"/>
          <a:lstStyle/>
          <a:p>
            <a:pPr indent="0" marL="0">
              <a:buNone/>
            </a:pPr>
            <a:r>
              <a:rPr lang="en-US" sz="1400" dirty="0">
                <a:solidFill>
                  <a:srgbClr val="1B2433"/>
                </a:solidFill>
                <a:latin typeface="Sarabun" pitchFamily="34" charset="0"/>
                <a:ea typeface="Sarabun" pitchFamily="34" charset="-122"/>
                <a:cs typeface="Sarabun" pitchFamily="34" charset="-120"/>
              </a:rPr>
              <a:t>A clear motive is evidence of intent, the key element of Section 244/3(2).</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457200" y="310896"/>
            <a:ext cx="973836" cy="246888"/>
          </a:xfrm>
          <a:prstGeom prst="roundRect">
            <a:avLst>
              <a:gd name="adj" fmla="val 50000"/>
            </a:avLst>
          </a:prstGeom>
          <a:solidFill>
            <a:srgbClr val="E4572E"/>
          </a:solidFill>
          <a:ln w="12700">
            <a:solidFill>
              <a:srgbClr val="E4572E"/>
            </a:solidFill>
            <a:prstDash val="solid"/>
          </a:ln>
        </p:spPr>
      </p:sp>
      <p:sp>
        <p:nvSpPr>
          <p:cNvPr id="3" name="Text 1"/>
          <p:cNvSpPr txBox="1"/>
          <p:nvPr/>
        </p:nvSpPr>
        <p:spPr>
          <a:xfrm>
            <a:off x="457200" y="310896"/>
            <a:ext cx="973836" cy="24688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Montserrat" pitchFamily="34" charset="0"/>
                <a:ea typeface="Montserrat" pitchFamily="34" charset="-122"/>
                <a:cs typeface="Montserrat" pitchFamily="34" charset="-120"/>
              </a:rPr>
              <a:t>THE FACTS</a:t>
            </a:r>
            <a:endParaRPr lang="en-US" sz="850" dirty="0"/>
          </a:p>
        </p:txBody>
      </p:sp>
      <p:sp>
        <p:nvSpPr>
          <p:cNvPr id="4" name="Text 2"/>
          <p:cNvSpPr txBox="1"/>
          <p:nvPr/>
        </p:nvSpPr>
        <p:spPr>
          <a:xfrm>
            <a:off x="457200" y="640080"/>
            <a:ext cx="8229600" cy="502920"/>
          </a:xfrm>
          <a:prstGeom prst="rect">
            <a:avLst/>
          </a:prstGeom>
          <a:noFill/>
          <a:ln/>
        </p:spPr>
        <p:txBody>
          <a:bodyPr wrap="square" lIns="0" tIns="0" rIns="0" bIns="0" rtlCol="0" anchor="ctr"/>
          <a:lstStyle/>
          <a:p>
            <a:pPr indent="0" marL="0">
              <a:buNone/>
            </a:pPr>
            <a:r>
              <a:rPr lang="en-US" sz="2600" b="1" dirty="0">
                <a:solidFill>
                  <a:srgbClr val="0F1B2D"/>
                </a:solidFill>
                <a:latin typeface="Montserrat" pitchFamily="34" charset="0"/>
                <a:ea typeface="Montserrat" pitchFamily="34" charset="-122"/>
                <a:cs typeface="Montserrat" pitchFamily="34" charset="-120"/>
              </a:rPr>
              <a:t>Timeline of the Case</a:t>
            </a:r>
            <a:endParaRPr lang="en-US" sz="2600" dirty="0"/>
          </a:p>
        </p:txBody>
      </p:sp>
      <p:sp>
        <p:nvSpPr>
          <p:cNvPr id="5" name="Text 3"/>
          <p:cNvSpPr txBox="1"/>
          <p:nvPr/>
        </p:nvSpPr>
        <p:spPr>
          <a:xfrm>
            <a:off x="457200" y="4773168"/>
            <a:ext cx="4572000" cy="228600"/>
          </a:xfrm>
          <a:prstGeom prst="rect">
            <a:avLst/>
          </a:prstGeom>
          <a:noFill/>
          <a:ln/>
        </p:spPr>
        <p:txBody>
          <a:bodyPr wrap="square" lIns="0" tIns="0" rIns="0" bIns="0" rtlCol="0" anchor="ctr"/>
          <a:lstStyle/>
          <a:p>
            <a:pPr indent="0" marL="0">
              <a:buNone/>
            </a:pPr>
            <a:r>
              <a:rPr lang="en-US" sz="900" dirty="0">
                <a:solidFill>
                  <a:srgbClr val="5B6B7F"/>
                </a:solidFill>
                <a:latin typeface="Sarabun" pitchFamily="34" charset="0"/>
                <a:ea typeface="Sarabun" pitchFamily="34" charset="-122"/>
                <a:cs typeface="Sarabun" pitchFamily="34" charset="-120"/>
              </a:rPr>
              <a:t>Group 3  ·  TSR Market Manipulation Case</a:t>
            </a:r>
            <a:endParaRPr lang="en-US" sz="900" dirty="0"/>
          </a:p>
        </p:txBody>
      </p:sp>
      <p:sp>
        <p:nvSpPr>
          <p:cNvPr id="6" name="Text 4"/>
          <p:cNvSpPr txBox="1"/>
          <p:nvPr/>
        </p:nvSpPr>
        <p:spPr>
          <a:xfrm>
            <a:off x="7772400" y="4773168"/>
            <a:ext cx="914400" cy="228600"/>
          </a:xfrm>
          <a:prstGeom prst="rect">
            <a:avLst/>
          </a:prstGeom>
          <a:noFill/>
          <a:ln/>
        </p:spPr>
        <p:txBody>
          <a:bodyPr wrap="square" lIns="0" tIns="0" rIns="0" bIns="0" rtlCol="0" anchor="ctr"/>
          <a:lstStyle/>
          <a:p>
            <a:pPr algn="r" indent="0" marL="0">
              <a:buNone/>
            </a:pPr>
            <a:r>
              <a:rPr lang="en-US" sz="900" dirty="0">
                <a:solidFill>
                  <a:srgbClr val="5B6B7F"/>
                </a:solidFill>
                <a:latin typeface="Sarabun" pitchFamily="34" charset="0"/>
                <a:ea typeface="Sarabun" pitchFamily="34" charset="-122"/>
                <a:cs typeface="Sarabun" pitchFamily="34" charset="-120"/>
              </a:rPr>
              <a:t>9 / 20</a:t>
            </a:r>
            <a:endParaRPr lang="en-US" sz="900" dirty="0"/>
          </a:p>
        </p:txBody>
      </p:sp>
      <p:sp>
        <p:nvSpPr>
          <p:cNvPr id="8" name="Shape 5"/>
          <p:cNvSpPr/>
          <p:nvPr/>
        </p:nvSpPr>
        <p:spPr>
          <a:xfrm>
            <a:off x="548640" y="3063240"/>
            <a:ext cx="4160520" cy="0"/>
          </a:xfrm>
          <a:prstGeom prst="line">
            <a:avLst/>
          </a:prstGeom>
          <a:noFill/>
          <a:ln w="25400">
            <a:solidFill>
              <a:srgbClr val="0F1B2D"/>
            </a:solidFill>
            <a:prstDash val="solid"/>
          </a:ln>
        </p:spPr>
      </p:sp>
      <p:sp>
        <p:nvSpPr>
          <p:cNvPr id="9" name="Shape 6"/>
          <p:cNvSpPr/>
          <p:nvPr/>
        </p:nvSpPr>
        <p:spPr>
          <a:xfrm>
            <a:off x="4709160" y="3063240"/>
            <a:ext cx="685800" cy="0"/>
          </a:xfrm>
          <a:prstGeom prst="line">
            <a:avLst/>
          </a:prstGeom>
          <a:noFill/>
          <a:ln w="25400">
            <a:solidFill>
              <a:srgbClr val="5B6B7F"/>
            </a:solidFill>
            <a:prstDash val="dash"/>
          </a:ln>
        </p:spPr>
      </p:sp>
      <p:sp>
        <p:nvSpPr>
          <p:cNvPr id="10" name="Shape 7"/>
          <p:cNvSpPr/>
          <p:nvPr/>
        </p:nvSpPr>
        <p:spPr>
          <a:xfrm>
            <a:off x="5394960" y="3063240"/>
            <a:ext cx="3200400" cy="0"/>
          </a:xfrm>
          <a:prstGeom prst="line">
            <a:avLst/>
          </a:prstGeom>
          <a:noFill/>
          <a:ln w="25400">
            <a:solidFill>
              <a:srgbClr val="E4572E"/>
            </a:solidFill>
            <a:prstDash val="solid"/>
          </a:ln>
        </p:spPr>
      </p:sp>
      <p:sp>
        <p:nvSpPr>
          <p:cNvPr id="11" name="Text 8"/>
          <p:cNvSpPr txBox="1"/>
          <p:nvPr/>
        </p:nvSpPr>
        <p:spPr>
          <a:xfrm>
            <a:off x="4645152" y="2944368"/>
            <a:ext cx="822960" cy="237744"/>
          </a:xfrm>
          <a:prstGeom prst="rect">
            <a:avLst/>
          </a:prstGeom>
          <a:solidFill>
            <a:srgbClr val="F5F7FA"/>
          </a:solidFill>
          <a:ln/>
        </p:spPr>
        <p:txBody>
          <a:bodyPr wrap="square" lIns="0" tIns="0" rIns="0" bIns="0" rtlCol="0" anchor="ctr"/>
          <a:lstStyle/>
          <a:p>
            <a:pPr algn="ctr" indent="0" marL="0">
              <a:buNone/>
            </a:pPr>
            <a:r>
              <a:rPr lang="en-US" sz="1000" i="1" dirty="0">
                <a:solidFill>
                  <a:srgbClr val="5B6B7F"/>
                </a:solidFill>
                <a:latin typeface="Sarabun" pitchFamily="34" charset="0"/>
                <a:ea typeface="Sarabun" pitchFamily="34" charset="-122"/>
                <a:cs typeface="Sarabun" pitchFamily="34" charset="-120"/>
              </a:rPr>
              <a:t>~3 yrs</a:t>
            </a:r>
            <a:endParaRPr lang="en-US" sz="1000" dirty="0"/>
          </a:p>
        </p:txBody>
      </p:sp>
      <p:sp>
        <p:nvSpPr>
          <p:cNvPr id="12" name="Shape 9"/>
          <p:cNvSpPr/>
          <p:nvPr/>
        </p:nvSpPr>
        <p:spPr>
          <a:xfrm>
            <a:off x="1271016" y="2962656"/>
            <a:ext cx="201168" cy="201168"/>
          </a:xfrm>
          <a:prstGeom prst="ellipse">
            <a:avLst/>
          </a:prstGeom>
          <a:solidFill>
            <a:srgbClr val="0F1B2D"/>
          </a:solidFill>
          <a:ln w="19050">
            <a:solidFill>
              <a:srgbClr val="FFFFFF"/>
            </a:solidFill>
            <a:prstDash val="solid"/>
          </a:ln>
        </p:spPr>
      </p:sp>
      <p:sp>
        <p:nvSpPr>
          <p:cNvPr id="13" name="Shape 10"/>
          <p:cNvSpPr/>
          <p:nvPr/>
        </p:nvSpPr>
        <p:spPr>
          <a:xfrm>
            <a:off x="1371600" y="2843784"/>
            <a:ext cx="0" cy="118872"/>
          </a:xfrm>
          <a:prstGeom prst="line">
            <a:avLst/>
          </a:prstGeom>
          <a:noFill/>
          <a:ln w="12700">
            <a:solidFill>
              <a:srgbClr val="0F1B2D"/>
            </a:solidFill>
            <a:prstDash val="solid"/>
          </a:ln>
        </p:spPr>
      </p:sp>
      <p:sp>
        <p:nvSpPr>
          <p:cNvPr id="14" name="Text 11"/>
          <p:cNvSpPr txBox="1"/>
          <p:nvPr/>
        </p:nvSpPr>
        <p:spPr>
          <a:xfrm>
            <a:off x="457200" y="1536192"/>
            <a:ext cx="1828800" cy="1280160"/>
          </a:xfrm>
          <a:prstGeom prst="rect">
            <a:avLst/>
          </a:prstGeom>
          <a:noFill/>
          <a:ln/>
        </p:spPr>
        <p:txBody>
          <a:bodyPr wrap="square" lIns="0" tIns="0" rIns="0" bIns="0" rtlCol="0" anchor="b"/>
          <a:lstStyle/>
          <a:p>
            <a:pPr algn="ctr" indent="0" marL="0">
              <a:buNone/>
            </a:pPr>
            <a:r>
              <a:rPr lang="en-US" sz="1100" b="1" dirty="0">
                <a:solidFill>
                  <a:srgbClr val="0F1B2D"/>
                </a:solidFill>
                <a:latin typeface="Montserrat" pitchFamily="34" charset="0"/>
                <a:ea typeface="Montserrat" pitchFamily="34" charset="-122"/>
                <a:cs typeface="Montserrat" pitchFamily="34" charset="-120"/>
              </a:rPr>
              <a:t>22 Jun 2022</a:t>
            </a:r>
            <a:endParaRPr lang="en-US" sz="1100" dirty="0"/>
          </a:p>
          <a:p>
            <a:pPr algn="ctr" indent="0" marL="0">
              <a:buNone/>
            </a:pPr>
            <a:r>
              <a:rPr lang="en-US" sz="1150" dirty="0">
                <a:solidFill>
                  <a:srgbClr val="1B2433"/>
                </a:solidFill>
                <a:latin typeface="Sarabun" pitchFamily="34" charset="0"/>
                <a:ea typeface="Sarabun" pitchFamily="34" charset="-122"/>
                <a:cs typeface="Sarabun" pitchFamily="34" charset="-120"/>
              </a:rPr>
              <a:t>Manipulation of TSR begins</a:t>
            </a:r>
            <a:endParaRPr lang="en-US" sz="1100" dirty="0"/>
          </a:p>
        </p:txBody>
      </p:sp>
      <p:sp>
        <p:nvSpPr>
          <p:cNvPr id="15" name="Shape 12"/>
          <p:cNvSpPr/>
          <p:nvPr/>
        </p:nvSpPr>
        <p:spPr>
          <a:xfrm>
            <a:off x="2276856" y="2962656"/>
            <a:ext cx="201168" cy="201168"/>
          </a:xfrm>
          <a:prstGeom prst="ellipse">
            <a:avLst/>
          </a:prstGeom>
          <a:solidFill>
            <a:srgbClr val="0F1B2D"/>
          </a:solidFill>
          <a:ln w="19050">
            <a:solidFill>
              <a:srgbClr val="FFFFFF"/>
            </a:solidFill>
            <a:prstDash val="solid"/>
          </a:ln>
        </p:spPr>
      </p:sp>
      <p:sp>
        <p:nvSpPr>
          <p:cNvPr id="16" name="Shape 13"/>
          <p:cNvSpPr/>
          <p:nvPr/>
        </p:nvSpPr>
        <p:spPr>
          <a:xfrm>
            <a:off x="2377440" y="3163824"/>
            <a:ext cx="0" cy="118872"/>
          </a:xfrm>
          <a:prstGeom prst="line">
            <a:avLst/>
          </a:prstGeom>
          <a:noFill/>
          <a:ln w="12700">
            <a:solidFill>
              <a:srgbClr val="0F1B2D"/>
            </a:solidFill>
            <a:prstDash val="solid"/>
          </a:ln>
        </p:spPr>
      </p:sp>
      <p:sp>
        <p:nvSpPr>
          <p:cNvPr id="17" name="Text 14"/>
          <p:cNvSpPr txBox="1"/>
          <p:nvPr/>
        </p:nvSpPr>
        <p:spPr>
          <a:xfrm>
            <a:off x="1463040" y="3319272"/>
            <a:ext cx="1828800" cy="1051560"/>
          </a:xfrm>
          <a:prstGeom prst="rect">
            <a:avLst/>
          </a:prstGeom>
          <a:noFill/>
          <a:ln/>
        </p:spPr>
        <p:txBody>
          <a:bodyPr wrap="square" lIns="0" tIns="0" rIns="0" bIns="0" rtlCol="0" anchor="t"/>
          <a:lstStyle/>
          <a:p>
            <a:pPr algn="ctr" indent="0" marL="0">
              <a:buNone/>
            </a:pPr>
            <a:r>
              <a:rPr lang="en-US" sz="1100" b="1" dirty="0">
                <a:solidFill>
                  <a:srgbClr val="0F1B2D"/>
                </a:solidFill>
                <a:latin typeface="Montserrat" pitchFamily="34" charset="0"/>
                <a:ea typeface="Montserrat" pitchFamily="34" charset="-122"/>
                <a:cs typeface="Montserrat" pitchFamily="34" charset="-120"/>
              </a:rPr>
              <a:t>30 Jun 2022</a:t>
            </a:r>
            <a:endParaRPr lang="en-US" sz="1100" dirty="0"/>
          </a:p>
          <a:p>
            <a:pPr algn="ctr" indent="0" marL="0">
              <a:buNone/>
            </a:pPr>
            <a:r>
              <a:rPr lang="en-US" sz="1150" dirty="0">
                <a:solidFill>
                  <a:srgbClr val="1B2433"/>
                </a:solidFill>
                <a:latin typeface="Sarabun" pitchFamily="34" charset="0"/>
                <a:ea typeface="Sarabun" pitchFamily="34" charset="-122"/>
                <a:cs typeface="Sarabun" pitchFamily="34" charset="-120"/>
              </a:rPr>
              <a:t>Q2/2022 quarter-end: SABUY values its TSR shares</a:t>
            </a:r>
            <a:endParaRPr lang="en-US" sz="1100" dirty="0"/>
          </a:p>
        </p:txBody>
      </p:sp>
      <p:sp>
        <p:nvSpPr>
          <p:cNvPr id="18" name="Shape 15"/>
          <p:cNvSpPr/>
          <p:nvPr/>
        </p:nvSpPr>
        <p:spPr>
          <a:xfrm>
            <a:off x="3282696" y="2962656"/>
            <a:ext cx="201168" cy="201168"/>
          </a:xfrm>
          <a:prstGeom prst="ellipse">
            <a:avLst/>
          </a:prstGeom>
          <a:solidFill>
            <a:srgbClr val="0F1B2D"/>
          </a:solidFill>
          <a:ln w="19050">
            <a:solidFill>
              <a:srgbClr val="FFFFFF"/>
            </a:solidFill>
            <a:prstDash val="solid"/>
          </a:ln>
        </p:spPr>
      </p:sp>
      <p:sp>
        <p:nvSpPr>
          <p:cNvPr id="19" name="Shape 16"/>
          <p:cNvSpPr/>
          <p:nvPr/>
        </p:nvSpPr>
        <p:spPr>
          <a:xfrm>
            <a:off x="3383280" y="2843784"/>
            <a:ext cx="0" cy="118872"/>
          </a:xfrm>
          <a:prstGeom prst="line">
            <a:avLst/>
          </a:prstGeom>
          <a:noFill/>
          <a:ln w="12700">
            <a:solidFill>
              <a:srgbClr val="0F1B2D"/>
            </a:solidFill>
            <a:prstDash val="solid"/>
          </a:ln>
        </p:spPr>
      </p:sp>
      <p:sp>
        <p:nvSpPr>
          <p:cNvPr id="20" name="Text 17"/>
          <p:cNvSpPr txBox="1"/>
          <p:nvPr/>
        </p:nvSpPr>
        <p:spPr>
          <a:xfrm>
            <a:off x="2468880" y="1536192"/>
            <a:ext cx="1828800" cy="1280160"/>
          </a:xfrm>
          <a:prstGeom prst="rect">
            <a:avLst/>
          </a:prstGeom>
          <a:noFill/>
          <a:ln/>
        </p:spPr>
        <p:txBody>
          <a:bodyPr wrap="square" lIns="0" tIns="0" rIns="0" bIns="0" rtlCol="0" anchor="b"/>
          <a:lstStyle/>
          <a:p>
            <a:pPr algn="ctr" indent="0" marL="0">
              <a:buNone/>
            </a:pPr>
            <a:r>
              <a:rPr lang="en-US" sz="1100" b="1" dirty="0">
                <a:solidFill>
                  <a:srgbClr val="0F1B2D"/>
                </a:solidFill>
                <a:latin typeface="Montserrat" pitchFamily="34" charset="0"/>
                <a:ea typeface="Montserrat" pitchFamily="34" charset="-122"/>
                <a:cs typeface="Montserrat" pitchFamily="34" charset="-120"/>
              </a:rPr>
              <a:t>31 Aug 2022</a:t>
            </a:r>
            <a:endParaRPr lang="en-US" sz="1100" dirty="0"/>
          </a:p>
          <a:p>
            <a:pPr algn="ctr" indent="0" marL="0">
              <a:buNone/>
            </a:pPr>
            <a:r>
              <a:rPr lang="en-US" sz="1150" dirty="0">
                <a:solidFill>
                  <a:srgbClr val="1B2433"/>
                </a:solidFill>
                <a:latin typeface="Sarabun" pitchFamily="34" charset="0"/>
                <a:ea typeface="Sarabun" pitchFamily="34" charset="-122"/>
                <a:cs typeface="Sarabun" pitchFamily="34" charset="-120"/>
              </a:rPr>
              <a:t>Conduct ends after 47 trading days</a:t>
            </a:r>
            <a:endParaRPr lang="en-US" sz="1100" dirty="0"/>
          </a:p>
        </p:txBody>
      </p:sp>
      <p:sp>
        <p:nvSpPr>
          <p:cNvPr id="21" name="Shape 18"/>
          <p:cNvSpPr/>
          <p:nvPr/>
        </p:nvSpPr>
        <p:spPr>
          <a:xfrm>
            <a:off x="4288536" y="2962656"/>
            <a:ext cx="201168" cy="201168"/>
          </a:xfrm>
          <a:prstGeom prst="ellipse">
            <a:avLst/>
          </a:prstGeom>
          <a:solidFill>
            <a:srgbClr val="0F1B2D"/>
          </a:solidFill>
          <a:ln w="19050">
            <a:solidFill>
              <a:srgbClr val="FFFFFF"/>
            </a:solidFill>
            <a:prstDash val="solid"/>
          </a:ln>
        </p:spPr>
      </p:sp>
      <p:sp>
        <p:nvSpPr>
          <p:cNvPr id="22" name="Shape 19"/>
          <p:cNvSpPr/>
          <p:nvPr/>
        </p:nvSpPr>
        <p:spPr>
          <a:xfrm>
            <a:off x="4389120" y="3163824"/>
            <a:ext cx="0" cy="118872"/>
          </a:xfrm>
          <a:prstGeom prst="line">
            <a:avLst/>
          </a:prstGeom>
          <a:noFill/>
          <a:ln w="12700">
            <a:solidFill>
              <a:srgbClr val="0F1B2D"/>
            </a:solidFill>
            <a:prstDash val="solid"/>
          </a:ln>
        </p:spPr>
      </p:sp>
      <p:sp>
        <p:nvSpPr>
          <p:cNvPr id="23" name="Text 20"/>
          <p:cNvSpPr txBox="1"/>
          <p:nvPr/>
        </p:nvSpPr>
        <p:spPr>
          <a:xfrm>
            <a:off x="3474720" y="3319272"/>
            <a:ext cx="1828800" cy="1051560"/>
          </a:xfrm>
          <a:prstGeom prst="rect">
            <a:avLst/>
          </a:prstGeom>
          <a:noFill/>
          <a:ln/>
        </p:spPr>
        <p:txBody>
          <a:bodyPr wrap="square" lIns="0" tIns="0" rIns="0" bIns="0" rtlCol="0" anchor="t"/>
          <a:lstStyle/>
          <a:p>
            <a:pPr algn="ctr" indent="0" marL="0">
              <a:buNone/>
            </a:pPr>
            <a:r>
              <a:rPr lang="en-US" sz="1100" b="1" dirty="0">
                <a:solidFill>
                  <a:srgbClr val="0F1B2D"/>
                </a:solidFill>
                <a:latin typeface="Montserrat" pitchFamily="34" charset="0"/>
                <a:ea typeface="Montserrat" pitchFamily="34" charset="-122"/>
                <a:cs typeface="Montserrat" pitchFamily="34" charset="-120"/>
              </a:rPr>
              <a:t>Oct 2022</a:t>
            </a:r>
            <a:endParaRPr lang="en-US" sz="1100" dirty="0"/>
          </a:p>
          <a:p>
            <a:pPr algn="ctr" indent="0" marL="0">
              <a:buNone/>
            </a:pPr>
            <a:r>
              <a:rPr lang="en-US" sz="1150" dirty="0">
                <a:solidFill>
                  <a:srgbClr val="1B2433"/>
                </a:solidFill>
                <a:latin typeface="Sarabun" pitchFamily="34" charset="0"/>
                <a:ea typeface="Sarabun" pitchFamily="34" charset="-122"/>
                <a:cs typeface="Sarabun" pitchFamily="34" charset="-120"/>
              </a:rPr>
              <a:t>SET refers the case to the SEC</a:t>
            </a:r>
            <a:endParaRPr lang="en-US" sz="1100" dirty="0"/>
          </a:p>
        </p:txBody>
      </p:sp>
      <p:sp>
        <p:nvSpPr>
          <p:cNvPr id="24" name="Shape 21"/>
          <p:cNvSpPr/>
          <p:nvPr/>
        </p:nvSpPr>
        <p:spPr>
          <a:xfrm>
            <a:off x="5568696" y="2962656"/>
            <a:ext cx="201168" cy="201168"/>
          </a:xfrm>
          <a:prstGeom prst="ellipse">
            <a:avLst/>
          </a:prstGeom>
          <a:solidFill>
            <a:srgbClr val="E4572E"/>
          </a:solidFill>
          <a:ln w="19050">
            <a:solidFill>
              <a:srgbClr val="FFFFFF"/>
            </a:solidFill>
            <a:prstDash val="solid"/>
          </a:ln>
        </p:spPr>
      </p:sp>
      <p:sp>
        <p:nvSpPr>
          <p:cNvPr id="25" name="Shape 22"/>
          <p:cNvSpPr/>
          <p:nvPr/>
        </p:nvSpPr>
        <p:spPr>
          <a:xfrm>
            <a:off x="5669280" y="2843784"/>
            <a:ext cx="0" cy="118872"/>
          </a:xfrm>
          <a:prstGeom prst="line">
            <a:avLst/>
          </a:prstGeom>
          <a:noFill/>
          <a:ln w="12700">
            <a:solidFill>
              <a:srgbClr val="E4572E"/>
            </a:solidFill>
            <a:prstDash val="solid"/>
          </a:ln>
        </p:spPr>
      </p:sp>
      <p:sp>
        <p:nvSpPr>
          <p:cNvPr id="26" name="Text 23"/>
          <p:cNvSpPr txBox="1"/>
          <p:nvPr/>
        </p:nvSpPr>
        <p:spPr>
          <a:xfrm>
            <a:off x="4754880" y="1536192"/>
            <a:ext cx="1828800" cy="1280160"/>
          </a:xfrm>
          <a:prstGeom prst="rect">
            <a:avLst/>
          </a:prstGeom>
          <a:noFill/>
          <a:ln/>
        </p:spPr>
        <p:txBody>
          <a:bodyPr wrap="square" lIns="0" tIns="0" rIns="0" bIns="0" rtlCol="0" anchor="b"/>
          <a:lstStyle/>
          <a:p>
            <a:pPr algn="ctr" indent="0" marL="0">
              <a:buNone/>
            </a:pPr>
            <a:r>
              <a:rPr lang="en-US" sz="1100" b="1" dirty="0">
                <a:solidFill>
                  <a:srgbClr val="E4572E"/>
                </a:solidFill>
                <a:latin typeface="Montserrat" pitchFamily="34" charset="0"/>
                <a:ea typeface="Montserrat" pitchFamily="34" charset="-122"/>
                <a:cs typeface="Montserrat" pitchFamily="34" charset="-120"/>
              </a:rPr>
              <a:t>23 Jan 2026</a:t>
            </a:r>
            <a:endParaRPr lang="en-US" sz="1100" dirty="0"/>
          </a:p>
          <a:p>
            <a:pPr algn="ctr" indent="0" marL="0">
              <a:buNone/>
            </a:pPr>
            <a:r>
              <a:rPr lang="en-US" sz="1150" dirty="0">
                <a:solidFill>
                  <a:srgbClr val="1B2433"/>
                </a:solidFill>
                <a:latin typeface="Sarabun" pitchFamily="34" charset="0"/>
                <a:ea typeface="Sarabun" pitchFamily="34" charset="-122"/>
                <a:cs typeface="Sarabun" pitchFamily="34" charset="-120"/>
              </a:rPr>
              <a:t>CSC civil sanction: THB 32.3M, 6-month trading ban, 12-month director ban</a:t>
            </a:r>
            <a:endParaRPr lang="en-US" sz="1100" dirty="0"/>
          </a:p>
        </p:txBody>
      </p:sp>
      <p:sp>
        <p:nvSpPr>
          <p:cNvPr id="27" name="Shape 24"/>
          <p:cNvSpPr/>
          <p:nvPr/>
        </p:nvSpPr>
        <p:spPr>
          <a:xfrm>
            <a:off x="6574536" y="2962656"/>
            <a:ext cx="201168" cy="201168"/>
          </a:xfrm>
          <a:prstGeom prst="ellipse">
            <a:avLst/>
          </a:prstGeom>
          <a:solidFill>
            <a:srgbClr val="E4572E"/>
          </a:solidFill>
          <a:ln w="19050">
            <a:solidFill>
              <a:srgbClr val="FFFFFF"/>
            </a:solidFill>
            <a:prstDash val="solid"/>
          </a:ln>
        </p:spPr>
      </p:sp>
      <p:sp>
        <p:nvSpPr>
          <p:cNvPr id="28" name="Shape 25"/>
          <p:cNvSpPr/>
          <p:nvPr/>
        </p:nvSpPr>
        <p:spPr>
          <a:xfrm>
            <a:off x="6675120" y="3163824"/>
            <a:ext cx="0" cy="118872"/>
          </a:xfrm>
          <a:prstGeom prst="line">
            <a:avLst/>
          </a:prstGeom>
          <a:noFill/>
          <a:ln w="12700">
            <a:solidFill>
              <a:srgbClr val="E4572E"/>
            </a:solidFill>
            <a:prstDash val="solid"/>
          </a:ln>
        </p:spPr>
      </p:sp>
      <p:sp>
        <p:nvSpPr>
          <p:cNvPr id="29" name="Text 26"/>
          <p:cNvSpPr txBox="1"/>
          <p:nvPr/>
        </p:nvSpPr>
        <p:spPr>
          <a:xfrm>
            <a:off x="5760720" y="3319272"/>
            <a:ext cx="1828800" cy="1051560"/>
          </a:xfrm>
          <a:prstGeom prst="rect">
            <a:avLst/>
          </a:prstGeom>
          <a:noFill/>
          <a:ln/>
        </p:spPr>
        <p:txBody>
          <a:bodyPr wrap="square" lIns="0" tIns="0" rIns="0" bIns="0" rtlCol="0" anchor="t"/>
          <a:lstStyle/>
          <a:p>
            <a:pPr algn="ctr" indent="0" marL="0">
              <a:buNone/>
            </a:pPr>
            <a:r>
              <a:rPr lang="en-US" sz="1100" b="1" dirty="0">
                <a:solidFill>
                  <a:srgbClr val="E4572E"/>
                </a:solidFill>
                <a:latin typeface="Montserrat" pitchFamily="34" charset="0"/>
                <a:ea typeface="Montserrat" pitchFamily="34" charset="-122"/>
                <a:cs typeface="Montserrat" pitchFamily="34" charset="-120"/>
              </a:rPr>
              <a:t>26 Mar 2026</a:t>
            </a:r>
            <a:endParaRPr lang="en-US" sz="1100" dirty="0"/>
          </a:p>
          <a:p>
            <a:pPr algn="ctr" indent="0" marL="0">
              <a:buNone/>
            </a:pPr>
            <a:r>
              <a:rPr lang="en-US" sz="1150" dirty="0">
                <a:solidFill>
                  <a:srgbClr val="1B2433"/>
                </a:solidFill>
                <a:latin typeface="Sarabun" pitchFamily="34" charset="0"/>
                <a:ea typeface="Sarabun" pitchFamily="34" charset="-122"/>
                <a:cs typeface="Sarabun" pitchFamily="34" charset="-120"/>
              </a:rPr>
              <a:t>Parallel MSC case sent to court (THB 332.3M)</a:t>
            </a:r>
            <a:endParaRPr lang="en-US" sz="1100" dirty="0"/>
          </a:p>
        </p:txBody>
      </p:sp>
      <p:sp>
        <p:nvSpPr>
          <p:cNvPr id="30" name="Shape 27"/>
          <p:cNvSpPr/>
          <p:nvPr/>
        </p:nvSpPr>
        <p:spPr>
          <a:xfrm>
            <a:off x="7580376" y="2962656"/>
            <a:ext cx="201168" cy="201168"/>
          </a:xfrm>
          <a:prstGeom prst="ellipse">
            <a:avLst/>
          </a:prstGeom>
          <a:solidFill>
            <a:srgbClr val="E4572E"/>
          </a:solidFill>
          <a:ln w="19050">
            <a:solidFill>
              <a:srgbClr val="FFFFFF"/>
            </a:solidFill>
            <a:prstDash val="solid"/>
          </a:ln>
        </p:spPr>
      </p:sp>
      <p:sp>
        <p:nvSpPr>
          <p:cNvPr id="31" name="Shape 28"/>
          <p:cNvSpPr/>
          <p:nvPr/>
        </p:nvSpPr>
        <p:spPr>
          <a:xfrm>
            <a:off x="7680960" y="2843784"/>
            <a:ext cx="0" cy="118872"/>
          </a:xfrm>
          <a:prstGeom prst="line">
            <a:avLst/>
          </a:prstGeom>
          <a:noFill/>
          <a:ln w="12700">
            <a:solidFill>
              <a:srgbClr val="E4572E"/>
            </a:solidFill>
            <a:prstDash val="solid"/>
          </a:ln>
        </p:spPr>
      </p:sp>
      <p:sp>
        <p:nvSpPr>
          <p:cNvPr id="32" name="Text 29"/>
          <p:cNvSpPr txBox="1"/>
          <p:nvPr/>
        </p:nvSpPr>
        <p:spPr>
          <a:xfrm>
            <a:off x="6766560" y="1536192"/>
            <a:ext cx="1828800" cy="1280160"/>
          </a:xfrm>
          <a:prstGeom prst="rect">
            <a:avLst/>
          </a:prstGeom>
          <a:noFill/>
          <a:ln/>
        </p:spPr>
        <p:txBody>
          <a:bodyPr wrap="square" lIns="0" tIns="0" rIns="0" bIns="0" rtlCol="0" anchor="b"/>
          <a:lstStyle/>
          <a:p>
            <a:pPr algn="ctr" indent="0" marL="0">
              <a:buNone/>
            </a:pPr>
            <a:r>
              <a:rPr lang="en-US" sz="1100" b="1" dirty="0">
                <a:solidFill>
                  <a:srgbClr val="E4572E"/>
                </a:solidFill>
                <a:latin typeface="Montserrat" pitchFamily="34" charset="0"/>
                <a:ea typeface="Montserrat" pitchFamily="34" charset="-122"/>
                <a:cs typeface="Montserrat" pitchFamily="34" charset="-120"/>
              </a:rPr>
              <a:t>11 May 2026</a:t>
            </a:r>
            <a:endParaRPr lang="en-US" sz="1100" dirty="0"/>
          </a:p>
          <a:p>
            <a:pPr algn="ctr" indent="0" marL="0">
              <a:buNone/>
            </a:pPr>
            <a:r>
              <a:rPr lang="en-US" sz="1150" dirty="0">
                <a:solidFill>
                  <a:srgbClr val="1B2433"/>
                </a:solidFill>
                <a:latin typeface="Sarabun" pitchFamily="34" charset="0"/>
                <a:ea typeface="Sarabun" pitchFamily="34" charset="-122"/>
                <a:cs typeface="Sarabun" pitchFamily="34" charset="-120"/>
              </a:rPr>
              <a:t>She refuses; SEC asks the prosecutor to sue for THB 43.0M + interest; AMLO notified</a:t>
            </a:r>
            <a:endParaRPr lang="en-US" sz="1100" dirty="0"/>
          </a:p>
        </p:txBody>
      </p:sp>
      <p:sp>
        <p:nvSpPr>
          <p:cNvPr id="33" name="Text 30"/>
          <p:cNvSpPr txBox="1"/>
          <p:nvPr/>
        </p:nvSpPr>
        <p:spPr>
          <a:xfrm>
            <a:off x="5029200" y="4434840"/>
            <a:ext cx="3657600" cy="256032"/>
          </a:xfrm>
          <a:prstGeom prst="rect">
            <a:avLst/>
          </a:prstGeom>
          <a:noFill/>
          <a:ln/>
        </p:spPr>
        <p:txBody>
          <a:bodyPr wrap="square" lIns="0" tIns="0" rIns="0" bIns="0" rtlCol="0" anchor="ctr"/>
          <a:lstStyle/>
          <a:p>
            <a:pPr algn="r" indent="0" marL="0">
              <a:buNone/>
            </a:pPr>
            <a:r>
              <a:rPr lang="en-US" sz="1050" i="1" dirty="0">
                <a:solidFill>
                  <a:srgbClr val="5B6B7F"/>
                </a:solidFill>
                <a:latin typeface="Sarabun" pitchFamily="34" charset="0"/>
                <a:ea typeface="Sarabun" pitchFamily="34" charset="-122"/>
                <a:cs typeface="Sarabun" pitchFamily="34" charset="-120"/>
              </a:rPr>
              <a:t>No court judgment reported as of October 2026.</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457200" y="310896"/>
            <a:ext cx="818388" cy="246888"/>
          </a:xfrm>
          <a:prstGeom prst="roundRect">
            <a:avLst>
              <a:gd name="adj" fmla="val 50000"/>
            </a:avLst>
          </a:prstGeom>
          <a:solidFill>
            <a:srgbClr val="E4572E"/>
          </a:solidFill>
          <a:ln w="12700">
            <a:solidFill>
              <a:srgbClr val="E4572E"/>
            </a:solidFill>
            <a:prstDash val="solid"/>
          </a:ln>
        </p:spPr>
      </p:sp>
      <p:sp>
        <p:nvSpPr>
          <p:cNvPr id="3" name="Text 1"/>
          <p:cNvSpPr txBox="1"/>
          <p:nvPr/>
        </p:nvSpPr>
        <p:spPr>
          <a:xfrm>
            <a:off x="457200" y="310896"/>
            <a:ext cx="818388" cy="24688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Montserrat" pitchFamily="34" charset="0"/>
                <a:ea typeface="Montserrat" pitchFamily="34" charset="-122"/>
                <a:cs typeface="Montserrat" pitchFamily="34" charset="-120"/>
              </a:rPr>
              <a:t>THE LAW</a:t>
            </a:r>
            <a:endParaRPr lang="en-US" sz="850" dirty="0"/>
          </a:p>
        </p:txBody>
      </p:sp>
      <p:sp>
        <p:nvSpPr>
          <p:cNvPr id="4" name="Text 2"/>
          <p:cNvSpPr txBox="1"/>
          <p:nvPr/>
        </p:nvSpPr>
        <p:spPr>
          <a:xfrm>
            <a:off x="457200" y="640080"/>
            <a:ext cx="8229600" cy="502920"/>
          </a:xfrm>
          <a:prstGeom prst="rect">
            <a:avLst/>
          </a:prstGeom>
          <a:noFill/>
          <a:ln/>
        </p:spPr>
        <p:txBody>
          <a:bodyPr wrap="square" lIns="0" tIns="0" rIns="0" bIns="0" rtlCol="0" anchor="ctr"/>
          <a:lstStyle/>
          <a:p>
            <a:pPr indent="0" marL="0">
              <a:buNone/>
            </a:pPr>
            <a:r>
              <a:rPr lang="en-US" sz="2600" b="1" dirty="0">
                <a:solidFill>
                  <a:srgbClr val="0F1B2D"/>
                </a:solidFill>
                <a:latin typeface="Montserrat" pitchFamily="34" charset="0"/>
                <a:ea typeface="Montserrat" pitchFamily="34" charset="-122"/>
                <a:cs typeface="Montserrat" pitchFamily="34" charset="-120"/>
              </a:rPr>
              <a:t>Section 244/3: Market Manipulation</a:t>
            </a:r>
            <a:endParaRPr lang="en-US" sz="2600" dirty="0"/>
          </a:p>
        </p:txBody>
      </p:sp>
      <p:sp>
        <p:nvSpPr>
          <p:cNvPr id="5" name="Text 3"/>
          <p:cNvSpPr txBox="1"/>
          <p:nvPr/>
        </p:nvSpPr>
        <p:spPr>
          <a:xfrm>
            <a:off x="457200" y="4773168"/>
            <a:ext cx="4572000" cy="228600"/>
          </a:xfrm>
          <a:prstGeom prst="rect">
            <a:avLst/>
          </a:prstGeom>
          <a:noFill/>
          <a:ln/>
        </p:spPr>
        <p:txBody>
          <a:bodyPr wrap="square" lIns="0" tIns="0" rIns="0" bIns="0" rtlCol="0" anchor="ctr"/>
          <a:lstStyle/>
          <a:p>
            <a:pPr indent="0" marL="0">
              <a:buNone/>
            </a:pPr>
            <a:r>
              <a:rPr lang="en-US" sz="900" dirty="0">
                <a:solidFill>
                  <a:srgbClr val="5B6B7F"/>
                </a:solidFill>
                <a:latin typeface="Sarabun" pitchFamily="34" charset="0"/>
                <a:ea typeface="Sarabun" pitchFamily="34" charset="-122"/>
                <a:cs typeface="Sarabun" pitchFamily="34" charset="-120"/>
              </a:rPr>
              <a:t>Group 3  ·  TSR Market Manipulation Case</a:t>
            </a:r>
            <a:endParaRPr lang="en-US" sz="900" dirty="0"/>
          </a:p>
        </p:txBody>
      </p:sp>
      <p:sp>
        <p:nvSpPr>
          <p:cNvPr id="6" name="Text 4"/>
          <p:cNvSpPr txBox="1"/>
          <p:nvPr/>
        </p:nvSpPr>
        <p:spPr>
          <a:xfrm>
            <a:off x="7772400" y="4773168"/>
            <a:ext cx="914400" cy="228600"/>
          </a:xfrm>
          <a:prstGeom prst="rect">
            <a:avLst/>
          </a:prstGeom>
          <a:noFill/>
          <a:ln/>
        </p:spPr>
        <p:txBody>
          <a:bodyPr wrap="square" lIns="0" tIns="0" rIns="0" bIns="0" rtlCol="0" anchor="ctr"/>
          <a:lstStyle/>
          <a:p>
            <a:pPr algn="r" indent="0" marL="0">
              <a:buNone/>
            </a:pPr>
            <a:r>
              <a:rPr lang="en-US" sz="900" dirty="0">
                <a:solidFill>
                  <a:srgbClr val="5B6B7F"/>
                </a:solidFill>
                <a:latin typeface="Sarabun" pitchFamily="34" charset="0"/>
                <a:ea typeface="Sarabun" pitchFamily="34" charset="-122"/>
                <a:cs typeface="Sarabun" pitchFamily="34" charset="-120"/>
              </a:rPr>
              <a:t>10 / 20</a:t>
            </a:r>
            <a:endParaRPr lang="en-US" sz="900" dirty="0"/>
          </a:p>
        </p:txBody>
      </p:sp>
      <p:sp>
        <p:nvSpPr>
          <p:cNvPr id="8" name="Shape 5"/>
          <p:cNvSpPr/>
          <p:nvPr/>
        </p:nvSpPr>
        <p:spPr>
          <a:xfrm>
            <a:off x="457200" y="1298448"/>
            <a:ext cx="8229600" cy="457200"/>
          </a:xfrm>
          <a:prstGeom prst="roundRect">
            <a:avLst>
              <a:gd name="adj" fmla="val 16000"/>
            </a:avLst>
          </a:prstGeom>
          <a:solidFill>
            <a:srgbClr val="E9EEF5"/>
          </a:solidFill>
          <a:ln w="9525">
            <a:solidFill>
              <a:srgbClr val="E9EEF5"/>
            </a:solidFill>
            <a:prstDash val="solid"/>
          </a:ln>
        </p:spPr>
      </p:sp>
      <p:sp>
        <p:nvSpPr>
          <p:cNvPr id="9" name="Text 6"/>
          <p:cNvSpPr txBox="1"/>
          <p:nvPr/>
        </p:nvSpPr>
        <p:spPr>
          <a:xfrm>
            <a:off x="640080" y="1298448"/>
            <a:ext cx="7863840" cy="457200"/>
          </a:xfrm>
          <a:prstGeom prst="rect">
            <a:avLst/>
          </a:prstGeom>
          <a:noFill/>
          <a:ln/>
        </p:spPr>
        <p:txBody>
          <a:bodyPr wrap="square" lIns="0" tIns="0" rIns="0" bIns="0" rtlCol="0" anchor="ctr"/>
          <a:lstStyle/>
          <a:p>
            <a:pPr indent="0" marL="0">
              <a:buNone/>
            </a:pPr>
            <a:r>
              <a:rPr lang="en-US" sz="1300" b="1" dirty="0">
                <a:solidFill>
                  <a:srgbClr val="0F1B2D"/>
                </a:solidFill>
                <a:latin typeface="Sarabun" pitchFamily="34" charset="0"/>
                <a:ea typeface="Sarabun" pitchFamily="34" charset="-122"/>
                <a:cs typeface="Sarabun" pitchFamily="34" charset="-120"/>
              </a:rPr>
              <a:t>Scope, s.238: </a:t>
            </a:r>
            <a:pPr indent="0" marL="0">
              <a:buNone/>
            </a:pPr>
            <a:r>
              <a:rPr lang="en-US" sz="1300" dirty="0">
                <a:solidFill>
                  <a:srgbClr val="1B2433"/>
                </a:solidFill>
                <a:latin typeface="Sarabun" pitchFamily="34" charset="0"/>
                <a:ea typeface="Sarabun" pitchFamily="34" charset="-122"/>
                <a:cs typeface="Sarabun" pitchFamily="34" charset="-120"/>
              </a:rPr>
              <a:t>the Division applies to listed securities and securities traded in the OTC centre. TSR is listed on the SET, so it is in scope.</a:t>
            </a:r>
            <a:endParaRPr lang="en-US" sz="1300" dirty="0"/>
          </a:p>
        </p:txBody>
      </p:sp>
      <p:sp>
        <p:nvSpPr>
          <p:cNvPr id="10" name="Shape 7"/>
          <p:cNvSpPr/>
          <p:nvPr/>
        </p:nvSpPr>
        <p:spPr>
          <a:xfrm>
            <a:off x="457200" y="1920240"/>
            <a:ext cx="4023360" cy="2606040"/>
          </a:xfrm>
          <a:prstGeom prst="roundRect">
            <a:avLst>
              <a:gd name="adj" fmla="val 2807"/>
            </a:avLst>
          </a:prstGeom>
          <a:solidFill>
            <a:srgbClr val="FFFFFF"/>
          </a:solidFill>
          <a:ln w="9525">
            <a:solidFill>
              <a:srgbClr val="FFFFFF"/>
            </a:solidFill>
            <a:prstDash val="solid"/>
          </a:ln>
          <a:effectLst>
            <a:outerShdw sx="100000" sy="100000" kx="0" ky="0" algn="bl" rotWithShape="0" blurRad="76200" dist="25400" dir="5400000">
              <a:srgbClr val="0F1B2D">
                <a:alpha val="10000"/>
              </a:srgbClr>
            </a:outerShdw>
          </a:effectLst>
        </p:spPr>
      </p:sp>
      <p:sp>
        <p:nvSpPr>
          <p:cNvPr id="11" name="Text 8"/>
          <p:cNvSpPr txBox="1"/>
          <p:nvPr/>
        </p:nvSpPr>
        <p:spPr>
          <a:xfrm>
            <a:off x="685800" y="2057400"/>
            <a:ext cx="3566160" cy="292608"/>
          </a:xfrm>
          <a:prstGeom prst="rect">
            <a:avLst/>
          </a:prstGeom>
          <a:noFill/>
          <a:ln/>
        </p:spPr>
        <p:txBody>
          <a:bodyPr wrap="square" lIns="0" tIns="0" rIns="0" bIns="0" rtlCol="0" anchor="ctr"/>
          <a:lstStyle/>
          <a:p>
            <a:pPr indent="0" marL="0">
              <a:buNone/>
            </a:pPr>
            <a:r>
              <a:rPr lang="en-US" sz="1400" b="1" dirty="0">
                <a:solidFill>
                  <a:srgbClr val="E4572E"/>
                </a:solidFill>
                <a:latin typeface="Montserrat" pitchFamily="34" charset="0"/>
                <a:ea typeface="Montserrat" pitchFamily="34" charset="-122"/>
                <a:cs typeface="Montserrat" pitchFamily="34" charset="-120"/>
              </a:rPr>
              <a:t>Section 244/3 (1)</a:t>
            </a:r>
            <a:endParaRPr lang="en-US" sz="1400" dirty="0"/>
          </a:p>
        </p:txBody>
      </p:sp>
      <p:sp>
        <p:nvSpPr>
          <p:cNvPr id="12" name="Text 9"/>
          <p:cNvSpPr txBox="1"/>
          <p:nvPr/>
        </p:nvSpPr>
        <p:spPr>
          <a:xfrm>
            <a:off x="685800" y="2350008"/>
            <a:ext cx="3566160" cy="274320"/>
          </a:xfrm>
          <a:prstGeom prst="rect">
            <a:avLst/>
          </a:prstGeom>
          <a:noFill/>
          <a:ln/>
        </p:spPr>
        <p:txBody>
          <a:bodyPr wrap="square" lIns="0" tIns="0" rIns="0" bIns="0" rtlCol="0" anchor="ctr"/>
          <a:lstStyle/>
          <a:p>
            <a:pPr indent="0" marL="0">
              <a:buNone/>
            </a:pPr>
            <a:r>
              <a:rPr lang="en-US" sz="1200" b="1" dirty="0">
                <a:solidFill>
                  <a:srgbClr val="0F1B2D"/>
                </a:solidFill>
                <a:latin typeface="Montserrat" pitchFamily="34" charset="0"/>
                <a:ea typeface="Montserrat" pitchFamily="34" charset="-122"/>
                <a:cs typeface="Montserrat" pitchFamily="34" charset="-120"/>
              </a:rPr>
              <a:t>Misleading others</a:t>
            </a:r>
            <a:endParaRPr lang="en-US" sz="1200" dirty="0"/>
          </a:p>
        </p:txBody>
      </p:sp>
      <p:sp>
        <p:nvSpPr>
          <p:cNvPr id="13" name="Text 10"/>
          <p:cNvSpPr txBox="1"/>
          <p:nvPr/>
        </p:nvSpPr>
        <p:spPr>
          <a:xfrm>
            <a:off x="685800" y="2697480"/>
            <a:ext cx="3566160" cy="1280160"/>
          </a:xfrm>
          <a:prstGeom prst="rect">
            <a:avLst/>
          </a:prstGeom>
          <a:noFill/>
          <a:ln/>
        </p:spPr>
        <p:txBody>
          <a:bodyPr wrap="square" lIns="0" tIns="0" rIns="0" bIns="0" rtlCol="0" anchor="t"/>
          <a:lstStyle/>
          <a:p>
            <a:pPr indent="0" marL="0">
              <a:buNone/>
            </a:pPr>
            <a:r>
              <a:rPr lang="en-US" sz="1300" i="1" dirty="0">
                <a:solidFill>
                  <a:srgbClr val="1B2433"/>
                </a:solidFill>
                <a:latin typeface="Sarabun" pitchFamily="34" charset="0"/>
                <a:ea typeface="Sarabun" pitchFamily="34" charset="-122"/>
                <a:cs typeface="Sarabun" pitchFamily="34" charset="-120"/>
              </a:rPr>
              <a:t>“placing a trading order or trading securities in such a way that misleads other persons regarding the price or volume of the securities trading”</a:t>
            </a:r>
            <a:endParaRPr lang="en-US" sz="1300" dirty="0"/>
          </a:p>
        </p:txBody>
      </p:sp>
      <p:sp>
        <p:nvSpPr>
          <p:cNvPr id="14" name="Shape 11"/>
          <p:cNvSpPr/>
          <p:nvPr/>
        </p:nvSpPr>
        <p:spPr>
          <a:xfrm>
            <a:off x="685800" y="4069080"/>
            <a:ext cx="1920240" cy="292608"/>
          </a:xfrm>
          <a:prstGeom prst="roundRect">
            <a:avLst>
              <a:gd name="adj" fmla="val 50000"/>
            </a:avLst>
          </a:prstGeom>
          <a:solidFill>
            <a:srgbClr val="0F1B2D"/>
          </a:solidFill>
          <a:ln w="12700">
            <a:solidFill>
              <a:srgbClr val="0F1B2D"/>
            </a:solidFill>
            <a:prstDash val="solid"/>
          </a:ln>
        </p:spPr>
      </p:sp>
      <p:sp>
        <p:nvSpPr>
          <p:cNvPr id="15" name="Text 12"/>
          <p:cNvSpPr txBox="1"/>
          <p:nvPr/>
        </p:nvSpPr>
        <p:spPr>
          <a:xfrm>
            <a:off x="685800" y="4069080"/>
            <a:ext cx="192024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Montserrat" pitchFamily="34" charset="0"/>
                <a:ea typeface="Montserrat" pitchFamily="34" charset="-122"/>
                <a:cs typeface="Montserrat" pitchFamily="34" charset="-120"/>
              </a:rPr>
              <a:t>Penalty: s.296</a:t>
            </a:r>
            <a:endParaRPr lang="en-US" sz="1000" dirty="0"/>
          </a:p>
        </p:txBody>
      </p:sp>
      <p:sp>
        <p:nvSpPr>
          <p:cNvPr id="16" name="Shape 13"/>
          <p:cNvSpPr/>
          <p:nvPr/>
        </p:nvSpPr>
        <p:spPr>
          <a:xfrm>
            <a:off x="4663440" y="1920240"/>
            <a:ext cx="4023360" cy="2606040"/>
          </a:xfrm>
          <a:prstGeom prst="roundRect">
            <a:avLst>
              <a:gd name="adj" fmla="val 2807"/>
            </a:avLst>
          </a:prstGeom>
          <a:solidFill>
            <a:srgbClr val="FFFFFF"/>
          </a:solidFill>
          <a:ln w="9525">
            <a:solidFill>
              <a:srgbClr val="FFFFFF"/>
            </a:solidFill>
            <a:prstDash val="solid"/>
          </a:ln>
          <a:effectLst>
            <a:outerShdw sx="100000" sy="100000" kx="0" ky="0" algn="bl" rotWithShape="0" blurRad="76200" dist="25400" dir="5400000">
              <a:srgbClr val="0F1B2D">
                <a:alpha val="10000"/>
              </a:srgbClr>
            </a:outerShdw>
          </a:effectLst>
        </p:spPr>
      </p:sp>
      <p:sp>
        <p:nvSpPr>
          <p:cNvPr id="17" name="Text 14"/>
          <p:cNvSpPr txBox="1"/>
          <p:nvPr/>
        </p:nvSpPr>
        <p:spPr>
          <a:xfrm>
            <a:off x="4892040" y="2057400"/>
            <a:ext cx="3566160" cy="292608"/>
          </a:xfrm>
          <a:prstGeom prst="rect">
            <a:avLst/>
          </a:prstGeom>
          <a:noFill/>
          <a:ln/>
        </p:spPr>
        <p:txBody>
          <a:bodyPr wrap="square" lIns="0" tIns="0" rIns="0" bIns="0" rtlCol="0" anchor="ctr"/>
          <a:lstStyle/>
          <a:p>
            <a:pPr indent="0" marL="0">
              <a:buNone/>
            </a:pPr>
            <a:r>
              <a:rPr lang="en-US" sz="1400" b="1" dirty="0">
                <a:solidFill>
                  <a:srgbClr val="E4572E"/>
                </a:solidFill>
                <a:latin typeface="Montserrat" pitchFamily="34" charset="0"/>
                <a:ea typeface="Montserrat" pitchFamily="34" charset="-122"/>
                <a:cs typeface="Montserrat" pitchFamily="34" charset="-120"/>
              </a:rPr>
              <a:t>Section 244/3 (2)</a:t>
            </a:r>
            <a:endParaRPr lang="en-US" sz="1400" dirty="0"/>
          </a:p>
        </p:txBody>
      </p:sp>
      <p:sp>
        <p:nvSpPr>
          <p:cNvPr id="18" name="Text 15"/>
          <p:cNvSpPr txBox="1"/>
          <p:nvPr/>
        </p:nvSpPr>
        <p:spPr>
          <a:xfrm>
            <a:off x="4892040" y="2350008"/>
            <a:ext cx="3566160" cy="274320"/>
          </a:xfrm>
          <a:prstGeom prst="rect">
            <a:avLst/>
          </a:prstGeom>
          <a:noFill/>
          <a:ln/>
        </p:spPr>
        <p:txBody>
          <a:bodyPr wrap="square" lIns="0" tIns="0" rIns="0" bIns="0" rtlCol="0" anchor="ctr"/>
          <a:lstStyle/>
          <a:p>
            <a:pPr indent="0" marL="0">
              <a:buNone/>
            </a:pPr>
            <a:r>
              <a:rPr lang="en-US" sz="1200" b="1" dirty="0">
                <a:solidFill>
                  <a:srgbClr val="0F1B2D"/>
                </a:solidFill>
                <a:latin typeface="Montserrat" pitchFamily="34" charset="0"/>
                <a:ea typeface="Montserrat" pitchFamily="34" charset="-122"/>
                <a:cs typeface="Montserrat" pitchFamily="34" charset="-120"/>
              </a:rPr>
              <a:t>Continuous trading with intent</a:t>
            </a:r>
            <a:endParaRPr lang="en-US" sz="1200" dirty="0"/>
          </a:p>
        </p:txBody>
      </p:sp>
      <p:sp>
        <p:nvSpPr>
          <p:cNvPr id="19" name="Text 16"/>
          <p:cNvSpPr txBox="1"/>
          <p:nvPr/>
        </p:nvSpPr>
        <p:spPr>
          <a:xfrm>
            <a:off x="4892040" y="2697480"/>
            <a:ext cx="3566160" cy="1280160"/>
          </a:xfrm>
          <a:prstGeom prst="rect">
            <a:avLst/>
          </a:prstGeom>
          <a:noFill/>
          <a:ln/>
        </p:spPr>
        <p:txBody>
          <a:bodyPr wrap="square" lIns="0" tIns="0" rIns="0" bIns="0" rtlCol="0" anchor="t"/>
          <a:lstStyle/>
          <a:p>
            <a:pPr indent="0" marL="0">
              <a:buNone/>
            </a:pPr>
            <a:r>
              <a:rPr lang="en-US" sz="1300" i="1" dirty="0">
                <a:solidFill>
                  <a:srgbClr val="1B2433"/>
                </a:solidFill>
                <a:latin typeface="Sarabun" pitchFamily="34" charset="0"/>
                <a:ea typeface="Sarabun" pitchFamily="34" charset="-122"/>
                <a:cs typeface="Sarabun" pitchFamily="34" charset="-120"/>
              </a:rPr>
              <a:t>“placing a securities trading order or trading securities on a continued basis with an intent to cause the price or the volume of such securities trading to be inconsistent with the normal market condition”</a:t>
            </a:r>
            <a:endParaRPr lang="en-US" sz="1300" dirty="0"/>
          </a:p>
        </p:txBody>
      </p:sp>
      <p:sp>
        <p:nvSpPr>
          <p:cNvPr id="20" name="Shape 17"/>
          <p:cNvSpPr/>
          <p:nvPr/>
        </p:nvSpPr>
        <p:spPr>
          <a:xfrm>
            <a:off x="4892040" y="4069080"/>
            <a:ext cx="1920240" cy="292608"/>
          </a:xfrm>
          <a:prstGeom prst="roundRect">
            <a:avLst>
              <a:gd name="adj" fmla="val 50000"/>
            </a:avLst>
          </a:prstGeom>
          <a:solidFill>
            <a:srgbClr val="0F1B2D"/>
          </a:solidFill>
          <a:ln w="12700">
            <a:solidFill>
              <a:srgbClr val="0F1B2D"/>
            </a:solidFill>
            <a:prstDash val="solid"/>
          </a:ln>
        </p:spPr>
      </p:sp>
      <p:sp>
        <p:nvSpPr>
          <p:cNvPr id="21" name="Text 18"/>
          <p:cNvSpPr txBox="1"/>
          <p:nvPr/>
        </p:nvSpPr>
        <p:spPr>
          <a:xfrm>
            <a:off x="4892040" y="4069080"/>
            <a:ext cx="192024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Montserrat" pitchFamily="34" charset="0"/>
                <a:ea typeface="Montserrat" pitchFamily="34" charset="-122"/>
                <a:cs typeface="Montserrat" pitchFamily="34" charset="-120"/>
              </a:rPr>
              <a:t>Penalty: s.296/1 (heavier)</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457200" y="310896"/>
            <a:ext cx="818388" cy="246888"/>
          </a:xfrm>
          <a:prstGeom prst="roundRect">
            <a:avLst>
              <a:gd name="adj" fmla="val 50000"/>
            </a:avLst>
          </a:prstGeom>
          <a:solidFill>
            <a:srgbClr val="E4572E"/>
          </a:solidFill>
          <a:ln w="12700">
            <a:solidFill>
              <a:srgbClr val="E4572E"/>
            </a:solidFill>
            <a:prstDash val="solid"/>
          </a:ln>
        </p:spPr>
      </p:sp>
      <p:sp>
        <p:nvSpPr>
          <p:cNvPr id="3" name="Text 1"/>
          <p:cNvSpPr txBox="1"/>
          <p:nvPr/>
        </p:nvSpPr>
        <p:spPr>
          <a:xfrm>
            <a:off x="457200" y="310896"/>
            <a:ext cx="818388" cy="24688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Montserrat" pitchFamily="34" charset="0"/>
                <a:ea typeface="Montserrat" pitchFamily="34" charset="-122"/>
                <a:cs typeface="Montserrat" pitchFamily="34" charset="-120"/>
              </a:rPr>
              <a:t>THE LAW</a:t>
            </a:r>
            <a:endParaRPr lang="en-US" sz="850" dirty="0"/>
          </a:p>
        </p:txBody>
      </p:sp>
      <p:sp>
        <p:nvSpPr>
          <p:cNvPr id="4" name="Text 2"/>
          <p:cNvSpPr txBox="1"/>
          <p:nvPr/>
        </p:nvSpPr>
        <p:spPr>
          <a:xfrm>
            <a:off x="457200" y="640080"/>
            <a:ext cx="8229600" cy="502920"/>
          </a:xfrm>
          <a:prstGeom prst="rect">
            <a:avLst/>
          </a:prstGeom>
          <a:noFill/>
          <a:ln/>
        </p:spPr>
        <p:txBody>
          <a:bodyPr wrap="square" lIns="0" tIns="0" rIns="0" bIns="0" rtlCol="0" anchor="ctr"/>
          <a:lstStyle/>
          <a:p>
            <a:pPr indent="0" marL="0">
              <a:buNone/>
            </a:pPr>
            <a:r>
              <a:rPr lang="en-US" sz="2600" b="1" dirty="0">
                <a:solidFill>
                  <a:srgbClr val="0F1B2D"/>
                </a:solidFill>
                <a:latin typeface="Montserrat" pitchFamily="34" charset="0"/>
                <a:ea typeface="Montserrat" pitchFamily="34" charset="-122"/>
                <a:cs typeface="Montserrat" pitchFamily="34" charset="-120"/>
              </a:rPr>
              <a:t>Section 244/5: Legal Presumptions</a:t>
            </a:r>
            <a:endParaRPr lang="en-US" sz="2600" dirty="0"/>
          </a:p>
        </p:txBody>
      </p:sp>
      <p:sp>
        <p:nvSpPr>
          <p:cNvPr id="5" name="Text 3"/>
          <p:cNvSpPr txBox="1"/>
          <p:nvPr/>
        </p:nvSpPr>
        <p:spPr>
          <a:xfrm>
            <a:off x="457200" y="4773168"/>
            <a:ext cx="4572000" cy="228600"/>
          </a:xfrm>
          <a:prstGeom prst="rect">
            <a:avLst/>
          </a:prstGeom>
          <a:noFill/>
          <a:ln/>
        </p:spPr>
        <p:txBody>
          <a:bodyPr wrap="square" lIns="0" tIns="0" rIns="0" bIns="0" rtlCol="0" anchor="ctr"/>
          <a:lstStyle/>
          <a:p>
            <a:pPr indent="0" marL="0">
              <a:buNone/>
            </a:pPr>
            <a:r>
              <a:rPr lang="en-US" sz="900" dirty="0">
                <a:solidFill>
                  <a:srgbClr val="5B6B7F"/>
                </a:solidFill>
                <a:latin typeface="Sarabun" pitchFamily="34" charset="0"/>
                <a:ea typeface="Sarabun" pitchFamily="34" charset="-122"/>
                <a:cs typeface="Sarabun" pitchFamily="34" charset="-120"/>
              </a:rPr>
              <a:t>Group 3  ·  TSR Market Manipulation Case</a:t>
            </a:r>
            <a:endParaRPr lang="en-US" sz="900" dirty="0"/>
          </a:p>
        </p:txBody>
      </p:sp>
      <p:sp>
        <p:nvSpPr>
          <p:cNvPr id="6" name="Text 4"/>
          <p:cNvSpPr txBox="1"/>
          <p:nvPr/>
        </p:nvSpPr>
        <p:spPr>
          <a:xfrm>
            <a:off x="7772400" y="4773168"/>
            <a:ext cx="914400" cy="228600"/>
          </a:xfrm>
          <a:prstGeom prst="rect">
            <a:avLst/>
          </a:prstGeom>
          <a:noFill/>
          <a:ln/>
        </p:spPr>
        <p:txBody>
          <a:bodyPr wrap="square" lIns="0" tIns="0" rIns="0" bIns="0" rtlCol="0" anchor="ctr"/>
          <a:lstStyle/>
          <a:p>
            <a:pPr algn="r" indent="0" marL="0">
              <a:buNone/>
            </a:pPr>
            <a:r>
              <a:rPr lang="en-US" sz="900" dirty="0">
                <a:solidFill>
                  <a:srgbClr val="5B6B7F"/>
                </a:solidFill>
                <a:latin typeface="Sarabun" pitchFamily="34" charset="0"/>
                <a:ea typeface="Sarabun" pitchFamily="34" charset="-122"/>
                <a:cs typeface="Sarabun" pitchFamily="34" charset="-120"/>
              </a:rPr>
              <a:t>11 / 20</a:t>
            </a:r>
            <a:endParaRPr lang="en-US" sz="900" dirty="0"/>
          </a:p>
        </p:txBody>
      </p:sp>
      <p:sp>
        <p:nvSpPr>
          <p:cNvPr id="8" name="Shape 5"/>
          <p:cNvSpPr/>
          <p:nvPr/>
        </p:nvSpPr>
        <p:spPr>
          <a:xfrm>
            <a:off x="457200" y="1325880"/>
            <a:ext cx="5120640" cy="548640"/>
          </a:xfrm>
          <a:prstGeom prst="roundRect">
            <a:avLst>
              <a:gd name="adj" fmla="val 13333"/>
            </a:avLst>
          </a:prstGeom>
          <a:solidFill>
            <a:srgbClr val="FFFFFF"/>
          </a:solidFill>
          <a:ln w="9525">
            <a:solidFill>
              <a:srgbClr val="D5DCE6"/>
            </a:solidFill>
            <a:prstDash val="solid"/>
          </a:ln>
        </p:spPr>
      </p:sp>
      <p:sp>
        <p:nvSpPr>
          <p:cNvPr id="9" name="Shape 6"/>
          <p:cNvSpPr/>
          <p:nvPr/>
        </p:nvSpPr>
        <p:spPr>
          <a:xfrm>
            <a:off x="594360" y="1417320"/>
            <a:ext cx="365760" cy="365760"/>
          </a:xfrm>
          <a:prstGeom prst="ellipse">
            <a:avLst/>
          </a:prstGeom>
          <a:solidFill>
            <a:srgbClr val="1F3A5F"/>
          </a:solidFill>
          <a:ln w="12700">
            <a:solidFill>
              <a:srgbClr val="1F3A5F"/>
            </a:solidFill>
            <a:prstDash val="solid"/>
          </a:ln>
        </p:spPr>
      </p:sp>
      <p:sp>
        <p:nvSpPr>
          <p:cNvPr id="10" name="Text 7"/>
          <p:cNvSpPr txBox="1"/>
          <p:nvPr/>
        </p:nvSpPr>
        <p:spPr>
          <a:xfrm>
            <a:off x="594360" y="141732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1</a:t>
            </a:r>
            <a:endParaRPr lang="en-US" sz="1200" dirty="0"/>
          </a:p>
        </p:txBody>
      </p:sp>
      <p:sp>
        <p:nvSpPr>
          <p:cNvPr id="11" name="Text 8"/>
          <p:cNvSpPr txBox="1"/>
          <p:nvPr/>
        </p:nvSpPr>
        <p:spPr>
          <a:xfrm>
            <a:off x="1097280" y="1325880"/>
            <a:ext cx="4343400" cy="548640"/>
          </a:xfrm>
          <a:prstGeom prst="rect">
            <a:avLst/>
          </a:prstGeom>
          <a:noFill/>
          <a:ln/>
        </p:spPr>
        <p:txBody>
          <a:bodyPr wrap="square" lIns="0" tIns="0" rIns="0" bIns="0" rtlCol="0" anchor="ctr"/>
          <a:lstStyle/>
          <a:p>
            <a:pPr indent="0" marL="0">
              <a:buNone/>
            </a:pPr>
            <a:r>
              <a:rPr lang="en-US" sz="1300" dirty="0">
                <a:solidFill>
                  <a:srgbClr val="1B2433"/>
                </a:solidFill>
                <a:latin typeface="Sarabun" pitchFamily="34" charset="0"/>
                <a:ea typeface="Sarabun" pitchFamily="34" charset="-122"/>
                <a:cs typeface="Sarabun" pitchFamily="34" charset="-120"/>
              </a:rPr>
              <a:t>Trades with no change in beneficial ownership</a:t>
            </a:r>
            <a:endParaRPr lang="en-US" sz="1300" dirty="0"/>
          </a:p>
        </p:txBody>
      </p:sp>
      <p:sp>
        <p:nvSpPr>
          <p:cNvPr id="12" name="Shape 9"/>
          <p:cNvSpPr/>
          <p:nvPr/>
        </p:nvSpPr>
        <p:spPr>
          <a:xfrm>
            <a:off x="457200" y="1965960"/>
            <a:ext cx="5120640" cy="548640"/>
          </a:xfrm>
          <a:prstGeom prst="roundRect">
            <a:avLst>
              <a:gd name="adj" fmla="val 13333"/>
            </a:avLst>
          </a:prstGeom>
          <a:solidFill>
            <a:srgbClr val="FFFFFF"/>
          </a:solidFill>
          <a:ln w="9525">
            <a:solidFill>
              <a:srgbClr val="D5DCE6"/>
            </a:solidFill>
            <a:prstDash val="solid"/>
          </a:ln>
        </p:spPr>
      </p:sp>
      <p:sp>
        <p:nvSpPr>
          <p:cNvPr id="13" name="Shape 10"/>
          <p:cNvSpPr/>
          <p:nvPr/>
        </p:nvSpPr>
        <p:spPr>
          <a:xfrm>
            <a:off x="594360" y="2057400"/>
            <a:ext cx="365760" cy="365760"/>
          </a:xfrm>
          <a:prstGeom prst="ellipse">
            <a:avLst/>
          </a:prstGeom>
          <a:solidFill>
            <a:srgbClr val="1F3A5F"/>
          </a:solidFill>
          <a:ln w="12700">
            <a:solidFill>
              <a:srgbClr val="1F3A5F"/>
            </a:solidFill>
            <a:prstDash val="solid"/>
          </a:ln>
        </p:spPr>
      </p:sp>
      <p:sp>
        <p:nvSpPr>
          <p:cNvPr id="14" name="Text 11"/>
          <p:cNvSpPr txBox="1"/>
          <p:nvPr/>
        </p:nvSpPr>
        <p:spPr>
          <a:xfrm>
            <a:off x="594360" y="20574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2</a:t>
            </a:r>
            <a:endParaRPr lang="en-US" sz="1200" dirty="0"/>
          </a:p>
        </p:txBody>
      </p:sp>
      <p:sp>
        <p:nvSpPr>
          <p:cNvPr id="15" name="Text 12"/>
          <p:cNvSpPr txBox="1"/>
          <p:nvPr/>
        </p:nvSpPr>
        <p:spPr>
          <a:xfrm>
            <a:off x="1097280" y="1965960"/>
            <a:ext cx="4343400" cy="548640"/>
          </a:xfrm>
          <a:prstGeom prst="rect">
            <a:avLst/>
          </a:prstGeom>
          <a:noFill/>
          <a:ln/>
        </p:spPr>
        <p:txBody>
          <a:bodyPr wrap="square" lIns="0" tIns="0" rIns="0" bIns="0" rtlCol="0" anchor="ctr"/>
          <a:lstStyle/>
          <a:p>
            <a:pPr indent="0" marL="0">
              <a:buNone/>
            </a:pPr>
            <a:r>
              <a:rPr lang="en-US" sz="1300" dirty="0">
                <a:solidFill>
                  <a:srgbClr val="1B2433"/>
                </a:solidFill>
                <a:latin typeface="Sarabun" pitchFamily="34" charset="0"/>
                <a:ea typeface="Sarabun" pitchFamily="34" charset="-122"/>
                <a:cs typeface="Sarabun" pitchFamily="34" charset="-120"/>
              </a:rPr>
              <a:t>Buying while you or an associate sell a similar amount, price and time</a:t>
            </a:r>
            <a:endParaRPr lang="en-US" sz="1300" dirty="0"/>
          </a:p>
        </p:txBody>
      </p:sp>
      <p:sp>
        <p:nvSpPr>
          <p:cNvPr id="16" name="Shape 13"/>
          <p:cNvSpPr/>
          <p:nvPr/>
        </p:nvSpPr>
        <p:spPr>
          <a:xfrm>
            <a:off x="457200" y="2606040"/>
            <a:ext cx="5120640" cy="548640"/>
          </a:xfrm>
          <a:prstGeom prst="roundRect">
            <a:avLst>
              <a:gd name="adj" fmla="val 13333"/>
            </a:avLst>
          </a:prstGeom>
          <a:solidFill>
            <a:srgbClr val="FFFFFF"/>
          </a:solidFill>
          <a:ln w="9525">
            <a:solidFill>
              <a:srgbClr val="D5DCE6"/>
            </a:solidFill>
            <a:prstDash val="solid"/>
          </a:ln>
        </p:spPr>
      </p:sp>
      <p:sp>
        <p:nvSpPr>
          <p:cNvPr id="17" name="Shape 14"/>
          <p:cNvSpPr/>
          <p:nvPr/>
        </p:nvSpPr>
        <p:spPr>
          <a:xfrm>
            <a:off x="594360" y="2697480"/>
            <a:ext cx="365760" cy="365760"/>
          </a:xfrm>
          <a:prstGeom prst="ellipse">
            <a:avLst/>
          </a:prstGeom>
          <a:solidFill>
            <a:srgbClr val="1F3A5F"/>
          </a:solidFill>
          <a:ln w="12700">
            <a:solidFill>
              <a:srgbClr val="1F3A5F"/>
            </a:solidFill>
            <a:prstDash val="solid"/>
          </a:ln>
        </p:spPr>
      </p:sp>
      <p:sp>
        <p:nvSpPr>
          <p:cNvPr id="18" name="Text 15"/>
          <p:cNvSpPr txBox="1"/>
          <p:nvPr/>
        </p:nvSpPr>
        <p:spPr>
          <a:xfrm>
            <a:off x="594360" y="269748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3</a:t>
            </a:r>
            <a:endParaRPr lang="en-US" sz="1200" dirty="0"/>
          </a:p>
        </p:txBody>
      </p:sp>
      <p:sp>
        <p:nvSpPr>
          <p:cNvPr id="19" name="Text 16"/>
          <p:cNvSpPr txBox="1"/>
          <p:nvPr/>
        </p:nvSpPr>
        <p:spPr>
          <a:xfrm>
            <a:off x="1097280" y="2606040"/>
            <a:ext cx="4343400" cy="548640"/>
          </a:xfrm>
          <a:prstGeom prst="rect">
            <a:avLst/>
          </a:prstGeom>
          <a:noFill/>
          <a:ln/>
        </p:spPr>
        <p:txBody>
          <a:bodyPr wrap="square" lIns="0" tIns="0" rIns="0" bIns="0" rtlCol="0" anchor="ctr"/>
          <a:lstStyle/>
          <a:p>
            <a:pPr indent="0" marL="0">
              <a:buNone/>
            </a:pPr>
            <a:r>
              <a:rPr lang="en-US" sz="1300" dirty="0">
                <a:solidFill>
                  <a:srgbClr val="1B2433"/>
                </a:solidFill>
                <a:latin typeface="Sarabun" pitchFamily="34" charset="0"/>
                <a:ea typeface="Sarabun" pitchFamily="34" charset="-122"/>
                <a:cs typeface="Sarabun" pitchFamily="34" charset="-120"/>
              </a:rPr>
              <a:t>Selling while you or an associate buy a similar amount, price and time</a:t>
            </a:r>
            <a:endParaRPr lang="en-US" sz="1300" dirty="0"/>
          </a:p>
        </p:txBody>
      </p:sp>
      <p:sp>
        <p:nvSpPr>
          <p:cNvPr id="20" name="Shape 17"/>
          <p:cNvSpPr/>
          <p:nvPr/>
        </p:nvSpPr>
        <p:spPr>
          <a:xfrm>
            <a:off x="457200" y="3246120"/>
            <a:ext cx="5120640" cy="548640"/>
          </a:xfrm>
          <a:prstGeom prst="roundRect">
            <a:avLst>
              <a:gd name="adj" fmla="val 13333"/>
            </a:avLst>
          </a:prstGeom>
          <a:solidFill>
            <a:srgbClr val="FCE6DF"/>
          </a:solidFill>
          <a:ln w="9525">
            <a:solidFill>
              <a:srgbClr val="E4572E"/>
            </a:solidFill>
            <a:prstDash val="solid"/>
          </a:ln>
        </p:spPr>
      </p:sp>
      <p:sp>
        <p:nvSpPr>
          <p:cNvPr id="21" name="Shape 18"/>
          <p:cNvSpPr/>
          <p:nvPr/>
        </p:nvSpPr>
        <p:spPr>
          <a:xfrm>
            <a:off x="594360" y="3337560"/>
            <a:ext cx="365760" cy="365760"/>
          </a:xfrm>
          <a:prstGeom prst="ellipse">
            <a:avLst/>
          </a:prstGeom>
          <a:solidFill>
            <a:srgbClr val="E4572E"/>
          </a:solidFill>
          <a:ln w="12700">
            <a:solidFill>
              <a:srgbClr val="E4572E"/>
            </a:solidFill>
            <a:prstDash val="solid"/>
          </a:ln>
        </p:spPr>
      </p:sp>
      <p:sp>
        <p:nvSpPr>
          <p:cNvPr id="22" name="Text 19"/>
          <p:cNvSpPr txBox="1"/>
          <p:nvPr/>
        </p:nvSpPr>
        <p:spPr>
          <a:xfrm>
            <a:off x="594360" y="333756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4</a:t>
            </a:r>
            <a:endParaRPr lang="en-US" sz="1200" dirty="0"/>
          </a:p>
        </p:txBody>
      </p:sp>
      <p:sp>
        <p:nvSpPr>
          <p:cNvPr id="23" name="Text 20"/>
          <p:cNvSpPr txBox="1"/>
          <p:nvPr/>
        </p:nvSpPr>
        <p:spPr>
          <a:xfrm>
            <a:off x="1097280" y="3246120"/>
            <a:ext cx="3429000" cy="548640"/>
          </a:xfrm>
          <a:prstGeom prst="rect">
            <a:avLst/>
          </a:prstGeom>
          <a:noFill/>
          <a:ln/>
        </p:spPr>
        <p:txBody>
          <a:bodyPr wrap="square" lIns="0" tIns="0" rIns="0" bIns="0" rtlCol="0" anchor="ctr"/>
          <a:lstStyle/>
          <a:p>
            <a:pPr indent="0" marL="0">
              <a:buNone/>
            </a:pPr>
            <a:r>
              <a:rPr lang="en-US" sz="1300" b="1" dirty="0">
                <a:solidFill>
                  <a:srgbClr val="1B2433"/>
                </a:solidFill>
                <a:latin typeface="Sarabun" pitchFamily="34" charset="0"/>
                <a:ea typeface="Sarabun" pitchFamily="34" charset="-122"/>
                <a:cs typeface="Sarabun" pitchFamily="34" charset="-120"/>
              </a:rPr>
              <a:t>Orders in the pre-open or pre-close to push the opening or closing price</a:t>
            </a:r>
            <a:endParaRPr lang="en-US" sz="1300" dirty="0"/>
          </a:p>
        </p:txBody>
      </p:sp>
      <p:sp>
        <p:nvSpPr>
          <p:cNvPr id="24" name="Shape 21"/>
          <p:cNvSpPr/>
          <p:nvPr/>
        </p:nvSpPr>
        <p:spPr>
          <a:xfrm>
            <a:off x="4617720" y="3392424"/>
            <a:ext cx="822960" cy="256032"/>
          </a:xfrm>
          <a:prstGeom prst="roundRect">
            <a:avLst>
              <a:gd name="adj" fmla="val 50000"/>
            </a:avLst>
          </a:prstGeom>
          <a:solidFill>
            <a:srgbClr val="E4572E"/>
          </a:solidFill>
          <a:ln w="12700">
            <a:solidFill>
              <a:srgbClr val="E4572E"/>
            </a:solidFill>
            <a:prstDash val="solid"/>
          </a:ln>
        </p:spPr>
      </p:sp>
      <p:sp>
        <p:nvSpPr>
          <p:cNvPr id="25" name="Text 22"/>
          <p:cNvSpPr txBox="1"/>
          <p:nvPr/>
        </p:nvSpPr>
        <p:spPr>
          <a:xfrm>
            <a:off x="4617720" y="3392424"/>
            <a:ext cx="822960" cy="256032"/>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Montserrat" pitchFamily="34" charset="0"/>
                <a:ea typeface="Montserrat" pitchFamily="34" charset="-122"/>
                <a:cs typeface="Montserrat" pitchFamily="34" charset="-120"/>
              </a:rPr>
              <a:t>CITED</a:t>
            </a:r>
            <a:endParaRPr lang="en-US" sz="900" dirty="0"/>
          </a:p>
        </p:txBody>
      </p:sp>
      <p:sp>
        <p:nvSpPr>
          <p:cNvPr id="26" name="Shape 23"/>
          <p:cNvSpPr/>
          <p:nvPr/>
        </p:nvSpPr>
        <p:spPr>
          <a:xfrm>
            <a:off x="457200" y="3886200"/>
            <a:ext cx="5120640" cy="548640"/>
          </a:xfrm>
          <a:prstGeom prst="roundRect">
            <a:avLst>
              <a:gd name="adj" fmla="val 13333"/>
            </a:avLst>
          </a:prstGeom>
          <a:solidFill>
            <a:srgbClr val="FCE6DF"/>
          </a:solidFill>
          <a:ln w="9525">
            <a:solidFill>
              <a:srgbClr val="E4572E"/>
            </a:solidFill>
            <a:prstDash val="solid"/>
          </a:ln>
        </p:spPr>
      </p:sp>
      <p:sp>
        <p:nvSpPr>
          <p:cNvPr id="27" name="Shape 24"/>
          <p:cNvSpPr/>
          <p:nvPr/>
        </p:nvSpPr>
        <p:spPr>
          <a:xfrm>
            <a:off x="594360" y="3977640"/>
            <a:ext cx="365760" cy="365760"/>
          </a:xfrm>
          <a:prstGeom prst="ellipse">
            <a:avLst/>
          </a:prstGeom>
          <a:solidFill>
            <a:srgbClr val="E4572E"/>
          </a:solidFill>
          <a:ln w="12700">
            <a:solidFill>
              <a:srgbClr val="E4572E"/>
            </a:solidFill>
            <a:prstDash val="solid"/>
          </a:ln>
        </p:spPr>
      </p:sp>
      <p:sp>
        <p:nvSpPr>
          <p:cNvPr id="28" name="Text 25"/>
          <p:cNvSpPr txBox="1"/>
          <p:nvPr/>
        </p:nvSpPr>
        <p:spPr>
          <a:xfrm>
            <a:off x="594360" y="39776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5</a:t>
            </a:r>
            <a:endParaRPr lang="en-US" sz="1200" dirty="0"/>
          </a:p>
        </p:txBody>
      </p:sp>
      <p:sp>
        <p:nvSpPr>
          <p:cNvPr id="29" name="Text 26"/>
          <p:cNvSpPr txBox="1"/>
          <p:nvPr/>
        </p:nvSpPr>
        <p:spPr>
          <a:xfrm>
            <a:off x="1097280" y="3886200"/>
            <a:ext cx="3429000" cy="548640"/>
          </a:xfrm>
          <a:prstGeom prst="rect">
            <a:avLst/>
          </a:prstGeom>
          <a:noFill/>
          <a:ln/>
        </p:spPr>
        <p:txBody>
          <a:bodyPr wrap="square" lIns="0" tIns="0" rIns="0" bIns="0" rtlCol="0" anchor="ctr"/>
          <a:lstStyle/>
          <a:p>
            <a:pPr indent="0" marL="0">
              <a:buNone/>
            </a:pPr>
            <a:r>
              <a:rPr lang="en-US" sz="1300" b="1" dirty="0">
                <a:solidFill>
                  <a:srgbClr val="1B2433"/>
                </a:solidFill>
                <a:latin typeface="Sarabun" pitchFamily="34" charset="0"/>
                <a:ea typeface="Sarabun" pitchFamily="34" charset="-122"/>
                <a:cs typeface="Sarabun" pitchFamily="34" charset="-120"/>
              </a:rPr>
              <a:t>Orders that obstruct others, forcing them to trade at a worse price</a:t>
            </a:r>
            <a:endParaRPr lang="en-US" sz="1300" dirty="0"/>
          </a:p>
        </p:txBody>
      </p:sp>
      <p:sp>
        <p:nvSpPr>
          <p:cNvPr id="30" name="Shape 27"/>
          <p:cNvSpPr/>
          <p:nvPr/>
        </p:nvSpPr>
        <p:spPr>
          <a:xfrm>
            <a:off x="4617720" y="4032504"/>
            <a:ext cx="822960" cy="256032"/>
          </a:xfrm>
          <a:prstGeom prst="roundRect">
            <a:avLst>
              <a:gd name="adj" fmla="val 50000"/>
            </a:avLst>
          </a:prstGeom>
          <a:solidFill>
            <a:srgbClr val="E4572E"/>
          </a:solidFill>
          <a:ln w="12700">
            <a:solidFill>
              <a:srgbClr val="E4572E"/>
            </a:solidFill>
            <a:prstDash val="solid"/>
          </a:ln>
        </p:spPr>
      </p:sp>
      <p:sp>
        <p:nvSpPr>
          <p:cNvPr id="31" name="Text 28"/>
          <p:cNvSpPr txBox="1"/>
          <p:nvPr/>
        </p:nvSpPr>
        <p:spPr>
          <a:xfrm>
            <a:off x="4617720" y="4032504"/>
            <a:ext cx="822960" cy="256032"/>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Montserrat" pitchFamily="34" charset="0"/>
                <a:ea typeface="Montserrat" pitchFamily="34" charset="-122"/>
                <a:cs typeface="Montserrat" pitchFamily="34" charset="-120"/>
              </a:rPr>
              <a:t>CITED</a:t>
            </a:r>
            <a:endParaRPr lang="en-US" sz="900" dirty="0"/>
          </a:p>
        </p:txBody>
      </p:sp>
      <p:sp>
        <p:nvSpPr>
          <p:cNvPr id="32" name="Shape 29"/>
          <p:cNvSpPr/>
          <p:nvPr/>
        </p:nvSpPr>
        <p:spPr>
          <a:xfrm>
            <a:off x="5852160" y="1325880"/>
            <a:ext cx="2834640" cy="1783080"/>
          </a:xfrm>
          <a:prstGeom prst="roundRect">
            <a:avLst>
              <a:gd name="adj" fmla="val 4103"/>
            </a:avLst>
          </a:prstGeom>
          <a:solidFill>
            <a:srgbClr val="0F1B2D"/>
          </a:solidFill>
          <a:ln w="9525">
            <a:solidFill>
              <a:srgbClr val="0F1B2D"/>
            </a:solidFill>
            <a:prstDash val="solid"/>
          </a:ln>
          <a:effectLst>
            <a:outerShdw sx="100000" sy="100000" kx="0" ky="0" algn="bl" rotWithShape="0" blurRad="76200" dist="25400" dir="5400000">
              <a:srgbClr val="0F1B2D">
                <a:alpha val="10000"/>
              </a:srgbClr>
            </a:outerShdw>
          </a:effectLst>
        </p:spPr>
      </p:sp>
      <p:sp>
        <p:nvSpPr>
          <p:cNvPr id="33" name="Text 30"/>
          <p:cNvSpPr txBox="1"/>
          <p:nvPr/>
        </p:nvSpPr>
        <p:spPr>
          <a:xfrm>
            <a:off x="6035040" y="1463040"/>
            <a:ext cx="2468880" cy="320040"/>
          </a:xfrm>
          <a:prstGeom prst="rect">
            <a:avLst/>
          </a:prstGeom>
          <a:noFill/>
          <a:ln/>
        </p:spPr>
        <p:txBody>
          <a:bodyPr wrap="square" lIns="0" tIns="0" rIns="0" bIns="0" rtlCol="0" anchor="ctr"/>
          <a:lstStyle/>
          <a:p>
            <a:pPr indent="0" marL="0">
              <a:buNone/>
            </a:pPr>
            <a:r>
              <a:rPr lang="en-US" sz="1400" b="1" dirty="0">
                <a:solidFill>
                  <a:srgbClr val="E4572E"/>
                </a:solidFill>
                <a:latin typeface="Montserrat" pitchFamily="34" charset="0"/>
                <a:ea typeface="Montserrat" pitchFamily="34" charset="-122"/>
                <a:cs typeface="Montserrat" pitchFamily="34" charset="-120"/>
              </a:rPr>
              <a:t>Why it matters</a:t>
            </a:r>
            <a:endParaRPr lang="en-US" sz="1400" dirty="0"/>
          </a:p>
        </p:txBody>
      </p:sp>
      <p:sp>
        <p:nvSpPr>
          <p:cNvPr id="34" name="Text 31"/>
          <p:cNvSpPr txBox="1"/>
          <p:nvPr/>
        </p:nvSpPr>
        <p:spPr>
          <a:xfrm>
            <a:off x="6035040" y="1828800"/>
            <a:ext cx="2468880" cy="1188720"/>
          </a:xfrm>
          <a:prstGeom prst="rect">
            <a:avLst/>
          </a:prstGeom>
          <a:noFill/>
          <a:ln/>
        </p:spPr>
        <p:txBody>
          <a:bodyPr wrap="square" lIns="0" tIns="0" rIns="0" bIns="0" rtlCol="0" anchor="t"/>
          <a:lstStyle/>
          <a:p>
            <a:pPr indent="0" marL="0">
              <a:buNone/>
            </a:pPr>
            <a:r>
              <a:rPr lang="en-US" sz="1250" dirty="0">
                <a:solidFill>
                  <a:srgbClr val="FFFFFF"/>
                </a:solidFill>
                <a:latin typeface="Sarabun" pitchFamily="34" charset="0"/>
                <a:ea typeface="Sarabun" pitchFamily="34" charset="-122"/>
                <a:cs typeface="Sarabun" pitchFamily="34" charset="-120"/>
              </a:rPr>
              <a:t>Once the SEC proves conduct (4) or (5), the law presumes the ‘misleading’ or ‘abnormal price’ element of s.244/3. The burden shifts to her to rebut it.</a:t>
            </a:r>
            <a:endParaRPr lang="en-US" sz="1250" dirty="0"/>
          </a:p>
        </p:txBody>
      </p:sp>
      <p:sp>
        <p:nvSpPr>
          <p:cNvPr id="35" name="Shape 32"/>
          <p:cNvSpPr/>
          <p:nvPr/>
        </p:nvSpPr>
        <p:spPr>
          <a:xfrm>
            <a:off x="5852160" y="3246120"/>
            <a:ext cx="2834640" cy="1234440"/>
          </a:xfrm>
          <a:prstGeom prst="roundRect">
            <a:avLst>
              <a:gd name="adj" fmla="val 5926"/>
            </a:avLst>
          </a:prstGeom>
          <a:solidFill>
            <a:srgbClr val="FFFFFF"/>
          </a:solidFill>
          <a:ln w="9525">
            <a:solidFill>
              <a:srgbClr val="FFFFFF"/>
            </a:solidFill>
            <a:prstDash val="solid"/>
          </a:ln>
          <a:effectLst>
            <a:outerShdw sx="100000" sy="100000" kx="0" ky="0" algn="bl" rotWithShape="0" blurRad="76200" dist="25400" dir="5400000">
              <a:srgbClr val="0F1B2D">
                <a:alpha val="10000"/>
              </a:srgbClr>
            </a:outerShdw>
          </a:effectLst>
        </p:spPr>
      </p:sp>
      <p:sp>
        <p:nvSpPr>
          <p:cNvPr id="36" name="Text 33"/>
          <p:cNvSpPr txBox="1"/>
          <p:nvPr/>
        </p:nvSpPr>
        <p:spPr>
          <a:xfrm>
            <a:off x="6035040" y="3364992"/>
            <a:ext cx="2468880" cy="292608"/>
          </a:xfrm>
          <a:prstGeom prst="rect">
            <a:avLst/>
          </a:prstGeom>
          <a:noFill/>
          <a:ln/>
        </p:spPr>
        <p:txBody>
          <a:bodyPr wrap="square" lIns="0" tIns="0" rIns="0" bIns="0" rtlCol="0" anchor="ctr"/>
          <a:lstStyle/>
          <a:p>
            <a:pPr indent="0" marL="0">
              <a:buNone/>
            </a:pPr>
            <a:r>
              <a:rPr lang="en-US" sz="1300" b="1" dirty="0">
                <a:solidFill>
                  <a:srgbClr val="0F1B2D"/>
                </a:solidFill>
                <a:latin typeface="Montserrat" pitchFamily="34" charset="0"/>
                <a:ea typeface="Montserrat" pitchFamily="34" charset="-122"/>
                <a:cs typeface="Montserrat" pitchFamily="34" charset="-120"/>
              </a:rPr>
              <a:t>Exceptions, s.244/4</a:t>
            </a:r>
            <a:endParaRPr lang="en-US" sz="1300" dirty="0"/>
          </a:p>
        </p:txBody>
      </p:sp>
      <p:sp>
        <p:nvSpPr>
          <p:cNvPr id="37" name="Text 34"/>
          <p:cNvSpPr txBox="1"/>
          <p:nvPr/>
        </p:nvSpPr>
        <p:spPr>
          <a:xfrm>
            <a:off x="6035040" y="3675888"/>
            <a:ext cx="2468880" cy="731520"/>
          </a:xfrm>
          <a:prstGeom prst="rect">
            <a:avLst/>
          </a:prstGeom>
          <a:noFill/>
          <a:ln/>
        </p:spPr>
        <p:txBody>
          <a:bodyPr wrap="square" lIns="0" tIns="0" rIns="0" bIns="0" rtlCol="0" anchor="t"/>
          <a:lstStyle/>
          <a:p>
            <a:pPr indent="0" marL="0">
              <a:buNone/>
            </a:pPr>
            <a:r>
              <a:rPr lang="en-US" sz="1250" dirty="0">
                <a:solidFill>
                  <a:srgbClr val="1B2433"/>
                </a:solidFill>
                <a:latin typeface="Sarabun" pitchFamily="34" charset="0"/>
                <a:ea typeface="Sarabun" pitchFamily="34" charset="-122"/>
                <a:cs typeface="Sarabun" pitchFamily="34" charset="-120"/>
              </a:rPr>
              <a:t>Price stabilisation, share buybacks, SEC-permitted trades. None applies here.</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457200" y="310896"/>
            <a:ext cx="1207008" cy="246888"/>
          </a:xfrm>
          <a:prstGeom prst="roundRect">
            <a:avLst>
              <a:gd name="adj" fmla="val 50000"/>
            </a:avLst>
          </a:prstGeom>
          <a:solidFill>
            <a:srgbClr val="E4572E"/>
          </a:solidFill>
          <a:ln w="12700">
            <a:solidFill>
              <a:srgbClr val="E4572E"/>
            </a:solidFill>
            <a:prstDash val="solid"/>
          </a:ln>
        </p:spPr>
      </p:sp>
      <p:sp>
        <p:nvSpPr>
          <p:cNvPr id="3" name="Text 1"/>
          <p:cNvSpPr txBox="1"/>
          <p:nvPr/>
        </p:nvSpPr>
        <p:spPr>
          <a:xfrm>
            <a:off x="457200" y="310896"/>
            <a:ext cx="1207008" cy="24688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Montserrat" pitchFamily="34" charset="0"/>
                <a:ea typeface="Montserrat" pitchFamily="34" charset="-122"/>
                <a:cs typeface="Montserrat" pitchFamily="34" charset="-120"/>
              </a:rPr>
              <a:t>THE ANALYSIS</a:t>
            </a:r>
            <a:endParaRPr lang="en-US" sz="850" dirty="0"/>
          </a:p>
        </p:txBody>
      </p:sp>
      <p:sp>
        <p:nvSpPr>
          <p:cNvPr id="4" name="Text 2"/>
          <p:cNvSpPr txBox="1"/>
          <p:nvPr/>
        </p:nvSpPr>
        <p:spPr>
          <a:xfrm>
            <a:off x="457200" y="640080"/>
            <a:ext cx="8229600" cy="502920"/>
          </a:xfrm>
          <a:prstGeom prst="rect">
            <a:avLst/>
          </a:prstGeom>
          <a:noFill/>
          <a:ln/>
        </p:spPr>
        <p:txBody>
          <a:bodyPr wrap="square" lIns="0" tIns="0" rIns="0" bIns="0" rtlCol="0" anchor="ctr"/>
          <a:lstStyle/>
          <a:p>
            <a:pPr indent="0" marL="0">
              <a:buNone/>
            </a:pPr>
            <a:r>
              <a:rPr lang="en-US" sz="2600" b="1" dirty="0">
                <a:solidFill>
                  <a:srgbClr val="0F1B2D"/>
                </a:solidFill>
                <a:latin typeface="Montserrat" pitchFamily="34" charset="0"/>
                <a:ea typeface="Montserrat" pitchFamily="34" charset="-122"/>
                <a:cs typeface="Montserrat" pitchFamily="34" charset="-120"/>
              </a:rPr>
              <a:t>Applying Section 244/3 (1)</a:t>
            </a:r>
            <a:endParaRPr lang="en-US" sz="2600" dirty="0"/>
          </a:p>
        </p:txBody>
      </p:sp>
      <p:sp>
        <p:nvSpPr>
          <p:cNvPr id="5" name="Text 3"/>
          <p:cNvSpPr txBox="1"/>
          <p:nvPr/>
        </p:nvSpPr>
        <p:spPr>
          <a:xfrm>
            <a:off x="457200" y="4773168"/>
            <a:ext cx="4572000" cy="228600"/>
          </a:xfrm>
          <a:prstGeom prst="rect">
            <a:avLst/>
          </a:prstGeom>
          <a:noFill/>
          <a:ln/>
        </p:spPr>
        <p:txBody>
          <a:bodyPr wrap="square" lIns="0" tIns="0" rIns="0" bIns="0" rtlCol="0" anchor="ctr"/>
          <a:lstStyle/>
          <a:p>
            <a:pPr indent="0" marL="0">
              <a:buNone/>
            </a:pPr>
            <a:r>
              <a:rPr lang="en-US" sz="900" dirty="0">
                <a:solidFill>
                  <a:srgbClr val="5B6B7F"/>
                </a:solidFill>
                <a:latin typeface="Sarabun" pitchFamily="34" charset="0"/>
                <a:ea typeface="Sarabun" pitchFamily="34" charset="-122"/>
                <a:cs typeface="Sarabun" pitchFamily="34" charset="-120"/>
              </a:rPr>
              <a:t>Group 3  ·  TSR Market Manipulation Case</a:t>
            </a:r>
            <a:endParaRPr lang="en-US" sz="900" dirty="0"/>
          </a:p>
        </p:txBody>
      </p:sp>
      <p:sp>
        <p:nvSpPr>
          <p:cNvPr id="6" name="Text 4"/>
          <p:cNvSpPr txBox="1"/>
          <p:nvPr/>
        </p:nvSpPr>
        <p:spPr>
          <a:xfrm>
            <a:off x="7772400" y="4773168"/>
            <a:ext cx="914400" cy="228600"/>
          </a:xfrm>
          <a:prstGeom prst="rect">
            <a:avLst/>
          </a:prstGeom>
          <a:noFill/>
          <a:ln/>
        </p:spPr>
        <p:txBody>
          <a:bodyPr wrap="square" lIns="0" tIns="0" rIns="0" bIns="0" rtlCol="0" anchor="ctr"/>
          <a:lstStyle/>
          <a:p>
            <a:pPr algn="r" indent="0" marL="0">
              <a:buNone/>
            </a:pPr>
            <a:r>
              <a:rPr lang="en-US" sz="900" dirty="0">
                <a:solidFill>
                  <a:srgbClr val="5B6B7F"/>
                </a:solidFill>
                <a:latin typeface="Sarabun" pitchFamily="34" charset="0"/>
                <a:ea typeface="Sarabun" pitchFamily="34" charset="-122"/>
                <a:cs typeface="Sarabun" pitchFamily="34" charset="-120"/>
              </a:rPr>
              <a:t>12 / 20</a:t>
            </a:r>
            <a:endParaRPr lang="en-US" sz="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298448"/>
          <a:ext cx="8229600" cy="914400"/>
        </p:xfrm>
        <a:graphic>
          <a:graphicData uri="http://schemas.openxmlformats.org/drawingml/2006/table">
            <a:tbl>
              <a:tblPr/>
              <a:tblGrid>
                <a:gridCol w="2514600"/>
                <a:gridCol w="4251960"/>
                <a:gridCol w="1463040"/>
              </a:tblGrid>
              <a:tr h="347472">
                <a:tc>
                  <a:txBody>
                    <a:bodyPr/>
                    <a:lstStyle/>
                    <a:p>
                      <a:pPr indent="0" marL="0">
                        <a:buNone/>
                      </a:pPr>
                      <a:r>
                        <a:rPr lang="en-US" sz="1100" b="1" dirty="0">
                          <a:solidFill>
                            <a:srgbClr val="FFFFFF"/>
                          </a:solidFill>
                          <a:latin typeface="Montserrat" pitchFamily="34" charset="0"/>
                          <a:ea typeface="Montserrat" pitchFamily="34" charset="-122"/>
                          <a:cs typeface="Montserrat" pitchFamily="34" charset="-120"/>
                        </a:rPr>
                        <a:t>Element</a:t>
                      </a:r>
                      <a:endParaRPr lang="en-US" sz="1100" dirty="0">
                        <a:latin typeface="Montserrat" charset="0"/>
                        <a:ea typeface="Montserrat" charset="0"/>
                        <a:cs typeface="Montserrat" charset="0"/>
                      </a:endParaRPr>
                    </a:p>
                  </a:txBody>
                  <a:tcPr marL="91440" marR="91440" marT="45720" marB="4572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0F1B2D"/>
                    </a:solidFill>
                  </a:tcPr>
                </a:tc>
                <a:tc>
                  <a:txBody>
                    <a:bodyPr/>
                    <a:lstStyle/>
                    <a:p>
                      <a:pPr indent="0" marL="0">
                        <a:buNone/>
                      </a:pPr>
                      <a:r>
                        <a:rPr lang="en-US" sz="1100" b="1" dirty="0">
                          <a:solidFill>
                            <a:srgbClr val="FFFFFF"/>
                          </a:solidFill>
                          <a:latin typeface="Montserrat" pitchFamily="34" charset="0"/>
                          <a:ea typeface="Montserrat" pitchFamily="34" charset="-122"/>
                          <a:cs typeface="Montserrat" pitchFamily="34" charset="-120"/>
                        </a:rPr>
                        <a:t>Facts in the TSR case</a:t>
                      </a:r>
                      <a:endParaRPr lang="en-US" sz="1100" dirty="0">
                        <a:latin typeface="Montserrat" charset="0"/>
                        <a:ea typeface="Montserrat" charset="0"/>
                        <a:cs typeface="Montserrat" charset="0"/>
                      </a:endParaRPr>
                    </a:p>
                  </a:txBody>
                  <a:tcPr marL="91440" marR="91440" marT="45720" marB="4572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0F1B2D"/>
                    </a:solidFill>
                  </a:tcPr>
                </a:tc>
                <a:tc>
                  <a:txBody>
                    <a:bodyPr/>
                    <a:lstStyle/>
                    <a:p>
                      <a:pPr indent="0" marL="0">
                        <a:buNone/>
                      </a:pPr>
                      <a:r>
                        <a:rPr lang="en-US" sz="1100" b="1" dirty="0">
                          <a:solidFill>
                            <a:srgbClr val="FFFFFF"/>
                          </a:solidFill>
                          <a:latin typeface="Montserrat" pitchFamily="34" charset="0"/>
                          <a:ea typeface="Montserrat" pitchFamily="34" charset="-122"/>
                          <a:cs typeface="Montserrat" pitchFamily="34" charset="-120"/>
                        </a:rPr>
                        <a:t>Result</a:t>
                      </a:r>
                      <a:endParaRPr lang="en-US" sz="1100" dirty="0">
                        <a:latin typeface="Montserrat" charset="0"/>
                        <a:ea typeface="Montserrat" charset="0"/>
                        <a:cs typeface="Montserrat" charset="0"/>
                      </a:endParaRPr>
                    </a:p>
                  </a:txBody>
                  <a:tcPr marL="91440" marR="91440" marT="45720" marB="4572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0F1B2D"/>
                    </a:solidFill>
                  </a:tcPr>
                </a:tc>
              </a:tr>
              <a:tr h="429768">
                <a:tc>
                  <a:txBody>
                    <a:bodyPr/>
                    <a:lstStyle/>
                    <a:p>
                      <a:pPr indent="0" marL="0">
                        <a:buNone/>
                      </a:pPr>
                      <a:r>
                        <a:rPr lang="en-US" sz="1300" b="1" dirty="0">
                          <a:solidFill>
                            <a:srgbClr val="0F1B2D"/>
                          </a:solidFill>
                          <a:latin typeface="Sarabun" pitchFamily="34" charset="0"/>
                          <a:ea typeface="Sarabun" pitchFamily="34" charset="-122"/>
                          <a:cs typeface="Sarabun" pitchFamily="34" charset="-120"/>
                        </a:rPr>
                        <a:t>Any person</a:t>
                      </a:r>
                      <a:endParaRPr lang="en-US" sz="1300" dirty="0">
                        <a:latin typeface="Sarabun" charset="0"/>
                        <a:ea typeface="Sarabun" charset="0"/>
                        <a:cs typeface="Sarabun" charset="0"/>
                      </a:endParaRPr>
                    </a:p>
                  </a:txBody>
                  <a:tcPr marL="91440" marR="91440" marT="45720" marB="4572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1B2433"/>
                          </a:solidFill>
                          <a:latin typeface="Sarabun" pitchFamily="34" charset="0"/>
                          <a:ea typeface="Sarabun" pitchFamily="34" charset="-122"/>
                          <a:cs typeface="Sarabun" pitchFamily="34" charset="-120"/>
                        </a:rPr>
                        <a:t>An individual: นางสาวภรัณยา รุจนพรพจี</a:t>
                      </a:r>
                      <a:endParaRPr lang="en-US" sz="1300" dirty="0">
                        <a:latin typeface="Sarabun" charset="0"/>
                        <a:ea typeface="Sarabun" charset="0"/>
                        <a:cs typeface="Sarabun" charset="0"/>
                      </a:endParaRPr>
                    </a:p>
                  </a:txBody>
                  <a:tcPr marL="91440" marR="91440" marT="45720" marB="4572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b="1" dirty="0">
                          <a:solidFill>
                            <a:srgbClr val="1E8C7E"/>
                          </a:solidFill>
                          <a:latin typeface="Sarabun" pitchFamily="34" charset="0"/>
                          <a:ea typeface="Sarabun" pitchFamily="34" charset="-122"/>
                          <a:cs typeface="Sarabun" pitchFamily="34" charset="-120"/>
                        </a:rPr>
                        <a:t>Met</a:t>
                      </a:r>
                      <a:endParaRPr lang="en-US" sz="1300" dirty="0">
                        <a:latin typeface="Sarabun" charset="0"/>
                        <a:ea typeface="Sarabun" charset="0"/>
                        <a:cs typeface="Sarabun" charset="0"/>
                      </a:endParaRPr>
                    </a:p>
                  </a:txBody>
                  <a:tcPr marL="91440" marR="91440" marT="45720" marB="4572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429768">
                <a:tc>
                  <a:txBody>
                    <a:bodyPr/>
                    <a:lstStyle/>
                    <a:p>
                      <a:pPr indent="0" marL="0">
                        <a:buNone/>
                      </a:pPr>
                      <a:r>
                        <a:rPr lang="en-US" sz="1300" b="1" dirty="0">
                          <a:solidFill>
                            <a:srgbClr val="0F1B2D"/>
                          </a:solidFill>
                          <a:latin typeface="Sarabun" pitchFamily="34" charset="0"/>
                          <a:ea typeface="Sarabun" pitchFamily="34" charset="-122"/>
                          <a:cs typeface="Sarabun" pitchFamily="34" charset="-120"/>
                        </a:rPr>
                        <a:t>Listed security (s.238)</a:t>
                      </a:r>
                      <a:endParaRPr lang="en-US" sz="1300" dirty="0">
                        <a:latin typeface="Sarabun" charset="0"/>
                        <a:ea typeface="Sarabun" charset="0"/>
                        <a:cs typeface="Sarabun" charset="0"/>
                      </a:endParaRPr>
                    </a:p>
                  </a:txBody>
                  <a:tcPr marL="91440" marR="91440" marT="45720" marB="4572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8FAFC"/>
                    </a:solidFill>
                  </a:tcPr>
                </a:tc>
                <a:tc>
                  <a:txBody>
                    <a:bodyPr/>
                    <a:lstStyle/>
                    <a:p>
                      <a:pPr indent="0" marL="0">
                        <a:buNone/>
                      </a:pPr>
                      <a:r>
                        <a:rPr lang="en-US" sz="1300" dirty="0">
                          <a:solidFill>
                            <a:srgbClr val="1B2433"/>
                          </a:solidFill>
                          <a:latin typeface="Sarabun" pitchFamily="34" charset="0"/>
                          <a:ea typeface="Sarabun" pitchFamily="34" charset="-122"/>
                          <a:cs typeface="Sarabun" pitchFamily="34" charset="-120"/>
                        </a:rPr>
                        <a:t>TSR shares, listed on the SET</a:t>
                      </a:r>
                      <a:endParaRPr lang="en-US" sz="1300" dirty="0">
                        <a:latin typeface="Sarabun" charset="0"/>
                        <a:ea typeface="Sarabun" charset="0"/>
                        <a:cs typeface="Sarabun" charset="0"/>
                      </a:endParaRPr>
                    </a:p>
                  </a:txBody>
                  <a:tcPr marL="91440" marR="91440" marT="45720" marB="4572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8FAFC"/>
                    </a:solidFill>
                  </a:tcPr>
                </a:tc>
                <a:tc>
                  <a:txBody>
                    <a:bodyPr/>
                    <a:lstStyle/>
                    <a:p>
                      <a:pPr indent="0" marL="0">
                        <a:buNone/>
                      </a:pPr>
                      <a:r>
                        <a:rPr lang="en-US" sz="1300" b="1" dirty="0">
                          <a:solidFill>
                            <a:srgbClr val="1E8C7E"/>
                          </a:solidFill>
                          <a:latin typeface="Sarabun" pitchFamily="34" charset="0"/>
                          <a:ea typeface="Sarabun" pitchFamily="34" charset="-122"/>
                          <a:cs typeface="Sarabun" pitchFamily="34" charset="-120"/>
                        </a:rPr>
                        <a:t>Met</a:t>
                      </a:r>
                      <a:endParaRPr lang="en-US" sz="1300" dirty="0">
                        <a:latin typeface="Sarabun" charset="0"/>
                        <a:ea typeface="Sarabun" charset="0"/>
                        <a:cs typeface="Sarabun" charset="0"/>
                      </a:endParaRPr>
                    </a:p>
                  </a:txBody>
                  <a:tcPr marL="91440" marR="91440" marT="45720" marB="4572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8FAFC"/>
                    </a:solidFill>
                  </a:tcPr>
                </a:tc>
              </a:tr>
              <a:tr h="429768">
                <a:tc>
                  <a:txBody>
                    <a:bodyPr/>
                    <a:lstStyle/>
                    <a:p>
                      <a:pPr indent="0" marL="0">
                        <a:buNone/>
                      </a:pPr>
                      <a:r>
                        <a:rPr lang="en-US" sz="1300" b="1" dirty="0">
                          <a:solidFill>
                            <a:srgbClr val="0F1B2D"/>
                          </a:solidFill>
                          <a:latin typeface="Sarabun" pitchFamily="34" charset="0"/>
                          <a:ea typeface="Sarabun" pitchFamily="34" charset="-122"/>
                          <a:cs typeface="Sarabun" pitchFamily="34" charset="-120"/>
                        </a:rPr>
                        <a:t>Placing orders or trading</a:t>
                      </a:r>
                      <a:endParaRPr lang="en-US" sz="1300" dirty="0">
                        <a:latin typeface="Sarabun" charset="0"/>
                        <a:ea typeface="Sarabun" charset="0"/>
                        <a:cs typeface="Sarabun" charset="0"/>
                      </a:endParaRPr>
                    </a:p>
                  </a:txBody>
                  <a:tcPr marL="91440" marR="91440" marT="45720" marB="4572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1B2433"/>
                          </a:solidFill>
                          <a:latin typeface="Sarabun" pitchFamily="34" charset="0"/>
                          <a:ea typeface="Sarabun" pitchFamily="34" charset="-122"/>
                          <a:cs typeface="Sarabun" pitchFamily="34" charset="-120"/>
                        </a:rPr>
                        <a:t>Buy orders hitting the offers; large bids at levels 1–2</a:t>
                      </a:r>
                      <a:endParaRPr lang="en-US" sz="1300" dirty="0">
                        <a:latin typeface="Sarabun" charset="0"/>
                        <a:ea typeface="Sarabun" charset="0"/>
                        <a:cs typeface="Sarabun" charset="0"/>
                      </a:endParaRPr>
                    </a:p>
                  </a:txBody>
                  <a:tcPr marL="91440" marR="91440" marT="45720" marB="4572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b="1" dirty="0">
                          <a:solidFill>
                            <a:srgbClr val="1E8C7E"/>
                          </a:solidFill>
                          <a:latin typeface="Sarabun" pitchFamily="34" charset="0"/>
                          <a:ea typeface="Sarabun" pitchFamily="34" charset="-122"/>
                          <a:cs typeface="Sarabun" pitchFamily="34" charset="-120"/>
                        </a:rPr>
                        <a:t>Met</a:t>
                      </a:r>
                      <a:endParaRPr lang="en-US" sz="1300" dirty="0">
                        <a:latin typeface="Sarabun" charset="0"/>
                        <a:ea typeface="Sarabun" charset="0"/>
                        <a:cs typeface="Sarabun" charset="0"/>
                      </a:endParaRPr>
                    </a:p>
                  </a:txBody>
                  <a:tcPr marL="91440" marR="91440" marT="45720" marB="4572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429768">
                <a:tc>
                  <a:txBody>
                    <a:bodyPr/>
                    <a:lstStyle/>
                    <a:p>
                      <a:pPr indent="0" marL="0">
                        <a:buNone/>
                      </a:pPr>
                      <a:r>
                        <a:rPr lang="en-US" sz="1300" b="1" dirty="0">
                          <a:solidFill>
                            <a:srgbClr val="0F1B2D"/>
                          </a:solidFill>
                          <a:latin typeface="Sarabun" pitchFamily="34" charset="0"/>
                          <a:ea typeface="Sarabun" pitchFamily="34" charset="-122"/>
                          <a:cs typeface="Sarabun" pitchFamily="34" charset="-120"/>
                        </a:rPr>
                        <a:t>Misleads others on price or volume</a:t>
                      </a:r>
                      <a:endParaRPr lang="en-US" sz="1300" dirty="0">
                        <a:latin typeface="Sarabun" charset="0"/>
                        <a:ea typeface="Sarabun" charset="0"/>
                        <a:cs typeface="Sarabun" charset="0"/>
                      </a:endParaRPr>
                    </a:p>
                  </a:txBody>
                  <a:tcPr marL="91440" marR="91440" marT="45720" marB="4572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8FAFC"/>
                    </a:solidFill>
                  </a:tcPr>
                </a:tc>
                <a:tc>
                  <a:txBody>
                    <a:bodyPr/>
                    <a:lstStyle/>
                    <a:p>
                      <a:pPr indent="0" marL="0">
                        <a:buNone/>
                      </a:pPr>
                      <a:r>
                        <a:rPr lang="en-US" sz="1300" dirty="0">
                          <a:solidFill>
                            <a:srgbClr val="1B2433"/>
                          </a:solidFill>
                          <a:latin typeface="Sarabun" pitchFamily="34" charset="0"/>
                          <a:ea typeface="Sarabun" pitchFamily="34" charset="-122"/>
                          <a:cs typeface="Sarabun" pitchFamily="34" charset="-120"/>
                        </a:rPr>
                        <a:t>Investors saw ‘strong demand’ that was artificial; presumption s.244/5(5)</a:t>
                      </a:r>
                      <a:endParaRPr lang="en-US" sz="1300" dirty="0">
                        <a:latin typeface="Sarabun" charset="0"/>
                        <a:ea typeface="Sarabun" charset="0"/>
                        <a:cs typeface="Sarabun" charset="0"/>
                      </a:endParaRPr>
                    </a:p>
                  </a:txBody>
                  <a:tcPr marL="91440" marR="91440" marT="45720" marB="4572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8FAFC"/>
                    </a:solidFill>
                  </a:tcPr>
                </a:tc>
                <a:tc>
                  <a:txBody>
                    <a:bodyPr/>
                    <a:lstStyle/>
                    <a:p>
                      <a:pPr indent="0" marL="0">
                        <a:buNone/>
                      </a:pPr>
                      <a:r>
                        <a:rPr lang="en-US" sz="1300" b="1" dirty="0">
                          <a:solidFill>
                            <a:srgbClr val="1E8C7E"/>
                          </a:solidFill>
                          <a:latin typeface="Sarabun" pitchFamily="34" charset="0"/>
                          <a:ea typeface="Sarabun" pitchFamily="34" charset="-122"/>
                          <a:cs typeface="Sarabun" pitchFamily="34" charset="-120"/>
                        </a:rPr>
                        <a:t>Met (presumed)</a:t>
                      </a:r>
                      <a:endParaRPr lang="en-US" sz="1300" dirty="0">
                        <a:latin typeface="Sarabun" charset="0"/>
                        <a:ea typeface="Sarabun" charset="0"/>
                        <a:cs typeface="Sarabun" charset="0"/>
                      </a:endParaRPr>
                    </a:p>
                  </a:txBody>
                  <a:tcPr marL="91440" marR="91440" marT="45720" marB="4572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8FAFC"/>
                    </a:solidFill>
                  </a:tcPr>
                </a:tc>
              </a:tr>
              <a:tr h="429768">
                <a:tc>
                  <a:txBody>
                    <a:bodyPr/>
                    <a:lstStyle/>
                    <a:p>
                      <a:pPr indent="0" marL="0">
                        <a:buNone/>
                      </a:pPr>
                      <a:r>
                        <a:rPr lang="en-US" sz="1300" b="1" dirty="0">
                          <a:solidFill>
                            <a:srgbClr val="0F1B2D"/>
                          </a:solidFill>
                          <a:latin typeface="Sarabun" pitchFamily="34" charset="0"/>
                          <a:ea typeface="Sarabun" pitchFamily="34" charset="-122"/>
                          <a:cs typeface="Sarabun" pitchFamily="34" charset="-120"/>
                        </a:rPr>
                        <a:t>Intent (Criminal Code s.59)</a:t>
                      </a:r>
                      <a:endParaRPr lang="en-US" sz="1300" dirty="0">
                        <a:latin typeface="Sarabun" charset="0"/>
                        <a:ea typeface="Sarabun" charset="0"/>
                        <a:cs typeface="Sarabun" charset="0"/>
                      </a:endParaRPr>
                    </a:p>
                  </a:txBody>
                  <a:tcPr marL="91440" marR="91440" marT="45720" marB="4572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1B2433"/>
                          </a:solidFill>
                          <a:latin typeface="Sarabun" pitchFamily="34" charset="0"/>
                          <a:ea typeface="Sarabun" pitchFamily="34" charset="-122"/>
                          <a:cs typeface="Sarabun" pitchFamily="34" charset="-120"/>
                        </a:rPr>
                        <a:t>Repeated for 47 trading days with a clear financial motive</a:t>
                      </a:r>
                      <a:endParaRPr lang="en-US" sz="1300" dirty="0">
                        <a:latin typeface="Sarabun" charset="0"/>
                        <a:ea typeface="Sarabun" charset="0"/>
                        <a:cs typeface="Sarabun" charset="0"/>
                      </a:endParaRPr>
                    </a:p>
                  </a:txBody>
                  <a:tcPr marL="91440" marR="91440" marT="45720" marB="4572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b="1" dirty="0">
                          <a:solidFill>
                            <a:srgbClr val="1E8C7E"/>
                          </a:solidFill>
                          <a:latin typeface="Sarabun" pitchFamily="34" charset="0"/>
                          <a:ea typeface="Sarabun" pitchFamily="34" charset="-122"/>
                          <a:cs typeface="Sarabun" pitchFamily="34" charset="-120"/>
                        </a:rPr>
                        <a:t>Likely met</a:t>
                      </a:r>
                      <a:endParaRPr lang="en-US" sz="1300" dirty="0">
                        <a:latin typeface="Sarabun" charset="0"/>
                        <a:ea typeface="Sarabun" charset="0"/>
                        <a:cs typeface="Sarabun" charset="0"/>
                      </a:endParaRPr>
                    </a:p>
                  </a:txBody>
                  <a:tcPr marL="91440" marR="91440" marT="45720" marB="4572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bl>
          </a:graphicData>
        </a:graphic>
      </p:graphicFrame>
      <p:sp>
        <p:nvSpPr>
          <p:cNvPr id="9" name="Shape 5"/>
          <p:cNvSpPr/>
          <p:nvPr/>
        </p:nvSpPr>
        <p:spPr>
          <a:xfrm>
            <a:off x="457200" y="4096512"/>
            <a:ext cx="8229600" cy="475488"/>
          </a:xfrm>
          <a:prstGeom prst="roundRect">
            <a:avLst>
              <a:gd name="adj" fmla="val 15385"/>
            </a:avLst>
          </a:prstGeom>
          <a:solidFill>
            <a:srgbClr val="DDF1EE"/>
          </a:solidFill>
          <a:ln w="9525">
            <a:solidFill>
              <a:srgbClr val="DDF1EE"/>
            </a:solidFill>
            <a:prstDash val="solid"/>
          </a:ln>
        </p:spPr>
      </p:sp>
      <p:sp>
        <p:nvSpPr>
          <p:cNvPr id="10" name="Text 6"/>
          <p:cNvSpPr txBox="1"/>
          <p:nvPr/>
        </p:nvSpPr>
        <p:spPr>
          <a:xfrm>
            <a:off x="640080" y="4096512"/>
            <a:ext cx="7863840" cy="475488"/>
          </a:xfrm>
          <a:prstGeom prst="rect">
            <a:avLst/>
          </a:prstGeom>
          <a:noFill/>
          <a:ln/>
        </p:spPr>
        <p:txBody>
          <a:bodyPr wrap="square" lIns="0" tIns="0" rIns="0" bIns="0" rtlCol="0" anchor="ctr"/>
          <a:lstStyle/>
          <a:p>
            <a:pPr indent="0" marL="0">
              <a:buNone/>
            </a:pPr>
            <a:r>
              <a:rPr lang="en-US" sz="1300" b="1" dirty="0">
                <a:solidFill>
                  <a:srgbClr val="1E8C7E"/>
                </a:solidFill>
                <a:latin typeface="Sarabun" pitchFamily="34" charset="0"/>
                <a:ea typeface="Sarabun" pitchFamily="34" charset="-122"/>
                <a:cs typeface="Sarabun" pitchFamily="34" charset="-120"/>
              </a:rPr>
              <a:t>Conclusion: </a:t>
            </a:r>
            <a:pPr indent="0" marL="0">
              <a:buNone/>
            </a:pPr>
            <a:r>
              <a:rPr lang="en-US" sz="1300" dirty="0">
                <a:solidFill>
                  <a:srgbClr val="1B2433"/>
                </a:solidFill>
                <a:latin typeface="Sarabun" pitchFamily="34" charset="0"/>
                <a:ea typeface="Sarabun" pitchFamily="34" charset="-122"/>
                <a:cs typeface="Sarabun" pitchFamily="34" charset="-120"/>
              </a:rPr>
              <a:t>all elements of s.244/3(1) are satisfied, so criminal penalty s.296 or civil sanction s.317/1(1) applies.</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457200" y="310896"/>
            <a:ext cx="1207008" cy="246888"/>
          </a:xfrm>
          <a:prstGeom prst="roundRect">
            <a:avLst>
              <a:gd name="adj" fmla="val 50000"/>
            </a:avLst>
          </a:prstGeom>
          <a:solidFill>
            <a:srgbClr val="E4572E"/>
          </a:solidFill>
          <a:ln w="12700">
            <a:solidFill>
              <a:srgbClr val="E4572E"/>
            </a:solidFill>
            <a:prstDash val="solid"/>
          </a:ln>
        </p:spPr>
      </p:sp>
      <p:sp>
        <p:nvSpPr>
          <p:cNvPr id="3" name="Text 1"/>
          <p:cNvSpPr txBox="1"/>
          <p:nvPr/>
        </p:nvSpPr>
        <p:spPr>
          <a:xfrm>
            <a:off x="457200" y="310896"/>
            <a:ext cx="1207008" cy="24688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Montserrat" pitchFamily="34" charset="0"/>
                <a:ea typeface="Montserrat" pitchFamily="34" charset="-122"/>
                <a:cs typeface="Montserrat" pitchFamily="34" charset="-120"/>
              </a:rPr>
              <a:t>THE ANALYSIS</a:t>
            </a:r>
            <a:endParaRPr lang="en-US" sz="850" dirty="0"/>
          </a:p>
        </p:txBody>
      </p:sp>
      <p:sp>
        <p:nvSpPr>
          <p:cNvPr id="4" name="Text 2"/>
          <p:cNvSpPr txBox="1"/>
          <p:nvPr/>
        </p:nvSpPr>
        <p:spPr>
          <a:xfrm>
            <a:off x="457200" y="640080"/>
            <a:ext cx="8229600" cy="502920"/>
          </a:xfrm>
          <a:prstGeom prst="rect">
            <a:avLst/>
          </a:prstGeom>
          <a:noFill/>
          <a:ln/>
        </p:spPr>
        <p:txBody>
          <a:bodyPr wrap="square" lIns="0" tIns="0" rIns="0" bIns="0" rtlCol="0" anchor="ctr"/>
          <a:lstStyle/>
          <a:p>
            <a:pPr indent="0" marL="0">
              <a:buNone/>
            </a:pPr>
            <a:r>
              <a:rPr lang="en-US" sz="2600" b="1" dirty="0">
                <a:solidFill>
                  <a:srgbClr val="0F1B2D"/>
                </a:solidFill>
                <a:latin typeface="Montserrat" pitchFamily="34" charset="0"/>
                <a:ea typeface="Montserrat" pitchFamily="34" charset="-122"/>
                <a:cs typeface="Montserrat" pitchFamily="34" charset="-120"/>
              </a:rPr>
              <a:t>Applying Section 244/3 (2)</a:t>
            </a:r>
            <a:endParaRPr lang="en-US" sz="2600" dirty="0"/>
          </a:p>
        </p:txBody>
      </p:sp>
      <p:sp>
        <p:nvSpPr>
          <p:cNvPr id="5" name="Text 3"/>
          <p:cNvSpPr txBox="1"/>
          <p:nvPr/>
        </p:nvSpPr>
        <p:spPr>
          <a:xfrm>
            <a:off x="457200" y="4773168"/>
            <a:ext cx="4572000" cy="228600"/>
          </a:xfrm>
          <a:prstGeom prst="rect">
            <a:avLst/>
          </a:prstGeom>
          <a:noFill/>
          <a:ln/>
        </p:spPr>
        <p:txBody>
          <a:bodyPr wrap="square" lIns="0" tIns="0" rIns="0" bIns="0" rtlCol="0" anchor="ctr"/>
          <a:lstStyle/>
          <a:p>
            <a:pPr indent="0" marL="0">
              <a:buNone/>
            </a:pPr>
            <a:r>
              <a:rPr lang="en-US" sz="900" dirty="0">
                <a:solidFill>
                  <a:srgbClr val="5B6B7F"/>
                </a:solidFill>
                <a:latin typeface="Sarabun" pitchFamily="34" charset="0"/>
                <a:ea typeface="Sarabun" pitchFamily="34" charset="-122"/>
                <a:cs typeface="Sarabun" pitchFamily="34" charset="-120"/>
              </a:rPr>
              <a:t>Group 3  ·  TSR Market Manipulation Case</a:t>
            </a:r>
            <a:endParaRPr lang="en-US" sz="900" dirty="0"/>
          </a:p>
        </p:txBody>
      </p:sp>
      <p:sp>
        <p:nvSpPr>
          <p:cNvPr id="6" name="Text 4"/>
          <p:cNvSpPr txBox="1"/>
          <p:nvPr/>
        </p:nvSpPr>
        <p:spPr>
          <a:xfrm>
            <a:off x="7772400" y="4773168"/>
            <a:ext cx="914400" cy="228600"/>
          </a:xfrm>
          <a:prstGeom prst="rect">
            <a:avLst/>
          </a:prstGeom>
          <a:noFill/>
          <a:ln/>
        </p:spPr>
        <p:txBody>
          <a:bodyPr wrap="square" lIns="0" tIns="0" rIns="0" bIns="0" rtlCol="0" anchor="ctr"/>
          <a:lstStyle/>
          <a:p>
            <a:pPr algn="r" indent="0" marL="0">
              <a:buNone/>
            </a:pPr>
            <a:r>
              <a:rPr lang="en-US" sz="900" dirty="0">
                <a:solidFill>
                  <a:srgbClr val="5B6B7F"/>
                </a:solidFill>
                <a:latin typeface="Sarabun" pitchFamily="34" charset="0"/>
                <a:ea typeface="Sarabun" pitchFamily="34" charset="-122"/>
                <a:cs typeface="Sarabun" pitchFamily="34" charset="-120"/>
              </a:rPr>
              <a:t>13 / 20</a:t>
            </a:r>
            <a:endParaRPr lang="en-US" sz="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298448"/>
          <a:ext cx="8229600" cy="914400"/>
        </p:xfrm>
        <a:graphic>
          <a:graphicData uri="http://schemas.openxmlformats.org/drawingml/2006/table">
            <a:tbl>
              <a:tblPr/>
              <a:tblGrid>
                <a:gridCol w="2514600"/>
                <a:gridCol w="4251960"/>
                <a:gridCol w="1463040"/>
              </a:tblGrid>
              <a:tr h="347472">
                <a:tc>
                  <a:txBody>
                    <a:bodyPr/>
                    <a:lstStyle/>
                    <a:p>
                      <a:pPr indent="0" marL="0">
                        <a:buNone/>
                      </a:pPr>
                      <a:r>
                        <a:rPr lang="en-US" sz="1100" b="1" dirty="0">
                          <a:solidFill>
                            <a:srgbClr val="FFFFFF"/>
                          </a:solidFill>
                          <a:latin typeface="Montserrat" pitchFamily="34" charset="0"/>
                          <a:ea typeface="Montserrat" pitchFamily="34" charset="-122"/>
                          <a:cs typeface="Montserrat" pitchFamily="34" charset="-120"/>
                        </a:rPr>
                        <a:t>Element</a:t>
                      </a:r>
                      <a:endParaRPr lang="en-US" sz="1100" dirty="0">
                        <a:latin typeface="Montserrat" charset="0"/>
                        <a:ea typeface="Montserrat" charset="0"/>
                        <a:cs typeface="Montserrat" charset="0"/>
                      </a:endParaRPr>
                    </a:p>
                  </a:txBody>
                  <a:tcPr marL="91440" marR="91440" marT="45720" marB="4572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0F1B2D"/>
                    </a:solidFill>
                  </a:tcPr>
                </a:tc>
                <a:tc>
                  <a:txBody>
                    <a:bodyPr/>
                    <a:lstStyle/>
                    <a:p>
                      <a:pPr indent="0" marL="0">
                        <a:buNone/>
                      </a:pPr>
                      <a:r>
                        <a:rPr lang="en-US" sz="1100" b="1" dirty="0">
                          <a:solidFill>
                            <a:srgbClr val="FFFFFF"/>
                          </a:solidFill>
                          <a:latin typeface="Montserrat" pitchFamily="34" charset="0"/>
                          <a:ea typeface="Montserrat" pitchFamily="34" charset="-122"/>
                          <a:cs typeface="Montserrat" pitchFamily="34" charset="-120"/>
                        </a:rPr>
                        <a:t>Facts in the TSR case</a:t>
                      </a:r>
                      <a:endParaRPr lang="en-US" sz="1100" dirty="0">
                        <a:latin typeface="Montserrat" charset="0"/>
                        <a:ea typeface="Montserrat" charset="0"/>
                        <a:cs typeface="Montserrat" charset="0"/>
                      </a:endParaRPr>
                    </a:p>
                  </a:txBody>
                  <a:tcPr marL="91440" marR="91440" marT="45720" marB="4572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0F1B2D"/>
                    </a:solidFill>
                  </a:tcPr>
                </a:tc>
                <a:tc>
                  <a:txBody>
                    <a:bodyPr/>
                    <a:lstStyle/>
                    <a:p>
                      <a:pPr indent="0" marL="0">
                        <a:buNone/>
                      </a:pPr>
                      <a:r>
                        <a:rPr lang="en-US" sz="1100" b="1" dirty="0">
                          <a:solidFill>
                            <a:srgbClr val="FFFFFF"/>
                          </a:solidFill>
                          <a:latin typeface="Montserrat" pitchFamily="34" charset="0"/>
                          <a:ea typeface="Montserrat" pitchFamily="34" charset="-122"/>
                          <a:cs typeface="Montserrat" pitchFamily="34" charset="-120"/>
                        </a:rPr>
                        <a:t>Result</a:t>
                      </a:r>
                      <a:endParaRPr lang="en-US" sz="1100" dirty="0">
                        <a:latin typeface="Montserrat" charset="0"/>
                        <a:ea typeface="Montserrat" charset="0"/>
                        <a:cs typeface="Montserrat" charset="0"/>
                      </a:endParaRPr>
                    </a:p>
                  </a:txBody>
                  <a:tcPr marL="91440" marR="91440" marT="45720" marB="4572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0F1B2D"/>
                    </a:solidFill>
                  </a:tcPr>
                </a:tc>
              </a:tr>
              <a:tr h="457200">
                <a:tc>
                  <a:txBody>
                    <a:bodyPr/>
                    <a:lstStyle/>
                    <a:p>
                      <a:pPr indent="0" marL="0">
                        <a:buNone/>
                      </a:pPr>
                      <a:r>
                        <a:rPr lang="en-US" sz="1300" b="1" dirty="0">
                          <a:solidFill>
                            <a:srgbClr val="0F1B2D"/>
                          </a:solidFill>
                          <a:latin typeface="Sarabun" pitchFamily="34" charset="0"/>
                          <a:ea typeface="Sarabun" pitchFamily="34" charset="-122"/>
                          <a:cs typeface="Sarabun" pitchFamily="34" charset="-120"/>
                        </a:rPr>
                        <a:t>Placing orders or trading</a:t>
                      </a:r>
                      <a:endParaRPr lang="en-US" sz="1300" dirty="0">
                        <a:latin typeface="Sarabun" charset="0"/>
                        <a:ea typeface="Sarabun" charset="0"/>
                        <a:cs typeface="Sarabun" charset="0"/>
                      </a:endParaRPr>
                    </a:p>
                  </a:txBody>
                  <a:tcPr marL="91440" marR="91440" marT="45720" marB="4572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1B2433"/>
                          </a:solidFill>
                          <a:latin typeface="Sarabun" pitchFamily="34" charset="0"/>
                          <a:ea typeface="Sarabun" pitchFamily="34" charset="-122"/>
                          <a:cs typeface="Sarabun" pitchFamily="34" charset="-120"/>
                        </a:rPr>
                        <a:t>Same conduct as above</a:t>
                      </a:r>
                      <a:endParaRPr lang="en-US" sz="1300" dirty="0">
                        <a:latin typeface="Sarabun" charset="0"/>
                        <a:ea typeface="Sarabun" charset="0"/>
                        <a:cs typeface="Sarabun" charset="0"/>
                      </a:endParaRPr>
                    </a:p>
                  </a:txBody>
                  <a:tcPr marL="91440" marR="91440" marT="45720" marB="4572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b="1" dirty="0">
                          <a:solidFill>
                            <a:srgbClr val="1E8C7E"/>
                          </a:solidFill>
                          <a:latin typeface="Sarabun" pitchFamily="34" charset="0"/>
                          <a:ea typeface="Sarabun" pitchFamily="34" charset="-122"/>
                          <a:cs typeface="Sarabun" pitchFamily="34" charset="-120"/>
                        </a:rPr>
                        <a:t>Met</a:t>
                      </a:r>
                      <a:endParaRPr lang="en-US" sz="1300" dirty="0">
                        <a:latin typeface="Sarabun" charset="0"/>
                        <a:ea typeface="Sarabun" charset="0"/>
                        <a:cs typeface="Sarabun" charset="0"/>
                      </a:endParaRPr>
                    </a:p>
                  </a:txBody>
                  <a:tcPr marL="91440" marR="91440" marT="45720" marB="4572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0F1B2D"/>
                          </a:solidFill>
                          <a:latin typeface="Sarabun" pitchFamily="34" charset="0"/>
                          <a:ea typeface="Sarabun" pitchFamily="34" charset="-122"/>
                          <a:cs typeface="Sarabun" pitchFamily="34" charset="-120"/>
                        </a:rPr>
                        <a:t>On a continued basis</a:t>
                      </a:r>
                      <a:endParaRPr lang="en-US" sz="1300" dirty="0">
                        <a:latin typeface="Sarabun" charset="0"/>
                        <a:ea typeface="Sarabun" charset="0"/>
                        <a:cs typeface="Sarabun" charset="0"/>
                      </a:endParaRPr>
                    </a:p>
                  </a:txBody>
                  <a:tcPr marL="91440" marR="91440" marT="45720" marB="4572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8FAFC"/>
                    </a:solidFill>
                  </a:tcPr>
                </a:tc>
                <a:tc>
                  <a:txBody>
                    <a:bodyPr/>
                    <a:lstStyle/>
                    <a:p>
                      <a:pPr indent="0" marL="0">
                        <a:buNone/>
                      </a:pPr>
                      <a:r>
                        <a:rPr lang="en-US" sz="1300" dirty="0">
                          <a:solidFill>
                            <a:srgbClr val="1B2433"/>
                          </a:solidFill>
                          <a:latin typeface="Sarabun" pitchFamily="34" charset="0"/>
                          <a:ea typeface="Sarabun" pitchFamily="34" charset="-122"/>
                          <a:cs typeface="Sarabun" pitchFamily="34" charset="-120"/>
                        </a:rPr>
                        <a:t>Day after day for 47 trading days (22 Jun – 31 Aug 2022)</a:t>
                      </a:r>
                      <a:endParaRPr lang="en-US" sz="1300" dirty="0">
                        <a:latin typeface="Sarabun" charset="0"/>
                        <a:ea typeface="Sarabun" charset="0"/>
                        <a:cs typeface="Sarabun" charset="0"/>
                      </a:endParaRPr>
                    </a:p>
                  </a:txBody>
                  <a:tcPr marL="91440" marR="91440" marT="45720" marB="4572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8FAFC"/>
                    </a:solidFill>
                  </a:tcPr>
                </a:tc>
                <a:tc>
                  <a:txBody>
                    <a:bodyPr/>
                    <a:lstStyle/>
                    <a:p>
                      <a:pPr indent="0" marL="0">
                        <a:buNone/>
                      </a:pPr>
                      <a:r>
                        <a:rPr lang="en-US" sz="1300" b="1" dirty="0">
                          <a:solidFill>
                            <a:srgbClr val="1E8C7E"/>
                          </a:solidFill>
                          <a:latin typeface="Sarabun" pitchFamily="34" charset="0"/>
                          <a:ea typeface="Sarabun" pitchFamily="34" charset="-122"/>
                          <a:cs typeface="Sarabun" pitchFamily="34" charset="-120"/>
                        </a:rPr>
                        <a:t>Met</a:t>
                      </a:r>
                      <a:endParaRPr lang="en-US" sz="1300" dirty="0">
                        <a:latin typeface="Sarabun" charset="0"/>
                        <a:ea typeface="Sarabun" charset="0"/>
                        <a:cs typeface="Sarabun" charset="0"/>
                      </a:endParaRPr>
                    </a:p>
                  </a:txBody>
                  <a:tcPr marL="91440" marR="91440" marT="45720" marB="4572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8FAFC"/>
                    </a:solidFill>
                  </a:tcPr>
                </a:tc>
              </a:tr>
              <a:tr h="457200">
                <a:tc>
                  <a:txBody>
                    <a:bodyPr/>
                    <a:lstStyle/>
                    <a:p>
                      <a:pPr indent="0" marL="0">
                        <a:buNone/>
                      </a:pPr>
                      <a:r>
                        <a:rPr lang="en-US" sz="1300" b="1" dirty="0">
                          <a:solidFill>
                            <a:srgbClr val="0F1B2D"/>
                          </a:solidFill>
                          <a:latin typeface="Sarabun" pitchFamily="34" charset="0"/>
                          <a:ea typeface="Sarabun" pitchFamily="34" charset="-122"/>
                          <a:cs typeface="Sarabun" pitchFamily="34" charset="-120"/>
                        </a:rPr>
                        <a:t>Intent to make price or volume abnormal</a:t>
                      </a:r>
                      <a:endParaRPr lang="en-US" sz="1300" dirty="0">
                        <a:latin typeface="Sarabun" charset="0"/>
                        <a:ea typeface="Sarabun" charset="0"/>
                        <a:cs typeface="Sarabun" charset="0"/>
                      </a:endParaRPr>
                    </a:p>
                  </a:txBody>
                  <a:tcPr marL="91440" marR="91440" marT="45720" marB="4572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1B2433"/>
                          </a:solidFill>
                          <a:latin typeface="Sarabun" pitchFamily="34" charset="0"/>
                          <a:ea typeface="Sarabun" pitchFamily="34" charset="-122"/>
                          <a:cs typeface="Sarabun" pitchFamily="34" charset="-120"/>
                        </a:rPr>
                        <a:t>Goal: lift TSR for SABUY’s Q2 fair-value gain and a trading profit; presumptions s.244/5(4)(5)</a:t>
                      </a:r>
                      <a:endParaRPr lang="en-US" sz="1300" dirty="0">
                        <a:latin typeface="Sarabun" charset="0"/>
                        <a:ea typeface="Sarabun" charset="0"/>
                        <a:cs typeface="Sarabun" charset="0"/>
                      </a:endParaRPr>
                    </a:p>
                  </a:txBody>
                  <a:tcPr marL="91440" marR="91440" marT="45720" marB="4572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b="1" dirty="0">
                          <a:solidFill>
                            <a:srgbClr val="1E8C7E"/>
                          </a:solidFill>
                          <a:latin typeface="Sarabun" pitchFamily="34" charset="0"/>
                          <a:ea typeface="Sarabun" pitchFamily="34" charset="-122"/>
                          <a:cs typeface="Sarabun" pitchFamily="34" charset="-120"/>
                        </a:rPr>
                        <a:t>Met</a:t>
                      </a:r>
                      <a:endParaRPr lang="en-US" sz="1300" dirty="0">
                        <a:latin typeface="Sarabun" charset="0"/>
                        <a:ea typeface="Sarabun" charset="0"/>
                        <a:cs typeface="Sarabun" charset="0"/>
                      </a:endParaRPr>
                    </a:p>
                  </a:txBody>
                  <a:tcPr marL="91440" marR="91440" marT="45720" marB="4572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bl>
          </a:graphicData>
        </a:graphic>
      </p:graphicFrame>
      <p:sp>
        <p:nvSpPr>
          <p:cNvPr id="9" name="Shape 5"/>
          <p:cNvSpPr/>
          <p:nvPr/>
        </p:nvSpPr>
        <p:spPr>
          <a:xfrm>
            <a:off x="457200" y="3383280"/>
            <a:ext cx="4023360" cy="1188720"/>
          </a:xfrm>
          <a:prstGeom prst="roundRect">
            <a:avLst>
              <a:gd name="adj" fmla="val 6154"/>
            </a:avLst>
          </a:prstGeom>
          <a:solidFill>
            <a:srgbClr val="FFFFFF"/>
          </a:solidFill>
          <a:ln w="9525">
            <a:solidFill>
              <a:srgbClr val="FFFFFF"/>
            </a:solidFill>
            <a:prstDash val="solid"/>
          </a:ln>
          <a:effectLst>
            <a:outerShdw sx="100000" sy="100000" kx="0" ky="0" algn="bl" rotWithShape="0" blurRad="76200" dist="25400" dir="5400000">
              <a:srgbClr val="0F1B2D">
                <a:alpha val="10000"/>
              </a:srgbClr>
            </a:outerShdw>
          </a:effectLst>
        </p:spPr>
      </p:sp>
      <p:sp>
        <p:nvSpPr>
          <p:cNvPr id="10" name="Text 6"/>
          <p:cNvSpPr txBox="1"/>
          <p:nvPr/>
        </p:nvSpPr>
        <p:spPr>
          <a:xfrm>
            <a:off x="640080" y="3474720"/>
            <a:ext cx="3657600" cy="274320"/>
          </a:xfrm>
          <a:prstGeom prst="rect">
            <a:avLst/>
          </a:prstGeom>
          <a:noFill/>
          <a:ln/>
        </p:spPr>
        <p:txBody>
          <a:bodyPr wrap="square" lIns="0" tIns="0" rIns="0" bIns="0" rtlCol="0" anchor="ctr"/>
          <a:lstStyle/>
          <a:p>
            <a:pPr indent="0" marL="0">
              <a:buNone/>
            </a:pPr>
            <a:r>
              <a:rPr lang="en-US" sz="1200" b="1" dirty="0">
                <a:solidFill>
                  <a:srgbClr val="E4572E"/>
                </a:solidFill>
                <a:latin typeface="Montserrat" pitchFamily="34" charset="0"/>
                <a:ea typeface="Montserrat" pitchFamily="34" charset="-122"/>
                <a:cs typeface="Montserrat" pitchFamily="34" charset="-120"/>
              </a:rPr>
              <a:t>Our inference</a:t>
            </a:r>
            <a:endParaRPr lang="en-US" sz="1200" dirty="0"/>
          </a:p>
        </p:txBody>
      </p:sp>
      <p:sp>
        <p:nvSpPr>
          <p:cNvPr id="11" name="Text 7"/>
          <p:cNvSpPr txBox="1"/>
          <p:nvPr/>
        </p:nvSpPr>
        <p:spPr>
          <a:xfrm>
            <a:off x="640080" y="3749040"/>
            <a:ext cx="3657600" cy="777240"/>
          </a:xfrm>
          <a:prstGeom prst="rect">
            <a:avLst/>
          </a:prstGeom>
          <a:noFill/>
          <a:ln/>
        </p:spPr>
        <p:txBody>
          <a:bodyPr wrap="square" lIns="0" tIns="0" rIns="0" bIns="0" rtlCol="0" anchor="t"/>
          <a:lstStyle/>
          <a:p>
            <a:pPr indent="0" marL="0">
              <a:buNone/>
            </a:pPr>
            <a:r>
              <a:rPr lang="en-US" sz="1250" dirty="0">
                <a:solidFill>
                  <a:srgbClr val="1B2433"/>
                </a:solidFill>
                <a:latin typeface="Sarabun" pitchFamily="34" charset="0"/>
                <a:ea typeface="Sarabun" pitchFamily="34" charset="-122"/>
                <a:cs typeface="Sarabun" pitchFamily="34" charset="-120"/>
              </a:rPr>
              <a:t>The news gives no pre-open or pre-close detail, but the SEC cited s.244/5(4). We infer orders aimed at the closing price, especially at quarter-end.</a:t>
            </a:r>
            <a:endParaRPr lang="en-US" sz="1250" dirty="0"/>
          </a:p>
        </p:txBody>
      </p:sp>
      <p:sp>
        <p:nvSpPr>
          <p:cNvPr id="12" name="Shape 8"/>
          <p:cNvSpPr/>
          <p:nvPr/>
        </p:nvSpPr>
        <p:spPr>
          <a:xfrm>
            <a:off x="4663440" y="3383280"/>
            <a:ext cx="4023360" cy="1188720"/>
          </a:xfrm>
          <a:prstGeom prst="roundRect">
            <a:avLst>
              <a:gd name="adj" fmla="val 6154"/>
            </a:avLst>
          </a:prstGeom>
          <a:solidFill>
            <a:srgbClr val="0F1B2D"/>
          </a:solidFill>
          <a:ln w="9525">
            <a:solidFill>
              <a:srgbClr val="0F1B2D"/>
            </a:solidFill>
            <a:prstDash val="solid"/>
          </a:ln>
          <a:effectLst>
            <a:outerShdw sx="100000" sy="100000" kx="0" ky="0" algn="bl" rotWithShape="0" blurRad="76200" dist="25400" dir="5400000">
              <a:srgbClr val="0F1B2D">
                <a:alpha val="10000"/>
              </a:srgbClr>
            </a:outerShdw>
          </a:effectLst>
        </p:spPr>
      </p:sp>
      <p:sp>
        <p:nvSpPr>
          <p:cNvPr id="13" name="Text 9"/>
          <p:cNvSpPr txBox="1"/>
          <p:nvPr/>
        </p:nvSpPr>
        <p:spPr>
          <a:xfrm>
            <a:off x="4846320" y="3474720"/>
            <a:ext cx="3657600" cy="274320"/>
          </a:xfrm>
          <a:prstGeom prst="rect">
            <a:avLst/>
          </a:prstGeom>
          <a:noFill/>
          <a:ln/>
        </p:spPr>
        <p:txBody>
          <a:bodyPr wrap="square" lIns="0" tIns="0" rIns="0" bIns="0" rtlCol="0" anchor="ctr"/>
          <a:lstStyle/>
          <a:p>
            <a:pPr indent="0" marL="0">
              <a:buNone/>
            </a:pPr>
            <a:r>
              <a:rPr lang="en-US" sz="1200" b="1" dirty="0">
                <a:solidFill>
                  <a:srgbClr val="E4572E"/>
                </a:solidFill>
                <a:latin typeface="Montserrat" pitchFamily="34" charset="0"/>
                <a:ea typeface="Montserrat" pitchFamily="34" charset="-122"/>
                <a:cs typeface="Montserrat" pitchFamily="34" charset="-120"/>
              </a:rPr>
              <a:t>Conclusion</a:t>
            </a:r>
            <a:endParaRPr lang="en-US" sz="1200" dirty="0"/>
          </a:p>
        </p:txBody>
      </p:sp>
      <p:sp>
        <p:nvSpPr>
          <p:cNvPr id="14" name="Text 10"/>
          <p:cNvSpPr txBox="1"/>
          <p:nvPr/>
        </p:nvSpPr>
        <p:spPr>
          <a:xfrm>
            <a:off x="4846320" y="3749040"/>
            <a:ext cx="3657600" cy="777240"/>
          </a:xfrm>
          <a:prstGeom prst="rect">
            <a:avLst/>
          </a:prstGeom>
          <a:noFill/>
          <a:ln/>
        </p:spPr>
        <p:txBody>
          <a:bodyPr wrap="square" lIns="0" tIns="0" rIns="0" bIns="0" rtlCol="0" anchor="t"/>
          <a:lstStyle/>
          <a:p>
            <a:pPr indent="0" marL="0">
              <a:buNone/>
            </a:pPr>
            <a:r>
              <a:rPr lang="en-US" sz="1300" dirty="0">
                <a:solidFill>
                  <a:srgbClr val="FFFFFF"/>
                </a:solidFill>
                <a:latin typeface="Sarabun" pitchFamily="34" charset="0"/>
                <a:ea typeface="Sarabun" pitchFamily="34" charset="-122"/>
                <a:cs typeface="Sarabun" pitchFamily="34" charset="-120"/>
              </a:rPr>
              <a:t>The conduct fits both (1) and (2), matching the SEC’s charge: s.244/3(1)(2) with s.244/5(4)(5).</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457200" y="310896"/>
            <a:ext cx="1207008" cy="246888"/>
          </a:xfrm>
          <a:prstGeom prst="roundRect">
            <a:avLst>
              <a:gd name="adj" fmla="val 50000"/>
            </a:avLst>
          </a:prstGeom>
          <a:solidFill>
            <a:srgbClr val="E4572E"/>
          </a:solidFill>
          <a:ln w="12700">
            <a:solidFill>
              <a:srgbClr val="E4572E"/>
            </a:solidFill>
            <a:prstDash val="solid"/>
          </a:ln>
        </p:spPr>
      </p:sp>
      <p:sp>
        <p:nvSpPr>
          <p:cNvPr id="3" name="Text 1"/>
          <p:cNvSpPr txBox="1"/>
          <p:nvPr/>
        </p:nvSpPr>
        <p:spPr>
          <a:xfrm>
            <a:off x="457200" y="310896"/>
            <a:ext cx="1207008" cy="24688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Montserrat" pitchFamily="34" charset="0"/>
                <a:ea typeface="Montserrat" pitchFamily="34" charset="-122"/>
                <a:cs typeface="Montserrat" pitchFamily="34" charset="-120"/>
              </a:rPr>
              <a:t>THE ANALYSIS</a:t>
            </a:r>
            <a:endParaRPr lang="en-US" sz="850" dirty="0"/>
          </a:p>
        </p:txBody>
      </p:sp>
      <p:sp>
        <p:nvSpPr>
          <p:cNvPr id="4" name="Text 2"/>
          <p:cNvSpPr txBox="1"/>
          <p:nvPr/>
        </p:nvSpPr>
        <p:spPr>
          <a:xfrm>
            <a:off x="457200" y="640080"/>
            <a:ext cx="8229600" cy="502920"/>
          </a:xfrm>
          <a:prstGeom prst="rect">
            <a:avLst/>
          </a:prstGeom>
          <a:noFill/>
          <a:ln/>
        </p:spPr>
        <p:txBody>
          <a:bodyPr wrap="square" lIns="0" tIns="0" rIns="0" bIns="0" rtlCol="0" anchor="ctr"/>
          <a:lstStyle/>
          <a:p>
            <a:pPr indent="0" marL="0">
              <a:buNone/>
            </a:pPr>
            <a:r>
              <a:rPr lang="en-US" sz="2600" b="1" dirty="0">
                <a:solidFill>
                  <a:srgbClr val="0F1B2D"/>
                </a:solidFill>
                <a:latin typeface="Montserrat" pitchFamily="34" charset="0"/>
                <a:ea typeface="Montserrat" pitchFamily="34" charset="-122"/>
                <a:cs typeface="Montserrat" pitchFamily="34" charset="-120"/>
              </a:rPr>
              <a:t>Other Offences Considered</a:t>
            </a:r>
            <a:endParaRPr lang="en-US" sz="2600" dirty="0"/>
          </a:p>
        </p:txBody>
      </p:sp>
      <p:sp>
        <p:nvSpPr>
          <p:cNvPr id="5" name="Text 3"/>
          <p:cNvSpPr txBox="1"/>
          <p:nvPr/>
        </p:nvSpPr>
        <p:spPr>
          <a:xfrm>
            <a:off x="457200" y="4773168"/>
            <a:ext cx="4572000" cy="228600"/>
          </a:xfrm>
          <a:prstGeom prst="rect">
            <a:avLst/>
          </a:prstGeom>
          <a:noFill/>
          <a:ln/>
        </p:spPr>
        <p:txBody>
          <a:bodyPr wrap="square" lIns="0" tIns="0" rIns="0" bIns="0" rtlCol="0" anchor="ctr"/>
          <a:lstStyle/>
          <a:p>
            <a:pPr indent="0" marL="0">
              <a:buNone/>
            </a:pPr>
            <a:r>
              <a:rPr lang="en-US" sz="900" dirty="0">
                <a:solidFill>
                  <a:srgbClr val="5B6B7F"/>
                </a:solidFill>
                <a:latin typeface="Sarabun" pitchFamily="34" charset="0"/>
                <a:ea typeface="Sarabun" pitchFamily="34" charset="-122"/>
                <a:cs typeface="Sarabun" pitchFamily="34" charset="-120"/>
              </a:rPr>
              <a:t>Group 3  ·  TSR Market Manipulation Case</a:t>
            </a:r>
            <a:endParaRPr lang="en-US" sz="900" dirty="0"/>
          </a:p>
        </p:txBody>
      </p:sp>
      <p:sp>
        <p:nvSpPr>
          <p:cNvPr id="6" name="Text 4"/>
          <p:cNvSpPr txBox="1"/>
          <p:nvPr/>
        </p:nvSpPr>
        <p:spPr>
          <a:xfrm>
            <a:off x="7772400" y="4773168"/>
            <a:ext cx="914400" cy="228600"/>
          </a:xfrm>
          <a:prstGeom prst="rect">
            <a:avLst/>
          </a:prstGeom>
          <a:noFill/>
          <a:ln/>
        </p:spPr>
        <p:txBody>
          <a:bodyPr wrap="square" lIns="0" tIns="0" rIns="0" bIns="0" rtlCol="0" anchor="ctr"/>
          <a:lstStyle/>
          <a:p>
            <a:pPr algn="r" indent="0" marL="0">
              <a:buNone/>
            </a:pPr>
            <a:r>
              <a:rPr lang="en-US" sz="900" dirty="0">
                <a:solidFill>
                  <a:srgbClr val="5B6B7F"/>
                </a:solidFill>
                <a:latin typeface="Sarabun" pitchFamily="34" charset="0"/>
                <a:ea typeface="Sarabun" pitchFamily="34" charset="-122"/>
                <a:cs typeface="Sarabun" pitchFamily="34" charset="-120"/>
              </a:rPr>
              <a:t>14 / 20</a:t>
            </a:r>
            <a:endParaRPr lang="en-US" sz="900" dirty="0"/>
          </a:p>
        </p:txBody>
      </p:sp>
      <p:sp>
        <p:nvSpPr>
          <p:cNvPr id="8" name="Shape 5"/>
          <p:cNvSpPr/>
          <p:nvPr/>
        </p:nvSpPr>
        <p:spPr>
          <a:xfrm>
            <a:off x="457200" y="1371600"/>
            <a:ext cx="2651760" cy="1371600"/>
          </a:xfrm>
          <a:prstGeom prst="roundRect">
            <a:avLst>
              <a:gd name="adj" fmla="val 5333"/>
            </a:avLst>
          </a:prstGeom>
          <a:solidFill>
            <a:srgbClr val="FFFFFF"/>
          </a:solidFill>
          <a:ln w="9525">
            <a:solidFill>
              <a:srgbClr val="FFFFFF"/>
            </a:solidFill>
            <a:prstDash val="solid"/>
          </a:ln>
          <a:effectLst>
            <a:outerShdw sx="100000" sy="100000" kx="0" ky="0" algn="bl" rotWithShape="0" blurRad="76200" dist="25400" dir="5400000">
              <a:srgbClr val="0F1B2D">
                <a:alpha val="10000"/>
              </a:srgbClr>
            </a:outerShdw>
          </a:effectLst>
        </p:spPr>
      </p:sp>
      <p:sp>
        <p:nvSpPr>
          <p:cNvPr id="9" name="Shape 6"/>
          <p:cNvSpPr/>
          <p:nvPr/>
        </p:nvSpPr>
        <p:spPr>
          <a:xfrm>
            <a:off x="640080" y="1554480"/>
            <a:ext cx="384048" cy="384048"/>
          </a:xfrm>
          <a:prstGeom prst="ellipse">
            <a:avLst/>
          </a:prstGeom>
          <a:solidFill>
            <a:srgbClr val="9AA6B5"/>
          </a:solidFill>
          <a:ln w="12700">
            <a:solidFill>
              <a:srgbClr val="9AA6B5"/>
            </a:solidFill>
            <a:prstDash val="solid"/>
          </a:ln>
        </p:spPr>
      </p:sp>
      <p:pic>
        <p:nvPicPr>
          <p:cNvPr id="10"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11" name="Text 7"/>
          <p:cNvSpPr txBox="1"/>
          <p:nvPr/>
        </p:nvSpPr>
        <p:spPr>
          <a:xfrm>
            <a:off x="1143000" y="1527048"/>
            <a:ext cx="1828800" cy="457200"/>
          </a:xfrm>
          <a:prstGeom prst="rect">
            <a:avLst/>
          </a:prstGeom>
          <a:noFill/>
          <a:ln/>
        </p:spPr>
        <p:txBody>
          <a:bodyPr wrap="square" lIns="0" tIns="0" rIns="0" bIns="0" rtlCol="0" anchor="ctr"/>
          <a:lstStyle/>
          <a:p>
            <a:pPr indent="0" marL="0">
              <a:buNone/>
            </a:pPr>
            <a:r>
              <a:rPr lang="en-US" sz="1150" b="1" dirty="0">
                <a:solidFill>
                  <a:srgbClr val="0F1B2D"/>
                </a:solidFill>
                <a:latin typeface="Montserrat" pitchFamily="34" charset="0"/>
                <a:ea typeface="Montserrat" pitchFamily="34" charset="-122"/>
                <a:cs typeface="Montserrat" pitchFamily="34" charset="-120"/>
              </a:rPr>
              <a:t>s.240  False statements</a:t>
            </a:r>
            <a:endParaRPr lang="en-US" sz="1150" dirty="0"/>
          </a:p>
        </p:txBody>
      </p:sp>
      <p:sp>
        <p:nvSpPr>
          <p:cNvPr id="12" name="Text 8"/>
          <p:cNvSpPr txBox="1"/>
          <p:nvPr/>
        </p:nvSpPr>
        <p:spPr>
          <a:xfrm>
            <a:off x="640080" y="2084832"/>
            <a:ext cx="2286000" cy="548640"/>
          </a:xfrm>
          <a:prstGeom prst="rect">
            <a:avLst/>
          </a:prstGeom>
          <a:noFill/>
          <a:ln/>
        </p:spPr>
        <p:txBody>
          <a:bodyPr wrap="square" lIns="0" tIns="0" rIns="0" bIns="0" rtlCol="0" anchor="t"/>
          <a:lstStyle/>
          <a:p>
            <a:pPr indent="0" marL="0">
              <a:buNone/>
            </a:pPr>
            <a:r>
              <a:rPr lang="en-US" sz="1300" dirty="0">
                <a:solidFill>
                  <a:srgbClr val="1B2433"/>
                </a:solidFill>
                <a:latin typeface="Sarabun" pitchFamily="34" charset="0"/>
                <a:ea typeface="Sarabun" pitchFamily="34" charset="-122"/>
                <a:cs typeface="Sarabun" pitchFamily="34" charset="-120"/>
              </a:rPr>
              <a:t>No false information was spread</a:t>
            </a:r>
            <a:endParaRPr lang="en-US" sz="1300" dirty="0"/>
          </a:p>
        </p:txBody>
      </p:sp>
      <p:sp>
        <p:nvSpPr>
          <p:cNvPr id="13" name="Shape 9"/>
          <p:cNvSpPr/>
          <p:nvPr/>
        </p:nvSpPr>
        <p:spPr>
          <a:xfrm>
            <a:off x="3246120" y="1371600"/>
            <a:ext cx="2651760" cy="1371600"/>
          </a:xfrm>
          <a:prstGeom prst="roundRect">
            <a:avLst>
              <a:gd name="adj" fmla="val 5333"/>
            </a:avLst>
          </a:prstGeom>
          <a:solidFill>
            <a:srgbClr val="FFFFFF"/>
          </a:solidFill>
          <a:ln w="9525">
            <a:solidFill>
              <a:srgbClr val="FFFFFF"/>
            </a:solidFill>
            <a:prstDash val="solid"/>
          </a:ln>
          <a:effectLst>
            <a:outerShdw sx="100000" sy="100000" kx="0" ky="0" algn="bl" rotWithShape="0" blurRad="76200" dist="25400" dir="5400000">
              <a:srgbClr val="0F1B2D">
                <a:alpha val="10000"/>
              </a:srgbClr>
            </a:outerShdw>
          </a:effectLst>
        </p:spPr>
      </p:sp>
      <p:sp>
        <p:nvSpPr>
          <p:cNvPr id="14" name="Shape 10"/>
          <p:cNvSpPr/>
          <p:nvPr/>
        </p:nvSpPr>
        <p:spPr>
          <a:xfrm>
            <a:off x="3429000" y="1554480"/>
            <a:ext cx="384048" cy="384048"/>
          </a:xfrm>
          <a:prstGeom prst="ellipse">
            <a:avLst/>
          </a:prstGeom>
          <a:solidFill>
            <a:srgbClr val="9AA6B5"/>
          </a:solidFill>
          <a:ln w="12700">
            <a:solidFill>
              <a:srgbClr val="9AA6B5"/>
            </a:solidFill>
            <a:prstDash val="solid"/>
          </a:ln>
        </p:spPr>
      </p:sp>
      <p:pic>
        <p:nvPicPr>
          <p:cNvPr id="15" name="Image 1" descr="preencoded.png">    </p:cNvPr>
          <p:cNvPicPr>
            <a:picLocks noChangeAspect="1"/>
          </p:cNvPicPr>
          <p:nvPr/>
        </p:nvPicPr>
        <p:blipFill>
          <a:blip r:embed="rId2"/>
          <a:stretch>
            <a:fillRect/>
          </a:stretch>
        </p:blipFill>
        <p:spPr>
          <a:xfrm>
            <a:off x="3528852" y="1654332"/>
            <a:ext cx="184343" cy="184343"/>
          </a:xfrm>
          <a:prstGeom prst="rect">
            <a:avLst/>
          </a:prstGeom>
        </p:spPr>
      </p:pic>
      <p:sp>
        <p:nvSpPr>
          <p:cNvPr id="16" name="Text 11"/>
          <p:cNvSpPr txBox="1"/>
          <p:nvPr/>
        </p:nvSpPr>
        <p:spPr>
          <a:xfrm>
            <a:off x="3931920" y="1527048"/>
            <a:ext cx="1828800" cy="457200"/>
          </a:xfrm>
          <a:prstGeom prst="rect">
            <a:avLst/>
          </a:prstGeom>
          <a:noFill/>
          <a:ln/>
        </p:spPr>
        <p:txBody>
          <a:bodyPr wrap="square" lIns="0" tIns="0" rIns="0" bIns="0" rtlCol="0" anchor="ctr"/>
          <a:lstStyle/>
          <a:p>
            <a:pPr indent="0" marL="0">
              <a:buNone/>
            </a:pPr>
            <a:r>
              <a:rPr lang="en-US" sz="1150" b="1" dirty="0">
                <a:solidFill>
                  <a:srgbClr val="0F1B2D"/>
                </a:solidFill>
                <a:latin typeface="Montserrat" pitchFamily="34" charset="0"/>
                <a:ea typeface="Montserrat" pitchFamily="34" charset="-122"/>
                <a:cs typeface="Montserrat" pitchFamily="34" charset="-120"/>
              </a:rPr>
              <a:t>s.241  Misleading analysis</a:t>
            </a:r>
            <a:endParaRPr lang="en-US" sz="1150" dirty="0"/>
          </a:p>
        </p:txBody>
      </p:sp>
      <p:sp>
        <p:nvSpPr>
          <p:cNvPr id="17" name="Text 12"/>
          <p:cNvSpPr txBox="1"/>
          <p:nvPr/>
        </p:nvSpPr>
        <p:spPr>
          <a:xfrm>
            <a:off x="3429000" y="2084832"/>
            <a:ext cx="2286000" cy="548640"/>
          </a:xfrm>
          <a:prstGeom prst="rect">
            <a:avLst/>
          </a:prstGeom>
          <a:noFill/>
          <a:ln/>
        </p:spPr>
        <p:txBody>
          <a:bodyPr wrap="square" lIns="0" tIns="0" rIns="0" bIns="0" rtlCol="0" anchor="t"/>
          <a:lstStyle/>
          <a:p>
            <a:pPr indent="0" marL="0">
              <a:buNone/>
            </a:pPr>
            <a:r>
              <a:rPr lang="en-US" sz="1300" dirty="0">
                <a:solidFill>
                  <a:srgbClr val="1B2433"/>
                </a:solidFill>
                <a:latin typeface="Sarabun" pitchFamily="34" charset="0"/>
                <a:ea typeface="Sarabun" pitchFamily="34" charset="-122"/>
                <a:cs typeface="Sarabun" pitchFamily="34" charset="-120"/>
              </a:rPr>
              <a:t>No analysis or forecast involved</a:t>
            </a:r>
            <a:endParaRPr lang="en-US" sz="1300" dirty="0"/>
          </a:p>
        </p:txBody>
      </p:sp>
      <p:sp>
        <p:nvSpPr>
          <p:cNvPr id="18" name="Shape 13"/>
          <p:cNvSpPr/>
          <p:nvPr/>
        </p:nvSpPr>
        <p:spPr>
          <a:xfrm>
            <a:off x="6035040" y="1371600"/>
            <a:ext cx="2651760" cy="1371600"/>
          </a:xfrm>
          <a:prstGeom prst="roundRect">
            <a:avLst>
              <a:gd name="adj" fmla="val 5333"/>
            </a:avLst>
          </a:prstGeom>
          <a:solidFill>
            <a:srgbClr val="FFFFFF"/>
          </a:solidFill>
          <a:ln w="9525">
            <a:solidFill>
              <a:srgbClr val="FFFFFF"/>
            </a:solidFill>
            <a:prstDash val="solid"/>
          </a:ln>
          <a:effectLst>
            <a:outerShdw sx="100000" sy="100000" kx="0" ky="0" algn="bl" rotWithShape="0" blurRad="76200" dist="25400" dir="5400000">
              <a:srgbClr val="0F1B2D">
                <a:alpha val="10000"/>
              </a:srgbClr>
            </a:outerShdw>
          </a:effectLst>
        </p:spPr>
      </p:sp>
      <p:sp>
        <p:nvSpPr>
          <p:cNvPr id="19" name="Shape 14"/>
          <p:cNvSpPr/>
          <p:nvPr/>
        </p:nvSpPr>
        <p:spPr>
          <a:xfrm>
            <a:off x="6217920" y="1554480"/>
            <a:ext cx="384048" cy="384048"/>
          </a:xfrm>
          <a:prstGeom prst="ellipse">
            <a:avLst/>
          </a:prstGeom>
          <a:solidFill>
            <a:srgbClr val="9AA6B5"/>
          </a:solidFill>
          <a:ln w="12700">
            <a:solidFill>
              <a:srgbClr val="9AA6B5"/>
            </a:solidFill>
            <a:prstDash val="solid"/>
          </a:ln>
        </p:spPr>
      </p:sp>
      <p:pic>
        <p:nvPicPr>
          <p:cNvPr id="20" name="Image 2" descr="preencoded.png">    </p:cNvPr>
          <p:cNvPicPr>
            <a:picLocks noChangeAspect="1"/>
          </p:cNvPicPr>
          <p:nvPr/>
        </p:nvPicPr>
        <p:blipFill>
          <a:blip r:embed="rId3"/>
          <a:stretch>
            <a:fillRect/>
          </a:stretch>
        </p:blipFill>
        <p:spPr>
          <a:xfrm>
            <a:off x="6317772" y="1654332"/>
            <a:ext cx="184343" cy="184343"/>
          </a:xfrm>
          <a:prstGeom prst="rect">
            <a:avLst/>
          </a:prstGeom>
        </p:spPr>
      </p:pic>
      <p:sp>
        <p:nvSpPr>
          <p:cNvPr id="21" name="Text 15"/>
          <p:cNvSpPr txBox="1"/>
          <p:nvPr/>
        </p:nvSpPr>
        <p:spPr>
          <a:xfrm>
            <a:off x="6720840" y="1527048"/>
            <a:ext cx="1828800" cy="457200"/>
          </a:xfrm>
          <a:prstGeom prst="rect">
            <a:avLst/>
          </a:prstGeom>
          <a:noFill/>
          <a:ln/>
        </p:spPr>
        <p:txBody>
          <a:bodyPr wrap="square" lIns="0" tIns="0" rIns="0" bIns="0" rtlCol="0" anchor="ctr"/>
          <a:lstStyle/>
          <a:p>
            <a:pPr indent="0" marL="0">
              <a:buNone/>
            </a:pPr>
            <a:r>
              <a:rPr lang="en-US" sz="1150" b="1" dirty="0">
                <a:solidFill>
                  <a:srgbClr val="0F1B2D"/>
                </a:solidFill>
                <a:latin typeface="Montserrat" pitchFamily="34" charset="0"/>
                <a:ea typeface="Montserrat" pitchFamily="34" charset="-122"/>
                <a:cs typeface="Montserrat" pitchFamily="34" charset="-120"/>
              </a:rPr>
              <a:t>s.242  Insider trading</a:t>
            </a:r>
            <a:endParaRPr lang="en-US" sz="1150" dirty="0"/>
          </a:p>
        </p:txBody>
      </p:sp>
      <p:sp>
        <p:nvSpPr>
          <p:cNvPr id="22" name="Text 16"/>
          <p:cNvSpPr txBox="1"/>
          <p:nvPr/>
        </p:nvSpPr>
        <p:spPr>
          <a:xfrm>
            <a:off x="6217920" y="2084832"/>
            <a:ext cx="2286000" cy="548640"/>
          </a:xfrm>
          <a:prstGeom prst="rect">
            <a:avLst/>
          </a:prstGeom>
          <a:noFill/>
          <a:ln/>
        </p:spPr>
        <p:txBody>
          <a:bodyPr wrap="square" lIns="0" tIns="0" rIns="0" bIns="0" rtlCol="0" anchor="t"/>
          <a:lstStyle/>
          <a:p>
            <a:pPr indent="0" marL="0">
              <a:buNone/>
            </a:pPr>
            <a:r>
              <a:rPr lang="en-US" sz="1300" dirty="0">
                <a:solidFill>
                  <a:srgbClr val="1B2433"/>
                </a:solidFill>
                <a:latin typeface="Sarabun" pitchFamily="34" charset="0"/>
                <a:ea typeface="Sarabun" pitchFamily="34" charset="-122"/>
                <a:cs typeface="Sarabun" pitchFamily="34" charset="-120"/>
              </a:rPr>
              <a:t>No inside information alleged</a:t>
            </a:r>
            <a:endParaRPr lang="en-US" sz="1300" dirty="0"/>
          </a:p>
        </p:txBody>
      </p:sp>
      <p:sp>
        <p:nvSpPr>
          <p:cNvPr id="23" name="Shape 17"/>
          <p:cNvSpPr/>
          <p:nvPr/>
        </p:nvSpPr>
        <p:spPr>
          <a:xfrm>
            <a:off x="457200" y="2926080"/>
            <a:ext cx="2651760" cy="1371600"/>
          </a:xfrm>
          <a:prstGeom prst="roundRect">
            <a:avLst>
              <a:gd name="adj" fmla="val 5333"/>
            </a:avLst>
          </a:prstGeom>
          <a:solidFill>
            <a:srgbClr val="FFFFFF"/>
          </a:solidFill>
          <a:ln w="9525">
            <a:solidFill>
              <a:srgbClr val="FFFFFF"/>
            </a:solidFill>
            <a:prstDash val="solid"/>
          </a:ln>
          <a:effectLst>
            <a:outerShdw sx="100000" sy="100000" kx="0" ky="0" algn="bl" rotWithShape="0" blurRad="76200" dist="25400" dir="5400000">
              <a:srgbClr val="0F1B2D">
                <a:alpha val="10000"/>
              </a:srgbClr>
            </a:outerShdw>
          </a:effectLst>
        </p:spPr>
      </p:sp>
      <p:sp>
        <p:nvSpPr>
          <p:cNvPr id="24" name="Shape 18"/>
          <p:cNvSpPr/>
          <p:nvPr/>
        </p:nvSpPr>
        <p:spPr>
          <a:xfrm>
            <a:off x="640080" y="3108960"/>
            <a:ext cx="384048" cy="384048"/>
          </a:xfrm>
          <a:prstGeom prst="ellipse">
            <a:avLst/>
          </a:prstGeom>
          <a:solidFill>
            <a:srgbClr val="9AA6B5"/>
          </a:solidFill>
          <a:ln w="12700">
            <a:solidFill>
              <a:srgbClr val="9AA6B5"/>
            </a:solidFill>
            <a:prstDash val="solid"/>
          </a:ln>
        </p:spPr>
      </p:sp>
      <p:pic>
        <p:nvPicPr>
          <p:cNvPr id="25" name="Image 3" descr="preencoded.png">    </p:cNvPr>
          <p:cNvPicPr>
            <a:picLocks noChangeAspect="1"/>
          </p:cNvPicPr>
          <p:nvPr/>
        </p:nvPicPr>
        <p:blipFill>
          <a:blip r:embed="rId4"/>
          <a:stretch>
            <a:fillRect/>
          </a:stretch>
        </p:blipFill>
        <p:spPr>
          <a:xfrm>
            <a:off x="739932" y="3208812"/>
            <a:ext cx="184343" cy="184343"/>
          </a:xfrm>
          <a:prstGeom prst="rect">
            <a:avLst/>
          </a:prstGeom>
        </p:spPr>
      </p:pic>
      <p:sp>
        <p:nvSpPr>
          <p:cNvPr id="26" name="Text 19"/>
          <p:cNvSpPr txBox="1"/>
          <p:nvPr/>
        </p:nvSpPr>
        <p:spPr>
          <a:xfrm>
            <a:off x="1143000" y="3081528"/>
            <a:ext cx="1828800" cy="457200"/>
          </a:xfrm>
          <a:prstGeom prst="rect">
            <a:avLst/>
          </a:prstGeom>
          <a:noFill/>
          <a:ln/>
        </p:spPr>
        <p:txBody>
          <a:bodyPr wrap="square" lIns="0" tIns="0" rIns="0" bIns="0" rtlCol="0" anchor="ctr"/>
          <a:lstStyle/>
          <a:p>
            <a:pPr indent="0" marL="0">
              <a:buNone/>
            </a:pPr>
            <a:r>
              <a:rPr lang="en-US" sz="1150" b="1" dirty="0">
                <a:solidFill>
                  <a:srgbClr val="0F1B2D"/>
                </a:solidFill>
                <a:latin typeface="Montserrat" pitchFamily="34" charset="0"/>
                <a:ea typeface="Montserrat" pitchFamily="34" charset="-122"/>
                <a:cs typeface="Montserrat" pitchFamily="34" charset="-120"/>
              </a:rPr>
              <a:t>s.244/6  Nominee accounts</a:t>
            </a:r>
            <a:endParaRPr lang="en-US" sz="1150" dirty="0"/>
          </a:p>
        </p:txBody>
      </p:sp>
      <p:sp>
        <p:nvSpPr>
          <p:cNvPr id="27" name="Text 20"/>
          <p:cNvSpPr txBox="1"/>
          <p:nvPr/>
        </p:nvSpPr>
        <p:spPr>
          <a:xfrm>
            <a:off x="640080" y="3639312"/>
            <a:ext cx="2286000" cy="548640"/>
          </a:xfrm>
          <a:prstGeom prst="rect">
            <a:avLst/>
          </a:prstGeom>
          <a:noFill/>
          <a:ln/>
        </p:spPr>
        <p:txBody>
          <a:bodyPr wrap="square" lIns="0" tIns="0" rIns="0" bIns="0" rtlCol="0" anchor="t"/>
          <a:lstStyle/>
          <a:p>
            <a:pPr indent="0" marL="0">
              <a:buNone/>
            </a:pPr>
            <a:r>
              <a:rPr lang="en-US" sz="1300" dirty="0">
                <a:solidFill>
                  <a:srgbClr val="1B2433"/>
                </a:solidFill>
                <a:latin typeface="Sarabun" pitchFamily="34" charset="0"/>
                <a:ea typeface="Sarabun" pitchFamily="34" charset="-122"/>
                <a:cs typeface="Sarabun" pitchFamily="34" charset="-120"/>
              </a:rPr>
              <a:t>No shared or borrowed accounts reported</a:t>
            </a:r>
            <a:endParaRPr lang="en-US" sz="1300" dirty="0"/>
          </a:p>
        </p:txBody>
      </p:sp>
      <p:sp>
        <p:nvSpPr>
          <p:cNvPr id="28" name="Shape 21"/>
          <p:cNvSpPr/>
          <p:nvPr/>
        </p:nvSpPr>
        <p:spPr>
          <a:xfrm>
            <a:off x="3246120" y="2926080"/>
            <a:ext cx="2651760" cy="1371600"/>
          </a:xfrm>
          <a:prstGeom prst="roundRect">
            <a:avLst>
              <a:gd name="adj" fmla="val 5333"/>
            </a:avLst>
          </a:prstGeom>
          <a:solidFill>
            <a:srgbClr val="FFFFFF"/>
          </a:solidFill>
          <a:ln w="9525">
            <a:solidFill>
              <a:srgbClr val="FFFFFF"/>
            </a:solidFill>
            <a:prstDash val="solid"/>
          </a:ln>
          <a:effectLst>
            <a:outerShdw sx="100000" sy="100000" kx="0" ky="0" algn="bl" rotWithShape="0" blurRad="76200" dist="25400" dir="5400000">
              <a:srgbClr val="0F1B2D">
                <a:alpha val="10000"/>
              </a:srgbClr>
            </a:outerShdw>
          </a:effectLst>
        </p:spPr>
      </p:sp>
      <p:sp>
        <p:nvSpPr>
          <p:cNvPr id="29" name="Shape 22"/>
          <p:cNvSpPr/>
          <p:nvPr/>
        </p:nvSpPr>
        <p:spPr>
          <a:xfrm>
            <a:off x="3429000" y="3108960"/>
            <a:ext cx="384048" cy="384048"/>
          </a:xfrm>
          <a:prstGeom prst="ellipse">
            <a:avLst/>
          </a:prstGeom>
          <a:solidFill>
            <a:srgbClr val="9AA6B5"/>
          </a:solidFill>
          <a:ln w="12700">
            <a:solidFill>
              <a:srgbClr val="9AA6B5"/>
            </a:solidFill>
            <a:prstDash val="solid"/>
          </a:ln>
        </p:spPr>
      </p:sp>
      <p:pic>
        <p:nvPicPr>
          <p:cNvPr id="30" name="Image 4" descr="preencoded.png">    </p:cNvPr>
          <p:cNvPicPr>
            <a:picLocks noChangeAspect="1"/>
          </p:cNvPicPr>
          <p:nvPr/>
        </p:nvPicPr>
        <p:blipFill>
          <a:blip r:embed="rId5"/>
          <a:stretch>
            <a:fillRect/>
          </a:stretch>
        </p:blipFill>
        <p:spPr>
          <a:xfrm>
            <a:off x="3528852" y="3208812"/>
            <a:ext cx="184343" cy="184343"/>
          </a:xfrm>
          <a:prstGeom prst="rect">
            <a:avLst/>
          </a:prstGeom>
        </p:spPr>
      </p:pic>
      <p:sp>
        <p:nvSpPr>
          <p:cNvPr id="31" name="Text 23"/>
          <p:cNvSpPr txBox="1"/>
          <p:nvPr/>
        </p:nvSpPr>
        <p:spPr>
          <a:xfrm>
            <a:off x="3931920" y="3081528"/>
            <a:ext cx="1828800" cy="457200"/>
          </a:xfrm>
          <a:prstGeom prst="rect">
            <a:avLst/>
          </a:prstGeom>
          <a:noFill/>
          <a:ln/>
        </p:spPr>
        <p:txBody>
          <a:bodyPr wrap="square" lIns="0" tIns="0" rIns="0" bIns="0" rtlCol="0" anchor="ctr"/>
          <a:lstStyle/>
          <a:p>
            <a:pPr indent="0" marL="0">
              <a:buNone/>
            </a:pPr>
            <a:r>
              <a:rPr lang="en-US" sz="1150" b="1" dirty="0">
                <a:solidFill>
                  <a:srgbClr val="0F1B2D"/>
                </a:solidFill>
                <a:latin typeface="Montserrat" pitchFamily="34" charset="0"/>
                <a:ea typeface="Montserrat" pitchFamily="34" charset="-122"/>
                <a:cs typeface="Montserrat" pitchFamily="34" charset="-120"/>
              </a:rPr>
              <a:t>s.244/7  System disruption</a:t>
            </a:r>
            <a:endParaRPr lang="en-US" sz="1150" dirty="0"/>
          </a:p>
        </p:txBody>
      </p:sp>
      <p:sp>
        <p:nvSpPr>
          <p:cNvPr id="32" name="Text 24"/>
          <p:cNvSpPr txBox="1"/>
          <p:nvPr/>
        </p:nvSpPr>
        <p:spPr>
          <a:xfrm>
            <a:off x="3429000" y="3639312"/>
            <a:ext cx="2286000" cy="548640"/>
          </a:xfrm>
          <a:prstGeom prst="rect">
            <a:avLst/>
          </a:prstGeom>
          <a:noFill/>
          <a:ln/>
        </p:spPr>
        <p:txBody>
          <a:bodyPr wrap="square" lIns="0" tIns="0" rIns="0" bIns="0" rtlCol="0" anchor="t"/>
          <a:lstStyle/>
          <a:p>
            <a:pPr indent="0" marL="0">
              <a:buNone/>
            </a:pPr>
            <a:r>
              <a:rPr lang="en-US" sz="1300" dirty="0">
                <a:solidFill>
                  <a:srgbClr val="1B2433"/>
                </a:solidFill>
                <a:latin typeface="Sarabun" pitchFamily="34" charset="0"/>
                <a:ea typeface="Sarabun" pitchFamily="34" charset="-122"/>
                <a:cs typeface="Sarabun" pitchFamily="34" charset="-120"/>
              </a:rPr>
              <a:t>No delay to the trading system</a:t>
            </a:r>
            <a:endParaRPr lang="en-US" sz="1300" dirty="0"/>
          </a:p>
        </p:txBody>
      </p:sp>
      <p:sp>
        <p:nvSpPr>
          <p:cNvPr id="33" name="Shape 25"/>
          <p:cNvSpPr/>
          <p:nvPr/>
        </p:nvSpPr>
        <p:spPr>
          <a:xfrm>
            <a:off x="6035040" y="2926080"/>
            <a:ext cx="2651760" cy="1371600"/>
          </a:xfrm>
          <a:prstGeom prst="roundRect">
            <a:avLst>
              <a:gd name="adj" fmla="val 5333"/>
            </a:avLst>
          </a:prstGeom>
          <a:solidFill>
            <a:srgbClr val="0F1B2D"/>
          </a:solidFill>
          <a:ln w="9525">
            <a:solidFill>
              <a:srgbClr val="0F1B2D"/>
            </a:solidFill>
            <a:prstDash val="solid"/>
          </a:ln>
          <a:effectLst>
            <a:outerShdw sx="100000" sy="100000" kx="0" ky="0" algn="bl" rotWithShape="0" blurRad="76200" dist="25400" dir="5400000">
              <a:srgbClr val="0F1B2D">
                <a:alpha val="10000"/>
              </a:srgbClr>
            </a:outerShdw>
          </a:effectLst>
        </p:spPr>
      </p:sp>
      <p:sp>
        <p:nvSpPr>
          <p:cNvPr id="34" name="Shape 26"/>
          <p:cNvSpPr/>
          <p:nvPr/>
        </p:nvSpPr>
        <p:spPr>
          <a:xfrm>
            <a:off x="6217920" y="3108960"/>
            <a:ext cx="384048" cy="384048"/>
          </a:xfrm>
          <a:prstGeom prst="ellipse">
            <a:avLst/>
          </a:prstGeom>
          <a:solidFill>
            <a:srgbClr val="1E8C7E"/>
          </a:solidFill>
          <a:ln w="12700">
            <a:solidFill>
              <a:srgbClr val="1E8C7E"/>
            </a:solidFill>
            <a:prstDash val="solid"/>
          </a:ln>
        </p:spPr>
      </p:sp>
      <p:pic>
        <p:nvPicPr>
          <p:cNvPr id="35" name="Image 5" descr="preencoded.png">    </p:cNvPr>
          <p:cNvPicPr>
            <a:picLocks noChangeAspect="1"/>
          </p:cNvPicPr>
          <p:nvPr/>
        </p:nvPicPr>
        <p:blipFill>
          <a:blip r:embed="rId6"/>
          <a:stretch>
            <a:fillRect/>
          </a:stretch>
        </p:blipFill>
        <p:spPr>
          <a:xfrm>
            <a:off x="6317772" y="3208812"/>
            <a:ext cx="184343" cy="184343"/>
          </a:xfrm>
          <a:prstGeom prst="rect">
            <a:avLst/>
          </a:prstGeom>
        </p:spPr>
      </p:pic>
      <p:sp>
        <p:nvSpPr>
          <p:cNvPr id="36" name="Text 27"/>
          <p:cNvSpPr txBox="1"/>
          <p:nvPr/>
        </p:nvSpPr>
        <p:spPr>
          <a:xfrm>
            <a:off x="6720840" y="3081528"/>
            <a:ext cx="1828800" cy="457200"/>
          </a:xfrm>
          <a:prstGeom prst="rect">
            <a:avLst/>
          </a:prstGeom>
          <a:noFill/>
          <a:ln/>
        </p:spPr>
        <p:txBody>
          <a:bodyPr wrap="square" lIns="0" tIns="0" rIns="0" bIns="0" rtlCol="0" anchor="ctr"/>
          <a:lstStyle/>
          <a:p>
            <a:pPr indent="0" marL="0">
              <a:buNone/>
            </a:pPr>
            <a:r>
              <a:rPr lang="en-US" sz="1150" b="1" dirty="0">
                <a:solidFill>
                  <a:srgbClr val="FFFFFF"/>
                </a:solidFill>
                <a:latin typeface="Montserrat" pitchFamily="34" charset="0"/>
                <a:ea typeface="Montserrat" pitchFamily="34" charset="-122"/>
                <a:cs typeface="Montserrat" pitchFamily="34" charset="-120"/>
              </a:rPr>
              <a:t>s.244/3(1)(2) + s.244/5(4)(5)</a:t>
            </a:r>
            <a:endParaRPr lang="en-US" sz="1150" dirty="0"/>
          </a:p>
        </p:txBody>
      </p:sp>
      <p:sp>
        <p:nvSpPr>
          <p:cNvPr id="37" name="Text 28"/>
          <p:cNvSpPr txBox="1"/>
          <p:nvPr/>
        </p:nvSpPr>
        <p:spPr>
          <a:xfrm>
            <a:off x="6217920" y="3639312"/>
            <a:ext cx="2286000" cy="548640"/>
          </a:xfrm>
          <a:prstGeom prst="rect">
            <a:avLst/>
          </a:prstGeom>
          <a:noFill/>
          <a:ln/>
        </p:spPr>
        <p:txBody>
          <a:bodyPr wrap="square" lIns="0" tIns="0" rIns="0" bIns="0" rtlCol="0" anchor="t"/>
          <a:lstStyle/>
          <a:p>
            <a:pPr indent="0" marL="0">
              <a:buNone/>
            </a:pPr>
            <a:r>
              <a:rPr lang="en-US" sz="1300" dirty="0">
                <a:solidFill>
                  <a:srgbClr val="C9D6E8"/>
                </a:solidFill>
                <a:latin typeface="Sarabun" pitchFamily="34" charset="0"/>
                <a:ea typeface="Sarabun" pitchFamily="34" charset="-122"/>
                <a:cs typeface="Sarabun" pitchFamily="34" charset="-120"/>
              </a:rPr>
              <a:t>The offences actually charged</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457200" y="310896"/>
            <a:ext cx="1284732" cy="246888"/>
          </a:xfrm>
          <a:prstGeom prst="roundRect">
            <a:avLst>
              <a:gd name="adj" fmla="val 50000"/>
            </a:avLst>
          </a:prstGeom>
          <a:solidFill>
            <a:srgbClr val="E4572E"/>
          </a:solidFill>
          <a:ln w="12700">
            <a:solidFill>
              <a:srgbClr val="E4572E"/>
            </a:solidFill>
            <a:prstDash val="solid"/>
          </a:ln>
        </p:spPr>
      </p:sp>
      <p:sp>
        <p:nvSpPr>
          <p:cNvPr id="3" name="Text 1"/>
          <p:cNvSpPr txBox="1"/>
          <p:nvPr/>
        </p:nvSpPr>
        <p:spPr>
          <a:xfrm>
            <a:off x="457200" y="310896"/>
            <a:ext cx="1284732" cy="24688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Montserrat" pitchFamily="34" charset="0"/>
                <a:ea typeface="Montserrat" pitchFamily="34" charset="-122"/>
                <a:cs typeface="Montserrat" pitchFamily="34" charset="-120"/>
              </a:rPr>
              <a:t>THE PENALTIES</a:t>
            </a:r>
            <a:endParaRPr lang="en-US" sz="850" dirty="0"/>
          </a:p>
        </p:txBody>
      </p:sp>
      <p:sp>
        <p:nvSpPr>
          <p:cNvPr id="4" name="Text 2"/>
          <p:cNvSpPr txBox="1"/>
          <p:nvPr/>
        </p:nvSpPr>
        <p:spPr>
          <a:xfrm>
            <a:off x="457200" y="640080"/>
            <a:ext cx="8229600" cy="502920"/>
          </a:xfrm>
          <a:prstGeom prst="rect">
            <a:avLst/>
          </a:prstGeom>
          <a:noFill/>
          <a:ln/>
        </p:spPr>
        <p:txBody>
          <a:bodyPr wrap="square" lIns="0" tIns="0" rIns="0" bIns="0" rtlCol="0" anchor="ctr"/>
          <a:lstStyle/>
          <a:p>
            <a:pPr indent="0" marL="0">
              <a:buNone/>
            </a:pPr>
            <a:r>
              <a:rPr lang="en-US" sz="2600" b="1" dirty="0">
                <a:solidFill>
                  <a:srgbClr val="0F1B2D"/>
                </a:solidFill>
                <a:latin typeface="Montserrat" pitchFamily="34" charset="0"/>
                <a:ea typeface="Montserrat" pitchFamily="34" charset="-122"/>
                <a:cs typeface="Montserrat" pitchFamily="34" charset="-120"/>
              </a:rPr>
              <a:t>Criminal Penalties: s.296 – 296/2</a:t>
            </a:r>
            <a:endParaRPr lang="en-US" sz="2600" dirty="0"/>
          </a:p>
        </p:txBody>
      </p:sp>
      <p:sp>
        <p:nvSpPr>
          <p:cNvPr id="5" name="Text 3"/>
          <p:cNvSpPr txBox="1"/>
          <p:nvPr/>
        </p:nvSpPr>
        <p:spPr>
          <a:xfrm>
            <a:off x="457200" y="4773168"/>
            <a:ext cx="4572000" cy="228600"/>
          </a:xfrm>
          <a:prstGeom prst="rect">
            <a:avLst/>
          </a:prstGeom>
          <a:noFill/>
          <a:ln/>
        </p:spPr>
        <p:txBody>
          <a:bodyPr wrap="square" lIns="0" tIns="0" rIns="0" bIns="0" rtlCol="0" anchor="ctr"/>
          <a:lstStyle/>
          <a:p>
            <a:pPr indent="0" marL="0">
              <a:buNone/>
            </a:pPr>
            <a:r>
              <a:rPr lang="en-US" sz="900" dirty="0">
                <a:solidFill>
                  <a:srgbClr val="5B6B7F"/>
                </a:solidFill>
                <a:latin typeface="Sarabun" pitchFamily="34" charset="0"/>
                <a:ea typeface="Sarabun" pitchFamily="34" charset="-122"/>
                <a:cs typeface="Sarabun" pitchFamily="34" charset="-120"/>
              </a:rPr>
              <a:t>Group 3  ·  TSR Market Manipulation Case</a:t>
            </a:r>
            <a:endParaRPr lang="en-US" sz="900" dirty="0"/>
          </a:p>
        </p:txBody>
      </p:sp>
      <p:sp>
        <p:nvSpPr>
          <p:cNvPr id="6" name="Text 4"/>
          <p:cNvSpPr txBox="1"/>
          <p:nvPr/>
        </p:nvSpPr>
        <p:spPr>
          <a:xfrm>
            <a:off x="7772400" y="4773168"/>
            <a:ext cx="914400" cy="228600"/>
          </a:xfrm>
          <a:prstGeom prst="rect">
            <a:avLst/>
          </a:prstGeom>
          <a:noFill/>
          <a:ln/>
        </p:spPr>
        <p:txBody>
          <a:bodyPr wrap="square" lIns="0" tIns="0" rIns="0" bIns="0" rtlCol="0" anchor="ctr"/>
          <a:lstStyle/>
          <a:p>
            <a:pPr algn="r" indent="0" marL="0">
              <a:buNone/>
            </a:pPr>
            <a:r>
              <a:rPr lang="en-US" sz="900" dirty="0">
                <a:solidFill>
                  <a:srgbClr val="5B6B7F"/>
                </a:solidFill>
                <a:latin typeface="Sarabun" pitchFamily="34" charset="0"/>
                <a:ea typeface="Sarabun" pitchFamily="34" charset="-122"/>
                <a:cs typeface="Sarabun" pitchFamily="34" charset="-120"/>
              </a:rPr>
              <a:t>15 / 20</a:t>
            </a:r>
            <a:endParaRPr lang="en-US" sz="900" dirty="0"/>
          </a:p>
        </p:txBody>
      </p:sp>
      <p:sp>
        <p:nvSpPr>
          <p:cNvPr id="8" name="Shape 5"/>
          <p:cNvSpPr/>
          <p:nvPr/>
        </p:nvSpPr>
        <p:spPr>
          <a:xfrm>
            <a:off x="457200" y="1325880"/>
            <a:ext cx="2651760" cy="2240280"/>
          </a:xfrm>
          <a:prstGeom prst="roundRect">
            <a:avLst>
              <a:gd name="adj" fmla="val 3265"/>
            </a:avLst>
          </a:prstGeom>
          <a:solidFill>
            <a:srgbClr val="FFFFFF"/>
          </a:solidFill>
          <a:ln w="9525">
            <a:solidFill>
              <a:srgbClr val="FFFFFF"/>
            </a:solidFill>
            <a:prstDash val="solid"/>
          </a:ln>
          <a:effectLst>
            <a:outerShdw sx="100000" sy="100000" kx="0" ky="0" algn="bl" rotWithShape="0" blurRad="76200" dist="25400" dir="5400000">
              <a:srgbClr val="0F1B2D">
                <a:alpha val="10000"/>
              </a:srgbClr>
            </a:outerShdw>
          </a:effectLst>
        </p:spPr>
      </p:sp>
      <p:sp>
        <p:nvSpPr>
          <p:cNvPr id="9" name="Text 6"/>
          <p:cNvSpPr txBox="1"/>
          <p:nvPr/>
        </p:nvSpPr>
        <p:spPr>
          <a:xfrm>
            <a:off x="658368" y="1463040"/>
            <a:ext cx="2286000" cy="292608"/>
          </a:xfrm>
          <a:prstGeom prst="rect">
            <a:avLst/>
          </a:prstGeom>
          <a:noFill/>
          <a:ln/>
        </p:spPr>
        <p:txBody>
          <a:bodyPr wrap="square" lIns="0" tIns="0" rIns="0" bIns="0" rtlCol="0" anchor="ctr"/>
          <a:lstStyle/>
          <a:p>
            <a:pPr indent="0" marL="0">
              <a:buNone/>
            </a:pPr>
            <a:r>
              <a:rPr lang="en-US" sz="1400" b="1" dirty="0">
                <a:solidFill>
                  <a:srgbClr val="0F1B2D"/>
                </a:solidFill>
                <a:latin typeface="Montserrat" pitchFamily="34" charset="0"/>
                <a:ea typeface="Montserrat" pitchFamily="34" charset="-122"/>
                <a:cs typeface="Montserrat" pitchFamily="34" charset="-120"/>
              </a:rPr>
              <a:t>Section 296</a:t>
            </a:r>
            <a:endParaRPr lang="en-US" sz="1400" dirty="0"/>
          </a:p>
        </p:txBody>
      </p:sp>
      <p:sp>
        <p:nvSpPr>
          <p:cNvPr id="10" name="Text 7"/>
          <p:cNvSpPr txBox="1"/>
          <p:nvPr/>
        </p:nvSpPr>
        <p:spPr>
          <a:xfrm>
            <a:off x="658368" y="1755648"/>
            <a:ext cx="2286000" cy="256032"/>
          </a:xfrm>
          <a:prstGeom prst="rect">
            <a:avLst/>
          </a:prstGeom>
          <a:noFill/>
          <a:ln/>
        </p:spPr>
        <p:txBody>
          <a:bodyPr wrap="square" lIns="0" tIns="0" rIns="0" bIns="0" rtlCol="0" anchor="ctr"/>
          <a:lstStyle/>
          <a:p>
            <a:pPr indent="0" marL="0">
              <a:buNone/>
            </a:pPr>
            <a:r>
              <a:rPr lang="en-US" sz="1200" dirty="0">
                <a:solidFill>
                  <a:srgbClr val="5B6B7F"/>
                </a:solidFill>
                <a:latin typeface="Sarabun" pitchFamily="34" charset="0"/>
                <a:ea typeface="Sarabun" pitchFamily="34" charset="-122"/>
                <a:cs typeface="Sarabun" pitchFamily="34" charset="-120"/>
              </a:rPr>
              <a:t>For s.244/3(1)</a:t>
            </a:r>
            <a:endParaRPr lang="en-US" sz="1200" dirty="0"/>
          </a:p>
        </p:txBody>
      </p:sp>
      <p:sp>
        <p:nvSpPr>
          <p:cNvPr id="11" name="Text 8"/>
          <p:cNvSpPr txBox="1"/>
          <p:nvPr/>
        </p:nvSpPr>
        <p:spPr>
          <a:xfrm>
            <a:off x="658368" y="2057400"/>
            <a:ext cx="2286000" cy="640080"/>
          </a:xfrm>
          <a:prstGeom prst="rect">
            <a:avLst/>
          </a:prstGeom>
          <a:noFill/>
          <a:ln/>
        </p:spPr>
        <p:txBody>
          <a:bodyPr wrap="square" lIns="0" tIns="0" rIns="0" bIns="0" rtlCol="0" anchor="ctr"/>
          <a:lstStyle/>
          <a:p>
            <a:pPr indent="0" marL="0">
              <a:buNone/>
            </a:pPr>
            <a:r>
              <a:rPr lang="en-US" sz="3400" b="1" dirty="0">
                <a:solidFill>
                  <a:srgbClr val="E4572E"/>
                </a:solidFill>
                <a:latin typeface="Montserrat" pitchFamily="34" charset="0"/>
                <a:ea typeface="Montserrat" pitchFamily="34" charset="-122"/>
                <a:cs typeface="Montserrat" pitchFamily="34" charset="-120"/>
              </a:rPr>
              <a:t>≤ 2 yrs</a:t>
            </a:r>
            <a:endParaRPr lang="en-US" sz="3400" dirty="0"/>
          </a:p>
        </p:txBody>
      </p:sp>
      <p:sp>
        <p:nvSpPr>
          <p:cNvPr id="12" name="Text 9"/>
          <p:cNvSpPr txBox="1"/>
          <p:nvPr/>
        </p:nvSpPr>
        <p:spPr>
          <a:xfrm>
            <a:off x="658368" y="2743200"/>
            <a:ext cx="2286000" cy="731520"/>
          </a:xfrm>
          <a:prstGeom prst="rect">
            <a:avLst/>
          </a:prstGeom>
          <a:noFill/>
          <a:ln/>
        </p:spPr>
        <p:txBody>
          <a:bodyPr wrap="square" lIns="0" tIns="0" rIns="0" bIns="0" rtlCol="0" anchor="t"/>
          <a:lstStyle/>
          <a:p>
            <a:pPr indent="0" marL="0">
              <a:buNone/>
            </a:pPr>
            <a:r>
              <a:rPr lang="en-US" sz="1300" dirty="0">
                <a:solidFill>
                  <a:srgbClr val="1B2433"/>
                </a:solidFill>
                <a:latin typeface="Sarabun" pitchFamily="34" charset="0"/>
                <a:ea typeface="Sarabun" pitchFamily="34" charset="-122"/>
                <a:cs typeface="Sarabun" pitchFamily="34" charset="-120"/>
              </a:rPr>
              <a:t>prison, or a fine of THB 0.5M – 2M, or both</a:t>
            </a:r>
            <a:endParaRPr lang="en-US" sz="1300" dirty="0"/>
          </a:p>
        </p:txBody>
      </p:sp>
      <p:sp>
        <p:nvSpPr>
          <p:cNvPr id="13" name="Shape 10"/>
          <p:cNvSpPr/>
          <p:nvPr/>
        </p:nvSpPr>
        <p:spPr>
          <a:xfrm>
            <a:off x="3246120" y="1325880"/>
            <a:ext cx="2651760" cy="2240280"/>
          </a:xfrm>
          <a:prstGeom prst="roundRect">
            <a:avLst>
              <a:gd name="adj" fmla="val 3265"/>
            </a:avLst>
          </a:prstGeom>
          <a:solidFill>
            <a:srgbClr val="0F1B2D"/>
          </a:solidFill>
          <a:ln w="9525">
            <a:solidFill>
              <a:srgbClr val="0F1B2D"/>
            </a:solidFill>
            <a:prstDash val="solid"/>
          </a:ln>
          <a:effectLst>
            <a:outerShdw sx="100000" sy="100000" kx="0" ky="0" algn="bl" rotWithShape="0" blurRad="76200" dist="25400" dir="5400000">
              <a:srgbClr val="0F1B2D">
                <a:alpha val="10000"/>
              </a:srgbClr>
            </a:outerShdw>
          </a:effectLst>
        </p:spPr>
      </p:sp>
      <p:sp>
        <p:nvSpPr>
          <p:cNvPr id="14" name="Text 11"/>
          <p:cNvSpPr txBox="1"/>
          <p:nvPr/>
        </p:nvSpPr>
        <p:spPr>
          <a:xfrm>
            <a:off x="3447288" y="1463040"/>
            <a:ext cx="2286000" cy="292608"/>
          </a:xfrm>
          <a:prstGeom prst="rect">
            <a:avLst/>
          </a:prstGeom>
          <a:noFill/>
          <a:ln/>
        </p:spPr>
        <p:txBody>
          <a:bodyPr wrap="square" lIns="0" tIns="0" rIns="0" bIns="0" rtlCol="0" anchor="ctr"/>
          <a:lstStyle/>
          <a:p>
            <a:pPr indent="0" marL="0">
              <a:buNone/>
            </a:pPr>
            <a:r>
              <a:rPr lang="en-US" sz="1400" b="1" dirty="0">
                <a:solidFill>
                  <a:srgbClr val="FFFFFF"/>
                </a:solidFill>
                <a:latin typeface="Montserrat" pitchFamily="34" charset="0"/>
                <a:ea typeface="Montserrat" pitchFamily="34" charset="-122"/>
                <a:cs typeface="Montserrat" pitchFamily="34" charset="-120"/>
              </a:rPr>
              <a:t>Section 296/1</a:t>
            </a:r>
            <a:endParaRPr lang="en-US" sz="1400" dirty="0"/>
          </a:p>
        </p:txBody>
      </p:sp>
      <p:sp>
        <p:nvSpPr>
          <p:cNvPr id="15" name="Text 12"/>
          <p:cNvSpPr txBox="1"/>
          <p:nvPr/>
        </p:nvSpPr>
        <p:spPr>
          <a:xfrm>
            <a:off x="3447288" y="1755648"/>
            <a:ext cx="2286000" cy="256032"/>
          </a:xfrm>
          <a:prstGeom prst="rect">
            <a:avLst/>
          </a:prstGeom>
          <a:noFill/>
          <a:ln/>
        </p:spPr>
        <p:txBody>
          <a:bodyPr wrap="square" lIns="0" tIns="0" rIns="0" bIns="0" rtlCol="0" anchor="ctr"/>
          <a:lstStyle/>
          <a:p>
            <a:pPr indent="0" marL="0">
              <a:buNone/>
            </a:pPr>
            <a:r>
              <a:rPr lang="en-US" sz="1200" dirty="0">
                <a:solidFill>
                  <a:srgbClr val="C9D6E8"/>
                </a:solidFill>
                <a:latin typeface="Sarabun" pitchFamily="34" charset="0"/>
                <a:ea typeface="Sarabun" pitchFamily="34" charset="-122"/>
                <a:cs typeface="Sarabun" pitchFamily="34" charset="-120"/>
              </a:rPr>
              <a:t>For s.244/3(2)</a:t>
            </a:r>
            <a:endParaRPr lang="en-US" sz="1200" dirty="0"/>
          </a:p>
        </p:txBody>
      </p:sp>
      <p:sp>
        <p:nvSpPr>
          <p:cNvPr id="16" name="Text 13"/>
          <p:cNvSpPr txBox="1"/>
          <p:nvPr/>
        </p:nvSpPr>
        <p:spPr>
          <a:xfrm>
            <a:off x="3447288" y="2057400"/>
            <a:ext cx="2286000" cy="640080"/>
          </a:xfrm>
          <a:prstGeom prst="rect">
            <a:avLst/>
          </a:prstGeom>
          <a:noFill/>
          <a:ln/>
        </p:spPr>
        <p:txBody>
          <a:bodyPr wrap="square" lIns="0" tIns="0" rIns="0" bIns="0" rtlCol="0" anchor="ctr"/>
          <a:lstStyle/>
          <a:p>
            <a:pPr indent="0" marL="0">
              <a:buNone/>
            </a:pPr>
            <a:r>
              <a:rPr lang="en-US" sz="3400" b="1" dirty="0">
                <a:solidFill>
                  <a:srgbClr val="E4572E"/>
                </a:solidFill>
                <a:latin typeface="Montserrat" pitchFamily="34" charset="0"/>
                <a:ea typeface="Montserrat" pitchFamily="34" charset="-122"/>
                <a:cs typeface="Montserrat" pitchFamily="34" charset="-120"/>
              </a:rPr>
              <a:t>≤ 5 yrs</a:t>
            </a:r>
            <a:endParaRPr lang="en-US" sz="3400" dirty="0"/>
          </a:p>
        </p:txBody>
      </p:sp>
      <p:sp>
        <p:nvSpPr>
          <p:cNvPr id="17" name="Text 14"/>
          <p:cNvSpPr txBox="1"/>
          <p:nvPr/>
        </p:nvSpPr>
        <p:spPr>
          <a:xfrm>
            <a:off x="3447288" y="2743200"/>
            <a:ext cx="2286000" cy="731520"/>
          </a:xfrm>
          <a:prstGeom prst="rect">
            <a:avLst/>
          </a:prstGeom>
          <a:noFill/>
          <a:ln/>
        </p:spPr>
        <p:txBody>
          <a:bodyPr wrap="square" lIns="0" tIns="0" rIns="0" bIns="0" rtlCol="0" anchor="t"/>
          <a:lstStyle/>
          <a:p>
            <a:pPr indent="0" marL="0">
              <a:buNone/>
            </a:pPr>
            <a:r>
              <a:rPr lang="en-US" sz="1300" dirty="0">
                <a:solidFill>
                  <a:srgbClr val="FFFFFF"/>
                </a:solidFill>
                <a:latin typeface="Sarabun" pitchFamily="34" charset="0"/>
                <a:ea typeface="Sarabun" pitchFamily="34" charset="-122"/>
                <a:cs typeface="Sarabun" pitchFamily="34" charset="-120"/>
              </a:rPr>
              <a:t>prison, or a fine of THB 1M – 5M, or both</a:t>
            </a:r>
            <a:endParaRPr lang="en-US" sz="1300" dirty="0"/>
          </a:p>
        </p:txBody>
      </p:sp>
      <p:sp>
        <p:nvSpPr>
          <p:cNvPr id="18" name="Shape 15"/>
          <p:cNvSpPr/>
          <p:nvPr/>
        </p:nvSpPr>
        <p:spPr>
          <a:xfrm>
            <a:off x="6035040" y="1325880"/>
            <a:ext cx="2651760" cy="2240280"/>
          </a:xfrm>
          <a:prstGeom prst="roundRect">
            <a:avLst>
              <a:gd name="adj" fmla="val 3265"/>
            </a:avLst>
          </a:prstGeom>
          <a:solidFill>
            <a:srgbClr val="FFFFFF"/>
          </a:solidFill>
          <a:ln w="9525">
            <a:solidFill>
              <a:srgbClr val="FFFFFF"/>
            </a:solidFill>
            <a:prstDash val="solid"/>
          </a:ln>
          <a:effectLst>
            <a:outerShdw sx="100000" sy="100000" kx="0" ky="0" algn="bl" rotWithShape="0" blurRad="76200" dist="25400" dir="5400000">
              <a:srgbClr val="0F1B2D">
                <a:alpha val="10000"/>
              </a:srgbClr>
            </a:outerShdw>
          </a:effectLst>
        </p:spPr>
      </p:sp>
      <p:sp>
        <p:nvSpPr>
          <p:cNvPr id="19" name="Text 16"/>
          <p:cNvSpPr txBox="1"/>
          <p:nvPr/>
        </p:nvSpPr>
        <p:spPr>
          <a:xfrm>
            <a:off x="6236208" y="1463040"/>
            <a:ext cx="2286000" cy="292608"/>
          </a:xfrm>
          <a:prstGeom prst="rect">
            <a:avLst/>
          </a:prstGeom>
          <a:noFill/>
          <a:ln/>
        </p:spPr>
        <p:txBody>
          <a:bodyPr wrap="square" lIns="0" tIns="0" rIns="0" bIns="0" rtlCol="0" anchor="ctr"/>
          <a:lstStyle/>
          <a:p>
            <a:pPr indent="0" marL="0">
              <a:buNone/>
            </a:pPr>
            <a:r>
              <a:rPr lang="en-US" sz="1400" b="1" dirty="0">
                <a:solidFill>
                  <a:srgbClr val="0F1B2D"/>
                </a:solidFill>
                <a:latin typeface="Montserrat" pitchFamily="34" charset="0"/>
                <a:ea typeface="Montserrat" pitchFamily="34" charset="-122"/>
                <a:cs typeface="Montserrat" pitchFamily="34" charset="-120"/>
              </a:rPr>
              <a:t>Section 296/2</a:t>
            </a:r>
            <a:endParaRPr lang="en-US" sz="1400" dirty="0"/>
          </a:p>
        </p:txBody>
      </p:sp>
      <p:sp>
        <p:nvSpPr>
          <p:cNvPr id="20" name="Text 17"/>
          <p:cNvSpPr txBox="1"/>
          <p:nvPr/>
        </p:nvSpPr>
        <p:spPr>
          <a:xfrm>
            <a:off x="6236208" y="1755648"/>
            <a:ext cx="2286000" cy="256032"/>
          </a:xfrm>
          <a:prstGeom prst="rect">
            <a:avLst/>
          </a:prstGeom>
          <a:noFill/>
          <a:ln/>
        </p:spPr>
        <p:txBody>
          <a:bodyPr wrap="square" lIns="0" tIns="0" rIns="0" bIns="0" rtlCol="0" anchor="ctr"/>
          <a:lstStyle/>
          <a:p>
            <a:pPr indent="0" marL="0">
              <a:buNone/>
            </a:pPr>
            <a:r>
              <a:rPr lang="en-US" sz="1200" dirty="0">
                <a:solidFill>
                  <a:srgbClr val="5B6B7F"/>
                </a:solidFill>
                <a:latin typeface="Sarabun" pitchFamily="34" charset="0"/>
                <a:ea typeface="Sarabun" pitchFamily="34" charset="-122"/>
                <a:cs typeface="Sarabun" pitchFamily="34" charset="-120"/>
              </a:rPr>
              <a:t>If a benefit was gained</a:t>
            </a:r>
            <a:endParaRPr lang="en-US" sz="1200" dirty="0"/>
          </a:p>
        </p:txBody>
      </p:sp>
      <p:sp>
        <p:nvSpPr>
          <p:cNvPr id="21" name="Text 18"/>
          <p:cNvSpPr txBox="1"/>
          <p:nvPr/>
        </p:nvSpPr>
        <p:spPr>
          <a:xfrm>
            <a:off x="6236208" y="2057400"/>
            <a:ext cx="2286000" cy="640080"/>
          </a:xfrm>
          <a:prstGeom prst="rect">
            <a:avLst/>
          </a:prstGeom>
          <a:noFill/>
          <a:ln/>
        </p:spPr>
        <p:txBody>
          <a:bodyPr wrap="square" lIns="0" tIns="0" rIns="0" bIns="0" rtlCol="0" anchor="ctr"/>
          <a:lstStyle/>
          <a:p>
            <a:pPr indent="0" marL="0">
              <a:buNone/>
            </a:pPr>
            <a:r>
              <a:rPr lang="en-US" sz="3400" b="1" dirty="0">
                <a:solidFill>
                  <a:srgbClr val="E4572E"/>
                </a:solidFill>
                <a:latin typeface="Montserrat" pitchFamily="34" charset="0"/>
                <a:ea typeface="Montserrat" pitchFamily="34" charset="-122"/>
                <a:cs typeface="Montserrat" pitchFamily="34" charset="-120"/>
              </a:rPr>
              <a:t>≤ 2×</a:t>
            </a:r>
            <a:endParaRPr lang="en-US" sz="3400" dirty="0"/>
          </a:p>
        </p:txBody>
      </p:sp>
      <p:sp>
        <p:nvSpPr>
          <p:cNvPr id="22" name="Text 19"/>
          <p:cNvSpPr txBox="1"/>
          <p:nvPr/>
        </p:nvSpPr>
        <p:spPr>
          <a:xfrm>
            <a:off x="6236208" y="2743200"/>
            <a:ext cx="2286000" cy="731520"/>
          </a:xfrm>
          <a:prstGeom prst="rect">
            <a:avLst/>
          </a:prstGeom>
          <a:noFill/>
          <a:ln/>
        </p:spPr>
        <p:txBody>
          <a:bodyPr wrap="square" lIns="0" tIns="0" rIns="0" bIns="0" rtlCol="0" anchor="t"/>
          <a:lstStyle/>
          <a:p>
            <a:pPr indent="0" marL="0">
              <a:buNone/>
            </a:pPr>
            <a:r>
              <a:rPr lang="en-US" sz="1300" dirty="0">
                <a:solidFill>
                  <a:srgbClr val="1B2433"/>
                </a:solidFill>
                <a:latin typeface="Sarabun" pitchFamily="34" charset="0"/>
                <a:ea typeface="Sarabun" pitchFamily="34" charset="-122"/>
                <a:cs typeface="Sarabun" pitchFamily="34" charset="-120"/>
              </a:rPr>
              <a:t>the benefit as the fine, never below the s.296 or s.296/1 minimum</a:t>
            </a:r>
            <a:endParaRPr lang="en-US" sz="1300" dirty="0"/>
          </a:p>
        </p:txBody>
      </p:sp>
      <p:sp>
        <p:nvSpPr>
          <p:cNvPr id="23" name="Shape 20"/>
          <p:cNvSpPr/>
          <p:nvPr/>
        </p:nvSpPr>
        <p:spPr>
          <a:xfrm>
            <a:off x="457200" y="3749040"/>
            <a:ext cx="4800600" cy="822960"/>
          </a:xfrm>
          <a:prstGeom prst="roundRect">
            <a:avLst>
              <a:gd name="adj" fmla="val 8889"/>
            </a:avLst>
          </a:prstGeom>
          <a:solidFill>
            <a:srgbClr val="E9EEF5"/>
          </a:solidFill>
          <a:ln w="9525">
            <a:solidFill>
              <a:srgbClr val="E9EEF5"/>
            </a:solidFill>
            <a:prstDash val="solid"/>
          </a:ln>
        </p:spPr>
      </p:sp>
      <p:sp>
        <p:nvSpPr>
          <p:cNvPr id="24" name="Text 21"/>
          <p:cNvSpPr txBox="1"/>
          <p:nvPr/>
        </p:nvSpPr>
        <p:spPr>
          <a:xfrm>
            <a:off x="640080" y="3749040"/>
            <a:ext cx="4480560" cy="822960"/>
          </a:xfrm>
          <a:prstGeom prst="rect">
            <a:avLst/>
          </a:prstGeom>
          <a:noFill/>
          <a:ln/>
        </p:spPr>
        <p:txBody>
          <a:bodyPr wrap="square" lIns="0" tIns="0" rIns="0" bIns="0" rtlCol="0" anchor="ctr"/>
          <a:lstStyle/>
          <a:p>
            <a:pPr indent="0" marL="0">
              <a:buNone/>
            </a:pPr>
            <a:r>
              <a:rPr lang="en-US" sz="1250" b="1" dirty="0">
                <a:solidFill>
                  <a:srgbClr val="0F1B2D"/>
                </a:solidFill>
                <a:latin typeface="Sarabun" pitchFamily="34" charset="0"/>
                <a:ea typeface="Sarabun" pitchFamily="34" charset="-122"/>
                <a:cs typeface="Sarabun" pitchFamily="34" charset="-120"/>
              </a:rPr>
              <a:t>s.297/1 extra court orders: </a:t>
            </a:r>
            <a:pPr indent="0" marL="0">
              <a:buNone/>
            </a:pPr>
            <a:r>
              <a:rPr lang="en-US" sz="1250" dirty="0">
                <a:solidFill>
                  <a:srgbClr val="1B2433"/>
                </a:solidFill>
                <a:latin typeface="Sarabun" pitchFamily="34" charset="0"/>
                <a:ea typeface="Sarabun" pitchFamily="34" charset="-122"/>
                <a:cs typeface="Sarabun" pitchFamily="34" charset="-120"/>
              </a:rPr>
              <a:t>disgorge the benefit, trading ban ≤ 5 years, director ban ≤ 10 years</a:t>
            </a:r>
            <a:endParaRPr lang="en-US" sz="1250" dirty="0"/>
          </a:p>
        </p:txBody>
      </p:sp>
      <p:sp>
        <p:nvSpPr>
          <p:cNvPr id="25" name="Shape 22"/>
          <p:cNvSpPr/>
          <p:nvPr/>
        </p:nvSpPr>
        <p:spPr>
          <a:xfrm>
            <a:off x="5440680" y="3749040"/>
            <a:ext cx="3246120" cy="822960"/>
          </a:xfrm>
          <a:prstGeom prst="roundRect">
            <a:avLst>
              <a:gd name="adj" fmla="val 8889"/>
            </a:avLst>
          </a:prstGeom>
          <a:solidFill>
            <a:srgbClr val="FCE6DF"/>
          </a:solidFill>
          <a:ln w="9525">
            <a:solidFill>
              <a:srgbClr val="FCE6DF"/>
            </a:solidFill>
            <a:prstDash val="solid"/>
          </a:ln>
        </p:spPr>
      </p:sp>
      <p:sp>
        <p:nvSpPr>
          <p:cNvPr id="26" name="Text 23"/>
          <p:cNvSpPr txBox="1"/>
          <p:nvPr/>
        </p:nvSpPr>
        <p:spPr>
          <a:xfrm>
            <a:off x="5623560" y="3749040"/>
            <a:ext cx="2926080" cy="822960"/>
          </a:xfrm>
          <a:prstGeom prst="rect">
            <a:avLst/>
          </a:prstGeom>
          <a:noFill/>
          <a:ln/>
        </p:spPr>
        <p:txBody>
          <a:bodyPr wrap="square" lIns="0" tIns="0" rIns="0" bIns="0" rtlCol="0" anchor="ctr"/>
          <a:lstStyle/>
          <a:p>
            <a:pPr indent="0" marL="0">
              <a:buNone/>
            </a:pPr>
            <a:r>
              <a:rPr lang="en-US" sz="1250" b="1" dirty="0">
                <a:solidFill>
                  <a:srgbClr val="E4572E"/>
                </a:solidFill>
                <a:latin typeface="Sarabun" pitchFamily="34" charset="0"/>
                <a:ea typeface="Sarabun" pitchFamily="34" charset="-122"/>
                <a:cs typeface="Sarabun" pitchFamily="34" charset="-120"/>
              </a:rPr>
              <a:t>Predicate offence </a:t>
            </a:r>
            <a:pPr indent="0" marL="0">
              <a:buNone/>
            </a:pPr>
            <a:r>
              <a:rPr lang="en-US" sz="1250" dirty="0">
                <a:solidFill>
                  <a:srgbClr val="1B2433"/>
                </a:solidFill>
                <a:latin typeface="Sarabun" pitchFamily="34" charset="0"/>
                <a:ea typeface="Sarabun" pitchFamily="34" charset="-122"/>
                <a:cs typeface="Sarabun" pitchFamily="34" charset="-120"/>
              </a:rPr>
              <a:t>under the Anti-Money Laundering Act B.E. 2542, so the case went to AMLO</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457200" y="310896"/>
            <a:ext cx="1284732" cy="246888"/>
          </a:xfrm>
          <a:prstGeom prst="roundRect">
            <a:avLst>
              <a:gd name="adj" fmla="val 50000"/>
            </a:avLst>
          </a:prstGeom>
          <a:solidFill>
            <a:srgbClr val="E4572E"/>
          </a:solidFill>
          <a:ln w="12700">
            <a:solidFill>
              <a:srgbClr val="E4572E"/>
            </a:solidFill>
            <a:prstDash val="solid"/>
          </a:ln>
        </p:spPr>
      </p:sp>
      <p:sp>
        <p:nvSpPr>
          <p:cNvPr id="3" name="Text 1"/>
          <p:cNvSpPr txBox="1"/>
          <p:nvPr/>
        </p:nvSpPr>
        <p:spPr>
          <a:xfrm>
            <a:off x="457200" y="310896"/>
            <a:ext cx="1284732" cy="24688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Montserrat" pitchFamily="34" charset="0"/>
                <a:ea typeface="Montserrat" pitchFamily="34" charset="-122"/>
                <a:cs typeface="Montserrat" pitchFamily="34" charset="-120"/>
              </a:rPr>
              <a:t>THE PENALTIES</a:t>
            </a:r>
            <a:endParaRPr lang="en-US" sz="850" dirty="0"/>
          </a:p>
        </p:txBody>
      </p:sp>
      <p:sp>
        <p:nvSpPr>
          <p:cNvPr id="4" name="Text 2"/>
          <p:cNvSpPr txBox="1"/>
          <p:nvPr/>
        </p:nvSpPr>
        <p:spPr>
          <a:xfrm>
            <a:off x="457200" y="640080"/>
            <a:ext cx="8229600" cy="502920"/>
          </a:xfrm>
          <a:prstGeom prst="rect">
            <a:avLst/>
          </a:prstGeom>
          <a:noFill/>
          <a:ln/>
        </p:spPr>
        <p:txBody>
          <a:bodyPr wrap="square" lIns="0" tIns="0" rIns="0" bIns="0" rtlCol="0" anchor="ctr"/>
          <a:lstStyle/>
          <a:p>
            <a:pPr indent="0" marL="0">
              <a:buNone/>
            </a:pPr>
            <a:r>
              <a:rPr lang="en-US" sz="2600" b="1" dirty="0">
                <a:solidFill>
                  <a:srgbClr val="0F1B2D"/>
                </a:solidFill>
                <a:latin typeface="Montserrat" pitchFamily="34" charset="0"/>
                <a:ea typeface="Montserrat" pitchFamily="34" charset="-122"/>
                <a:cs typeface="Montserrat" pitchFamily="34" charset="-120"/>
              </a:rPr>
              <a:t>The Civil Sanction Route</a:t>
            </a:r>
            <a:endParaRPr lang="en-US" sz="2600" dirty="0"/>
          </a:p>
        </p:txBody>
      </p:sp>
      <p:sp>
        <p:nvSpPr>
          <p:cNvPr id="5" name="Text 3"/>
          <p:cNvSpPr txBox="1"/>
          <p:nvPr/>
        </p:nvSpPr>
        <p:spPr>
          <a:xfrm>
            <a:off x="457200" y="4773168"/>
            <a:ext cx="4572000" cy="228600"/>
          </a:xfrm>
          <a:prstGeom prst="rect">
            <a:avLst/>
          </a:prstGeom>
          <a:noFill/>
          <a:ln/>
        </p:spPr>
        <p:txBody>
          <a:bodyPr wrap="square" lIns="0" tIns="0" rIns="0" bIns="0" rtlCol="0" anchor="ctr"/>
          <a:lstStyle/>
          <a:p>
            <a:pPr indent="0" marL="0">
              <a:buNone/>
            </a:pPr>
            <a:r>
              <a:rPr lang="en-US" sz="900" dirty="0">
                <a:solidFill>
                  <a:srgbClr val="5B6B7F"/>
                </a:solidFill>
                <a:latin typeface="Sarabun" pitchFamily="34" charset="0"/>
                <a:ea typeface="Sarabun" pitchFamily="34" charset="-122"/>
                <a:cs typeface="Sarabun" pitchFamily="34" charset="-120"/>
              </a:rPr>
              <a:t>Group 3  ·  TSR Market Manipulation Case</a:t>
            </a:r>
            <a:endParaRPr lang="en-US" sz="900" dirty="0"/>
          </a:p>
        </p:txBody>
      </p:sp>
      <p:sp>
        <p:nvSpPr>
          <p:cNvPr id="6" name="Text 4"/>
          <p:cNvSpPr txBox="1"/>
          <p:nvPr/>
        </p:nvSpPr>
        <p:spPr>
          <a:xfrm>
            <a:off x="7772400" y="4773168"/>
            <a:ext cx="914400" cy="228600"/>
          </a:xfrm>
          <a:prstGeom prst="rect">
            <a:avLst/>
          </a:prstGeom>
          <a:noFill/>
          <a:ln/>
        </p:spPr>
        <p:txBody>
          <a:bodyPr wrap="square" lIns="0" tIns="0" rIns="0" bIns="0" rtlCol="0" anchor="ctr"/>
          <a:lstStyle/>
          <a:p>
            <a:pPr algn="r" indent="0" marL="0">
              <a:buNone/>
            </a:pPr>
            <a:r>
              <a:rPr lang="en-US" sz="900" dirty="0">
                <a:solidFill>
                  <a:srgbClr val="5B6B7F"/>
                </a:solidFill>
                <a:latin typeface="Sarabun" pitchFamily="34" charset="0"/>
                <a:ea typeface="Sarabun" pitchFamily="34" charset="-122"/>
                <a:cs typeface="Sarabun" pitchFamily="34" charset="-120"/>
              </a:rPr>
              <a:t>16 / 20</a:t>
            </a:r>
            <a:endParaRPr lang="en-US" sz="900" dirty="0"/>
          </a:p>
        </p:txBody>
      </p:sp>
      <p:sp>
        <p:nvSpPr>
          <p:cNvPr id="8" name="Shape 5"/>
          <p:cNvSpPr/>
          <p:nvPr/>
        </p:nvSpPr>
        <p:spPr>
          <a:xfrm>
            <a:off x="457200" y="1325880"/>
            <a:ext cx="2331720" cy="1051560"/>
          </a:xfrm>
          <a:prstGeom prst="roundRect">
            <a:avLst>
              <a:gd name="adj" fmla="val 6957"/>
            </a:avLst>
          </a:prstGeom>
          <a:solidFill>
            <a:srgbClr val="FFFFFF"/>
          </a:solidFill>
          <a:ln w="9525">
            <a:solidFill>
              <a:srgbClr val="FFFFFF"/>
            </a:solidFill>
            <a:prstDash val="solid"/>
          </a:ln>
          <a:effectLst>
            <a:outerShdw sx="100000" sy="100000" kx="0" ky="0" algn="bl" rotWithShape="0" blurRad="76200" dist="25400" dir="5400000">
              <a:srgbClr val="0F1B2D">
                <a:alpha val="10000"/>
              </a:srgbClr>
            </a:outerShdw>
          </a:effectLst>
        </p:spPr>
      </p:sp>
      <p:sp>
        <p:nvSpPr>
          <p:cNvPr id="9" name="Text 6"/>
          <p:cNvSpPr txBox="1"/>
          <p:nvPr/>
        </p:nvSpPr>
        <p:spPr>
          <a:xfrm>
            <a:off x="594360" y="1417320"/>
            <a:ext cx="2057400" cy="274320"/>
          </a:xfrm>
          <a:prstGeom prst="rect">
            <a:avLst/>
          </a:prstGeom>
          <a:noFill/>
          <a:ln/>
        </p:spPr>
        <p:txBody>
          <a:bodyPr wrap="square" lIns="0" tIns="0" rIns="0" bIns="0" rtlCol="0" anchor="ctr"/>
          <a:lstStyle/>
          <a:p>
            <a:pPr indent="0" marL="0">
              <a:buNone/>
            </a:pPr>
            <a:r>
              <a:rPr lang="en-US" sz="1200" b="1" dirty="0">
                <a:solidFill>
                  <a:srgbClr val="0F1B2D"/>
                </a:solidFill>
                <a:latin typeface="Montserrat" pitchFamily="34" charset="0"/>
                <a:ea typeface="Montserrat" pitchFamily="34" charset="-122"/>
                <a:cs typeface="Montserrat" pitchFamily="34" charset="-120"/>
              </a:rPr>
              <a:t>s.317/1 (1)</a:t>
            </a:r>
            <a:endParaRPr lang="en-US" sz="1200" dirty="0"/>
          </a:p>
        </p:txBody>
      </p:sp>
      <p:sp>
        <p:nvSpPr>
          <p:cNvPr id="10" name="Text 7"/>
          <p:cNvSpPr txBox="1"/>
          <p:nvPr/>
        </p:nvSpPr>
        <p:spPr>
          <a:xfrm>
            <a:off x="594360" y="1709928"/>
            <a:ext cx="2057400" cy="594360"/>
          </a:xfrm>
          <a:prstGeom prst="rect">
            <a:avLst/>
          </a:prstGeom>
          <a:noFill/>
          <a:ln/>
        </p:spPr>
        <p:txBody>
          <a:bodyPr wrap="square" lIns="0" tIns="0" rIns="0" bIns="0" rtlCol="0" anchor="t"/>
          <a:lstStyle/>
          <a:p>
            <a:pPr indent="0" marL="0">
              <a:buNone/>
            </a:pPr>
            <a:r>
              <a:rPr lang="en-US" sz="1200" dirty="0">
                <a:solidFill>
                  <a:srgbClr val="1B2433"/>
                </a:solidFill>
                <a:latin typeface="Sarabun" pitchFamily="34" charset="0"/>
                <a:ea typeface="Sarabun" pitchFamily="34" charset="-122"/>
                <a:cs typeface="Sarabun" pitchFamily="34" charset="-120"/>
              </a:rPr>
              <a:t>Unfair trading under s.296 or s.296/1 can be handled by civil sanction</a:t>
            </a:r>
            <a:endParaRPr lang="en-US" sz="1200" dirty="0"/>
          </a:p>
        </p:txBody>
      </p:sp>
      <p:sp>
        <p:nvSpPr>
          <p:cNvPr id="11" name="Shape 8"/>
          <p:cNvSpPr/>
          <p:nvPr/>
        </p:nvSpPr>
        <p:spPr>
          <a:xfrm>
            <a:off x="2834640" y="1851660"/>
            <a:ext cx="320040" cy="0"/>
          </a:xfrm>
          <a:prstGeom prst="line">
            <a:avLst/>
          </a:prstGeom>
          <a:noFill/>
          <a:ln w="22225">
            <a:solidFill>
              <a:srgbClr val="E4572E"/>
            </a:solidFill>
            <a:prstDash val="solid"/>
            <a:tailEnd type="triangle"/>
          </a:ln>
        </p:spPr>
      </p:sp>
      <p:sp>
        <p:nvSpPr>
          <p:cNvPr id="12" name="Shape 9"/>
          <p:cNvSpPr/>
          <p:nvPr/>
        </p:nvSpPr>
        <p:spPr>
          <a:xfrm>
            <a:off x="3200400" y="1325880"/>
            <a:ext cx="2331720" cy="1051560"/>
          </a:xfrm>
          <a:prstGeom prst="roundRect">
            <a:avLst>
              <a:gd name="adj" fmla="val 6957"/>
            </a:avLst>
          </a:prstGeom>
          <a:solidFill>
            <a:srgbClr val="FFFFFF"/>
          </a:solidFill>
          <a:ln w="9525">
            <a:solidFill>
              <a:srgbClr val="FFFFFF"/>
            </a:solidFill>
            <a:prstDash val="solid"/>
          </a:ln>
          <a:effectLst>
            <a:outerShdw sx="100000" sy="100000" kx="0" ky="0" algn="bl" rotWithShape="0" blurRad="76200" dist="25400" dir="5400000">
              <a:srgbClr val="0F1B2D">
                <a:alpha val="10000"/>
              </a:srgbClr>
            </a:outerShdw>
          </a:effectLst>
        </p:spPr>
      </p:sp>
      <p:sp>
        <p:nvSpPr>
          <p:cNvPr id="13" name="Text 10"/>
          <p:cNvSpPr txBox="1"/>
          <p:nvPr/>
        </p:nvSpPr>
        <p:spPr>
          <a:xfrm>
            <a:off x="3337560" y="1417320"/>
            <a:ext cx="2057400" cy="274320"/>
          </a:xfrm>
          <a:prstGeom prst="rect">
            <a:avLst/>
          </a:prstGeom>
          <a:noFill/>
          <a:ln/>
        </p:spPr>
        <p:txBody>
          <a:bodyPr wrap="square" lIns="0" tIns="0" rIns="0" bIns="0" rtlCol="0" anchor="ctr"/>
          <a:lstStyle/>
          <a:p>
            <a:pPr indent="0" marL="0">
              <a:buNone/>
            </a:pPr>
            <a:r>
              <a:rPr lang="en-US" sz="1200" b="1" dirty="0">
                <a:solidFill>
                  <a:srgbClr val="0F1B2D"/>
                </a:solidFill>
                <a:latin typeface="Montserrat" pitchFamily="34" charset="0"/>
                <a:ea typeface="Montserrat" pitchFamily="34" charset="-122"/>
                <a:cs typeface="Montserrat" pitchFamily="34" charset="-120"/>
              </a:rPr>
              <a:t>s.317/6</a:t>
            </a:r>
            <a:endParaRPr lang="en-US" sz="1200" dirty="0"/>
          </a:p>
        </p:txBody>
      </p:sp>
      <p:sp>
        <p:nvSpPr>
          <p:cNvPr id="14" name="Text 11"/>
          <p:cNvSpPr txBox="1"/>
          <p:nvPr/>
        </p:nvSpPr>
        <p:spPr>
          <a:xfrm>
            <a:off x="3337560" y="1709928"/>
            <a:ext cx="2057400" cy="594360"/>
          </a:xfrm>
          <a:prstGeom prst="rect">
            <a:avLst/>
          </a:prstGeom>
          <a:noFill/>
          <a:ln/>
        </p:spPr>
        <p:txBody>
          <a:bodyPr wrap="square" lIns="0" tIns="0" rIns="0" bIns="0" rtlCol="0" anchor="t"/>
          <a:lstStyle/>
          <a:p>
            <a:pPr indent="0" marL="0">
              <a:buNone/>
            </a:pPr>
            <a:r>
              <a:rPr lang="en-US" sz="1200" dirty="0">
                <a:solidFill>
                  <a:srgbClr val="1B2433"/>
                </a:solidFill>
                <a:latin typeface="Sarabun" pitchFamily="34" charset="0"/>
                <a:ea typeface="Sarabun" pitchFamily="34" charset="-122"/>
                <a:cs typeface="Sarabun" pitchFamily="34" charset="-120"/>
              </a:rPr>
              <a:t>SEC submits the case to the Civil Sanction Committee (CSC)</a:t>
            </a:r>
            <a:endParaRPr lang="en-US" sz="1200" dirty="0"/>
          </a:p>
        </p:txBody>
      </p:sp>
      <p:sp>
        <p:nvSpPr>
          <p:cNvPr id="15" name="Shape 12"/>
          <p:cNvSpPr/>
          <p:nvPr/>
        </p:nvSpPr>
        <p:spPr>
          <a:xfrm flipH="1">
            <a:off x="1737360" y="2423160"/>
            <a:ext cx="2606040" cy="411480"/>
          </a:xfrm>
          <a:prstGeom prst="line">
            <a:avLst/>
          </a:prstGeom>
          <a:noFill/>
          <a:ln w="22225">
            <a:solidFill>
              <a:srgbClr val="5B6B7F"/>
            </a:solidFill>
            <a:prstDash val="solid"/>
            <a:tailEnd type="triangle"/>
          </a:ln>
        </p:spPr>
      </p:sp>
      <p:sp>
        <p:nvSpPr>
          <p:cNvPr id="16" name="Shape 13"/>
          <p:cNvSpPr/>
          <p:nvPr/>
        </p:nvSpPr>
        <p:spPr>
          <a:xfrm>
            <a:off x="4343400" y="2423160"/>
            <a:ext cx="0" cy="411480"/>
          </a:xfrm>
          <a:prstGeom prst="line">
            <a:avLst/>
          </a:prstGeom>
          <a:noFill/>
          <a:ln w="22225">
            <a:solidFill>
              <a:srgbClr val="E4572E"/>
            </a:solidFill>
            <a:prstDash val="solid"/>
            <a:tailEnd type="triangle"/>
          </a:ln>
        </p:spPr>
      </p:sp>
      <p:sp>
        <p:nvSpPr>
          <p:cNvPr id="17" name="Shape 14"/>
          <p:cNvSpPr/>
          <p:nvPr/>
        </p:nvSpPr>
        <p:spPr>
          <a:xfrm>
            <a:off x="457200" y="2880360"/>
            <a:ext cx="2514600" cy="1691640"/>
          </a:xfrm>
          <a:prstGeom prst="roundRect">
            <a:avLst>
              <a:gd name="adj" fmla="val 4324"/>
            </a:avLst>
          </a:prstGeom>
          <a:solidFill>
            <a:srgbClr val="FFFFFF"/>
          </a:solidFill>
          <a:ln w="9525">
            <a:solidFill>
              <a:srgbClr val="FFFFFF"/>
            </a:solidFill>
            <a:prstDash val="solid"/>
          </a:ln>
          <a:effectLst>
            <a:outerShdw sx="100000" sy="100000" kx="0" ky="0" algn="bl" rotWithShape="0" blurRad="76200" dist="25400" dir="5400000">
              <a:srgbClr val="0F1B2D">
                <a:alpha val="10000"/>
              </a:srgbClr>
            </a:outerShdw>
          </a:effectLst>
        </p:spPr>
      </p:sp>
      <p:sp>
        <p:nvSpPr>
          <p:cNvPr id="18" name="Text 15"/>
          <p:cNvSpPr txBox="1"/>
          <p:nvPr/>
        </p:nvSpPr>
        <p:spPr>
          <a:xfrm>
            <a:off x="594360" y="2971800"/>
            <a:ext cx="2240280" cy="274320"/>
          </a:xfrm>
          <a:prstGeom prst="rect">
            <a:avLst/>
          </a:prstGeom>
          <a:noFill/>
          <a:ln/>
        </p:spPr>
        <p:txBody>
          <a:bodyPr wrap="square" lIns="0" tIns="0" rIns="0" bIns="0" rtlCol="0" anchor="ctr"/>
          <a:lstStyle/>
          <a:p>
            <a:pPr indent="0" marL="0">
              <a:buNone/>
            </a:pPr>
            <a:r>
              <a:rPr lang="en-US" sz="1200" b="1" dirty="0">
                <a:solidFill>
                  <a:srgbClr val="0F1B2D"/>
                </a:solidFill>
                <a:latin typeface="Montserrat" pitchFamily="34" charset="0"/>
                <a:ea typeface="Montserrat" pitchFamily="34" charset="-122"/>
                <a:cs typeface="Montserrat" pitchFamily="34" charset="-120"/>
              </a:rPr>
              <a:t>Consents · s.317/7</a:t>
            </a:r>
            <a:endParaRPr lang="en-US" sz="1200" dirty="0"/>
          </a:p>
        </p:txBody>
      </p:sp>
      <p:sp>
        <p:nvSpPr>
          <p:cNvPr id="19" name="Text 16"/>
          <p:cNvSpPr txBox="1"/>
          <p:nvPr/>
        </p:nvSpPr>
        <p:spPr>
          <a:xfrm>
            <a:off x="594360" y="3264408"/>
            <a:ext cx="2240280" cy="1234440"/>
          </a:xfrm>
          <a:prstGeom prst="rect">
            <a:avLst/>
          </a:prstGeom>
          <a:noFill/>
          <a:ln/>
        </p:spPr>
        <p:txBody>
          <a:bodyPr wrap="square" lIns="0" tIns="0" rIns="0" bIns="0" rtlCol="0" anchor="t"/>
          <a:lstStyle/>
          <a:p>
            <a:pPr indent="0" marL="0">
              <a:buNone/>
            </a:pPr>
            <a:r>
              <a:rPr lang="en-US" sz="1200" dirty="0">
                <a:solidFill>
                  <a:srgbClr val="1B2433"/>
                </a:solidFill>
                <a:latin typeface="Sarabun" pitchFamily="34" charset="0"/>
                <a:ea typeface="Sarabun" pitchFamily="34" charset="-122"/>
                <a:cs typeface="Sarabun" pitchFamily="34" charset="-120"/>
              </a:rPr>
              <a:t>Letter of consent; paying in full ends the right to criminal prosecution. Default: SEC petitions the court within 3 years.</a:t>
            </a:r>
            <a:endParaRPr lang="en-US" sz="1200" dirty="0"/>
          </a:p>
        </p:txBody>
      </p:sp>
      <p:sp>
        <p:nvSpPr>
          <p:cNvPr id="20" name="Shape 17"/>
          <p:cNvSpPr/>
          <p:nvPr/>
        </p:nvSpPr>
        <p:spPr>
          <a:xfrm>
            <a:off x="3108960" y="2880360"/>
            <a:ext cx="2514600" cy="1691640"/>
          </a:xfrm>
          <a:prstGeom prst="roundRect">
            <a:avLst>
              <a:gd name="adj" fmla="val 4324"/>
            </a:avLst>
          </a:prstGeom>
          <a:solidFill>
            <a:srgbClr val="FFFFFF"/>
          </a:solidFill>
          <a:ln w="19050">
            <a:solidFill>
              <a:srgbClr val="E4572E"/>
            </a:solidFill>
            <a:prstDash val="solid"/>
          </a:ln>
          <a:effectLst>
            <a:outerShdw sx="100000" sy="100000" kx="0" ky="0" algn="bl" rotWithShape="0" blurRad="76200" dist="25400" dir="5400000">
              <a:srgbClr val="0F1B2D">
                <a:alpha val="10000"/>
              </a:srgbClr>
            </a:outerShdw>
          </a:effectLst>
        </p:spPr>
      </p:sp>
      <p:sp>
        <p:nvSpPr>
          <p:cNvPr id="21" name="Text 18"/>
          <p:cNvSpPr txBox="1"/>
          <p:nvPr/>
        </p:nvSpPr>
        <p:spPr>
          <a:xfrm>
            <a:off x="3246120" y="2971800"/>
            <a:ext cx="2240280" cy="274320"/>
          </a:xfrm>
          <a:prstGeom prst="rect">
            <a:avLst/>
          </a:prstGeom>
          <a:noFill/>
          <a:ln/>
        </p:spPr>
        <p:txBody>
          <a:bodyPr wrap="square" lIns="0" tIns="0" rIns="0" bIns="0" rtlCol="0" anchor="ctr"/>
          <a:lstStyle/>
          <a:p>
            <a:pPr indent="0" marL="0">
              <a:buNone/>
            </a:pPr>
            <a:r>
              <a:rPr lang="en-US" sz="1200" b="1" dirty="0">
                <a:solidFill>
                  <a:srgbClr val="E4572E"/>
                </a:solidFill>
                <a:latin typeface="Montserrat" pitchFamily="34" charset="0"/>
                <a:ea typeface="Montserrat" pitchFamily="34" charset="-122"/>
                <a:cs typeface="Montserrat" pitchFamily="34" charset="-120"/>
              </a:rPr>
              <a:t>Refuses · s.317/8</a:t>
            </a:r>
            <a:endParaRPr lang="en-US" sz="1200" dirty="0"/>
          </a:p>
        </p:txBody>
      </p:sp>
      <p:sp>
        <p:nvSpPr>
          <p:cNvPr id="22" name="Text 19"/>
          <p:cNvSpPr txBox="1"/>
          <p:nvPr/>
        </p:nvSpPr>
        <p:spPr>
          <a:xfrm>
            <a:off x="3246120" y="3264408"/>
            <a:ext cx="2240280" cy="1234440"/>
          </a:xfrm>
          <a:prstGeom prst="rect">
            <a:avLst/>
          </a:prstGeom>
          <a:noFill/>
          <a:ln/>
        </p:spPr>
        <p:txBody>
          <a:bodyPr wrap="square" lIns="0" tIns="0" rIns="0" bIns="0" rtlCol="0" anchor="t"/>
          <a:lstStyle/>
          <a:p>
            <a:pPr indent="0" marL="0">
              <a:buNone/>
            </a:pPr>
            <a:r>
              <a:rPr lang="en-US" sz="1200" dirty="0">
                <a:solidFill>
                  <a:srgbClr val="1B2433"/>
                </a:solidFill>
                <a:latin typeface="Sarabun" pitchFamily="34" charset="0"/>
                <a:ea typeface="Sarabun" pitchFamily="34" charset="-122"/>
                <a:cs typeface="Sarabun" pitchFamily="34" charset="-120"/>
              </a:rPr>
              <a:t>SEC sues in the Civil Court; interest runs from filing; criminal right ends only on full payment.</a:t>
            </a:r>
            <a:endParaRPr lang="en-US" sz="1200" dirty="0"/>
          </a:p>
        </p:txBody>
      </p:sp>
      <p:sp>
        <p:nvSpPr>
          <p:cNvPr id="23" name="Shape 20"/>
          <p:cNvSpPr/>
          <p:nvPr/>
        </p:nvSpPr>
        <p:spPr>
          <a:xfrm>
            <a:off x="4572000" y="2761488"/>
            <a:ext cx="960120" cy="237744"/>
          </a:xfrm>
          <a:prstGeom prst="roundRect">
            <a:avLst>
              <a:gd name="adj" fmla="val 50000"/>
            </a:avLst>
          </a:prstGeom>
          <a:solidFill>
            <a:srgbClr val="E4572E"/>
          </a:solidFill>
          <a:ln w="12700">
            <a:solidFill>
              <a:srgbClr val="E4572E"/>
            </a:solidFill>
            <a:prstDash val="solid"/>
          </a:ln>
        </p:spPr>
      </p:sp>
      <p:sp>
        <p:nvSpPr>
          <p:cNvPr id="24" name="Text 21"/>
          <p:cNvSpPr txBox="1"/>
          <p:nvPr/>
        </p:nvSpPr>
        <p:spPr>
          <a:xfrm>
            <a:off x="4572000" y="2761488"/>
            <a:ext cx="960120" cy="237744"/>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Montserrat" pitchFamily="34" charset="0"/>
                <a:ea typeface="Montserrat" pitchFamily="34" charset="-122"/>
                <a:cs typeface="Montserrat" pitchFamily="34" charset="-120"/>
              </a:rPr>
              <a:t>TSR CASE</a:t>
            </a:r>
            <a:endParaRPr lang="en-US" sz="850" dirty="0"/>
          </a:p>
        </p:txBody>
      </p:sp>
      <p:sp>
        <p:nvSpPr>
          <p:cNvPr id="25" name="Shape 22"/>
          <p:cNvSpPr/>
          <p:nvPr/>
        </p:nvSpPr>
        <p:spPr>
          <a:xfrm>
            <a:off x="5852160" y="1325880"/>
            <a:ext cx="2834640" cy="3246120"/>
          </a:xfrm>
          <a:prstGeom prst="roundRect">
            <a:avLst>
              <a:gd name="adj" fmla="val 2581"/>
            </a:avLst>
          </a:prstGeom>
          <a:solidFill>
            <a:srgbClr val="0F1B2D"/>
          </a:solidFill>
          <a:ln w="9525">
            <a:solidFill>
              <a:srgbClr val="0F1B2D"/>
            </a:solidFill>
            <a:prstDash val="solid"/>
          </a:ln>
          <a:effectLst>
            <a:outerShdw sx="100000" sy="100000" kx="0" ky="0" algn="bl" rotWithShape="0" blurRad="76200" dist="25400" dir="5400000">
              <a:srgbClr val="0F1B2D">
                <a:alpha val="10000"/>
              </a:srgbClr>
            </a:outerShdw>
          </a:effectLst>
        </p:spPr>
      </p:sp>
      <p:sp>
        <p:nvSpPr>
          <p:cNvPr id="26" name="Text 23"/>
          <p:cNvSpPr txBox="1"/>
          <p:nvPr/>
        </p:nvSpPr>
        <p:spPr>
          <a:xfrm>
            <a:off x="6035040" y="1444752"/>
            <a:ext cx="2560320" cy="274320"/>
          </a:xfrm>
          <a:prstGeom prst="rect">
            <a:avLst/>
          </a:prstGeom>
          <a:noFill/>
          <a:ln/>
        </p:spPr>
        <p:txBody>
          <a:bodyPr wrap="square" lIns="0" tIns="0" rIns="0" bIns="0" rtlCol="0" anchor="ctr"/>
          <a:lstStyle/>
          <a:p>
            <a:pPr indent="0" marL="0">
              <a:buNone/>
            </a:pPr>
            <a:r>
              <a:rPr lang="en-US" sz="1200" b="1" dirty="0">
                <a:solidFill>
                  <a:srgbClr val="E4572E"/>
                </a:solidFill>
                <a:latin typeface="Montserrat" pitchFamily="34" charset="0"/>
                <a:ea typeface="Montserrat" pitchFamily="34" charset="-122"/>
                <a:cs typeface="Montserrat" pitchFamily="34" charset="-120"/>
              </a:rPr>
              <a:t>s.317/4 — five sanctions</a:t>
            </a:r>
            <a:endParaRPr lang="en-US" sz="1200" dirty="0"/>
          </a:p>
        </p:txBody>
      </p:sp>
      <p:sp>
        <p:nvSpPr>
          <p:cNvPr id="27" name="Text 24"/>
          <p:cNvSpPr txBox="1"/>
          <p:nvPr/>
        </p:nvSpPr>
        <p:spPr>
          <a:xfrm>
            <a:off x="6035040" y="1755648"/>
            <a:ext cx="2560320" cy="1371600"/>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250" dirty="0">
                <a:solidFill>
                  <a:srgbClr val="FFFFFF"/>
                </a:solidFill>
                <a:latin typeface="Sarabun" pitchFamily="34" charset="0"/>
                <a:ea typeface="Sarabun" pitchFamily="34" charset="-122"/>
                <a:cs typeface="Sarabun" pitchFamily="34" charset="-120"/>
              </a:rPr>
              <a:t>Civil penalty</a:t>
            </a:r>
            <a:endParaRPr lang="en-US" sz="1250" dirty="0"/>
          </a:p>
          <a:p>
            <a:pPr marL="342900" indent="-342900">
              <a:spcAft>
                <a:spcPts val="200"/>
              </a:spcAft>
              <a:buSzPct val="100000"/>
              <a:buFont typeface="+mj-lt"/>
              <a:buAutoNum type="arabicPeriod" startAt="1"/>
            </a:pPr>
            <a:r>
              <a:rPr lang="en-US" sz="1250" dirty="0">
                <a:solidFill>
                  <a:srgbClr val="FFFFFF"/>
                </a:solidFill>
                <a:latin typeface="Sarabun" pitchFamily="34" charset="0"/>
                <a:ea typeface="Sarabun" pitchFamily="34" charset="-122"/>
                <a:cs typeface="Sarabun" pitchFamily="34" charset="-120"/>
              </a:rPr>
              <a:t>Pay back the benefit</a:t>
            </a:r>
            <a:endParaRPr lang="en-US" sz="1250" dirty="0"/>
          </a:p>
          <a:p>
            <a:pPr marL="342900" indent="-342900">
              <a:spcAft>
                <a:spcPts val="200"/>
              </a:spcAft>
              <a:buSzPct val="100000"/>
              <a:buFont typeface="+mj-lt"/>
              <a:buAutoNum type="arabicPeriod" startAt="1"/>
            </a:pPr>
            <a:r>
              <a:rPr lang="en-US" sz="1250" dirty="0">
                <a:solidFill>
                  <a:srgbClr val="FFFFFF"/>
                </a:solidFill>
                <a:latin typeface="Sarabun" pitchFamily="34" charset="0"/>
                <a:ea typeface="Sarabun" pitchFamily="34" charset="-122"/>
                <a:cs typeface="Sarabun" pitchFamily="34" charset="-120"/>
              </a:rPr>
              <a:t>Trading ban ≤ 5 years</a:t>
            </a:r>
            <a:endParaRPr lang="en-US" sz="1250" dirty="0"/>
          </a:p>
          <a:p>
            <a:pPr marL="342900" indent="-342900">
              <a:spcAft>
                <a:spcPts val="200"/>
              </a:spcAft>
              <a:buSzPct val="100000"/>
              <a:buFont typeface="+mj-lt"/>
              <a:buAutoNum type="arabicPeriod" startAt="1"/>
            </a:pPr>
            <a:r>
              <a:rPr lang="en-US" sz="1250" dirty="0">
                <a:solidFill>
                  <a:srgbClr val="FFFFFF"/>
                </a:solidFill>
                <a:latin typeface="Sarabun" pitchFamily="34" charset="0"/>
                <a:ea typeface="Sarabun" pitchFamily="34" charset="-122"/>
                <a:cs typeface="Sarabun" pitchFamily="34" charset="-120"/>
              </a:rPr>
              <a:t>Director ban ≤ 10 years</a:t>
            </a:r>
            <a:endParaRPr lang="en-US" sz="1250" dirty="0"/>
          </a:p>
          <a:p>
            <a:pPr marL="342900" indent="-342900">
              <a:spcAft>
                <a:spcPts val="200"/>
              </a:spcAft>
              <a:buSzPct val="100000"/>
              <a:buFont typeface="+mj-lt"/>
              <a:buAutoNum type="arabicPeriod" startAt="1"/>
            </a:pPr>
            <a:r>
              <a:rPr lang="en-US" sz="1250" dirty="0">
                <a:solidFill>
                  <a:srgbClr val="FFFFFF"/>
                </a:solidFill>
                <a:latin typeface="Sarabun" pitchFamily="34" charset="0"/>
                <a:ea typeface="Sarabun" pitchFamily="34" charset="-122"/>
                <a:cs typeface="Sarabun" pitchFamily="34" charset="-120"/>
              </a:rPr>
              <a:t>Reimburse SEC costs</a:t>
            </a:r>
            <a:endParaRPr lang="en-US" sz="1250" dirty="0"/>
          </a:p>
        </p:txBody>
      </p:sp>
      <p:sp>
        <p:nvSpPr>
          <p:cNvPr id="28" name="Text 25"/>
          <p:cNvSpPr txBox="1"/>
          <p:nvPr/>
        </p:nvSpPr>
        <p:spPr>
          <a:xfrm>
            <a:off x="6035040" y="3200400"/>
            <a:ext cx="2560320" cy="274320"/>
          </a:xfrm>
          <a:prstGeom prst="rect">
            <a:avLst/>
          </a:prstGeom>
          <a:noFill/>
          <a:ln/>
        </p:spPr>
        <p:txBody>
          <a:bodyPr wrap="square" lIns="0" tIns="0" rIns="0" bIns="0" rtlCol="0" anchor="ctr"/>
          <a:lstStyle/>
          <a:p>
            <a:pPr indent="0" marL="0">
              <a:buNone/>
            </a:pPr>
            <a:r>
              <a:rPr lang="en-US" sz="1200" b="1" dirty="0">
                <a:solidFill>
                  <a:srgbClr val="E4572E"/>
                </a:solidFill>
                <a:latin typeface="Montserrat" pitchFamily="34" charset="0"/>
                <a:ea typeface="Montserrat" pitchFamily="34" charset="-122"/>
                <a:cs typeface="Montserrat" pitchFamily="34" charset="-120"/>
              </a:rPr>
              <a:t>s.317/5 (1) — civil penalty</a:t>
            </a:r>
            <a:endParaRPr lang="en-US" sz="1200" dirty="0"/>
          </a:p>
        </p:txBody>
      </p:sp>
      <p:sp>
        <p:nvSpPr>
          <p:cNvPr id="29" name="Text 26"/>
          <p:cNvSpPr txBox="1"/>
          <p:nvPr/>
        </p:nvSpPr>
        <p:spPr>
          <a:xfrm>
            <a:off x="6035040" y="3493008"/>
            <a:ext cx="2560320" cy="960120"/>
          </a:xfrm>
          <a:prstGeom prst="rect">
            <a:avLst/>
          </a:prstGeom>
          <a:noFill/>
          <a:ln/>
        </p:spPr>
        <p:txBody>
          <a:bodyPr wrap="square" lIns="0" tIns="0" rIns="0" bIns="0" rtlCol="0" anchor="t"/>
          <a:lstStyle/>
          <a:p>
            <a:pPr indent="0" marL="0">
              <a:buNone/>
            </a:pPr>
            <a:r>
              <a:rPr lang="en-US" sz="1250" dirty="0">
                <a:solidFill>
                  <a:srgbClr val="FFFFFF"/>
                </a:solidFill>
                <a:latin typeface="Sarabun" pitchFamily="34" charset="0"/>
                <a:ea typeface="Sarabun" pitchFamily="34" charset="-122"/>
                <a:cs typeface="Sarabun" pitchFamily="34" charset="-120"/>
              </a:rPr>
              <a:t>≤ 2× the benefit, minimum THB 0.5M; if the benefit can’t be calculated, THB 0.5M – 2M</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457200" y="310896"/>
            <a:ext cx="1284732" cy="246888"/>
          </a:xfrm>
          <a:prstGeom prst="roundRect">
            <a:avLst>
              <a:gd name="adj" fmla="val 50000"/>
            </a:avLst>
          </a:prstGeom>
          <a:solidFill>
            <a:srgbClr val="E4572E"/>
          </a:solidFill>
          <a:ln w="12700">
            <a:solidFill>
              <a:srgbClr val="E4572E"/>
            </a:solidFill>
            <a:prstDash val="solid"/>
          </a:ln>
        </p:spPr>
      </p:sp>
      <p:sp>
        <p:nvSpPr>
          <p:cNvPr id="3" name="Text 1"/>
          <p:cNvSpPr txBox="1"/>
          <p:nvPr/>
        </p:nvSpPr>
        <p:spPr>
          <a:xfrm>
            <a:off x="457200" y="310896"/>
            <a:ext cx="1284732" cy="24688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Montserrat" pitchFamily="34" charset="0"/>
                <a:ea typeface="Montserrat" pitchFamily="34" charset="-122"/>
                <a:cs typeface="Montserrat" pitchFamily="34" charset="-120"/>
              </a:rPr>
              <a:t>THE PENALTIES</a:t>
            </a:r>
            <a:endParaRPr lang="en-US" sz="850" dirty="0"/>
          </a:p>
        </p:txBody>
      </p:sp>
      <p:sp>
        <p:nvSpPr>
          <p:cNvPr id="4" name="Text 2"/>
          <p:cNvSpPr txBox="1"/>
          <p:nvPr/>
        </p:nvSpPr>
        <p:spPr>
          <a:xfrm>
            <a:off x="457200" y="640080"/>
            <a:ext cx="8229600" cy="502920"/>
          </a:xfrm>
          <a:prstGeom prst="rect">
            <a:avLst/>
          </a:prstGeom>
          <a:noFill/>
          <a:ln/>
        </p:spPr>
        <p:txBody>
          <a:bodyPr wrap="square" lIns="0" tIns="0" rIns="0" bIns="0" rtlCol="0" anchor="ctr"/>
          <a:lstStyle/>
          <a:p>
            <a:pPr indent="0" marL="0">
              <a:buNone/>
            </a:pPr>
            <a:r>
              <a:rPr lang="en-US" sz="2600" b="1" dirty="0">
                <a:solidFill>
                  <a:srgbClr val="0F1B2D"/>
                </a:solidFill>
                <a:latin typeface="Montserrat" pitchFamily="34" charset="0"/>
                <a:ea typeface="Montserrat" pitchFamily="34" charset="-122"/>
                <a:cs typeface="Montserrat" pitchFamily="34" charset="-120"/>
              </a:rPr>
              <a:t>Civil Sanctions Applied to TSR</a:t>
            </a:r>
            <a:endParaRPr lang="en-US" sz="2600" dirty="0"/>
          </a:p>
        </p:txBody>
      </p:sp>
      <p:sp>
        <p:nvSpPr>
          <p:cNvPr id="5" name="Text 3"/>
          <p:cNvSpPr txBox="1"/>
          <p:nvPr/>
        </p:nvSpPr>
        <p:spPr>
          <a:xfrm>
            <a:off x="457200" y="4773168"/>
            <a:ext cx="4572000" cy="228600"/>
          </a:xfrm>
          <a:prstGeom prst="rect">
            <a:avLst/>
          </a:prstGeom>
          <a:noFill/>
          <a:ln/>
        </p:spPr>
        <p:txBody>
          <a:bodyPr wrap="square" lIns="0" tIns="0" rIns="0" bIns="0" rtlCol="0" anchor="ctr"/>
          <a:lstStyle/>
          <a:p>
            <a:pPr indent="0" marL="0">
              <a:buNone/>
            </a:pPr>
            <a:r>
              <a:rPr lang="en-US" sz="900" dirty="0">
                <a:solidFill>
                  <a:srgbClr val="5B6B7F"/>
                </a:solidFill>
                <a:latin typeface="Sarabun" pitchFamily="34" charset="0"/>
                <a:ea typeface="Sarabun" pitchFamily="34" charset="-122"/>
                <a:cs typeface="Sarabun" pitchFamily="34" charset="-120"/>
              </a:rPr>
              <a:t>Group 3  ·  TSR Market Manipulation Case</a:t>
            </a:r>
            <a:endParaRPr lang="en-US" sz="900" dirty="0"/>
          </a:p>
        </p:txBody>
      </p:sp>
      <p:sp>
        <p:nvSpPr>
          <p:cNvPr id="6" name="Text 4"/>
          <p:cNvSpPr txBox="1"/>
          <p:nvPr/>
        </p:nvSpPr>
        <p:spPr>
          <a:xfrm>
            <a:off x="7772400" y="4773168"/>
            <a:ext cx="914400" cy="228600"/>
          </a:xfrm>
          <a:prstGeom prst="rect">
            <a:avLst/>
          </a:prstGeom>
          <a:noFill/>
          <a:ln/>
        </p:spPr>
        <p:txBody>
          <a:bodyPr wrap="square" lIns="0" tIns="0" rIns="0" bIns="0" rtlCol="0" anchor="ctr"/>
          <a:lstStyle/>
          <a:p>
            <a:pPr algn="r" indent="0" marL="0">
              <a:buNone/>
            </a:pPr>
            <a:r>
              <a:rPr lang="en-US" sz="900" dirty="0">
                <a:solidFill>
                  <a:srgbClr val="5B6B7F"/>
                </a:solidFill>
                <a:latin typeface="Sarabun" pitchFamily="34" charset="0"/>
                <a:ea typeface="Sarabun" pitchFamily="34" charset="-122"/>
                <a:cs typeface="Sarabun" pitchFamily="34" charset="-120"/>
              </a:rPr>
              <a:t>17 / 20</a:t>
            </a:r>
            <a:endParaRPr lang="en-US" sz="900" dirty="0"/>
          </a:p>
        </p:txBody>
      </p:sp>
      <p:sp>
        <p:nvSpPr>
          <p:cNvPr id="8" name="Shape 5"/>
          <p:cNvSpPr/>
          <p:nvPr/>
        </p:nvSpPr>
        <p:spPr>
          <a:xfrm>
            <a:off x="457200" y="1325880"/>
            <a:ext cx="3566160" cy="2148840"/>
          </a:xfrm>
          <a:prstGeom prst="roundRect">
            <a:avLst>
              <a:gd name="adj" fmla="val 3404"/>
            </a:avLst>
          </a:prstGeom>
          <a:solidFill>
            <a:srgbClr val="FFFFFF"/>
          </a:solidFill>
          <a:ln w="9525">
            <a:solidFill>
              <a:srgbClr val="FFFFFF"/>
            </a:solidFill>
            <a:prstDash val="solid"/>
          </a:ln>
          <a:effectLst>
            <a:outerShdw sx="100000" sy="100000" kx="0" ky="0" algn="bl" rotWithShape="0" blurRad="76200" dist="25400" dir="5400000">
              <a:srgbClr val="0F1B2D">
                <a:alpha val="10000"/>
              </a:srgbClr>
            </a:outerShdw>
          </a:effectLst>
        </p:spPr>
      </p:sp>
      <p:sp>
        <p:nvSpPr>
          <p:cNvPr id="9" name="Text 6"/>
          <p:cNvSpPr txBox="1"/>
          <p:nvPr/>
        </p:nvSpPr>
        <p:spPr>
          <a:xfrm>
            <a:off x="640080" y="1463040"/>
            <a:ext cx="3200400" cy="256032"/>
          </a:xfrm>
          <a:prstGeom prst="rect">
            <a:avLst/>
          </a:prstGeom>
          <a:noFill/>
          <a:ln/>
        </p:spPr>
        <p:txBody>
          <a:bodyPr wrap="square" lIns="0" tIns="0" rIns="0" bIns="0" rtlCol="0" anchor="ctr"/>
          <a:lstStyle/>
          <a:p>
            <a:pPr indent="0" marL="0">
              <a:buNone/>
            </a:pPr>
            <a:r>
              <a:rPr lang="en-US" sz="950" b="1" spc="100" kern="0" dirty="0">
                <a:solidFill>
                  <a:srgbClr val="5B6B7F"/>
                </a:solidFill>
                <a:latin typeface="Montserrat" pitchFamily="34" charset="0"/>
                <a:ea typeface="Montserrat" pitchFamily="34" charset="-122"/>
                <a:cs typeface="Montserrat" pitchFamily="34" charset="-120"/>
              </a:rPr>
              <a:t>JAN 2026  ·  CIVIL SANCTION COMMITTEE</a:t>
            </a:r>
            <a:endParaRPr lang="en-US" sz="950" dirty="0"/>
          </a:p>
        </p:txBody>
      </p:sp>
      <p:sp>
        <p:nvSpPr>
          <p:cNvPr id="10" name="Text 7"/>
          <p:cNvSpPr txBox="1"/>
          <p:nvPr/>
        </p:nvSpPr>
        <p:spPr>
          <a:xfrm>
            <a:off x="640080" y="1783080"/>
            <a:ext cx="3200400" cy="548640"/>
          </a:xfrm>
          <a:prstGeom prst="rect">
            <a:avLst/>
          </a:prstGeom>
          <a:noFill/>
          <a:ln/>
        </p:spPr>
        <p:txBody>
          <a:bodyPr wrap="square" lIns="0" tIns="0" rIns="0" bIns="0" rtlCol="0" anchor="ctr"/>
          <a:lstStyle/>
          <a:p>
            <a:pPr indent="0" marL="0">
              <a:buNone/>
            </a:pPr>
            <a:r>
              <a:rPr lang="en-US" sz="2600" b="1" dirty="0">
                <a:solidFill>
                  <a:srgbClr val="0F1B2D"/>
                </a:solidFill>
                <a:latin typeface="Montserrat" pitchFamily="34" charset="0"/>
                <a:ea typeface="Montserrat" pitchFamily="34" charset="-122"/>
                <a:cs typeface="Montserrat" pitchFamily="34" charset="-120"/>
              </a:rPr>
              <a:t>THB 32,327,329</a:t>
            </a:r>
            <a:endParaRPr lang="en-US" sz="2600" dirty="0"/>
          </a:p>
        </p:txBody>
      </p:sp>
      <p:sp>
        <p:nvSpPr>
          <p:cNvPr id="11" name="Text 8"/>
          <p:cNvSpPr txBox="1"/>
          <p:nvPr/>
        </p:nvSpPr>
        <p:spPr>
          <a:xfrm>
            <a:off x="640080" y="2423160"/>
            <a:ext cx="3200400" cy="914400"/>
          </a:xfrm>
          <a:prstGeom prst="rect">
            <a:avLst/>
          </a:prstGeom>
          <a:noFill/>
          <a:ln/>
        </p:spPr>
        <p:txBody>
          <a:bodyPr wrap="square" lIns="0" tIns="0" rIns="0" bIns="0" rtlCol="0" anchor="t"/>
          <a:lstStyle/>
          <a:p>
            <a:pPr indent="0" marL="0">
              <a:buNone/>
            </a:pPr>
            <a:r>
              <a:rPr lang="en-US" sz="1300" dirty="0">
                <a:solidFill>
                  <a:srgbClr val="1B2433"/>
                </a:solidFill>
                <a:latin typeface="Sarabun" pitchFamily="34" charset="0"/>
                <a:ea typeface="Sarabun" pitchFamily="34" charset="-122"/>
                <a:cs typeface="Sarabun" pitchFamily="34" charset="-120"/>
              </a:rPr>
              <a:t>Civil penalty + benefit + SEC costs</a:t>
            </a:r>
            <a:endParaRPr lang="en-US" sz="1300" dirty="0"/>
          </a:p>
          <a:p>
            <a:pPr indent="0" marL="0">
              <a:buNone/>
            </a:pPr>
            <a:r>
              <a:rPr lang="en-US" sz="1300" dirty="0">
                <a:solidFill>
                  <a:srgbClr val="1B2433"/>
                </a:solidFill>
                <a:latin typeface="Sarabun" pitchFamily="34" charset="0"/>
                <a:ea typeface="Sarabun" pitchFamily="34" charset="-122"/>
                <a:cs typeface="Sarabun" pitchFamily="34" charset="-120"/>
              </a:rPr>
              <a:t>6-month trading ban</a:t>
            </a:r>
            <a:endParaRPr lang="en-US" sz="1300" dirty="0"/>
          </a:p>
          <a:p>
            <a:pPr indent="0" marL="0">
              <a:buNone/>
            </a:pPr>
            <a:r>
              <a:rPr lang="en-US" sz="1300" dirty="0">
                <a:solidFill>
                  <a:srgbClr val="1B2433"/>
                </a:solidFill>
                <a:latin typeface="Sarabun" pitchFamily="34" charset="0"/>
                <a:ea typeface="Sarabun" pitchFamily="34" charset="-122"/>
                <a:cs typeface="Sarabun" pitchFamily="34" charset="-120"/>
              </a:rPr>
              <a:t>12-month director ban</a:t>
            </a:r>
            <a:endParaRPr lang="en-US" sz="1300" dirty="0"/>
          </a:p>
        </p:txBody>
      </p:sp>
      <p:sp>
        <p:nvSpPr>
          <p:cNvPr id="12" name="Shape 9"/>
          <p:cNvSpPr/>
          <p:nvPr/>
        </p:nvSpPr>
        <p:spPr>
          <a:xfrm>
            <a:off x="4114800" y="2395728"/>
            <a:ext cx="914400" cy="0"/>
          </a:xfrm>
          <a:prstGeom prst="line">
            <a:avLst/>
          </a:prstGeom>
          <a:noFill/>
          <a:ln w="31750">
            <a:solidFill>
              <a:srgbClr val="E4572E"/>
            </a:solidFill>
            <a:prstDash val="solid"/>
            <a:tailEnd type="triangle"/>
          </a:ln>
        </p:spPr>
      </p:sp>
      <p:sp>
        <p:nvSpPr>
          <p:cNvPr id="13" name="Text 10"/>
          <p:cNvSpPr txBox="1"/>
          <p:nvPr/>
        </p:nvSpPr>
        <p:spPr>
          <a:xfrm>
            <a:off x="4069080" y="1783080"/>
            <a:ext cx="1005840" cy="502920"/>
          </a:xfrm>
          <a:prstGeom prst="rect">
            <a:avLst/>
          </a:prstGeom>
          <a:noFill/>
          <a:ln/>
        </p:spPr>
        <p:txBody>
          <a:bodyPr wrap="square" lIns="0" tIns="0" rIns="0" bIns="0" rtlCol="0" anchor="b"/>
          <a:lstStyle/>
          <a:p>
            <a:pPr algn="ctr" indent="0" marL="0">
              <a:buNone/>
            </a:pPr>
            <a:r>
              <a:rPr lang="en-US" sz="1000" b="1" dirty="0">
                <a:solidFill>
                  <a:srgbClr val="E4572E"/>
                </a:solidFill>
                <a:latin typeface="Montserrat" pitchFamily="34" charset="0"/>
                <a:ea typeface="Montserrat" pitchFamily="34" charset="-122"/>
                <a:cs typeface="Montserrat" pitchFamily="34" charset="-120"/>
              </a:rPr>
              <a:t>Refused</a:t>
            </a:r>
            <a:endParaRPr lang="en-US" sz="1000" dirty="0"/>
          </a:p>
          <a:p>
            <a:pPr algn="ctr" indent="0" marL="0">
              <a:buNone/>
            </a:pPr>
            <a:r>
              <a:rPr lang="en-US" sz="1000" b="1" dirty="0">
                <a:solidFill>
                  <a:srgbClr val="E4572E"/>
                </a:solidFill>
                <a:latin typeface="Montserrat" pitchFamily="34" charset="0"/>
                <a:ea typeface="Montserrat" pitchFamily="34" charset="-122"/>
                <a:cs typeface="Montserrat" pitchFamily="34" charset="-120"/>
              </a:rPr>
              <a:t>s.317/8</a:t>
            </a:r>
            <a:endParaRPr lang="en-US" sz="1000" dirty="0"/>
          </a:p>
        </p:txBody>
      </p:sp>
      <p:sp>
        <p:nvSpPr>
          <p:cNvPr id="14" name="Shape 11"/>
          <p:cNvSpPr/>
          <p:nvPr/>
        </p:nvSpPr>
        <p:spPr>
          <a:xfrm>
            <a:off x="5120640" y="1325880"/>
            <a:ext cx="3566160" cy="2148840"/>
          </a:xfrm>
          <a:prstGeom prst="roundRect">
            <a:avLst>
              <a:gd name="adj" fmla="val 3404"/>
            </a:avLst>
          </a:prstGeom>
          <a:solidFill>
            <a:srgbClr val="0F1B2D"/>
          </a:solidFill>
          <a:ln w="9525">
            <a:solidFill>
              <a:srgbClr val="0F1B2D"/>
            </a:solidFill>
            <a:prstDash val="solid"/>
          </a:ln>
          <a:effectLst>
            <a:outerShdw sx="100000" sy="100000" kx="0" ky="0" algn="bl" rotWithShape="0" blurRad="76200" dist="25400" dir="5400000">
              <a:srgbClr val="0F1B2D">
                <a:alpha val="10000"/>
              </a:srgbClr>
            </a:outerShdw>
          </a:effectLst>
        </p:spPr>
      </p:sp>
      <p:sp>
        <p:nvSpPr>
          <p:cNvPr id="15" name="Text 12"/>
          <p:cNvSpPr txBox="1"/>
          <p:nvPr/>
        </p:nvSpPr>
        <p:spPr>
          <a:xfrm>
            <a:off x="5303520" y="1463040"/>
            <a:ext cx="3200400" cy="256032"/>
          </a:xfrm>
          <a:prstGeom prst="rect">
            <a:avLst/>
          </a:prstGeom>
          <a:noFill/>
          <a:ln/>
        </p:spPr>
        <p:txBody>
          <a:bodyPr wrap="square" lIns="0" tIns="0" rIns="0" bIns="0" rtlCol="0" anchor="ctr"/>
          <a:lstStyle/>
          <a:p>
            <a:pPr indent="0" marL="0">
              <a:buNone/>
            </a:pPr>
            <a:r>
              <a:rPr lang="en-US" sz="950" b="1" spc="100" kern="0" dirty="0">
                <a:solidFill>
                  <a:srgbClr val="8FA3BF"/>
                </a:solidFill>
                <a:latin typeface="Montserrat" pitchFamily="34" charset="0"/>
                <a:ea typeface="Montserrat" pitchFamily="34" charset="-122"/>
                <a:cs typeface="Montserrat" pitchFamily="34" charset="-120"/>
              </a:rPr>
              <a:t>MAY 2026  ·  CIVIL COURT CLAIM</a:t>
            </a:r>
            <a:endParaRPr lang="en-US" sz="950" dirty="0"/>
          </a:p>
        </p:txBody>
      </p:sp>
      <p:sp>
        <p:nvSpPr>
          <p:cNvPr id="16" name="Text 13"/>
          <p:cNvSpPr txBox="1"/>
          <p:nvPr/>
        </p:nvSpPr>
        <p:spPr>
          <a:xfrm>
            <a:off x="5303520" y="1783080"/>
            <a:ext cx="3200400" cy="548640"/>
          </a:xfrm>
          <a:prstGeom prst="rect">
            <a:avLst/>
          </a:prstGeom>
          <a:noFill/>
          <a:ln/>
        </p:spPr>
        <p:txBody>
          <a:bodyPr wrap="square" lIns="0" tIns="0" rIns="0" bIns="0" rtlCol="0" anchor="ctr"/>
          <a:lstStyle/>
          <a:p>
            <a:pPr indent="0" marL="0">
              <a:buNone/>
            </a:pPr>
            <a:r>
              <a:rPr lang="en-US" sz="2400" b="1" dirty="0">
                <a:solidFill>
                  <a:srgbClr val="E4572E"/>
                </a:solidFill>
                <a:latin typeface="Montserrat" pitchFamily="34" charset="0"/>
                <a:ea typeface="Montserrat" pitchFamily="34" charset="-122"/>
                <a:cs typeface="Montserrat" pitchFamily="34" charset="-120"/>
              </a:rPr>
              <a:t>THB 43,018,879.32</a:t>
            </a:r>
            <a:endParaRPr lang="en-US" sz="2400" dirty="0"/>
          </a:p>
        </p:txBody>
      </p:sp>
      <p:sp>
        <p:nvSpPr>
          <p:cNvPr id="17" name="Text 14"/>
          <p:cNvSpPr txBox="1"/>
          <p:nvPr/>
        </p:nvSpPr>
        <p:spPr>
          <a:xfrm>
            <a:off x="5303520" y="2423160"/>
            <a:ext cx="3200400" cy="914400"/>
          </a:xfrm>
          <a:prstGeom prst="rect">
            <a:avLst/>
          </a:prstGeom>
          <a:noFill/>
          <a:ln/>
        </p:spPr>
        <p:txBody>
          <a:bodyPr wrap="square" lIns="0" tIns="0" rIns="0" bIns="0" rtlCol="0" anchor="t"/>
          <a:lstStyle/>
          <a:p>
            <a:pPr indent="0" marL="0">
              <a:buNone/>
            </a:pPr>
            <a:r>
              <a:rPr lang="en-US" sz="1300" dirty="0">
                <a:solidFill>
                  <a:srgbClr val="FFFFFF"/>
                </a:solidFill>
                <a:latin typeface="Sarabun" pitchFamily="34" charset="0"/>
                <a:ea typeface="Sarabun" pitchFamily="34" charset="-122"/>
                <a:cs typeface="Sarabun" pitchFamily="34" charset="-120"/>
              </a:rPr>
              <a:t>+ interest from the filing date</a:t>
            </a:r>
            <a:endParaRPr lang="en-US" sz="1300" dirty="0"/>
          </a:p>
          <a:p>
            <a:pPr indent="0" marL="0">
              <a:buNone/>
            </a:pPr>
            <a:r>
              <a:rPr lang="en-US" sz="1300" dirty="0">
                <a:solidFill>
                  <a:srgbClr val="FFFFFF"/>
                </a:solidFill>
                <a:latin typeface="Sarabun" pitchFamily="34" charset="0"/>
                <a:ea typeface="Sarabun" pitchFamily="34" charset="-122"/>
                <a:cs typeface="Sarabun" pitchFamily="34" charset="-120"/>
              </a:rPr>
              <a:t>Bans at the legal maximum</a:t>
            </a:r>
            <a:endParaRPr lang="en-US" sz="1300" dirty="0"/>
          </a:p>
          <a:p>
            <a:pPr indent="0" marL="0">
              <a:buNone/>
            </a:pPr>
            <a:r>
              <a:rPr lang="en-US" sz="1300" dirty="0">
                <a:solidFill>
                  <a:srgbClr val="FFFFFF"/>
                </a:solidFill>
                <a:latin typeface="Sarabun" pitchFamily="34" charset="0"/>
                <a:ea typeface="Sarabun" pitchFamily="34" charset="-122"/>
                <a:cs typeface="Sarabun" pitchFamily="34" charset="-120"/>
              </a:rPr>
              <a:t>(caps: 5 years / 10 years)</a:t>
            </a:r>
            <a:endParaRPr lang="en-US" sz="1300" dirty="0"/>
          </a:p>
        </p:txBody>
      </p:sp>
      <p:sp>
        <p:nvSpPr>
          <p:cNvPr id="18" name="Shape 15"/>
          <p:cNvSpPr/>
          <p:nvPr/>
        </p:nvSpPr>
        <p:spPr>
          <a:xfrm>
            <a:off x="457200" y="3657600"/>
            <a:ext cx="2651760" cy="914400"/>
          </a:xfrm>
          <a:prstGeom prst="roundRect">
            <a:avLst>
              <a:gd name="adj" fmla="val 8000"/>
            </a:avLst>
          </a:prstGeom>
          <a:solidFill>
            <a:srgbClr val="E9EEF5"/>
          </a:solidFill>
          <a:ln w="9525">
            <a:solidFill>
              <a:srgbClr val="E9EEF5"/>
            </a:solidFill>
            <a:prstDash val="solid"/>
          </a:ln>
        </p:spPr>
      </p:sp>
      <p:sp>
        <p:nvSpPr>
          <p:cNvPr id="19" name="Text 16"/>
          <p:cNvSpPr txBox="1"/>
          <p:nvPr/>
        </p:nvSpPr>
        <p:spPr>
          <a:xfrm>
            <a:off x="640080" y="3730752"/>
            <a:ext cx="2286000" cy="384048"/>
          </a:xfrm>
          <a:prstGeom prst="rect">
            <a:avLst/>
          </a:prstGeom>
          <a:noFill/>
          <a:ln/>
        </p:spPr>
        <p:txBody>
          <a:bodyPr wrap="square" lIns="0" tIns="0" rIns="0" bIns="0" rtlCol="0" anchor="ctr"/>
          <a:lstStyle/>
          <a:p>
            <a:pPr indent="0" marL="0">
              <a:buNone/>
            </a:pPr>
            <a:r>
              <a:rPr lang="en-US" sz="1700" b="1" dirty="0">
                <a:solidFill>
                  <a:srgbClr val="E4572E"/>
                </a:solidFill>
                <a:latin typeface="Montserrat" pitchFamily="34" charset="0"/>
                <a:ea typeface="Montserrat" pitchFamily="34" charset="-122"/>
                <a:cs typeface="Montserrat" pitchFamily="34" charset="-120"/>
              </a:rPr>
              <a:t>+33%</a:t>
            </a:r>
            <a:endParaRPr lang="en-US" sz="1700" dirty="0"/>
          </a:p>
        </p:txBody>
      </p:sp>
      <p:sp>
        <p:nvSpPr>
          <p:cNvPr id="20" name="Text 17"/>
          <p:cNvSpPr txBox="1"/>
          <p:nvPr/>
        </p:nvSpPr>
        <p:spPr>
          <a:xfrm>
            <a:off x="640080" y="4114800"/>
            <a:ext cx="2331720" cy="411480"/>
          </a:xfrm>
          <a:prstGeom prst="rect">
            <a:avLst/>
          </a:prstGeom>
          <a:noFill/>
          <a:ln/>
        </p:spPr>
        <p:txBody>
          <a:bodyPr wrap="square" lIns="0" tIns="0" rIns="0" bIns="0" rtlCol="0" anchor="t"/>
          <a:lstStyle/>
          <a:p>
            <a:pPr indent="0" marL="0">
              <a:buNone/>
            </a:pPr>
            <a:r>
              <a:rPr lang="en-US" sz="1150" dirty="0">
                <a:solidFill>
                  <a:srgbClr val="1B2433"/>
                </a:solidFill>
                <a:latin typeface="Sarabun" pitchFamily="34" charset="0"/>
                <a:ea typeface="Sarabun" pitchFamily="34" charset="-122"/>
                <a:cs typeface="Sarabun" pitchFamily="34" charset="-120"/>
              </a:rPr>
              <a:t>THB 10.69M more than the CSC amount</a:t>
            </a:r>
            <a:endParaRPr lang="en-US" sz="1150" dirty="0"/>
          </a:p>
        </p:txBody>
      </p:sp>
      <p:sp>
        <p:nvSpPr>
          <p:cNvPr id="21" name="Shape 18"/>
          <p:cNvSpPr/>
          <p:nvPr/>
        </p:nvSpPr>
        <p:spPr>
          <a:xfrm>
            <a:off x="3246120" y="3657600"/>
            <a:ext cx="2651760" cy="914400"/>
          </a:xfrm>
          <a:prstGeom prst="roundRect">
            <a:avLst>
              <a:gd name="adj" fmla="val 8000"/>
            </a:avLst>
          </a:prstGeom>
          <a:solidFill>
            <a:srgbClr val="E9EEF5"/>
          </a:solidFill>
          <a:ln w="9525">
            <a:solidFill>
              <a:srgbClr val="E9EEF5"/>
            </a:solidFill>
            <a:prstDash val="solid"/>
          </a:ln>
        </p:spPr>
      </p:sp>
      <p:sp>
        <p:nvSpPr>
          <p:cNvPr id="22" name="Text 19"/>
          <p:cNvSpPr txBox="1"/>
          <p:nvPr/>
        </p:nvSpPr>
        <p:spPr>
          <a:xfrm>
            <a:off x="3429000" y="3730752"/>
            <a:ext cx="2286000" cy="384048"/>
          </a:xfrm>
          <a:prstGeom prst="rect">
            <a:avLst/>
          </a:prstGeom>
          <a:noFill/>
          <a:ln/>
        </p:spPr>
        <p:txBody>
          <a:bodyPr wrap="square" lIns="0" tIns="0" rIns="0" bIns="0" rtlCol="0" anchor="ctr"/>
          <a:lstStyle/>
          <a:p>
            <a:pPr indent="0" marL="0">
              <a:buNone/>
            </a:pPr>
            <a:r>
              <a:rPr lang="en-US" sz="1700" b="1" dirty="0">
                <a:solidFill>
                  <a:srgbClr val="E4572E"/>
                </a:solidFill>
                <a:latin typeface="Montserrat" pitchFamily="34" charset="0"/>
                <a:ea typeface="Montserrat" pitchFamily="34" charset="-122"/>
                <a:cs typeface="Montserrat" pitchFamily="34" charset="-120"/>
              </a:rPr>
              <a:t>Full payment</a:t>
            </a:r>
            <a:endParaRPr lang="en-US" sz="1700" dirty="0"/>
          </a:p>
        </p:txBody>
      </p:sp>
      <p:sp>
        <p:nvSpPr>
          <p:cNvPr id="23" name="Text 20"/>
          <p:cNvSpPr txBox="1"/>
          <p:nvPr/>
        </p:nvSpPr>
        <p:spPr>
          <a:xfrm>
            <a:off x="3429000" y="4114800"/>
            <a:ext cx="2331720" cy="411480"/>
          </a:xfrm>
          <a:prstGeom prst="rect">
            <a:avLst/>
          </a:prstGeom>
          <a:noFill/>
          <a:ln/>
        </p:spPr>
        <p:txBody>
          <a:bodyPr wrap="square" lIns="0" tIns="0" rIns="0" bIns="0" rtlCol="0" anchor="t"/>
          <a:lstStyle/>
          <a:p>
            <a:pPr indent="0" marL="0">
              <a:buNone/>
            </a:pPr>
            <a:r>
              <a:rPr lang="en-US" sz="1150" dirty="0">
                <a:solidFill>
                  <a:srgbClr val="1B2433"/>
                </a:solidFill>
                <a:latin typeface="Sarabun" pitchFamily="34" charset="0"/>
                <a:ea typeface="Sarabun" pitchFamily="34" charset="-122"/>
                <a:cs typeface="Sarabun" pitchFamily="34" charset="-120"/>
              </a:rPr>
              <a:t>is the only way the criminal right ends (s.317/8)</a:t>
            </a:r>
            <a:endParaRPr lang="en-US" sz="1150" dirty="0"/>
          </a:p>
        </p:txBody>
      </p:sp>
      <p:sp>
        <p:nvSpPr>
          <p:cNvPr id="24" name="Shape 21"/>
          <p:cNvSpPr/>
          <p:nvPr/>
        </p:nvSpPr>
        <p:spPr>
          <a:xfrm>
            <a:off x="6035040" y="3657600"/>
            <a:ext cx="2651760" cy="914400"/>
          </a:xfrm>
          <a:prstGeom prst="roundRect">
            <a:avLst>
              <a:gd name="adj" fmla="val 8000"/>
            </a:avLst>
          </a:prstGeom>
          <a:solidFill>
            <a:srgbClr val="E9EEF5"/>
          </a:solidFill>
          <a:ln w="9525">
            <a:solidFill>
              <a:srgbClr val="E9EEF5"/>
            </a:solidFill>
            <a:prstDash val="solid"/>
          </a:ln>
        </p:spPr>
      </p:sp>
      <p:sp>
        <p:nvSpPr>
          <p:cNvPr id="25" name="Text 22"/>
          <p:cNvSpPr txBox="1"/>
          <p:nvPr/>
        </p:nvSpPr>
        <p:spPr>
          <a:xfrm>
            <a:off x="6217920" y="3730752"/>
            <a:ext cx="2286000" cy="384048"/>
          </a:xfrm>
          <a:prstGeom prst="rect">
            <a:avLst/>
          </a:prstGeom>
          <a:noFill/>
          <a:ln/>
        </p:spPr>
        <p:txBody>
          <a:bodyPr wrap="square" lIns="0" tIns="0" rIns="0" bIns="0" rtlCol="0" anchor="ctr"/>
          <a:lstStyle/>
          <a:p>
            <a:pPr indent="0" marL="0">
              <a:buNone/>
            </a:pPr>
            <a:r>
              <a:rPr lang="en-US" sz="1700" b="1" dirty="0">
                <a:solidFill>
                  <a:srgbClr val="E4572E"/>
                </a:solidFill>
                <a:latin typeface="Montserrat" pitchFamily="34" charset="0"/>
                <a:ea typeface="Montserrat" pitchFamily="34" charset="-122"/>
                <a:cs typeface="Montserrat" pitchFamily="34" charset="-120"/>
              </a:rPr>
              <a:t>Pending</a:t>
            </a:r>
            <a:endParaRPr lang="en-US" sz="1700" dirty="0"/>
          </a:p>
        </p:txBody>
      </p:sp>
      <p:sp>
        <p:nvSpPr>
          <p:cNvPr id="26" name="Text 23"/>
          <p:cNvSpPr txBox="1"/>
          <p:nvPr/>
        </p:nvSpPr>
        <p:spPr>
          <a:xfrm>
            <a:off x="6217920" y="4114800"/>
            <a:ext cx="2331720" cy="411480"/>
          </a:xfrm>
          <a:prstGeom prst="rect">
            <a:avLst/>
          </a:prstGeom>
          <a:noFill/>
          <a:ln/>
        </p:spPr>
        <p:txBody>
          <a:bodyPr wrap="square" lIns="0" tIns="0" rIns="0" bIns="0" rtlCol="0" anchor="t"/>
          <a:lstStyle/>
          <a:p>
            <a:pPr indent="0" marL="0">
              <a:buNone/>
            </a:pPr>
            <a:r>
              <a:rPr lang="en-US" sz="1150" dirty="0">
                <a:solidFill>
                  <a:srgbClr val="1B2433"/>
                </a:solidFill>
                <a:latin typeface="Sarabun" pitchFamily="34" charset="0"/>
                <a:ea typeface="Sarabun" pitchFamily="34" charset="-122"/>
                <a:cs typeface="Sarabun" pitchFamily="34" charset="-120"/>
              </a:rPr>
              <a:t>No court judgment reported as of Oct 2026</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457200" y="310896"/>
            <a:ext cx="1284732" cy="246888"/>
          </a:xfrm>
          <a:prstGeom prst="roundRect">
            <a:avLst>
              <a:gd name="adj" fmla="val 50000"/>
            </a:avLst>
          </a:prstGeom>
          <a:solidFill>
            <a:srgbClr val="E4572E"/>
          </a:solidFill>
          <a:ln w="12700">
            <a:solidFill>
              <a:srgbClr val="E4572E"/>
            </a:solidFill>
            <a:prstDash val="solid"/>
          </a:ln>
        </p:spPr>
      </p:sp>
      <p:sp>
        <p:nvSpPr>
          <p:cNvPr id="3" name="Text 1"/>
          <p:cNvSpPr txBox="1"/>
          <p:nvPr/>
        </p:nvSpPr>
        <p:spPr>
          <a:xfrm>
            <a:off x="457200" y="310896"/>
            <a:ext cx="1284732" cy="246888"/>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Montserrat" pitchFamily="34" charset="0"/>
                <a:ea typeface="Montserrat" pitchFamily="34" charset="-122"/>
                <a:cs typeface="Montserrat" pitchFamily="34" charset="-120"/>
              </a:rPr>
              <a:t>THE PENALTIES</a:t>
            </a:r>
            <a:endParaRPr lang="en-US" sz="850" dirty="0"/>
          </a:p>
        </p:txBody>
      </p:sp>
      <p:sp>
        <p:nvSpPr>
          <p:cNvPr id="4" name="Text 2"/>
          <p:cNvSpPr txBox="1"/>
          <p:nvPr/>
        </p:nvSpPr>
        <p:spPr>
          <a:xfrm>
            <a:off x="457200" y="640080"/>
            <a:ext cx="8229600" cy="502920"/>
          </a:xfrm>
          <a:prstGeom prst="rect">
            <a:avLst/>
          </a:prstGeom>
          <a:noFill/>
          <a:ln/>
        </p:spPr>
        <p:txBody>
          <a:bodyPr wrap="square" lIns="0" tIns="0" rIns="0" bIns="0" rtlCol="0" anchor="ctr"/>
          <a:lstStyle/>
          <a:p>
            <a:pPr indent="0" marL="0">
              <a:buNone/>
            </a:pPr>
            <a:r>
              <a:rPr lang="en-US" sz="2600" b="1" dirty="0">
                <a:solidFill>
                  <a:srgbClr val="0F1B2D"/>
                </a:solidFill>
                <a:latin typeface="Montserrat" pitchFamily="34" charset="0"/>
                <a:ea typeface="Montserrat" pitchFamily="34" charset="-122"/>
                <a:cs typeface="Montserrat" pitchFamily="34" charset="-120"/>
              </a:rPr>
              <a:t>A Pattern: The Parallel MSC Case</a:t>
            </a:r>
            <a:endParaRPr lang="en-US" sz="2600" dirty="0"/>
          </a:p>
        </p:txBody>
      </p:sp>
      <p:sp>
        <p:nvSpPr>
          <p:cNvPr id="5" name="Text 3"/>
          <p:cNvSpPr txBox="1"/>
          <p:nvPr/>
        </p:nvSpPr>
        <p:spPr>
          <a:xfrm>
            <a:off x="457200" y="4773168"/>
            <a:ext cx="4572000" cy="228600"/>
          </a:xfrm>
          <a:prstGeom prst="rect">
            <a:avLst/>
          </a:prstGeom>
          <a:noFill/>
          <a:ln/>
        </p:spPr>
        <p:txBody>
          <a:bodyPr wrap="square" lIns="0" tIns="0" rIns="0" bIns="0" rtlCol="0" anchor="ctr"/>
          <a:lstStyle/>
          <a:p>
            <a:pPr indent="0" marL="0">
              <a:buNone/>
            </a:pPr>
            <a:r>
              <a:rPr lang="en-US" sz="900" dirty="0">
                <a:solidFill>
                  <a:srgbClr val="5B6B7F"/>
                </a:solidFill>
                <a:latin typeface="Sarabun" pitchFamily="34" charset="0"/>
                <a:ea typeface="Sarabun" pitchFamily="34" charset="-122"/>
                <a:cs typeface="Sarabun" pitchFamily="34" charset="-120"/>
              </a:rPr>
              <a:t>Group 3  ·  TSR Market Manipulation Case</a:t>
            </a:r>
            <a:endParaRPr lang="en-US" sz="900" dirty="0"/>
          </a:p>
        </p:txBody>
      </p:sp>
      <p:sp>
        <p:nvSpPr>
          <p:cNvPr id="6" name="Text 4"/>
          <p:cNvSpPr txBox="1"/>
          <p:nvPr/>
        </p:nvSpPr>
        <p:spPr>
          <a:xfrm>
            <a:off x="7772400" y="4773168"/>
            <a:ext cx="914400" cy="228600"/>
          </a:xfrm>
          <a:prstGeom prst="rect">
            <a:avLst/>
          </a:prstGeom>
          <a:noFill/>
          <a:ln/>
        </p:spPr>
        <p:txBody>
          <a:bodyPr wrap="square" lIns="0" tIns="0" rIns="0" bIns="0" rtlCol="0" anchor="ctr"/>
          <a:lstStyle/>
          <a:p>
            <a:pPr algn="r" indent="0" marL="0">
              <a:buNone/>
            </a:pPr>
            <a:r>
              <a:rPr lang="en-US" sz="900" dirty="0">
                <a:solidFill>
                  <a:srgbClr val="5B6B7F"/>
                </a:solidFill>
                <a:latin typeface="Sarabun" pitchFamily="34" charset="0"/>
                <a:ea typeface="Sarabun" pitchFamily="34" charset="-122"/>
                <a:cs typeface="Sarabun" pitchFamily="34" charset="-120"/>
              </a:rPr>
              <a:t>18 / 20</a:t>
            </a:r>
            <a:endParaRPr lang="en-US" sz="900" dirty="0"/>
          </a:p>
        </p:txBody>
      </p:sp>
      <p:sp>
        <p:nvSpPr>
          <p:cNvPr id="8" name="Shape 5"/>
          <p:cNvSpPr/>
          <p:nvPr/>
        </p:nvSpPr>
        <p:spPr>
          <a:xfrm>
            <a:off x="457200" y="1325880"/>
            <a:ext cx="4206240" cy="3246120"/>
          </a:xfrm>
          <a:prstGeom prst="roundRect">
            <a:avLst>
              <a:gd name="adj" fmla="val 2254"/>
            </a:avLst>
          </a:prstGeom>
          <a:solidFill>
            <a:srgbClr val="0F1B2D"/>
          </a:solidFill>
          <a:ln w="9525">
            <a:solidFill>
              <a:srgbClr val="0F1B2D"/>
            </a:solidFill>
            <a:prstDash val="solid"/>
          </a:ln>
          <a:effectLst>
            <a:outerShdw sx="100000" sy="100000" kx="0" ky="0" algn="bl" rotWithShape="0" blurRad="76200" dist="25400" dir="5400000">
              <a:srgbClr val="0F1B2D">
                <a:alpha val="10000"/>
              </a:srgbClr>
            </a:outerShdw>
          </a:effectLst>
        </p:spPr>
      </p:sp>
      <p:sp>
        <p:nvSpPr>
          <p:cNvPr id="9" name="Text 6"/>
          <p:cNvSpPr txBox="1"/>
          <p:nvPr/>
        </p:nvSpPr>
        <p:spPr>
          <a:xfrm>
            <a:off x="685800" y="1481328"/>
            <a:ext cx="3749040" cy="274320"/>
          </a:xfrm>
          <a:prstGeom prst="rect">
            <a:avLst/>
          </a:prstGeom>
          <a:noFill/>
          <a:ln/>
        </p:spPr>
        <p:txBody>
          <a:bodyPr wrap="square" lIns="0" tIns="0" rIns="0" bIns="0" rtlCol="0" anchor="ctr"/>
          <a:lstStyle/>
          <a:p>
            <a:pPr indent="0" marL="0">
              <a:buNone/>
            </a:pPr>
            <a:r>
              <a:rPr lang="en-US" sz="1200" b="1" dirty="0">
                <a:solidFill>
                  <a:srgbClr val="8FA3BF"/>
                </a:solidFill>
                <a:latin typeface="Montserrat" pitchFamily="34" charset="0"/>
                <a:ea typeface="Montserrat" pitchFamily="34" charset="-122"/>
                <a:cs typeface="Montserrat" pitchFamily="34" charset="-120"/>
              </a:rPr>
              <a:t>Metro Systems Corporation PCL (MSC)</a:t>
            </a:r>
            <a:endParaRPr lang="en-US" sz="1200" dirty="0"/>
          </a:p>
        </p:txBody>
      </p:sp>
      <p:sp>
        <p:nvSpPr>
          <p:cNvPr id="10" name="Text 7"/>
          <p:cNvSpPr txBox="1"/>
          <p:nvPr/>
        </p:nvSpPr>
        <p:spPr>
          <a:xfrm>
            <a:off x="685800" y="1874520"/>
            <a:ext cx="3749040" cy="256032"/>
          </a:xfrm>
          <a:prstGeom prst="rect">
            <a:avLst/>
          </a:prstGeom>
          <a:noFill/>
          <a:ln/>
        </p:spPr>
        <p:txBody>
          <a:bodyPr wrap="square" lIns="0" tIns="0" rIns="0" bIns="0" rtlCol="0" anchor="ctr"/>
          <a:lstStyle/>
          <a:p>
            <a:pPr indent="0" marL="0">
              <a:buNone/>
            </a:pPr>
            <a:r>
              <a:rPr lang="en-US" sz="1200" dirty="0">
                <a:solidFill>
                  <a:srgbClr val="C9D6E8"/>
                </a:solidFill>
                <a:latin typeface="Sarabun" pitchFamily="34" charset="0"/>
                <a:ea typeface="Sarabun" pitchFamily="34" charset="-122"/>
                <a:cs typeface="Sarabun" pitchFamily="34" charset="-120"/>
              </a:rPr>
              <a:t>CSC amount (Dec 2025)</a:t>
            </a:r>
            <a:endParaRPr lang="en-US" sz="1200" dirty="0"/>
          </a:p>
        </p:txBody>
      </p:sp>
      <p:sp>
        <p:nvSpPr>
          <p:cNvPr id="11" name="Text 8"/>
          <p:cNvSpPr txBox="1"/>
          <p:nvPr/>
        </p:nvSpPr>
        <p:spPr>
          <a:xfrm>
            <a:off x="685800" y="2130552"/>
            <a:ext cx="3749040" cy="457200"/>
          </a:xfrm>
          <a:prstGeom prst="rect">
            <a:avLst/>
          </a:prstGeom>
          <a:noFill/>
          <a:ln/>
        </p:spPr>
        <p:txBody>
          <a:bodyPr wrap="square" lIns="0" tIns="0" rIns="0" bIns="0" rtlCol="0" anchor="ctr"/>
          <a:lstStyle/>
          <a:p>
            <a:pPr indent="0" marL="0">
              <a:buNone/>
            </a:pPr>
            <a:r>
              <a:rPr lang="en-US" sz="2400" b="1" dirty="0">
                <a:solidFill>
                  <a:srgbClr val="FFFFFF"/>
                </a:solidFill>
                <a:latin typeface="Montserrat" pitchFamily="34" charset="0"/>
                <a:ea typeface="Montserrat" pitchFamily="34" charset="-122"/>
                <a:cs typeface="Montserrat" pitchFamily="34" charset="-120"/>
              </a:rPr>
              <a:t>THB 249,848,464</a:t>
            </a:r>
            <a:endParaRPr lang="en-US" sz="2400" dirty="0"/>
          </a:p>
        </p:txBody>
      </p:sp>
      <p:sp>
        <p:nvSpPr>
          <p:cNvPr id="12" name="Text 9"/>
          <p:cNvSpPr txBox="1"/>
          <p:nvPr/>
        </p:nvSpPr>
        <p:spPr>
          <a:xfrm>
            <a:off x="685800" y="2788920"/>
            <a:ext cx="3749040" cy="256032"/>
          </a:xfrm>
          <a:prstGeom prst="rect">
            <a:avLst/>
          </a:prstGeom>
          <a:noFill/>
          <a:ln/>
        </p:spPr>
        <p:txBody>
          <a:bodyPr wrap="square" lIns="0" tIns="0" rIns="0" bIns="0" rtlCol="0" anchor="ctr"/>
          <a:lstStyle/>
          <a:p>
            <a:pPr indent="0" marL="0">
              <a:buNone/>
            </a:pPr>
            <a:r>
              <a:rPr lang="en-US" sz="1200" dirty="0">
                <a:solidFill>
                  <a:srgbClr val="C9D6E8"/>
                </a:solidFill>
                <a:latin typeface="Sarabun" pitchFamily="34" charset="0"/>
                <a:ea typeface="Sarabun" pitchFamily="34" charset="-122"/>
                <a:cs typeface="Sarabun" pitchFamily="34" charset="-120"/>
              </a:rPr>
              <a:t>Civil Court claim (26 Mar 2026)</a:t>
            </a:r>
            <a:endParaRPr lang="en-US" sz="1200" dirty="0"/>
          </a:p>
        </p:txBody>
      </p:sp>
      <p:sp>
        <p:nvSpPr>
          <p:cNvPr id="13" name="Text 10"/>
          <p:cNvSpPr txBox="1"/>
          <p:nvPr/>
        </p:nvSpPr>
        <p:spPr>
          <a:xfrm>
            <a:off x="685800" y="3044952"/>
            <a:ext cx="3749040" cy="457200"/>
          </a:xfrm>
          <a:prstGeom prst="rect">
            <a:avLst/>
          </a:prstGeom>
          <a:noFill/>
          <a:ln/>
        </p:spPr>
        <p:txBody>
          <a:bodyPr wrap="square" lIns="0" tIns="0" rIns="0" bIns="0" rtlCol="0" anchor="ctr"/>
          <a:lstStyle/>
          <a:p>
            <a:pPr indent="0" marL="0">
              <a:buNone/>
            </a:pPr>
            <a:r>
              <a:rPr lang="en-US" sz="2400" b="1" dirty="0">
                <a:solidFill>
                  <a:srgbClr val="E4572E"/>
                </a:solidFill>
                <a:latin typeface="Montserrat" pitchFamily="34" charset="0"/>
                <a:ea typeface="Montserrat" pitchFamily="34" charset="-122"/>
                <a:cs typeface="Montserrat" pitchFamily="34" charset="-120"/>
              </a:rPr>
              <a:t>THB 332,307,757.52</a:t>
            </a:r>
            <a:endParaRPr lang="en-US" sz="2400" dirty="0"/>
          </a:p>
        </p:txBody>
      </p:sp>
      <p:sp>
        <p:nvSpPr>
          <p:cNvPr id="14" name="Text 11"/>
          <p:cNvSpPr txBox="1"/>
          <p:nvPr/>
        </p:nvSpPr>
        <p:spPr>
          <a:xfrm>
            <a:off x="685800" y="3566160"/>
            <a:ext cx="3749040" cy="274320"/>
          </a:xfrm>
          <a:prstGeom prst="rect">
            <a:avLst/>
          </a:prstGeom>
          <a:noFill/>
          <a:ln/>
        </p:spPr>
        <p:txBody>
          <a:bodyPr wrap="square" lIns="0" tIns="0" rIns="0" bIns="0" rtlCol="0" anchor="ctr"/>
          <a:lstStyle/>
          <a:p>
            <a:pPr indent="0" marL="0">
              <a:buNone/>
            </a:pPr>
            <a:r>
              <a:rPr lang="en-US" sz="1200" dirty="0">
                <a:solidFill>
                  <a:srgbClr val="C9D6E8"/>
                </a:solidFill>
                <a:latin typeface="Sarabun" pitchFamily="34" charset="0"/>
                <a:ea typeface="Sarabun" pitchFamily="34" charset="-122"/>
                <a:cs typeface="Sarabun" pitchFamily="34" charset="-120"/>
              </a:rPr>
              <a:t>+ interest · maximum bans requested</a:t>
            </a:r>
            <a:endParaRPr lang="en-US" sz="1200" dirty="0"/>
          </a:p>
        </p:txBody>
      </p:sp>
      <p:sp>
        <p:nvSpPr>
          <p:cNvPr id="15" name="Shape 12"/>
          <p:cNvSpPr/>
          <p:nvPr/>
        </p:nvSpPr>
        <p:spPr>
          <a:xfrm>
            <a:off x="4983480" y="1389888"/>
            <a:ext cx="420624" cy="420624"/>
          </a:xfrm>
          <a:prstGeom prst="ellipse">
            <a:avLst/>
          </a:prstGeom>
          <a:solidFill>
            <a:srgbClr val="E4572E"/>
          </a:solidFill>
          <a:ln w="12700">
            <a:solidFill>
              <a:srgbClr val="E4572E"/>
            </a:solidFill>
            <a:prstDash val="solid"/>
          </a:ln>
        </p:spPr>
      </p:sp>
      <p:sp>
        <p:nvSpPr>
          <p:cNvPr id="16" name="Text 13"/>
          <p:cNvSpPr txBox="1"/>
          <p:nvPr/>
        </p:nvSpPr>
        <p:spPr>
          <a:xfrm>
            <a:off x="4983480" y="138988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1</a:t>
            </a:r>
            <a:endParaRPr lang="en-US" sz="1300" dirty="0"/>
          </a:p>
        </p:txBody>
      </p:sp>
      <p:sp>
        <p:nvSpPr>
          <p:cNvPr id="17" name="Text 14"/>
          <p:cNvSpPr txBox="1"/>
          <p:nvPr/>
        </p:nvSpPr>
        <p:spPr>
          <a:xfrm>
            <a:off x="5577840" y="1371600"/>
            <a:ext cx="3108960" cy="320040"/>
          </a:xfrm>
          <a:prstGeom prst="rect">
            <a:avLst/>
          </a:prstGeom>
          <a:noFill/>
          <a:ln/>
        </p:spPr>
        <p:txBody>
          <a:bodyPr wrap="square" lIns="0" tIns="0" rIns="0" bIns="0" rtlCol="0" anchor="ctr"/>
          <a:lstStyle/>
          <a:p>
            <a:pPr indent="0" marL="0">
              <a:buNone/>
            </a:pPr>
            <a:r>
              <a:rPr lang="en-US" sz="1400" b="1" dirty="0">
                <a:solidFill>
                  <a:srgbClr val="0F1B2D"/>
                </a:solidFill>
                <a:latin typeface="Montserrat" pitchFamily="34" charset="0"/>
                <a:ea typeface="Montserrat" pitchFamily="34" charset="-122"/>
                <a:cs typeface="Montserrat" pitchFamily="34" charset="-120"/>
              </a:rPr>
              <a:t>Same offender, same offence</a:t>
            </a:r>
            <a:endParaRPr lang="en-US" sz="1400" dirty="0"/>
          </a:p>
        </p:txBody>
      </p:sp>
      <p:sp>
        <p:nvSpPr>
          <p:cNvPr id="18" name="Text 15"/>
          <p:cNvSpPr txBox="1"/>
          <p:nvPr/>
        </p:nvSpPr>
        <p:spPr>
          <a:xfrm>
            <a:off x="5577840" y="1709928"/>
            <a:ext cx="3108960" cy="594360"/>
          </a:xfrm>
          <a:prstGeom prst="rect">
            <a:avLst/>
          </a:prstGeom>
          <a:noFill/>
          <a:ln/>
        </p:spPr>
        <p:txBody>
          <a:bodyPr wrap="square" lIns="0" tIns="0" rIns="0" bIns="0" rtlCol="0" anchor="t"/>
          <a:lstStyle/>
          <a:p>
            <a:pPr indent="0" marL="0">
              <a:buNone/>
            </a:pPr>
            <a:r>
              <a:rPr lang="en-US" sz="1350" dirty="0">
                <a:solidFill>
                  <a:srgbClr val="1B2433"/>
                </a:solidFill>
                <a:latin typeface="Sarabun" pitchFamily="34" charset="0"/>
                <a:ea typeface="Sarabun" pitchFamily="34" charset="-122"/>
                <a:cs typeface="Sarabun" pitchFamily="34" charset="-120"/>
              </a:rPr>
              <a:t>Manipulating the price or volume of a listed stock</a:t>
            </a:r>
            <a:endParaRPr lang="en-US" sz="1350" dirty="0"/>
          </a:p>
        </p:txBody>
      </p:sp>
      <p:sp>
        <p:nvSpPr>
          <p:cNvPr id="19" name="Shape 16"/>
          <p:cNvSpPr/>
          <p:nvPr/>
        </p:nvSpPr>
        <p:spPr>
          <a:xfrm>
            <a:off x="4983480" y="2468880"/>
            <a:ext cx="420624" cy="420624"/>
          </a:xfrm>
          <a:prstGeom prst="ellipse">
            <a:avLst/>
          </a:prstGeom>
          <a:solidFill>
            <a:srgbClr val="E4572E"/>
          </a:solidFill>
          <a:ln w="12700">
            <a:solidFill>
              <a:srgbClr val="E4572E"/>
            </a:solidFill>
            <a:prstDash val="solid"/>
          </a:ln>
        </p:spPr>
      </p:sp>
      <p:sp>
        <p:nvSpPr>
          <p:cNvPr id="20" name="Text 17"/>
          <p:cNvSpPr txBox="1"/>
          <p:nvPr/>
        </p:nvSpPr>
        <p:spPr>
          <a:xfrm>
            <a:off x="4983480" y="246888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2</a:t>
            </a:r>
            <a:endParaRPr lang="en-US" sz="1300" dirty="0"/>
          </a:p>
        </p:txBody>
      </p:sp>
      <p:sp>
        <p:nvSpPr>
          <p:cNvPr id="21" name="Text 18"/>
          <p:cNvSpPr txBox="1"/>
          <p:nvPr/>
        </p:nvSpPr>
        <p:spPr>
          <a:xfrm>
            <a:off x="5577840" y="2450592"/>
            <a:ext cx="3108960" cy="320040"/>
          </a:xfrm>
          <a:prstGeom prst="rect">
            <a:avLst/>
          </a:prstGeom>
          <a:noFill/>
          <a:ln/>
        </p:spPr>
        <p:txBody>
          <a:bodyPr wrap="square" lIns="0" tIns="0" rIns="0" bIns="0" rtlCol="0" anchor="ctr"/>
          <a:lstStyle/>
          <a:p>
            <a:pPr indent="0" marL="0">
              <a:buNone/>
            </a:pPr>
            <a:r>
              <a:rPr lang="en-US" sz="1400" b="1" dirty="0">
                <a:solidFill>
                  <a:srgbClr val="0F1B2D"/>
                </a:solidFill>
                <a:latin typeface="Montserrat" pitchFamily="34" charset="0"/>
                <a:ea typeface="Montserrat" pitchFamily="34" charset="-122"/>
                <a:cs typeface="Montserrat" pitchFamily="34" charset="-120"/>
              </a:rPr>
              <a:t>Same choice</a:t>
            </a:r>
            <a:endParaRPr lang="en-US" sz="1400" dirty="0"/>
          </a:p>
        </p:txBody>
      </p:sp>
      <p:sp>
        <p:nvSpPr>
          <p:cNvPr id="22" name="Text 19"/>
          <p:cNvSpPr txBox="1"/>
          <p:nvPr/>
        </p:nvSpPr>
        <p:spPr>
          <a:xfrm>
            <a:off x="5577840" y="2788920"/>
            <a:ext cx="3108960" cy="594360"/>
          </a:xfrm>
          <a:prstGeom prst="rect">
            <a:avLst/>
          </a:prstGeom>
          <a:noFill/>
          <a:ln/>
        </p:spPr>
        <p:txBody>
          <a:bodyPr wrap="square" lIns="0" tIns="0" rIns="0" bIns="0" rtlCol="0" anchor="t"/>
          <a:lstStyle/>
          <a:p>
            <a:pPr indent="0" marL="0">
              <a:buNone/>
            </a:pPr>
            <a:r>
              <a:rPr lang="en-US" sz="1350" dirty="0">
                <a:solidFill>
                  <a:srgbClr val="1B2433"/>
                </a:solidFill>
                <a:latin typeface="Sarabun" pitchFamily="34" charset="0"/>
                <a:ea typeface="Sarabun" pitchFamily="34" charset="-122"/>
                <a:cs typeface="Sarabun" pitchFamily="34" charset="-120"/>
              </a:rPr>
              <a:t>Her co-offender consented; she refused, as in TSR</a:t>
            </a:r>
            <a:endParaRPr lang="en-US" sz="1350" dirty="0"/>
          </a:p>
        </p:txBody>
      </p:sp>
      <p:sp>
        <p:nvSpPr>
          <p:cNvPr id="23" name="Shape 20"/>
          <p:cNvSpPr/>
          <p:nvPr/>
        </p:nvSpPr>
        <p:spPr>
          <a:xfrm>
            <a:off x="4983480" y="3547872"/>
            <a:ext cx="420624" cy="420624"/>
          </a:xfrm>
          <a:prstGeom prst="ellipse">
            <a:avLst/>
          </a:prstGeom>
          <a:solidFill>
            <a:srgbClr val="E4572E"/>
          </a:solidFill>
          <a:ln w="12700">
            <a:solidFill>
              <a:srgbClr val="E4572E"/>
            </a:solidFill>
            <a:prstDash val="solid"/>
          </a:ln>
        </p:spPr>
      </p:sp>
      <p:sp>
        <p:nvSpPr>
          <p:cNvPr id="24" name="Text 21"/>
          <p:cNvSpPr txBox="1"/>
          <p:nvPr/>
        </p:nvSpPr>
        <p:spPr>
          <a:xfrm>
            <a:off x="4983480" y="354787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3</a:t>
            </a:r>
            <a:endParaRPr lang="en-US" sz="1300" dirty="0"/>
          </a:p>
        </p:txBody>
      </p:sp>
      <p:sp>
        <p:nvSpPr>
          <p:cNvPr id="25" name="Text 22"/>
          <p:cNvSpPr txBox="1"/>
          <p:nvPr/>
        </p:nvSpPr>
        <p:spPr>
          <a:xfrm>
            <a:off x="5577840" y="3529584"/>
            <a:ext cx="3108960" cy="320040"/>
          </a:xfrm>
          <a:prstGeom prst="rect">
            <a:avLst/>
          </a:prstGeom>
          <a:noFill/>
          <a:ln/>
        </p:spPr>
        <p:txBody>
          <a:bodyPr wrap="square" lIns="0" tIns="0" rIns="0" bIns="0" rtlCol="0" anchor="ctr"/>
          <a:lstStyle/>
          <a:p>
            <a:pPr indent="0" marL="0">
              <a:buNone/>
            </a:pPr>
            <a:r>
              <a:rPr lang="en-US" sz="1400" b="1" dirty="0">
                <a:solidFill>
                  <a:srgbClr val="0F1B2D"/>
                </a:solidFill>
                <a:latin typeface="Montserrat" pitchFamily="34" charset="0"/>
                <a:ea typeface="Montserrat" pitchFamily="34" charset="-122"/>
                <a:cs typeface="Montserrat" pitchFamily="34" charset="-120"/>
              </a:rPr>
              <a:t>Same multiplier</a:t>
            </a:r>
            <a:endParaRPr lang="en-US" sz="1400" dirty="0"/>
          </a:p>
        </p:txBody>
      </p:sp>
      <p:sp>
        <p:nvSpPr>
          <p:cNvPr id="26" name="Text 23"/>
          <p:cNvSpPr txBox="1"/>
          <p:nvPr/>
        </p:nvSpPr>
        <p:spPr>
          <a:xfrm>
            <a:off x="5577840" y="3867912"/>
            <a:ext cx="3108960" cy="594360"/>
          </a:xfrm>
          <a:prstGeom prst="rect">
            <a:avLst/>
          </a:prstGeom>
          <a:noFill/>
          <a:ln/>
        </p:spPr>
        <p:txBody>
          <a:bodyPr wrap="square" lIns="0" tIns="0" rIns="0" bIns="0" rtlCol="0" anchor="t"/>
          <a:lstStyle/>
          <a:p>
            <a:pPr indent="0" marL="0">
              <a:buNone/>
            </a:pPr>
            <a:r>
              <a:rPr lang="en-US" sz="1350" dirty="0">
                <a:solidFill>
                  <a:srgbClr val="1B2433"/>
                </a:solidFill>
                <a:latin typeface="Sarabun" pitchFamily="34" charset="0"/>
                <a:ea typeface="Sarabun" pitchFamily="34" charset="-122"/>
                <a:cs typeface="Sarabun" pitchFamily="34" charset="-120"/>
              </a:rPr>
              <a:t>Both court claims are about 1.33× the CSC amount</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1B2D"/>
        </a:solidFill>
      </p:bgPr>
    </p:bg>
    <p:spTree>
      <p:nvGrpSpPr>
        <p:cNvPr id="1" name=""/>
        <p:cNvGrpSpPr/>
        <p:nvPr/>
      </p:nvGrpSpPr>
      <p:grpSpPr>
        <a:xfrm>
          <a:off x="0" y="0"/>
          <a:ext cx="0" cy="0"/>
          <a:chOff x="0" y="0"/>
          <a:chExt cx="0" cy="0"/>
        </a:xfrm>
      </p:grpSpPr>
      <p:sp>
        <p:nvSpPr>
          <p:cNvPr id="2" name="Text 0"/>
          <p:cNvSpPr txBox="1"/>
          <p:nvPr/>
        </p:nvSpPr>
        <p:spPr>
          <a:xfrm>
            <a:off x="457200" y="365760"/>
            <a:ext cx="3657600" cy="274320"/>
          </a:xfrm>
          <a:prstGeom prst="rect">
            <a:avLst/>
          </a:prstGeom>
          <a:noFill/>
          <a:ln/>
        </p:spPr>
        <p:txBody>
          <a:bodyPr wrap="square" lIns="0" tIns="0" rIns="0" bIns="0" rtlCol="0" anchor="ctr"/>
          <a:lstStyle/>
          <a:p>
            <a:pPr indent="0" marL="0">
              <a:buNone/>
            </a:pPr>
            <a:r>
              <a:rPr lang="en-US" sz="1000" b="1" spc="150" kern="0" dirty="0">
                <a:solidFill>
                  <a:srgbClr val="E4572E"/>
                </a:solidFill>
                <a:latin typeface="Montserrat" pitchFamily="34" charset="0"/>
                <a:ea typeface="Montserrat" pitchFamily="34" charset="-122"/>
                <a:cs typeface="Montserrat" pitchFamily="34" charset="-120"/>
              </a:rPr>
              <a:t>CONCLUSION</a:t>
            </a:r>
            <a:endParaRPr lang="en-US" sz="1000" dirty="0"/>
          </a:p>
        </p:txBody>
      </p:sp>
      <p:sp>
        <p:nvSpPr>
          <p:cNvPr id="3" name="Text 1"/>
          <p:cNvSpPr txBox="1"/>
          <p:nvPr/>
        </p:nvSpPr>
        <p:spPr>
          <a:xfrm>
            <a:off x="457200" y="640080"/>
            <a:ext cx="8229600" cy="502920"/>
          </a:xfrm>
          <a:prstGeom prst="rect">
            <a:avLst/>
          </a:prstGeom>
          <a:noFill/>
          <a:ln/>
        </p:spPr>
        <p:txBody>
          <a:bodyPr wrap="square" lIns="0" tIns="0" rIns="0" bIns="0" rtlCol="0" anchor="ctr"/>
          <a:lstStyle/>
          <a:p>
            <a:pPr indent="0" marL="0">
              <a:buNone/>
            </a:pPr>
            <a:r>
              <a:rPr lang="en-US" sz="2600" b="1" dirty="0">
                <a:solidFill>
                  <a:srgbClr val="FFFFFF"/>
                </a:solidFill>
                <a:latin typeface="Montserrat" pitchFamily="34" charset="0"/>
                <a:ea typeface="Montserrat" pitchFamily="34" charset="-122"/>
                <a:cs typeface="Montserrat" pitchFamily="34" charset="-120"/>
              </a:rPr>
              <a:t>Key Takeaways</a:t>
            </a:r>
            <a:endParaRPr lang="en-US" sz="2600" dirty="0"/>
          </a:p>
        </p:txBody>
      </p:sp>
      <p:sp>
        <p:nvSpPr>
          <p:cNvPr id="4" name="Shape 2"/>
          <p:cNvSpPr/>
          <p:nvPr/>
        </p:nvSpPr>
        <p:spPr>
          <a:xfrm>
            <a:off x="457200" y="1371600"/>
            <a:ext cx="4023360" cy="1463040"/>
          </a:xfrm>
          <a:prstGeom prst="roundRect">
            <a:avLst>
              <a:gd name="adj" fmla="val 5000"/>
            </a:avLst>
          </a:prstGeom>
          <a:solidFill>
            <a:srgbClr val="18283F"/>
          </a:solidFill>
          <a:ln w="9525">
            <a:solidFill>
              <a:srgbClr val="2A3D5A"/>
            </a:solidFill>
            <a:prstDash val="solid"/>
          </a:ln>
        </p:spPr>
      </p:sp>
      <p:sp>
        <p:nvSpPr>
          <p:cNvPr id="5" name="Text 3"/>
          <p:cNvSpPr txBox="1"/>
          <p:nvPr/>
        </p:nvSpPr>
        <p:spPr>
          <a:xfrm>
            <a:off x="658368" y="1508760"/>
            <a:ext cx="640080" cy="411480"/>
          </a:xfrm>
          <a:prstGeom prst="rect">
            <a:avLst/>
          </a:prstGeom>
          <a:noFill/>
          <a:ln/>
        </p:spPr>
        <p:txBody>
          <a:bodyPr wrap="square" lIns="0" tIns="0" rIns="0" bIns="0" rtlCol="0" anchor="ctr"/>
          <a:lstStyle/>
          <a:p>
            <a:pPr indent="0" marL="0">
              <a:buNone/>
            </a:pPr>
            <a:r>
              <a:rPr lang="en-US" sz="2200" b="1" dirty="0">
                <a:solidFill>
                  <a:srgbClr val="E4572E"/>
                </a:solidFill>
                <a:latin typeface="Montserrat" pitchFamily="34" charset="0"/>
                <a:ea typeface="Montserrat" pitchFamily="34" charset="-122"/>
                <a:cs typeface="Montserrat" pitchFamily="34" charset="-120"/>
              </a:rPr>
              <a:t>01</a:t>
            </a:r>
            <a:endParaRPr lang="en-US" sz="2200" dirty="0"/>
          </a:p>
        </p:txBody>
      </p:sp>
      <p:sp>
        <p:nvSpPr>
          <p:cNvPr id="6" name="Text 4"/>
          <p:cNvSpPr txBox="1"/>
          <p:nvPr/>
        </p:nvSpPr>
        <p:spPr>
          <a:xfrm>
            <a:off x="1325880" y="1508760"/>
            <a:ext cx="2926080" cy="411480"/>
          </a:xfrm>
          <a:prstGeom prst="rect">
            <a:avLst/>
          </a:prstGeom>
          <a:noFill/>
          <a:ln/>
        </p:spPr>
        <p:txBody>
          <a:bodyPr wrap="square" lIns="0" tIns="0" rIns="0" bIns="0" rtlCol="0" anchor="ctr"/>
          <a:lstStyle/>
          <a:p>
            <a:pPr indent="0" marL="0">
              <a:buNone/>
            </a:pPr>
            <a:r>
              <a:rPr lang="en-US" sz="1400" b="1" dirty="0">
                <a:solidFill>
                  <a:srgbClr val="FFFFFF"/>
                </a:solidFill>
                <a:latin typeface="Montserrat" pitchFamily="34" charset="0"/>
                <a:ea typeface="Montserrat" pitchFamily="34" charset="-122"/>
                <a:cs typeface="Montserrat" pitchFamily="34" charset="-120"/>
              </a:rPr>
              <a:t>The facts</a:t>
            </a:r>
            <a:endParaRPr lang="en-US" sz="1400" dirty="0"/>
          </a:p>
        </p:txBody>
      </p:sp>
      <p:sp>
        <p:nvSpPr>
          <p:cNvPr id="7" name="Text 5"/>
          <p:cNvSpPr txBox="1"/>
          <p:nvPr/>
        </p:nvSpPr>
        <p:spPr>
          <a:xfrm>
            <a:off x="658368" y="1993392"/>
            <a:ext cx="3621024" cy="777240"/>
          </a:xfrm>
          <a:prstGeom prst="rect">
            <a:avLst/>
          </a:prstGeom>
          <a:noFill/>
          <a:ln/>
        </p:spPr>
        <p:txBody>
          <a:bodyPr wrap="square" lIns="0" tIns="0" rIns="0" bIns="0" rtlCol="0" anchor="t"/>
          <a:lstStyle/>
          <a:p>
            <a:pPr indent="0" marL="0">
              <a:buNone/>
            </a:pPr>
            <a:r>
              <a:rPr lang="en-US" sz="1250" dirty="0">
                <a:solidFill>
                  <a:srgbClr val="C9D6E8"/>
                </a:solidFill>
                <a:latin typeface="Sarabun" pitchFamily="34" charset="0"/>
                <a:ea typeface="Sarabun" pitchFamily="34" charset="-122"/>
                <a:cs typeface="Sarabun" pitchFamily="34" charset="-120"/>
              </a:rPr>
              <a:t>For 47 trading days, hitting offers and walling bids lifted TSR, to boost SABUY’s Q2/2022 fair-value gain and earn a spread.</a:t>
            </a:r>
            <a:endParaRPr lang="en-US" sz="1250" dirty="0"/>
          </a:p>
        </p:txBody>
      </p:sp>
      <p:sp>
        <p:nvSpPr>
          <p:cNvPr id="8" name="Shape 6"/>
          <p:cNvSpPr/>
          <p:nvPr/>
        </p:nvSpPr>
        <p:spPr>
          <a:xfrm>
            <a:off x="4663440" y="1371600"/>
            <a:ext cx="4023360" cy="1463040"/>
          </a:xfrm>
          <a:prstGeom prst="roundRect">
            <a:avLst>
              <a:gd name="adj" fmla="val 5000"/>
            </a:avLst>
          </a:prstGeom>
          <a:solidFill>
            <a:srgbClr val="18283F"/>
          </a:solidFill>
          <a:ln w="9525">
            <a:solidFill>
              <a:srgbClr val="2A3D5A"/>
            </a:solidFill>
            <a:prstDash val="solid"/>
          </a:ln>
        </p:spPr>
      </p:sp>
      <p:sp>
        <p:nvSpPr>
          <p:cNvPr id="9" name="Text 7"/>
          <p:cNvSpPr txBox="1"/>
          <p:nvPr/>
        </p:nvSpPr>
        <p:spPr>
          <a:xfrm>
            <a:off x="4864608" y="1508760"/>
            <a:ext cx="640080" cy="411480"/>
          </a:xfrm>
          <a:prstGeom prst="rect">
            <a:avLst/>
          </a:prstGeom>
          <a:noFill/>
          <a:ln/>
        </p:spPr>
        <p:txBody>
          <a:bodyPr wrap="square" lIns="0" tIns="0" rIns="0" bIns="0" rtlCol="0" anchor="ctr"/>
          <a:lstStyle/>
          <a:p>
            <a:pPr indent="0" marL="0">
              <a:buNone/>
            </a:pPr>
            <a:r>
              <a:rPr lang="en-US" sz="2200" b="1" dirty="0">
                <a:solidFill>
                  <a:srgbClr val="E4572E"/>
                </a:solidFill>
                <a:latin typeface="Montserrat" pitchFamily="34" charset="0"/>
                <a:ea typeface="Montserrat" pitchFamily="34" charset="-122"/>
                <a:cs typeface="Montserrat" pitchFamily="34" charset="-120"/>
              </a:rPr>
              <a:t>02</a:t>
            </a:r>
            <a:endParaRPr lang="en-US" sz="2200" dirty="0"/>
          </a:p>
        </p:txBody>
      </p:sp>
      <p:sp>
        <p:nvSpPr>
          <p:cNvPr id="10" name="Text 8"/>
          <p:cNvSpPr txBox="1"/>
          <p:nvPr/>
        </p:nvSpPr>
        <p:spPr>
          <a:xfrm>
            <a:off x="5532120" y="1508760"/>
            <a:ext cx="2926080" cy="411480"/>
          </a:xfrm>
          <a:prstGeom prst="rect">
            <a:avLst/>
          </a:prstGeom>
          <a:noFill/>
          <a:ln/>
        </p:spPr>
        <p:txBody>
          <a:bodyPr wrap="square" lIns="0" tIns="0" rIns="0" bIns="0" rtlCol="0" anchor="ctr"/>
          <a:lstStyle/>
          <a:p>
            <a:pPr indent="0" marL="0">
              <a:buNone/>
            </a:pPr>
            <a:r>
              <a:rPr lang="en-US" sz="1400" b="1" dirty="0">
                <a:solidFill>
                  <a:srgbClr val="FFFFFF"/>
                </a:solidFill>
                <a:latin typeface="Montserrat" pitchFamily="34" charset="0"/>
                <a:ea typeface="Montserrat" pitchFamily="34" charset="-122"/>
                <a:cs typeface="Montserrat" pitchFamily="34" charset="-120"/>
              </a:rPr>
              <a:t>The law</a:t>
            </a:r>
            <a:endParaRPr lang="en-US" sz="1400" dirty="0"/>
          </a:p>
        </p:txBody>
      </p:sp>
      <p:sp>
        <p:nvSpPr>
          <p:cNvPr id="11" name="Text 9"/>
          <p:cNvSpPr txBox="1"/>
          <p:nvPr/>
        </p:nvSpPr>
        <p:spPr>
          <a:xfrm>
            <a:off x="4864608" y="1993392"/>
            <a:ext cx="3621024" cy="777240"/>
          </a:xfrm>
          <a:prstGeom prst="rect">
            <a:avLst/>
          </a:prstGeom>
          <a:noFill/>
          <a:ln/>
        </p:spPr>
        <p:txBody>
          <a:bodyPr wrap="square" lIns="0" tIns="0" rIns="0" bIns="0" rtlCol="0" anchor="t"/>
          <a:lstStyle/>
          <a:p>
            <a:pPr indent="0" marL="0">
              <a:buNone/>
            </a:pPr>
            <a:r>
              <a:rPr lang="en-US" sz="1250" dirty="0">
                <a:solidFill>
                  <a:srgbClr val="C9D6E8"/>
                </a:solidFill>
                <a:latin typeface="Sarabun" pitchFamily="34" charset="0"/>
                <a:ea typeface="Sarabun" pitchFamily="34" charset="-122"/>
                <a:cs typeface="Sarabun" pitchFamily="34" charset="-120"/>
              </a:rPr>
              <a:t>The conduct fits s.244/3(1) and (2); presumptions in s.244/5(4)(5) shift the burden; no s.244/4 exception applies.</a:t>
            </a:r>
            <a:endParaRPr lang="en-US" sz="1250" dirty="0"/>
          </a:p>
        </p:txBody>
      </p:sp>
      <p:sp>
        <p:nvSpPr>
          <p:cNvPr id="12" name="Shape 10"/>
          <p:cNvSpPr/>
          <p:nvPr/>
        </p:nvSpPr>
        <p:spPr>
          <a:xfrm>
            <a:off x="457200" y="3017520"/>
            <a:ext cx="4023360" cy="1463040"/>
          </a:xfrm>
          <a:prstGeom prst="roundRect">
            <a:avLst>
              <a:gd name="adj" fmla="val 5000"/>
            </a:avLst>
          </a:prstGeom>
          <a:solidFill>
            <a:srgbClr val="18283F"/>
          </a:solidFill>
          <a:ln w="9525">
            <a:solidFill>
              <a:srgbClr val="2A3D5A"/>
            </a:solidFill>
            <a:prstDash val="solid"/>
          </a:ln>
        </p:spPr>
      </p:sp>
      <p:sp>
        <p:nvSpPr>
          <p:cNvPr id="13" name="Text 11"/>
          <p:cNvSpPr txBox="1"/>
          <p:nvPr/>
        </p:nvSpPr>
        <p:spPr>
          <a:xfrm>
            <a:off x="658368" y="3154680"/>
            <a:ext cx="640080" cy="411480"/>
          </a:xfrm>
          <a:prstGeom prst="rect">
            <a:avLst/>
          </a:prstGeom>
          <a:noFill/>
          <a:ln/>
        </p:spPr>
        <p:txBody>
          <a:bodyPr wrap="square" lIns="0" tIns="0" rIns="0" bIns="0" rtlCol="0" anchor="ctr"/>
          <a:lstStyle/>
          <a:p>
            <a:pPr indent="0" marL="0">
              <a:buNone/>
            </a:pPr>
            <a:r>
              <a:rPr lang="en-US" sz="2200" b="1" dirty="0">
                <a:solidFill>
                  <a:srgbClr val="E4572E"/>
                </a:solidFill>
                <a:latin typeface="Montserrat" pitchFamily="34" charset="0"/>
                <a:ea typeface="Montserrat" pitchFamily="34" charset="-122"/>
                <a:cs typeface="Montserrat" pitchFamily="34" charset="-120"/>
              </a:rPr>
              <a:t>03</a:t>
            </a:r>
            <a:endParaRPr lang="en-US" sz="2200" dirty="0"/>
          </a:p>
        </p:txBody>
      </p:sp>
      <p:sp>
        <p:nvSpPr>
          <p:cNvPr id="14" name="Text 12"/>
          <p:cNvSpPr txBox="1"/>
          <p:nvPr/>
        </p:nvSpPr>
        <p:spPr>
          <a:xfrm>
            <a:off x="1325880" y="3154680"/>
            <a:ext cx="2926080" cy="411480"/>
          </a:xfrm>
          <a:prstGeom prst="rect">
            <a:avLst/>
          </a:prstGeom>
          <a:noFill/>
          <a:ln/>
        </p:spPr>
        <p:txBody>
          <a:bodyPr wrap="square" lIns="0" tIns="0" rIns="0" bIns="0" rtlCol="0" anchor="ctr"/>
          <a:lstStyle/>
          <a:p>
            <a:pPr indent="0" marL="0">
              <a:buNone/>
            </a:pPr>
            <a:r>
              <a:rPr lang="en-US" sz="1400" b="1" dirty="0">
                <a:solidFill>
                  <a:srgbClr val="FFFFFF"/>
                </a:solidFill>
                <a:latin typeface="Montserrat" pitchFamily="34" charset="0"/>
                <a:ea typeface="Montserrat" pitchFamily="34" charset="-122"/>
                <a:cs typeface="Montserrat" pitchFamily="34" charset="-120"/>
              </a:rPr>
              <a:t>The penalties</a:t>
            </a:r>
            <a:endParaRPr lang="en-US" sz="1400" dirty="0"/>
          </a:p>
        </p:txBody>
      </p:sp>
      <p:sp>
        <p:nvSpPr>
          <p:cNvPr id="15" name="Text 13"/>
          <p:cNvSpPr txBox="1"/>
          <p:nvPr/>
        </p:nvSpPr>
        <p:spPr>
          <a:xfrm>
            <a:off x="658368" y="3639312"/>
            <a:ext cx="3621024" cy="777240"/>
          </a:xfrm>
          <a:prstGeom prst="rect">
            <a:avLst/>
          </a:prstGeom>
          <a:noFill/>
          <a:ln/>
        </p:spPr>
        <p:txBody>
          <a:bodyPr wrap="square" lIns="0" tIns="0" rIns="0" bIns="0" rtlCol="0" anchor="t"/>
          <a:lstStyle/>
          <a:p>
            <a:pPr indent="0" marL="0">
              <a:buNone/>
            </a:pPr>
            <a:r>
              <a:rPr lang="en-US" sz="1250" dirty="0">
                <a:solidFill>
                  <a:srgbClr val="C9D6E8"/>
                </a:solidFill>
                <a:latin typeface="Sarabun" pitchFamily="34" charset="0"/>
                <a:ea typeface="Sarabun" pitchFamily="34" charset="-122"/>
                <a:cs typeface="Sarabun" pitchFamily="34" charset="-120"/>
              </a:rPr>
              <a:t>Criminal exposure of up to 5 years’ prison and fines up to 2× the benefit; the SEC chose the civil route (s.317/1–317/8).</a:t>
            </a:r>
            <a:endParaRPr lang="en-US" sz="1250" dirty="0"/>
          </a:p>
        </p:txBody>
      </p:sp>
      <p:sp>
        <p:nvSpPr>
          <p:cNvPr id="16" name="Shape 14"/>
          <p:cNvSpPr/>
          <p:nvPr/>
        </p:nvSpPr>
        <p:spPr>
          <a:xfrm>
            <a:off x="4663440" y="3017520"/>
            <a:ext cx="4023360" cy="1463040"/>
          </a:xfrm>
          <a:prstGeom prst="roundRect">
            <a:avLst>
              <a:gd name="adj" fmla="val 5000"/>
            </a:avLst>
          </a:prstGeom>
          <a:solidFill>
            <a:srgbClr val="18283F"/>
          </a:solidFill>
          <a:ln w="9525">
            <a:solidFill>
              <a:srgbClr val="2A3D5A"/>
            </a:solidFill>
            <a:prstDash val="solid"/>
          </a:ln>
        </p:spPr>
      </p:sp>
      <p:sp>
        <p:nvSpPr>
          <p:cNvPr id="17" name="Text 15"/>
          <p:cNvSpPr txBox="1"/>
          <p:nvPr/>
        </p:nvSpPr>
        <p:spPr>
          <a:xfrm>
            <a:off x="4864608" y="3154680"/>
            <a:ext cx="640080" cy="411480"/>
          </a:xfrm>
          <a:prstGeom prst="rect">
            <a:avLst/>
          </a:prstGeom>
          <a:noFill/>
          <a:ln/>
        </p:spPr>
        <p:txBody>
          <a:bodyPr wrap="square" lIns="0" tIns="0" rIns="0" bIns="0" rtlCol="0" anchor="ctr"/>
          <a:lstStyle/>
          <a:p>
            <a:pPr indent="0" marL="0">
              <a:buNone/>
            </a:pPr>
            <a:r>
              <a:rPr lang="en-US" sz="2200" b="1" dirty="0">
                <a:solidFill>
                  <a:srgbClr val="E4572E"/>
                </a:solidFill>
                <a:latin typeface="Montserrat" pitchFamily="34" charset="0"/>
                <a:ea typeface="Montserrat" pitchFamily="34" charset="-122"/>
                <a:cs typeface="Montserrat" pitchFamily="34" charset="-120"/>
              </a:rPr>
              <a:t>04</a:t>
            </a:r>
            <a:endParaRPr lang="en-US" sz="2200" dirty="0"/>
          </a:p>
        </p:txBody>
      </p:sp>
      <p:sp>
        <p:nvSpPr>
          <p:cNvPr id="18" name="Text 16"/>
          <p:cNvSpPr txBox="1"/>
          <p:nvPr/>
        </p:nvSpPr>
        <p:spPr>
          <a:xfrm>
            <a:off x="5532120" y="3154680"/>
            <a:ext cx="2926080" cy="411480"/>
          </a:xfrm>
          <a:prstGeom prst="rect">
            <a:avLst/>
          </a:prstGeom>
          <a:noFill/>
          <a:ln/>
        </p:spPr>
        <p:txBody>
          <a:bodyPr wrap="square" lIns="0" tIns="0" rIns="0" bIns="0" rtlCol="0" anchor="ctr"/>
          <a:lstStyle/>
          <a:p>
            <a:pPr indent="0" marL="0">
              <a:buNone/>
            </a:pPr>
            <a:r>
              <a:rPr lang="en-US" sz="1400" b="1" dirty="0">
                <a:solidFill>
                  <a:srgbClr val="FFFFFF"/>
                </a:solidFill>
                <a:latin typeface="Montserrat" pitchFamily="34" charset="0"/>
                <a:ea typeface="Montserrat" pitchFamily="34" charset="-122"/>
                <a:cs typeface="Montserrat" pitchFamily="34" charset="-120"/>
              </a:rPr>
              <a:t>The lesson</a:t>
            </a:r>
            <a:endParaRPr lang="en-US" sz="1400" dirty="0"/>
          </a:p>
        </p:txBody>
      </p:sp>
      <p:sp>
        <p:nvSpPr>
          <p:cNvPr id="19" name="Text 17"/>
          <p:cNvSpPr txBox="1"/>
          <p:nvPr/>
        </p:nvSpPr>
        <p:spPr>
          <a:xfrm>
            <a:off x="4864608" y="3639312"/>
            <a:ext cx="3621024" cy="777240"/>
          </a:xfrm>
          <a:prstGeom prst="rect">
            <a:avLst/>
          </a:prstGeom>
          <a:noFill/>
          <a:ln/>
        </p:spPr>
        <p:txBody>
          <a:bodyPr wrap="square" lIns="0" tIns="0" rIns="0" bIns="0" rtlCol="0" anchor="t"/>
          <a:lstStyle/>
          <a:p>
            <a:pPr indent="0" marL="0">
              <a:buNone/>
            </a:pPr>
            <a:r>
              <a:rPr lang="en-US" sz="1250" dirty="0">
                <a:solidFill>
                  <a:srgbClr val="C9D6E8"/>
                </a:solidFill>
                <a:latin typeface="Sarabun" pitchFamily="34" charset="0"/>
                <a:ea typeface="Sarabun" pitchFamily="34" charset="-122"/>
                <a:cs typeface="Sarabun" pitchFamily="34" charset="-120"/>
              </a:rPr>
              <a:t>Refusing costs more: THB 32.3M became a THB 43.0M claim plus interest, and criminal risk stays until she pays.</a:t>
            </a:r>
            <a:endParaRPr lang="en-US" sz="1250" dirty="0"/>
          </a:p>
        </p:txBody>
      </p:sp>
      <p:sp>
        <p:nvSpPr>
          <p:cNvPr id="20" name="Text 18"/>
          <p:cNvSpPr txBox="1"/>
          <p:nvPr/>
        </p:nvSpPr>
        <p:spPr>
          <a:xfrm>
            <a:off x="457200" y="4773168"/>
            <a:ext cx="4572000" cy="228600"/>
          </a:xfrm>
          <a:prstGeom prst="rect">
            <a:avLst/>
          </a:prstGeom>
          <a:noFill/>
          <a:ln/>
        </p:spPr>
        <p:txBody>
          <a:bodyPr wrap="square" lIns="0" tIns="0" rIns="0" bIns="0" rtlCol="0" anchor="ctr"/>
          <a:lstStyle/>
          <a:p>
            <a:pPr indent="0" marL="0">
              <a:buNone/>
            </a:pPr>
            <a:r>
              <a:rPr lang="en-US" sz="900" dirty="0">
                <a:solidFill>
                  <a:srgbClr val="8FA3BF"/>
                </a:solidFill>
                <a:latin typeface="Sarabun" pitchFamily="34" charset="0"/>
                <a:ea typeface="Sarabun" pitchFamily="34" charset="-122"/>
                <a:cs typeface="Sarabun" pitchFamily="34" charset="-120"/>
              </a:rPr>
              <a:t>Group 3  ·  TSR Market Manipulation Case</a:t>
            </a:r>
            <a:endParaRPr lang="en-US" sz="900" dirty="0"/>
          </a:p>
        </p:txBody>
      </p:sp>
      <p:sp>
        <p:nvSpPr>
          <p:cNvPr id="21" name="Text 19"/>
          <p:cNvSpPr txBox="1"/>
          <p:nvPr/>
        </p:nvSpPr>
        <p:spPr>
          <a:xfrm>
            <a:off x="7772400" y="4773168"/>
            <a:ext cx="914400" cy="228600"/>
          </a:xfrm>
          <a:prstGeom prst="rect">
            <a:avLst/>
          </a:prstGeom>
          <a:noFill/>
          <a:ln/>
        </p:spPr>
        <p:txBody>
          <a:bodyPr wrap="square" lIns="0" tIns="0" rIns="0" bIns="0" rtlCol="0" anchor="ctr"/>
          <a:lstStyle/>
          <a:p>
            <a:pPr algn="r" indent="0" marL="0">
              <a:buNone/>
            </a:pPr>
            <a:r>
              <a:rPr lang="en-US" sz="900" dirty="0">
                <a:solidFill>
                  <a:srgbClr val="8FA3BF"/>
                </a:solidFill>
                <a:latin typeface="Sarabun" pitchFamily="34" charset="0"/>
                <a:ea typeface="Sarabun" pitchFamily="34" charset="-122"/>
                <a:cs typeface="Sarabun" pitchFamily="34" charset="-120"/>
              </a:rPr>
              <a:t>19 / 20</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F1B2D"/>
        </a:solidFill>
      </p:bgPr>
    </p:bg>
    <p:spTree>
      <p:nvGrpSpPr>
        <p:cNvPr id="1" name=""/>
        <p:cNvGrpSpPr/>
        <p:nvPr/>
      </p:nvGrpSpPr>
      <p:grpSpPr>
        <a:xfrm>
          <a:off x="0" y="0"/>
          <a:ext cx="0" cy="0"/>
          <a:chOff x="0" y="0"/>
          <a:chExt cx="0" cy="0"/>
        </a:xfrm>
      </p:grpSpPr>
      <p:sp>
        <p:nvSpPr>
          <p:cNvPr id="2" name="Text 0"/>
          <p:cNvSpPr txBox="1"/>
          <p:nvPr/>
        </p:nvSpPr>
        <p:spPr>
          <a:xfrm>
            <a:off x="548640" y="1463040"/>
            <a:ext cx="5029200" cy="822960"/>
          </a:xfrm>
          <a:prstGeom prst="rect">
            <a:avLst/>
          </a:prstGeom>
          <a:noFill/>
          <a:ln/>
        </p:spPr>
        <p:txBody>
          <a:bodyPr wrap="square" lIns="0" tIns="0" rIns="0" bIns="0" rtlCol="0" anchor="ctr"/>
          <a:lstStyle/>
          <a:p>
            <a:pPr indent="0" marL="0">
              <a:buNone/>
            </a:pPr>
            <a:r>
              <a:rPr lang="en-US" sz="4400" b="1" dirty="0">
                <a:solidFill>
                  <a:srgbClr val="FFFFFF"/>
                </a:solidFill>
                <a:latin typeface="Montserrat" pitchFamily="34" charset="0"/>
                <a:ea typeface="Montserrat" pitchFamily="34" charset="-122"/>
                <a:cs typeface="Montserrat" pitchFamily="34" charset="-120"/>
              </a:rPr>
              <a:t>Thank You</a:t>
            </a:r>
            <a:endParaRPr lang="en-US" sz="4400" dirty="0"/>
          </a:p>
        </p:txBody>
      </p:sp>
      <p:sp>
        <p:nvSpPr>
          <p:cNvPr id="3" name="Text 1"/>
          <p:cNvSpPr txBox="1"/>
          <p:nvPr/>
        </p:nvSpPr>
        <p:spPr>
          <a:xfrm>
            <a:off x="548640" y="2286000"/>
            <a:ext cx="5029200" cy="411480"/>
          </a:xfrm>
          <a:prstGeom prst="rect">
            <a:avLst/>
          </a:prstGeom>
          <a:noFill/>
          <a:ln/>
        </p:spPr>
        <p:txBody>
          <a:bodyPr wrap="square" lIns="0" tIns="0" rIns="0" bIns="0" rtlCol="0" anchor="ctr"/>
          <a:lstStyle/>
          <a:p>
            <a:pPr indent="0" marL="0">
              <a:buNone/>
            </a:pPr>
            <a:r>
              <a:rPr lang="en-US" sz="1800" dirty="0">
                <a:solidFill>
                  <a:srgbClr val="E4572E"/>
                </a:solidFill>
                <a:latin typeface="Sarabun" pitchFamily="34" charset="0"/>
                <a:ea typeface="Sarabun" pitchFamily="34" charset="-122"/>
                <a:cs typeface="Sarabun" pitchFamily="34" charset="-120"/>
              </a:rPr>
              <a:t>Questions and discussion</a:t>
            </a:r>
            <a:endParaRPr lang="en-US" sz="1800" dirty="0"/>
          </a:p>
        </p:txBody>
      </p:sp>
      <p:sp>
        <p:nvSpPr>
          <p:cNvPr id="4" name="Text 2"/>
          <p:cNvSpPr txBox="1"/>
          <p:nvPr/>
        </p:nvSpPr>
        <p:spPr>
          <a:xfrm>
            <a:off x="548640" y="3017520"/>
            <a:ext cx="5029200" cy="640080"/>
          </a:xfrm>
          <a:prstGeom prst="rect">
            <a:avLst/>
          </a:prstGeom>
          <a:noFill/>
          <a:ln/>
        </p:spPr>
        <p:txBody>
          <a:bodyPr wrap="square" lIns="0" tIns="0" rIns="0" bIns="0" rtlCol="0" anchor="t"/>
          <a:lstStyle/>
          <a:p>
            <a:pPr indent="0" marL="0">
              <a:buNone/>
            </a:pPr>
            <a:r>
              <a:rPr lang="en-US" sz="1300" dirty="0">
                <a:solidFill>
                  <a:srgbClr val="C9D6E8"/>
                </a:solidFill>
                <a:latin typeface="Sarabun" pitchFamily="34" charset="0"/>
                <a:ea typeface="Sarabun" pitchFamily="34" charset="-122"/>
                <a:cs typeface="Sarabun" pitchFamily="34" charset="-120"/>
              </a:rPr>
              <a:t>Group 3  ·  Group Assignment 2 (2026)</a:t>
            </a:r>
            <a:endParaRPr lang="en-US" sz="1300" dirty="0"/>
          </a:p>
          <a:p>
            <a:pPr indent="0" marL="0">
              <a:buNone/>
            </a:pPr>
            <a:r>
              <a:rPr lang="en-US" sz="1300" dirty="0">
                <a:solidFill>
                  <a:srgbClr val="C9D6E8"/>
                </a:solidFill>
                <a:latin typeface="Sarabun" pitchFamily="34" charset="0"/>
                <a:ea typeface="Sarabun" pitchFamily="34" charset="-122"/>
                <a:cs typeface="Sarabun" pitchFamily="34" charset="-120"/>
              </a:rPr>
              <a:t>Ethics and Law for Financial Engineers</a:t>
            </a:r>
            <a:endParaRPr lang="en-US" sz="1300" dirty="0"/>
          </a:p>
        </p:txBody>
      </p:sp>
      <p:sp>
        <p:nvSpPr>
          <p:cNvPr id="5" name="Shape 3"/>
          <p:cNvSpPr/>
          <p:nvPr/>
        </p:nvSpPr>
        <p:spPr>
          <a:xfrm>
            <a:off x="6069330" y="3224174"/>
            <a:ext cx="22860" cy="301752"/>
          </a:xfrm>
          <a:prstGeom prst="rect">
            <a:avLst/>
          </a:prstGeom>
          <a:solidFill>
            <a:srgbClr val="5D7290"/>
          </a:solidFill>
          <a:ln w="12700">
            <a:solidFill>
              <a:srgbClr val="5D7290"/>
            </a:solidFill>
            <a:prstDash val="solid"/>
          </a:ln>
        </p:spPr>
      </p:sp>
      <p:sp>
        <p:nvSpPr>
          <p:cNvPr id="6" name="Shape 4"/>
          <p:cNvSpPr/>
          <p:nvPr/>
        </p:nvSpPr>
        <p:spPr>
          <a:xfrm>
            <a:off x="5989320" y="3284525"/>
            <a:ext cx="182880" cy="181051"/>
          </a:xfrm>
          <a:prstGeom prst="rect">
            <a:avLst/>
          </a:prstGeom>
          <a:solidFill>
            <a:srgbClr val="5D7290"/>
          </a:solidFill>
          <a:ln w="12700">
            <a:solidFill>
              <a:srgbClr val="5D7290"/>
            </a:solidFill>
            <a:prstDash val="solid"/>
          </a:ln>
        </p:spPr>
      </p:sp>
      <p:sp>
        <p:nvSpPr>
          <p:cNvPr id="7" name="Shape 5"/>
          <p:cNvSpPr/>
          <p:nvPr/>
        </p:nvSpPr>
        <p:spPr>
          <a:xfrm>
            <a:off x="6371082" y="3193999"/>
            <a:ext cx="22860" cy="301752"/>
          </a:xfrm>
          <a:prstGeom prst="rect">
            <a:avLst/>
          </a:prstGeom>
          <a:solidFill>
            <a:srgbClr val="5D7290"/>
          </a:solidFill>
          <a:ln w="12700">
            <a:solidFill>
              <a:srgbClr val="5D7290"/>
            </a:solidFill>
            <a:prstDash val="solid"/>
          </a:ln>
        </p:spPr>
      </p:sp>
      <p:sp>
        <p:nvSpPr>
          <p:cNvPr id="8" name="Shape 6"/>
          <p:cNvSpPr/>
          <p:nvPr/>
        </p:nvSpPr>
        <p:spPr>
          <a:xfrm>
            <a:off x="6291072" y="3254350"/>
            <a:ext cx="182880" cy="181051"/>
          </a:xfrm>
          <a:prstGeom prst="rect">
            <a:avLst/>
          </a:prstGeom>
          <a:solidFill>
            <a:srgbClr val="5D7290"/>
          </a:solidFill>
          <a:ln w="12700">
            <a:solidFill>
              <a:srgbClr val="5D7290"/>
            </a:solidFill>
            <a:prstDash val="solid"/>
          </a:ln>
        </p:spPr>
      </p:sp>
      <p:sp>
        <p:nvSpPr>
          <p:cNvPr id="9" name="Shape 7"/>
          <p:cNvSpPr/>
          <p:nvPr/>
        </p:nvSpPr>
        <p:spPr>
          <a:xfrm>
            <a:off x="6672834" y="3103474"/>
            <a:ext cx="22860" cy="331927"/>
          </a:xfrm>
          <a:prstGeom prst="rect">
            <a:avLst/>
          </a:prstGeom>
          <a:solidFill>
            <a:srgbClr val="E4572E"/>
          </a:solidFill>
          <a:ln w="12700">
            <a:solidFill>
              <a:srgbClr val="E4572E"/>
            </a:solidFill>
            <a:prstDash val="solid"/>
          </a:ln>
        </p:spPr>
      </p:sp>
      <p:sp>
        <p:nvSpPr>
          <p:cNvPr id="10" name="Shape 8"/>
          <p:cNvSpPr/>
          <p:nvPr/>
        </p:nvSpPr>
        <p:spPr>
          <a:xfrm>
            <a:off x="6592824" y="3163824"/>
            <a:ext cx="182880" cy="241402"/>
          </a:xfrm>
          <a:prstGeom prst="rect">
            <a:avLst/>
          </a:prstGeom>
          <a:solidFill>
            <a:srgbClr val="E4572E"/>
          </a:solidFill>
          <a:ln w="12700">
            <a:solidFill>
              <a:srgbClr val="E4572E"/>
            </a:solidFill>
            <a:prstDash val="solid"/>
          </a:ln>
        </p:spPr>
      </p:sp>
      <p:sp>
        <p:nvSpPr>
          <p:cNvPr id="11" name="Shape 9"/>
          <p:cNvSpPr/>
          <p:nvPr/>
        </p:nvSpPr>
        <p:spPr>
          <a:xfrm>
            <a:off x="6974586" y="2862072"/>
            <a:ext cx="22860" cy="331927"/>
          </a:xfrm>
          <a:prstGeom prst="rect">
            <a:avLst/>
          </a:prstGeom>
          <a:solidFill>
            <a:srgbClr val="E4572E"/>
          </a:solidFill>
          <a:ln w="12700">
            <a:solidFill>
              <a:srgbClr val="E4572E"/>
            </a:solidFill>
            <a:prstDash val="solid"/>
          </a:ln>
        </p:spPr>
      </p:sp>
      <p:sp>
        <p:nvSpPr>
          <p:cNvPr id="12" name="Shape 10"/>
          <p:cNvSpPr/>
          <p:nvPr/>
        </p:nvSpPr>
        <p:spPr>
          <a:xfrm>
            <a:off x="6894576" y="2922422"/>
            <a:ext cx="182880" cy="241402"/>
          </a:xfrm>
          <a:prstGeom prst="rect">
            <a:avLst/>
          </a:prstGeom>
          <a:solidFill>
            <a:srgbClr val="E4572E"/>
          </a:solidFill>
          <a:ln w="12700">
            <a:solidFill>
              <a:srgbClr val="E4572E"/>
            </a:solidFill>
            <a:prstDash val="solid"/>
          </a:ln>
        </p:spPr>
      </p:sp>
      <p:sp>
        <p:nvSpPr>
          <p:cNvPr id="13" name="Shape 11"/>
          <p:cNvSpPr/>
          <p:nvPr/>
        </p:nvSpPr>
        <p:spPr>
          <a:xfrm>
            <a:off x="7276338" y="2590495"/>
            <a:ext cx="22860" cy="362102"/>
          </a:xfrm>
          <a:prstGeom prst="rect">
            <a:avLst/>
          </a:prstGeom>
          <a:solidFill>
            <a:srgbClr val="E4572E"/>
          </a:solidFill>
          <a:ln w="12700">
            <a:solidFill>
              <a:srgbClr val="E4572E"/>
            </a:solidFill>
            <a:prstDash val="solid"/>
          </a:ln>
        </p:spPr>
      </p:sp>
      <p:sp>
        <p:nvSpPr>
          <p:cNvPr id="14" name="Shape 12"/>
          <p:cNvSpPr/>
          <p:nvPr/>
        </p:nvSpPr>
        <p:spPr>
          <a:xfrm>
            <a:off x="7196328" y="2681021"/>
            <a:ext cx="182880" cy="241402"/>
          </a:xfrm>
          <a:prstGeom prst="rect">
            <a:avLst/>
          </a:prstGeom>
          <a:solidFill>
            <a:srgbClr val="E4572E"/>
          </a:solidFill>
          <a:ln w="12700">
            <a:solidFill>
              <a:srgbClr val="E4572E"/>
            </a:solidFill>
            <a:prstDash val="solid"/>
          </a:ln>
        </p:spPr>
      </p:sp>
      <p:sp>
        <p:nvSpPr>
          <p:cNvPr id="15" name="Shape 13"/>
          <p:cNvSpPr/>
          <p:nvPr/>
        </p:nvSpPr>
        <p:spPr>
          <a:xfrm>
            <a:off x="7578090" y="2318918"/>
            <a:ext cx="22860" cy="392278"/>
          </a:xfrm>
          <a:prstGeom prst="rect">
            <a:avLst/>
          </a:prstGeom>
          <a:solidFill>
            <a:srgbClr val="E4572E"/>
          </a:solidFill>
          <a:ln w="12700">
            <a:solidFill>
              <a:srgbClr val="E4572E"/>
            </a:solidFill>
            <a:prstDash val="solid"/>
          </a:ln>
        </p:spPr>
      </p:sp>
      <p:sp>
        <p:nvSpPr>
          <p:cNvPr id="16" name="Shape 14"/>
          <p:cNvSpPr/>
          <p:nvPr/>
        </p:nvSpPr>
        <p:spPr>
          <a:xfrm>
            <a:off x="7498080" y="2379269"/>
            <a:ext cx="182880" cy="301752"/>
          </a:xfrm>
          <a:prstGeom prst="rect">
            <a:avLst/>
          </a:prstGeom>
          <a:solidFill>
            <a:srgbClr val="E4572E"/>
          </a:solidFill>
          <a:ln w="12700">
            <a:solidFill>
              <a:srgbClr val="E4572E"/>
            </a:solidFill>
            <a:prstDash val="solid"/>
          </a:ln>
        </p:spPr>
      </p:sp>
      <p:sp>
        <p:nvSpPr>
          <p:cNvPr id="17" name="Shape 15"/>
          <p:cNvSpPr/>
          <p:nvPr/>
        </p:nvSpPr>
        <p:spPr>
          <a:xfrm>
            <a:off x="7879842" y="2017166"/>
            <a:ext cx="22860" cy="392278"/>
          </a:xfrm>
          <a:prstGeom prst="rect">
            <a:avLst/>
          </a:prstGeom>
          <a:solidFill>
            <a:srgbClr val="E4572E"/>
          </a:solidFill>
          <a:ln w="12700">
            <a:solidFill>
              <a:srgbClr val="E4572E"/>
            </a:solidFill>
            <a:prstDash val="solid"/>
          </a:ln>
        </p:spPr>
      </p:sp>
      <p:sp>
        <p:nvSpPr>
          <p:cNvPr id="18" name="Shape 16"/>
          <p:cNvSpPr/>
          <p:nvPr/>
        </p:nvSpPr>
        <p:spPr>
          <a:xfrm>
            <a:off x="7799832" y="2107692"/>
            <a:ext cx="182880" cy="271577"/>
          </a:xfrm>
          <a:prstGeom prst="rect">
            <a:avLst/>
          </a:prstGeom>
          <a:solidFill>
            <a:srgbClr val="E4572E"/>
          </a:solidFill>
          <a:ln w="12700">
            <a:solidFill>
              <a:srgbClr val="E4572E"/>
            </a:solidFill>
            <a:prstDash val="solid"/>
          </a:ln>
        </p:spPr>
      </p:sp>
      <p:sp>
        <p:nvSpPr>
          <p:cNvPr id="19" name="Shape 17"/>
          <p:cNvSpPr/>
          <p:nvPr/>
        </p:nvSpPr>
        <p:spPr>
          <a:xfrm>
            <a:off x="8181594" y="1685239"/>
            <a:ext cx="22860" cy="452628"/>
          </a:xfrm>
          <a:prstGeom prst="rect">
            <a:avLst/>
          </a:prstGeom>
          <a:solidFill>
            <a:srgbClr val="E4572E"/>
          </a:solidFill>
          <a:ln w="12700">
            <a:solidFill>
              <a:srgbClr val="E4572E"/>
            </a:solidFill>
            <a:prstDash val="solid"/>
          </a:ln>
        </p:spPr>
      </p:sp>
      <p:sp>
        <p:nvSpPr>
          <p:cNvPr id="20" name="Shape 18"/>
          <p:cNvSpPr/>
          <p:nvPr/>
        </p:nvSpPr>
        <p:spPr>
          <a:xfrm>
            <a:off x="8101584" y="1775765"/>
            <a:ext cx="182880" cy="331927"/>
          </a:xfrm>
          <a:prstGeom prst="rect">
            <a:avLst/>
          </a:prstGeom>
          <a:solidFill>
            <a:srgbClr val="E4572E"/>
          </a:solidFill>
          <a:ln w="12700">
            <a:solidFill>
              <a:srgbClr val="E4572E"/>
            </a:solidFill>
            <a:prstDash val="solid"/>
          </a:ln>
        </p:spPr>
      </p:sp>
      <p:sp>
        <p:nvSpPr>
          <p:cNvPr id="21" name="Shape 19"/>
          <p:cNvSpPr/>
          <p:nvPr/>
        </p:nvSpPr>
        <p:spPr>
          <a:xfrm>
            <a:off x="8483346" y="1353312"/>
            <a:ext cx="22860" cy="452628"/>
          </a:xfrm>
          <a:prstGeom prst="rect">
            <a:avLst/>
          </a:prstGeom>
          <a:solidFill>
            <a:srgbClr val="E4572E"/>
          </a:solidFill>
          <a:ln w="12700">
            <a:solidFill>
              <a:srgbClr val="E4572E"/>
            </a:solidFill>
            <a:prstDash val="solid"/>
          </a:ln>
        </p:spPr>
      </p:sp>
      <p:sp>
        <p:nvSpPr>
          <p:cNvPr id="22" name="Shape 20"/>
          <p:cNvSpPr/>
          <p:nvPr/>
        </p:nvSpPr>
        <p:spPr>
          <a:xfrm>
            <a:off x="8403336" y="1474013"/>
            <a:ext cx="182880" cy="301752"/>
          </a:xfrm>
          <a:prstGeom prst="rect">
            <a:avLst/>
          </a:prstGeom>
          <a:solidFill>
            <a:srgbClr val="E4572E"/>
          </a:solidFill>
          <a:ln w="12700">
            <a:solidFill>
              <a:srgbClr val="E4572E"/>
            </a:solidFill>
            <a:prstDash val="solid"/>
          </a:ln>
        </p:spPr>
      </p:sp>
      <p:sp>
        <p:nvSpPr>
          <p:cNvPr id="23" name="Shape 21"/>
          <p:cNvSpPr/>
          <p:nvPr/>
        </p:nvSpPr>
        <p:spPr>
          <a:xfrm>
            <a:off x="5852160" y="4160520"/>
            <a:ext cx="2834640" cy="0"/>
          </a:xfrm>
          <a:prstGeom prst="line">
            <a:avLst/>
          </a:prstGeom>
          <a:noFill/>
          <a:ln w="12700">
            <a:solidFill>
              <a:srgbClr val="3A4D6B"/>
            </a:solidFill>
            <a:prstDash val="solid"/>
          </a:ln>
        </p:spPr>
      </p:sp>
      <p:sp>
        <p:nvSpPr>
          <p:cNvPr id="24" name="Text 22"/>
          <p:cNvSpPr txBox="1"/>
          <p:nvPr/>
        </p:nvSpPr>
        <p:spPr>
          <a:xfrm>
            <a:off x="457200" y="4773168"/>
            <a:ext cx="4572000" cy="228600"/>
          </a:xfrm>
          <a:prstGeom prst="rect">
            <a:avLst/>
          </a:prstGeom>
          <a:noFill/>
          <a:ln/>
        </p:spPr>
        <p:txBody>
          <a:bodyPr wrap="square" lIns="0" tIns="0" rIns="0" bIns="0" rtlCol="0" anchor="ctr"/>
          <a:lstStyle/>
          <a:p>
            <a:pPr indent="0" marL="0">
              <a:buNone/>
            </a:pPr>
            <a:r>
              <a:rPr lang="en-US" sz="900" dirty="0">
                <a:solidFill>
                  <a:srgbClr val="8FA3BF"/>
                </a:solidFill>
                <a:latin typeface="Sarabun" pitchFamily="34" charset="0"/>
                <a:ea typeface="Sarabun" pitchFamily="34" charset="-122"/>
                <a:cs typeface="Sarabun" pitchFamily="34" charset="-120"/>
              </a:rPr>
              <a:t>Group 3  ·  TSR Market Manipulation Case</a:t>
            </a:r>
            <a:endParaRPr lang="en-US" sz="900" dirty="0"/>
          </a:p>
        </p:txBody>
      </p:sp>
      <p:sp>
        <p:nvSpPr>
          <p:cNvPr id="25" name="Text 23"/>
          <p:cNvSpPr txBox="1"/>
          <p:nvPr/>
        </p:nvSpPr>
        <p:spPr>
          <a:xfrm>
            <a:off x="7772400" y="4773168"/>
            <a:ext cx="914400" cy="228600"/>
          </a:xfrm>
          <a:prstGeom prst="rect">
            <a:avLst/>
          </a:prstGeom>
          <a:noFill/>
          <a:ln/>
        </p:spPr>
        <p:txBody>
          <a:bodyPr wrap="square" lIns="0" tIns="0" rIns="0" bIns="0" rtlCol="0" anchor="ctr"/>
          <a:lstStyle/>
          <a:p>
            <a:pPr algn="r" indent="0" marL="0">
              <a:buNone/>
            </a:pPr>
            <a:r>
              <a:rPr lang="en-US" sz="900" dirty="0">
                <a:solidFill>
                  <a:srgbClr val="8FA3BF"/>
                </a:solidFill>
                <a:latin typeface="Sarabun" pitchFamily="34" charset="0"/>
                <a:ea typeface="Sarabun" pitchFamily="34" charset="-122"/>
                <a:cs typeface="Sarabun" pitchFamily="34" charset="-120"/>
              </a:rPr>
              <a:t>20 / 20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Group Assignment 2 (2026) — TSR Market Manipulation Case</dc:title>
  <dc:subject>Ethics and Law for Financial Engineers</dc:subject>
  <dc:creator>Group 3</dc:creator>
  <cp:lastModifiedBy>Group 3</cp:lastModifiedBy>
  <cp:revision>1</cp:revision>
  <dcterms:created xsi:type="dcterms:W3CDTF">2026-10-15T07:52:26Z</dcterms:created>
  <dcterms:modified xsi:type="dcterms:W3CDTF">2026-10-15T07:52:26Z</dcterms:modified>
</cp:coreProperties>
</file>